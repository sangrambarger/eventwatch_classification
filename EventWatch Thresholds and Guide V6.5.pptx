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3.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7" r:id="rId4"/>
    <p:sldMasterId id="2147483789" r:id="rId5"/>
    <p:sldMasterId id="2147483838" r:id="rId6"/>
    <p:sldMasterId id="2147483865" r:id="rId7"/>
  </p:sldMasterIdLst>
  <p:notesMasterIdLst>
    <p:notesMasterId r:id="rId71"/>
  </p:notesMasterIdLst>
  <p:handoutMasterIdLst>
    <p:handoutMasterId r:id="rId72"/>
  </p:handoutMasterIdLst>
  <p:sldIdLst>
    <p:sldId id="887" r:id="rId8"/>
    <p:sldId id="889" r:id="rId9"/>
    <p:sldId id="257" r:id="rId10"/>
    <p:sldId id="891" r:id="rId11"/>
    <p:sldId id="892" r:id="rId12"/>
    <p:sldId id="893" r:id="rId13"/>
    <p:sldId id="2147348096" r:id="rId14"/>
    <p:sldId id="2142532866" r:id="rId15"/>
    <p:sldId id="2142532867" r:id="rId16"/>
    <p:sldId id="2142532874" r:id="rId17"/>
    <p:sldId id="2142532868" r:id="rId18"/>
    <p:sldId id="2142532869" r:id="rId19"/>
    <p:sldId id="2147348097" r:id="rId20"/>
    <p:sldId id="2142532870" r:id="rId21"/>
    <p:sldId id="2147348107" r:id="rId22"/>
    <p:sldId id="2142532871" r:id="rId23"/>
    <p:sldId id="2142532872" r:id="rId24"/>
    <p:sldId id="2142532873" r:id="rId25"/>
    <p:sldId id="2142532875" r:id="rId26"/>
    <p:sldId id="2142532876" r:id="rId27"/>
    <p:sldId id="2142532877" r:id="rId28"/>
    <p:sldId id="2147348109" r:id="rId29"/>
    <p:sldId id="2142532878" r:id="rId30"/>
    <p:sldId id="2142532879" r:id="rId31"/>
    <p:sldId id="2142532880" r:id="rId32"/>
    <p:sldId id="2142532881" r:id="rId33"/>
    <p:sldId id="2147348110" r:id="rId34"/>
    <p:sldId id="2142532882" r:id="rId35"/>
    <p:sldId id="2142532883" r:id="rId36"/>
    <p:sldId id="2142532884" r:id="rId37"/>
    <p:sldId id="2142532885" r:id="rId38"/>
    <p:sldId id="2142532886" r:id="rId39"/>
    <p:sldId id="2142532887" r:id="rId40"/>
    <p:sldId id="2142532888" r:id="rId41"/>
    <p:sldId id="2142532889" r:id="rId42"/>
    <p:sldId id="2142532890" r:id="rId43"/>
    <p:sldId id="2142532891" r:id="rId44"/>
    <p:sldId id="2142532892" r:id="rId45"/>
    <p:sldId id="2142532893" r:id="rId46"/>
    <p:sldId id="2142532894" r:id="rId47"/>
    <p:sldId id="2142532895" r:id="rId48"/>
    <p:sldId id="2142532896" r:id="rId49"/>
    <p:sldId id="2142532897" r:id="rId50"/>
    <p:sldId id="2142532898" r:id="rId51"/>
    <p:sldId id="2142532899" r:id="rId52"/>
    <p:sldId id="2142532900" r:id="rId53"/>
    <p:sldId id="2142532901" r:id="rId54"/>
    <p:sldId id="2142532902" r:id="rId55"/>
    <p:sldId id="2142532903" r:id="rId56"/>
    <p:sldId id="2142532904" r:id="rId57"/>
    <p:sldId id="2142532906" r:id="rId58"/>
    <p:sldId id="2147348102" r:id="rId59"/>
    <p:sldId id="2147348099" r:id="rId60"/>
    <p:sldId id="2147348100" r:id="rId61"/>
    <p:sldId id="2147348112" r:id="rId62"/>
    <p:sldId id="2147348111" r:id="rId63"/>
    <p:sldId id="2147348103" r:id="rId64"/>
    <p:sldId id="890" r:id="rId65"/>
    <p:sldId id="2147348108" r:id="rId66"/>
    <p:sldId id="2147348113" r:id="rId67"/>
    <p:sldId id="2142532865" r:id="rId68"/>
    <p:sldId id="2142532907" r:id="rId69"/>
    <p:sldId id="3048"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71121B-7DF7-41CF-A3E1-BE117CDE76F8}">
          <p14:sldIdLst>
            <p14:sldId id="887"/>
            <p14:sldId id="889"/>
            <p14:sldId id="257"/>
            <p14:sldId id="891"/>
            <p14:sldId id="892"/>
            <p14:sldId id="893"/>
            <p14:sldId id="2147348096"/>
            <p14:sldId id="2142532866"/>
            <p14:sldId id="2142532867"/>
            <p14:sldId id="2142532874"/>
            <p14:sldId id="2142532868"/>
            <p14:sldId id="2142532869"/>
            <p14:sldId id="2147348097"/>
            <p14:sldId id="2142532870"/>
            <p14:sldId id="2147348107"/>
            <p14:sldId id="2142532871"/>
            <p14:sldId id="2142532872"/>
            <p14:sldId id="2142532873"/>
            <p14:sldId id="2142532875"/>
            <p14:sldId id="2142532876"/>
            <p14:sldId id="2142532877"/>
            <p14:sldId id="2147348109"/>
            <p14:sldId id="2142532878"/>
            <p14:sldId id="2142532879"/>
            <p14:sldId id="2142532880"/>
            <p14:sldId id="2142532881"/>
            <p14:sldId id="2147348110"/>
            <p14:sldId id="2142532882"/>
            <p14:sldId id="2142532883"/>
            <p14:sldId id="2142532884"/>
            <p14:sldId id="2142532885"/>
            <p14:sldId id="2142532886"/>
            <p14:sldId id="2142532887"/>
            <p14:sldId id="2142532888"/>
            <p14:sldId id="2142532889"/>
            <p14:sldId id="2142532890"/>
            <p14:sldId id="2142532891"/>
            <p14:sldId id="2142532892"/>
            <p14:sldId id="2142532893"/>
            <p14:sldId id="2142532894"/>
            <p14:sldId id="2142532895"/>
            <p14:sldId id="2142532896"/>
            <p14:sldId id="2142532897"/>
            <p14:sldId id="2142532898"/>
            <p14:sldId id="2142532899"/>
            <p14:sldId id="2142532900"/>
            <p14:sldId id="2142532901"/>
            <p14:sldId id="2142532902"/>
            <p14:sldId id="2142532903"/>
            <p14:sldId id="2142532904"/>
            <p14:sldId id="2142532906"/>
            <p14:sldId id="2147348102"/>
            <p14:sldId id="2147348099"/>
            <p14:sldId id="2147348100"/>
            <p14:sldId id="2147348112"/>
            <p14:sldId id="2147348111"/>
            <p14:sldId id="2147348103"/>
            <p14:sldId id="890"/>
            <p14:sldId id="2147348108"/>
            <p14:sldId id="2147348113"/>
            <p14:sldId id="2142532865"/>
            <p14:sldId id="2142532907"/>
            <p14:sldId id="30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56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p:scale>
          <a:sx n="90" d="100"/>
          <a:sy n="90" d="100"/>
        </p:scale>
        <p:origin x="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88A096-C6C6-1E0A-5803-0158E8BF00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DDE0C0B-DC53-179B-543D-F4FA755EB2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2225BF-CDF6-4443-9964-4315B828C501}" type="datetimeFigureOut">
              <a:rPr lang="en-US" smtClean="0"/>
              <a:t>8/31/2026</a:t>
            </a:fld>
            <a:endParaRPr lang="en-US"/>
          </a:p>
        </p:txBody>
      </p:sp>
      <p:sp>
        <p:nvSpPr>
          <p:cNvPr id="4" name="Footer Placeholder 3">
            <a:extLst>
              <a:ext uri="{FF2B5EF4-FFF2-40B4-BE49-F238E27FC236}">
                <a16:creationId xmlns:a16="http://schemas.microsoft.com/office/drawing/2014/main" id="{45C3FD0A-F6BD-1245-B852-B1AD5F2DF92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2024 Resilinc. All rights reserved.</a:t>
            </a:r>
          </a:p>
        </p:txBody>
      </p:sp>
      <p:sp>
        <p:nvSpPr>
          <p:cNvPr id="5" name="Slide Number Placeholder 4">
            <a:extLst>
              <a:ext uri="{FF2B5EF4-FFF2-40B4-BE49-F238E27FC236}">
                <a16:creationId xmlns:a16="http://schemas.microsoft.com/office/drawing/2014/main" id="{6F65ACBD-EDB7-CA89-23E6-4A43FA0360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2FDDB2-3B17-4790-82CB-A8B8BD60C8D7}" type="slidenum">
              <a:rPr lang="en-US" smtClean="0"/>
              <a:t>‹#›</a:t>
            </a:fld>
            <a:endParaRPr lang="en-US"/>
          </a:p>
        </p:txBody>
      </p:sp>
    </p:spTree>
    <p:extLst>
      <p:ext uri="{BB962C8B-B14F-4D97-AF65-F5344CB8AC3E}">
        <p14:creationId xmlns:p14="http://schemas.microsoft.com/office/powerpoint/2010/main" val="3766130792"/>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38EEC-FE0E-4B55-9E12-6F4CFF9B453F}"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2024 Resilinc.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56F33A-A7E4-440F-ACDE-70140E042C80}" type="slidenum">
              <a:rPr lang="en-US" smtClean="0"/>
              <a:t>‹#›</a:t>
            </a:fld>
            <a:endParaRPr lang="en-US"/>
          </a:p>
        </p:txBody>
      </p:sp>
    </p:spTree>
    <p:extLst>
      <p:ext uri="{BB962C8B-B14F-4D97-AF65-F5344CB8AC3E}">
        <p14:creationId xmlns:p14="http://schemas.microsoft.com/office/powerpoint/2010/main" val="3371490261"/>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Sahil Slide:</a:t>
            </a:r>
          </a:p>
          <a:p>
            <a:r>
              <a:rPr lang="en-US" dirty="0"/>
              <a:t>Thank you, Judy and Shahzaib, for giving us the highlights of our recent Q3 product release.  We're excited to be giving you more ways to view risk insights and act on them quickly.  </a:t>
            </a:r>
            <a:endParaRPr lang="en-US" dirty="0">
              <a:cs typeface="Calibri"/>
            </a:endParaRPr>
          </a:p>
          <a:p>
            <a:r>
              <a:rPr lang="en-US" dirty="0"/>
              <a:t>We encourage our customers to put questions or comments in the chat which we'll address in our Q&amp;A session at the end of the webinar. </a:t>
            </a:r>
            <a:endParaRPr lang="en-US" dirty="0">
              <a:cs typeface="Calibri"/>
            </a:endParaRPr>
          </a:p>
          <a:p>
            <a:r>
              <a:rPr lang="en-US" dirty="0"/>
              <a:t> </a:t>
            </a:r>
            <a:endParaRPr lang="en-US" dirty="0">
              <a:cs typeface="Calibri"/>
            </a:endParaRPr>
          </a:p>
          <a:p>
            <a:r>
              <a:rPr lang="en-US" dirty="0"/>
              <a:t>We're going to shift our focus in the second part of the webinar now to give you an overview of a growing area of our product portfolio: Resilinc Data Solutions.  </a:t>
            </a:r>
            <a:endParaRPr lang="en-US" dirty="0">
              <a:cs typeface="Calibri"/>
            </a:endParaRPr>
          </a:p>
          <a:p>
            <a:endParaRPr lang="en-US" dirty="0">
              <a:cs typeface="Calibri"/>
            </a:endParaRPr>
          </a:p>
        </p:txBody>
      </p:sp>
      <p:sp>
        <p:nvSpPr>
          <p:cNvPr id="4" name="Header Placeholder 3"/>
          <p:cNvSpPr>
            <a:spLocks noGrp="1"/>
          </p:cNvSpPr>
          <p:nvPr>
            <p:ph type="hdr" sz="quarter" idx="10"/>
          </p:nvPr>
        </p:nvSpPr>
        <p:spPr/>
        <p:txBody>
          <a:bodyPr/>
          <a:lstStyle/>
          <a:p>
            <a:pPr marL="0" marR="0" lvl="0" indent="0" algn="l" defTabSz="188651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Resilinc Corporation</a:t>
            </a:r>
          </a:p>
        </p:txBody>
      </p:sp>
      <p:sp>
        <p:nvSpPr>
          <p:cNvPr id="5" name="Date Placeholder 4"/>
          <p:cNvSpPr>
            <a:spLocks noGrp="1"/>
          </p:cNvSpPr>
          <p:nvPr>
            <p:ph type="dt" idx="11"/>
          </p:nvPr>
        </p:nvSpPr>
        <p:spPr/>
        <p:txBody>
          <a:bodyPr/>
          <a:lstStyle/>
          <a:p>
            <a:pPr marL="0" marR="0" lvl="0" indent="0" algn="r" defTabSz="1886512" rtl="0" eaLnBrk="1" fontAlgn="auto" latinLnBrk="0" hangingPunct="1">
              <a:lnSpc>
                <a:spcPct val="100000"/>
              </a:lnSpc>
              <a:spcBef>
                <a:spcPts val="0"/>
              </a:spcBef>
              <a:spcAft>
                <a:spcPts val="0"/>
              </a:spcAft>
              <a:buClrTx/>
              <a:buSzTx/>
              <a:buFontTx/>
              <a:buNone/>
              <a:tabLst/>
              <a:defRPr/>
            </a:pPr>
            <a:fld id="{C8F10989-82A2-4918-8354-516C6F7BAC9F}" type="datetime4">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886512" rtl="0" eaLnBrk="1" fontAlgn="auto" latinLnBrk="0" hangingPunct="1">
                <a:lnSpc>
                  <a:spcPct val="100000"/>
                </a:lnSpc>
                <a:spcBef>
                  <a:spcPts val="0"/>
                </a:spcBef>
                <a:spcAft>
                  <a:spcPts val="0"/>
                </a:spcAft>
                <a:buClrTx/>
                <a:buSzTx/>
                <a:buFontTx/>
                <a:buNone/>
                <a:tabLst/>
                <a:defRPr/>
              </a:pPr>
              <a:t>August 31, 2026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ooter Placeholder 6"/>
          <p:cNvSpPr>
            <a:spLocks noGrp="1"/>
          </p:cNvSpPr>
          <p:nvPr>
            <p:ph type="ftr" sz="quarter" idx="13"/>
          </p:nvPr>
        </p:nvSpPr>
        <p:spPr/>
        <p:txBody>
          <a:bodyPr/>
          <a:lstStyle/>
          <a:p>
            <a:pPr marL="0" marR="0" lvl="0" indent="0" algn="l" defTabSz="188651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2024 Resilinc. All rights reserved.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968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Footer Placeholder 4">
            <a:extLst>
              <a:ext uri="{FF2B5EF4-FFF2-40B4-BE49-F238E27FC236}">
                <a16:creationId xmlns:a16="http://schemas.microsoft.com/office/drawing/2014/main" id="{48D112A8-42E1-564A-4FB8-B33CCA4AFF8B}"/>
              </a:ext>
            </a:extLst>
          </p:cNvPr>
          <p:cNvSpPr>
            <a:spLocks noGrp="1"/>
          </p:cNvSpPr>
          <p:nvPr>
            <p:ph type="ftr" sz="quarter" idx="4"/>
          </p:nvPr>
        </p:nvSpPr>
        <p:spPr/>
        <p:txBody>
          <a:bodyPr/>
          <a:lstStyle/>
          <a:p>
            <a:r>
              <a:rPr lang="en-US"/>
              <a:t>© 2024 Resilinc. All rights reserved.</a:t>
            </a:r>
          </a:p>
        </p:txBody>
      </p:sp>
    </p:spTree>
    <p:extLst>
      <p:ext uri="{BB962C8B-B14F-4D97-AF65-F5344CB8AC3E}">
        <p14:creationId xmlns:p14="http://schemas.microsoft.com/office/powerpoint/2010/main" val="2083034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EE7B122-437B-43ED-A8DF-5E4FA4964EC0}" type="datetime4">
              <a:rPr lang="en-US" smtClean="0"/>
              <a:t>August 31, 2026</a:t>
            </a:fld>
            <a:endParaRPr lang="en-US" dirty="0"/>
          </a:p>
        </p:txBody>
      </p:sp>
      <p:sp>
        <p:nvSpPr>
          <p:cNvPr id="5" name="Footer Placeholder 4"/>
          <p:cNvSpPr>
            <a:spLocks noGrp="1"/>
          </p:cNvSpPr>
          <p:nvPr>
            <p:ph type="ftr" sz="quarter" idx="11"/>
          </p:nvPr>
        </p:nvSpPr>
        <p:spPr/>
        <p:txBody>
          <a:bodyPr/>
          <a:lstStyle/>
          <a:p>
            <a:r>
              <a:rPr lang="en-US"/>
              <a:t>© 2024 Resilinc. All rights reserved.</a:t>
            </a:r>
            <a:endParaRPr lang="en-US" dirty="0"/>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19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72AB72-3508-4D2C-99DE-097FF28B51A7}" type="datetime4">
              <a:rPr lang="en-US" smtClean="0"/>
              <a:t>August 31, 2026</a:t>
            </a:fld>
            <a:endParaRPr lang="en-US"/>
          </a:p>
        </p:txBody>
      </p:sp>
      <p:sp>
        <p:nvSpPr>
          <p:cNvPr id="5" name="Footer Placeholder 4"/>
          <p:cNvSpPr>
            <a:spLocks noGrp="1"/>
          </p:cNvSpPr>
          <p:nvPr>
            <p:ph type="ftr" sz="quarter" idx="11"/>
          </p:nvPr>
        </p:nvSpPr>
        <p:spPr/>
        <p:txBody>
          <a:bodyPr/>
          <a:lstStyle/>
          <a:p>
            <a:r>
              <a:rPr lang="en-US"/>
              <a:t>© 2024 Resilinc. All rights reserved.</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430079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E904A9-A674-4B5E-A170-35B52DD13EF7}" type="datetime4">
              <a:rPr lang="en-US" smtClean="0"/>
              <a:t>August 31, 2026</a:t>
            </a:fld>
            <a:endParaRPr lang="en-US"/>
          </a:p>
        </p:txBody>
      </p:sp>
      <p:sp>
        <p:nvSpPr>
          <p:cNvPr id="5" name="Footer Placeholder 4"/>
          <p:cNvSpPr>
            <a:spLocks noGrp="1"/>
          </p:cNvSpPr>
          <p:nvPr>
            <p:ph type="ftr" sz="quarter" idx="11"/>
          </p:nvPr>
        </p:nvSpPr>
        <p:spPr/>
        <p:txBody>
          <a:bodyPr/>
          <a:lstStyle/>
          <a:p>
            <a:r>
              <a:rPr lang="en-US"/>
              <a:t>© 2024 Resilinc. All rights reserved.</a:t>
            </a:r>
            <a:endParaRPr lang="en-US" dirty="0"/>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74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57A28-279D-4BDB-A5AE-0AD994DE1840}" type="datetime4">
              <a:rPr lang="en-US" smtClean="0"/>
              <a:t>August 31, 2026</a:t>
            </a:fld>
            <a:endParaRPr lang="en-US"/>
          </a:p>
        </p:txBody>
      </p:sp>
      <p:sp>
        <p:nvSpPr>
          <p:cNvPr id="6" name="Footer Placeholder 5"/>
          <p:cNvSpPr>
            <a:spLocks noGrp="1"/>
          </p:cNvSpPr>
          <p:nvPr>
            <p:ph type="ftr" sz="quarter" idx="11"/>
          </p:nvPr>
        </p:nvSpPr>
        <p:spPr/>
        <p:txBody>
          <a:bodyPr/>
          <a:lstStyle/>
          <a:p>
            <a:r>
              <a:rPr lang="en-US"/>
              <a:t>© 2024 Resilinc. All rights reserved.</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244576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A89C97-8A28-4017-A8CD-76EC7B74EC17}" type="datetime4">
              <a:rPr lang="en-US" smtClean="0"/>
              <a:t>August 31, 2026</a:t>
            </a:fld>
            <a:endParaRPr lang="en-US"/>
          </a:p>
        </p:txBody>
      </p:sp>
      <p:sp>
        <p:nvSpPr>
          <p:cNvPr id="8" name="Footer Placeholder 7"/>
          <p:cNvSpPr>
            <a:spLocks noGrp="1"/>
          </p:cNvSpPr>
          <p:nvPr>
            <p:ph type="ftr" sz="quarter" idx="11"/>
          </p:nvPr>
        </p:nvSpPr>
        <p:spPr/>
        <p:txBody>
          <a:bodyPr/>
          <a:lstStyle/>
          <a:p>
            <a:r>
              <a:rPr lang="en-US"/>
              <a:t>© 2024 Resilinc. All rights reserved.</a:t>
            </a:r>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252121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215851-2C31-4D8B-9239-975BA1DCA82C}" type="datetime4">
              <a:rPr lang="en-US" smtClean="0"/>
              <a:t>August 31, 2026</a:t>
            </a:fld>
            <a:endParaRPr lang="en-US"/>
          </a:p>
        </p:txBody>
      </p:sp>
      <p:sp>
        <p:nvSpPr>
          <p:cNvPr id="4" name="Footer Placeholder 3"/>
          <p:cNvSpPr>
            <a:spLocks noGrp="1"/>
          </p:cNvSpPr>
          <p:nvPr>
            <p:ph type="ftr" sz="quarter" idx="11"/>
          </p:nvPr>
        </p:nvSpPr>
        <p:spPr/>
        <p:txBody>
          <a:bodyPr/>
          <a:lstStyle/>
          <a:p>
            <a:r>
              <a:rPr lang="en-US"/>
              <a:t>© 2024 Resilinc. All rights reserved.</a:t>
            </a:r>
          </a:p>
        </p:txBody>
      </p:sp>
      <p:sp>
        <p:nvSpPr>
          <p:cNvPr id="5" name="Slide Number Placeholder 4"/>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702246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038178-1ECA-4717-B29D-EFC0243AB445}" type="datetime4">
              <a:rPr lang="en-US" smtClean="0"/>
              <a:t>August 31, 2026</a:t>
            </a:fld>
            <a:endParaRPr lang="en-US"/>
          </a:p>
        </p:txBody>
      </p:sp>
      <p:sp>
        <p:nvSpPr>
          <p:cNvPr id="3" name="Footer Placeholder 2"/>
          <p:cNvSpPr>
            <a:spLocks noGrp="1"/>
          </p:cNvSpPr>
          <p:nvPr>
            <p:ph type="ftr" sz="quarter" idx="11"/>
          </p:nvPr>
        </p:nvSpPr>
        <p:spPr/>
        <p:txBody>
          <a:bodyPr/>
          <a:lstStyle/>
          <a:p>
            <a:r>
              <a:rPr lang="en-US"/>
              <a:t>© 2024 Resilinc. All rights reserved.</a:t>
            </a:r>
          </a:p>
        </p:txBody>
      </p:sp>
      <p:sp>
        <p:nvSpPr>
          <p:cNvPr id="4" name="Slide Number Placeholder 3"/>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75909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16E436-D019-410F-A2B0-0DDA0DE17C80}" type="datetime4">
              <a:rPr lang="en-US" smtClean="0"/>
              <a:t>August 31, 2026</a:t>
            </a:fld>
            <a:endParaRPr lang="en-US"/>
          </a:p>
        </p:txBody>
      </p:sp>
      <p:sp>
        <p:nvSpPr>
          <p:cNvPr id="6" name="Footer Placeholder 5"/>
          <p:cNvSpPr>
            <a:spLocks noGrp="1"/>
          </p:cNvSpPr>
          <p:nvPr>
            <p:ph type="ftr" sz="quarter" idx="11"/>
          </p:nvPr>
        </p:nvSpPr>
        <p:spPr/>
        <p:txBody>
          <a:bodyPr/>
          <a:lstStyle/>
          <a:p>
            <a:r>
              <a:rPr lang="en-US"/>
              <a:t>© 2024 Resilinc. All rights reserved.</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545155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159E3C-8A2C-4D9D-BDB1-D3E2BE5770CE}" type="datetime4">
              <a:rPr lang="en-US" smtClean="0"/>
              <a:t>August 31, 2026</a:t>
            </a:fld>
            <a:endParaRPr lang="en-US"/>
          </a:p>
        </p:txBody>
      </p:sp>
      <p:sp>
        <p:nvSpPr>
          <p:cNvPr id="6" name="Footer Placeholder 5"/>
          <p:cNvSpPr>
            <a:spLocks noGrp="1"/>
          </p:cNvSpPr>
          <p:nvPr>
            <p:ph type="ftr" sz="quarter" idx="11"/>
          </p:nvPr>
        </p:nvSpPr>
        <p:spPr/>
        <p:txBody>
          <a:bodyPr/>
          <a:lstStyle/>
          <a:p>
            <a:r>
              <a:rPr lang="en-US"/>
              <a:t>© 2024 Resilinc. All rights reserved.</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999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D4A6A-E151-4A78-BD04-522B0896B1C2}" type="datetime4">
              <a:rPr lang="en-US" smtClean="0"/>
              <a:t>August 31, 2026</a:t>
            </a:fld>
            <a:endParaRPr lang="en-US"/>
          </a:p>
        </p:txBody>
      </p:sp>
      <p:sp>
        <p:nvSpPr>
          <p:cNvPr id="5" name="Footer Placeholder 4"/>
          <p:cNvSpPr>
            <a:spLocks noGrp="1"/>
          </p:cNvSpPr>
          <p:nvPr>
            <p:ph type="ftr" sz="quarter" idx="11"/>
          </p:nvPr>
        </p:nvSpPr>
        <p:spPr/>
        <p:txBody>
          <a:bodyPr/>
          <a:lstStyle/>
          <a:p>
            <a:r>
              <a:rPr lang="en-US"/>
              <a:t>© 2024 Resilinc. All rights reserved.</a:t>
            </a:r>
            <a:endParaRPr lang="en-US" dirty="0"/>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79500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46F8A4-434A-4549-B26A-900339C61795}" type="datetime4">
              <a:rPr lang="en-US" smtClean="0"/>
              <a:t>August 31, 2026</a:t>
            </a:fld>
            <a:endParaRPr lang="en-US"/>
          </a:p>
        </p:txBody>
      </p:sp>
      <p:sp>
        <p:nvSpPr>
          <p:cNvPr id="5" name="Footer Placeholder 4"/>
          <p:cNvSpPr>
            <a:spLocks noGrp="1"/>
          </p:cNvSpPr>
          <p:nvPr>
            <p:ph type="ftr" sz="quarter" idx="11"/>
          </p:nvPr>
        </p:nvSpPr>
        <p:spPr/>
        <p:txBody>
          <a:bodyPr/>
          <a:lstStyle/>
          <a:p>
            <a:r>
              <a:rPr lang="en-US"/>
              <a:t>© 2024 Resilinc. All rights reserved.</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95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E096738A-873E-422C-8A1D-45315B22284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57C1072B-2A16-4A00-8A87-7A807B0C763E}"/>
              </a:ext>
            </a:extLst>
          </p:cNvPr>
          <p:cNvSpPr/>
          <p:nvPr userDrawn="1"/>
        </p:nvSpPr>
        <p:spPr>
          <a:xfrm>
            <a:off x="0" y="0"/>
            <a:ext cx="12192000" cy="6858000"/>
          </a:xfrm>
          <a:prstGeom prst="rect">
            <a:avLst/>
          </a:prstGeom>
          <a:solidFill>
            <a:schemeClr val="accent4">
              <a:lumMod val="75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9" name="Straight Connector 8">
            <a:extLst>
              <a:ext uri="{FF2B5EF4-FFF2-40B4-BE49-F238E27FC236}">
                <a16:creationId xmlns:a16="http://schemas.microsoft.com/office/drawing/2014/main" id="{A79A1D03-5F26-4BB0-B51D-9F8820B20127}"/>
              </a:ext>
            </a:extLst>
          </p:cNvPr>
          <p:cNvCxnSpPr/>
          <p:nvPr userDrawn="1"/>
        </p:nvCxnSpPr>
        <p:spPr>
          <a:xfrm>
            <a:off x="731520" y="1467612"/>
            <a:ext cx="0" cy="19613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Text Placeholder 28">
            <a:extLst>
              <a:ext uri="{FF2B5EF4-FFF2-40B4-BE49-F238E27FC236}">
                <a16:creationId xmlns:a16="http://schemas.microsoft.com/office/drawing/2014/main" id="{7C87712A-CC52-45AC-A884-C6BB3403248C}"/>
              </a:ext>
            </a:extLst>
          </p:cNvPr>
          <p:cNvSpPr>
            <a:spLocks noGrp="1"/>
          </p:cNvSpPr>
          <p:nvPr>
            <p:ph type="body" sz="quarter" idx="11" hasCustomPrompt="1"/>
          </p:nvPr>
        </p:nvSpPr>
        <p:spPr>
          <a:xfrm>
            <a:off x="1164725" y="5178971"/>
            <a:ext cx="4876800" cy="1053193"/>
          </a:xfrm>
          <a:prstGeom prst="rect">
            <a:avLst/>
          </a:prstGeom>
        </p:spPr>
        <p:txBody>
          <a:bodyPr anchor="ctr"/>
          <a:lstStyle>
            <a:lvl1pPr marL="0" marR="0" indent="0" algn="l" defTabSz="882951" rtl="0" eaLnBrk="1" fontAlgn="auto" latinLnBrk="0" hangingPunct="1">
              <a:lnSpc>
                <a:spcPct val="100000"/>
              </a:lnSpc>
              <a:spcBef>
                <a:spcPts val="0"/>
              </a:spcBef>
              <a:spcAft>
                <a:spcPts val="0"/>
              </a:spcAft>
              <a:buClrTx/>
              <a:buSzTx/>
              <a:buFontTx/>
              <a:buNone/>
              <a:tabLst/>
              <a:defRPr sz="1400">
                <a:solidFill>
                  <a:schemeClr val="bg1"/>
                </a:solidFill>
                <a:latin typeface="+mj-lt"/>
                <a:ea typeface="Roboto" pitchFamily="2" charset="0"/>
              </a:defRPr>
            </a:lvl1pPr>
          </a:lstStyle>
          <a:p>
            <a:pPr lvl="0"/>
            <a:r>
              <a:rPr lang="en-US"/>
              <a:t>Author of the presentation</a:t>
            </a:r>
          </a:p>
          <a:p>
            <a:pPr lvl="0"/>
            <a:r>
              <a:rPr lang="en-US"/>
              <a:t>Designation</a:t>
            </a:r>
          </a:p>
        </p:txBody>
      </p:sp>
      <p:sp>
        <p:nvSpPr>
          <p:cNvPr id="2" name="Title 1">
            <a:extLst>
              <a:ext uri="{FF2B5EF4-FFF2-40B4-BE49-F238E27FC236}">
                <a16:creationId xmlns:a16="http://schemas.microsoft.com/office/drawing/2014/main" id="{CE113BB0-882C-47E6-8E4C-A551870CDF01}"/>
              </a:ext>
            </a:extLst>
          </p:cNvPr>
          <p:cNvSpPr>
            <a:spLocks noGrp="1"/>
          </p:cNvSpPr>
          <p:nvPr>
            <p:ph type="ctrTitle" hasCustomPrompt="1"/>
          </p:nvPr>
        </p:nvSpPr>
        <p:spPr>
          <a:xfrm>
            <a:off x="1164725" y="1469572"/>
            <a:ext cx="4876800" cy="484959"/>
          </a:xfrm>
          <a:prstGeom prst="rect">
            <a:avLst/>
          </a:prstGeom>
        </p:spPr>
        <p:txBody>
          <a:bodyPr anchor="b"/>
          <a:lstStyle>
            <a:lvl1pPr algn="l">
              <a:defRPr sz="2500" b="1">
                <a:solidFill>
                  <a:schemeClr val="accent1"/>
                </a:solidFill>
              </a:defRPr>
            </a:lvl1pPr>
          </a:lstStyle>
          <a:p>
            <a:r>
              <a:rPr lang="en-US"/>
              <a:t>Presentation Title</a:t>
            </a:r>
            <a:endParaRPr lang="en-IN"/>
          </a:p>
        </p:txBody>
      </p:sp>
      <p:sp>
        <p:nvSpPr>
          <p:cNvPr id="3" name="Subtitle 2">
            <a:extLst>
              <a:ext uri="{FF2B5EF4-FFF2-40B4-BE49-F238E27FC236}">
                <a16:creationId xmlns:a16="http://schemas.microsoft.com/office/drawing/2014/main" id="{FED70083-BBB3-4541-8749-0FF16F810F63}"/>
              </a:ext>
            </a:extLst>
          </p:cNvPr>
          <p:cNvSpPr>
            <a:spLocks noGrp="1"/>
          </p:cNvSpPr>
          <p:nvPr>
            <p:ph type="subTitle" idx="1" hasCustomPrompt="1"/>
          </p:nvPr>
        </p:nvSpPr>
        <p:spPr>
          <a:xfrm>
            <a:off x="1164725" y="2076064"/>
            <a:ext cx="4876800" cy="1347107"/>
          </a:xfrm>
          <a:prstGeom prst="rect">
            <a:avLst/>
          </a:prstGeom>
        </p:spPr>
        <p:txBody>
          <a:bodyPr/>
          <a:lstStyle>
            <a:lvl1pPr marL="0" indent="0" algn="l">
              <a:buNone/>
              <a:defRPr sz="2500" b="0">
                <a:solidFill>
                  <a:schemeClr val="bg1"/>
                </a:solidFill>
                <a:latin typeface="+mj-lt"/>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Subtitle goes here Lorem Ipsum Lorem Ipsum lorem ipsum lorem ipsum</a:t>
            </a:r>
          </a:p>
        </p:txBody>
      </p:sp>
    </p:spTree>
    <p:extLst>
      <p:ext uri="{BB962C8B-B14F-4D97-AF65-F5344CB8AC3E}">
        <p14:creationId xmlns:p14="http://schemas.microsoft.com/office/powerpoint/2010/main" val="2021750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_2">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E096738A-873E-422C-8A1D-45315B222843}"/>
              </a:ext>
            </a:extLst>
          </p:cNvPr>
          <p:cNvPicPr>
            <a:picLocks noChangeAspect="1"/>
          </p:cNvPicPr>
          <p:nvPr userDrawn="1"/>
        </p:nvPicPr>
        <p:blipFill rotWithShape="1">
          <a:blip r:embed="rId2"/>
          <a:srcRect l="57244"/>
          <a:stretch/>
        </p:blipFill>
        <p:spPr>
          <a:xfrm>
            <a:off x="3450724" y="0"/>
            <a:ext cx="8741276" cy="3429000"/>
          </a:xfrm>
          <a:prstGeom prst="rect">
            <a:avLst/>
          </a:prstGeom>
        </p:spPr>
      </p:pic>
      <p:sp>
        <p:nvSpPr>
          <p:cNvPr id="11" name="Rectangle 10">
            <a:extLst>
              <a:ext uri="{FF2B5EF4-FFF2-40B4-BE49-F238E27FC236}">
                <a16:creationId xmlns:a16="http://schemas.microsoft.com/office/drawing/2014/main" id="{B756C449-4BFD-49AE-9006-734CC9A7221F}"/>
              </a:ext>
            </a:extLst>
          </p:cNvPr>
          <p:cNvSpPr/>
          <p:nvPr userDrawn="1"/>
        </p:nvSpPr>
        <p:spPr>
          <a:xfrm>
            <a:off x="0" y="3429000"/>
            <a:ext cx="12192000" cy="3429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pic>
        <p:nvPicPr>
          <p:cNvPr id="10" name="Picture Placeholder 5">
            <a:extLst>
              <a:ext uri="{FF2B5EF4-FFF2-40B4-BE49-F238E27FC236}">
                <a16:creationId xmlns:a16="http://schemas.microsoft.com/office/drawing/2014/main" id="{CC258AF8-8795-482A-8809-5CB6C5F8FCA4}"/>
              </a:ext>
            </a:extLst>
          </p:cNvPr>
          <p:cNvPicPr>
            <a:picLocks noChangeAspect="1"/>
          </p:cNvPicPr>
          <p:nvPr userDrawn="1"/>
        </p:nvPicPr>
        <p:blipFill rotWithShape="1">
          <a:blip r:embed="rId2"/>
          <a:srcRect r="42500"/>
          <a:stretch/>
        </p:blipFill>
        <p:spPr>
          <a:xfrm>
            <a:off x="0" y="0"/>
            <a:ext cx="3505200" cy="3413760"/>
          </a:xfrm>
          <a:prstGeom prst="rect">
            <a:avLst/>
          </a:prstGeom>
        </p:spPr>
      </p:pic>
      <p:sp>
        <p:nvSpPr>
          <p:cNvPr id="8" name="Rectangle 7">
            <a:extLst>
              <a:ext uri="{FF2B5EF4-FFF2-40B4-BE49-F238E27FC236}">
                <a16:creationId xmlns:a16="http://schemas.microsoft.com/office/drawing/2014/main" id="{57C1072B-2A16-4A00-8A87-7A807B0C763E}"/>
              </a:ext>
            </a:extLst>
          </p:cNvPr>
          <p:cNvSpPr/>
          <p:nvPr userDrawn="1"/>
        </p:nvSpPr>
        <p:spPr>
          <a:xfrm>
            <a:off x="0" y="0"/>
            <a:ext cx="12192000" cy="3429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9" name="Straight Connector 8">
            <a:extLst>
              <a:ext uri="{FF2B5EF4-FFF2-40B4-BE49-F238E27FC236}">
                <a16:creationId xmlns:a16="http://schemas.microsoft.com/office/drawing/2014/main" id="{A79A1D03-5F26-4BB0-B51D-9F8820B20127}"/>
              </a:ext>
            </a:extLst>
          </p:cNvPr>
          <p:cNvCxnSpPr/>
          <p:nvPr userDrawn="1"/>
        </p:nvCxnSpPr>
        <p:spPr>
          <a:xfrm>
            <a:off x="731520" y="1573480"/>
            <a:ext cx="0" cy="171450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E113BB0-882C-47E6-8E4C-A551870CDF01}"/>
              </a:ext>
            </a:extLst>
          </p:cNvPr>
          <p:cNvSpPr>
            <a:spLocks noGrp="1"/>
          </p:cNvSpPr>
          <p:nvPr>
            <p:ph type="ctrTitle" hasCustomPrompt="1"/>
          </p:nvPr>
        </p:nvSpPr>
        <p:spPr>
          <a:xfrm>
            <a:off x="1164725" y="1469572"/>
            <a:ext cx="10295753" cy="705939"/>
          </a:xfrm>
          <a:prstGeom prst="rect">
            <a:avLst/>
          </a:prstGeom>
        </p:spPr>
        <p:txBody>
          <a:bodyPr anchor="ctr">
            <a:noAutofit/>
          </a:bodyPr>
          <a:lstStyle>
            <a:lvl1pPr algn="l">
              <a:lnSpc>
                <a:spcPct val="100000"/>
              </a:lnSpc>
              <a:defRPr sz="3300" b="1">
                <a:solidFill>
                  <a:schemeClr val="accent1"/>
                </a:solidFill>
              </a:defRPr>
            </a:lvl1pPr>
          </a:lstStyle>
          <a:p>
            <a:r>
              <a:rPr lang="en-US"/>
              <a:t>Presentation Title</a:t>
            </a:r>
            <a:endParaRPr lang="en-IN"/>
          </a:p>
        </p:txBody>
      </p:sp>
      <p:sp>
        <p:nvSpPr>
          <p:cNvPr id="3" name="Subtitle 2">
            <a:extLst>
              <a:ext uri="{FF2B5EF4-FFF2-40B4-BE49-F238E27FC236}">
                <a16:creationId xmlns:a16="http://schemas.microsoft.com/office/drawing/2014/main" id="{FED70083-BBB3-4541-8749-0FF16F810F63}"/>
              </a:ext>
            </a:extLst>
          </p:cNvPr>
          <p:cNvSpPr>
            <a:spLocks noGrp="1"/>
          </p:cNvSpPr>
          <p:nvPr>
            <p:ph type="subTitle" idx="1" hasCustomPrompt="1"/>
          </p:nvPr>
        </p:nvSpPr>
        <p:spPr>
          <a:xfrm>
            <a:off x="1164725" y="2190750"/>
            <a:ext cx="10295753" cy="1097230"/>
          </a:xfrm>
          <a:prstGeom prst="rect">
            <a:avLst/>
          </a:prstGeom>
        </p:spPr>
        <p:txBody>
          <a:bodyPr>
            <a:normAutofit/>
          </a:bodyPr>
          <a:lstStyle>
            <a:lvl1pPr marL="0" indent="0" algn="l">
              <a:lnSpc>
                <a:spcPct val="100000"/>
              </a:lnSpc>
              <a:spcBef>
                <a:spcPts val="0"/>
              </a:spcBef>
              <a:buNone/>
              <a:defRPr sz="2500" b="0">
                <a:solidFill>
                  <a:schemeClr val="bg1"/>
                </a:solidFill>
                <a:latin typeface="+mj-lt"/>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Subtitle goes here Lorem Ipsum Lorem Ipsum lorem ipsum lorem ipsum</a:t>
            </a:r>
          </a:p>
        </p:txBody>
      </p:sp>
      <p:sp>
        <p:nvSpPr>
          <p:cNvPr id="13" name="Text Placeholder 28">
            <a:extLst>
              <a:ext uri="{FF2B5EF4-FFF2-40B4-BE49-F238E27FC236}">
                <a16:creationId xmlns:a16="http://schemas.microsoft.com/office/drawing/2014/main" id="{7C87712A-CC52-45AC-A884-C6BB3403248C}"/>
              </a:ext>
            </a:extLst>
          </p:cNvPr>
          <p:cNvSpPr>
            <a:spLocks noGrp="1"/>
          </p:cNvSpPr>
          <p:nvPr>
            <p:ph type="body" sz="quarter" idx="11" hasCustomPrompt="1"/>
          </p:nvPr>
        </p:nvSpPr>
        <p:spPr>
          <a:xfrm>
            <a:off x="1164725" y="4861832"/>
            <a:ext cx="4876800" cy="1053193"/>
          </a:xfrm>
          <a:prstGeom prst="rect">
            <a:avLst/>
          </a:prstGeom>
        </p:spPr>
        <p:txBody>
          <a:bodyPr anchor="ctr">
            <a:normAutofit/>
          </a:bodyPr>
          <a:lstStyle>
            <a:lvl1pPr marL="0" marR="0" indent="0" algn="l" defTabSz="882951" rtl="0" eaLnBrk="1" fontAlgn="auto" latinLnBrk="0" hangingPunct="1">
              <a:lnSpc>
                <a:spcPct val="100000"/>
              </a:lnSpc>
              <a:spcBef>
                <a:spcPts val="0"/>
              </a:spcBef>
              <a:spcAft>
                <a:spcPts val="0"/>
              </a:spcAft>
              <a:buClrTx/>
              <a:buSzTx/>
              <a:buFontTx/>
              <a:buNone/>
              <a:tabLst/>
              <a:defRPr sz="2000">
                <a:solidFill>
                  <a:schemeClr val="tx2"/>
                </a:solidFill>
                <a:latin typeface="+mj-lt"/>
                <a:ea typeface="Roboto" pitchFamily="2" charset="0"/>
              </a:defRPr>
            </a:lvl1pPr>
          </a:lstStyle>
          <a:p>
            <a:pPr lvl="0"/>
            <a:r>
              <a:rPr lang="en-US"/>
              <a:t>Author of the presentation</a:t>
            </a:r>
            <a:br>
              <a:rPr lang="en-US"/>
            </a:br>
            <a:r>
              <a:rPr lang="en-US"/>
              <a:t>Designation</a:t>
            </a:r>
          </a:p>
        </p:txBody>
      </p:sp>
      <p:pic>
        <p:nvPicPr>
          <p:cNvPr id="6" name="Picture 5">
            <a:extLst>
              <a:ext uri="{FF2B5EF4-FFF2-40B4-BE49-F238E27FC236}">
                <a16:creationId xmlns:a16="http://schemas.microsoft.com/office/drawing/2014/main" id="{F834F728-BC40-4832-99EB-CA56C0EB9F00}"/>
              </a:ext>
            </a:extLst>
          </p:cNvPr>
          <p:cNvPicPr>
            <a:picLocks noChangeAspect="1"/>
          </p:cNvPicPr>
          <p:nvPr userDrawn="1"/>
        </p:nvPicPr>
        <p:blipFill>
          <a:blip r:embed="rId3"/>
          <a:stretch>
            <a:fillRect/>
          </a:stretch>
        </p:blipFill>
        <p:spPr>
          <a:xfrm>
            <a:off x="6237091" y="4285329"/>
            <a:ext cx="5515498" cy="2206199"/>
          </a:xfrm>
          <a:prstGeom prst="rect">
            <a:avLst/>
          </a:prstGeom>
        </p:spPr>
      </p:pic>
    </p:spTree>
    <p:extLst>
      <p:ext uri="{BB962C8B-B14F-4D97-AF65-F5344CB8AC3E}">
        <p14:creationId xmlns:p14="http://schemas.microsoft.com/office/powerpoint/2010/main" val="1307008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_3">
    <p:spTree>
      <p:nvGrpSpPr>
        <p:cNvPr id="1" name=""/>
        <p:cNvGrpSpPr/>
        <p:nvPr/>
      </p:nvGrpSpPr>
      <p:grpSpPr>
        <a:xfrm>
          <a:off x="0" y="0"/>
          <a:ext cx="0" cy="0"/>
          <a:chOff x="0" y="0"/>
          <a:chExt cx="0" cy="0"/>
        </a:xfrm>
      </p:grpSpPr>
      <p:pic>
        <p:nvPicPr>
          <p:cNvPr id="2" name="Shape 495">
            <a:extLst>
              <a:ext uri="{FF2B5EF4-FFF2-40B4-BE49-F238E27FC236}">
                <a16:creationId xmlns:a16="http://schemas.microsoft.com/office/drawing/2014/main" id="{7ED6698E-95BC-C349-A624-DD66B35A95D6}"/>
              </a:ext>
            </a:extLst>
          </p:cNvPr>
          <p:cNvPicPr preferRelativeResize="0"/>
          <p:nvPr userDrawn="1"/>
        </p:nvPicPr>
        <p:blipFill>
          <a:blip r:embed="rId2"/>
          <a:stretch>
            <a:fillRect/>
          </a:stretch>
        </p:blipFill>
        <p:spPr>
          <a:xfrm>
            <a:off x="0" y="0"/>
            <a:ext cx="12192000" cy="6858000"/>
          </a:xfrm>
          <a:prstGeom prst="rect">
            <a:avLst/>
          </a:prstGeom>
        </p:spPr>
      </p:pic>
      <p:sp>
        <p:nvSpPr>
          <p:cNvPr id="3" name="Shape 496">
            <a:extLst>
              <a:ext uri="{FF2B5EF4-FFF2-40B4-BE49-F238E27FC236}">
                <a16:creationId xmlns:a16="http://schemas.microsoft.com/office/drawing/2014/main" id="{5000F9B6-F8F6-9248-9AA7-D6B17635D5C0}"/>
              </a:ext>
            </a:extLst>
          </p:cNvPr>
          <p:cNvSpPr/>
          <p:nvPr userDrawn="1"/>
        </p:nvSpPr>
        <p:spPr>
          <a:xfrm>
            <a:off x="0" y="0"/>
            <a:ext cx="12192000" cy="6858000"/>
          </a:xfrm>
          <a:prstGeom prst="rect">
            <a:avLst/>
          </a:prstGeom>
          <a:solidFill>
            <a:schemeClr val="accent4">
              <a:lumMod val="50000"/>
              <a:alpha val="76920"/>
            </a:schemeClr>
          </a:solidFill>
          <a:ln>
            <a:noFill/>
          </a:ln>
        </p:spPr>
        <p:txBody>
          <a:bodyPr spcFirstLastPara="1" wrap="square" lIns="45570" tIns="22774" rIns="45570" bIns="22774" anchor="ctr" anchorCtr="0">
            <a:noAutofit/>
          </a:bodyPr>
          <a:lstStyle/>
          <a:p>
            <a:pPr algn="ctr"/>
            <a:endParaRPr sz="1774">
              <a:solidFill>
                <a:schemeClr val="lt1"/>
              </a:solidFill>
              <a:latin typeface="Calibri"/>
              <a:ea typeface="Calibri"/>
              <a:cs typeface="Calibri"/>
              <a:sym typeface="Calibri"/>
            </a:endParaRPr>
          </a:p>
        </p:txBody>
      </p:sp>
      <p:sp>
        <p:nvSpPr>
          <p:cNvPr id="4" name="Shape 498">
            <a:extLst>
              <a:ext uri="{FF2B5EF4-FFF2-40B4-BE49-F238E27FC236}">
                <a16:creationId xmlns:a16="http://schemas.microsoft.com/office/drawing/2014/main" id="{E8C2C508-A1E0-F74E-98D1-174AA76012A7}"/>
              </a:ext>
            </a:extLst>
          </p:cNvPr>
          <p:cNvSpPr/>
          <p:nvPr userDrawn="1"/>
        </p:nvSpPr>
        <p:spPr>
          <a:xfrm>
            <a:off x="836587" y="1"/>
            <a:ext cx="4466934" cy="3312278"/>
          </a:xfrm>
          <a:prstGeom prst="rect">
            <a:avLst/>
          </a:prstGeom>
          <a:solidFill>
            <a:srgbClr val="FFFFFF"/>
          </a:solidFill>
          <a:ln>
            <a:noFill/>
          </a:ln>
        </p:spPr>
        <p:txBody>
          <a:bodyPr spcFirstLastPara="1" wrap="square" lIns="45570" tIns="45570" rIns="45570" bIns="45570" anchor="ctr" anchorCtr="0">
            <a:noAutofit/>
          </a:bodyPr>
          <a:lstStyle/>
          <a:p>
            <a:endParaRPr sz="3245"/>
          </a:p>
        </p:txBody>
      </p:sp>
      <p:pic>
        <p:nvPicPr>
          <p:cNvPr id="9" name="Picture 8">
            <a:extLst>
              <a:ext uri="{FF2B5EF4-FFF2-40B4-BE49-F238E27FC236}">
                <a16:creationId xmlns:a16="http://schemas.microsoft.com/office/drawing/2014/main" id="{DD48431B-12CB-4C32-BE00-CC59087D3C16}"/>
              </a:ext>
            </a:extLst>
          </p:cNvPr>
          <p:cNvPicPr>
            <a:picLocks noChangeAspect="1"/>
          </p:cNvPicPr>
          <p:nvPr userDrawn="1"/>
        </p:nvPicPr>
        <p:blipFill>
          <a:blip r:embed="rId3"/>
          <a:stretch>
            <a:fillRect/>
          </a:stretch>
        </p:blipFill>
        <p:spPr>
          <a:xfrm>
            <a:off x="910473" y="203199"/>
            <a:ext cx="2926080" cy="1170432"/>
          </a:xfrm>
          <a:prstGeom prst="rect">
            <a:avLst/>
          </a:prstGeom>
        </p:spPr>
      </p:pic>
      <p:cxnSp>
        <p:nvCxnSpPr>
          <p:cNvPr id="7" name="Shape 501">
            <a:extLst>
              <a:ext uri="{FF2B5EF4-FFF2-40B4-BE49-F238E27FC236}">
                <a16:creationId xmlns:a16="http://schemas.microsoft.com/office/drawing/2014/main" id="{BA649C26-AADD-2E4F-AB0A-7C7DF336509F}"/>
              </a:ext>
            </a:extLst>
          </p:cNvPr>
          <p:cNvCxnSpPr>
            <a:cxnSpLocks/>
          </p:cNvCxnSpPr>
          <p:nvPr userDrawn="1"/>
        </p:nvCxnSpPr>
        <p:spPr>
          <a:xfrm>
            <a:off x="1361722" y="1776179"/>
            <a:ext cx="0" cy="881743"/>
          </a:xfrm>
          <a:prstGeom prst="straightConnector1">
            <a:avLst/>
          </a:prstGeom>
          <a:noFill/>
          <a:ln w="28575" cap="flat" cmpd="sng">
            <a:solidFill>
              <a:schemeClr val="accent1"/>
            </a:solidFill>
            <a:prstDash val="solid"/>
            <a:miter lim="800000"/>
            <a:headEnd type="none" w="sm" len="sm"/>
            <a:tailEnd type="none" w="sm" len="sm"/>
          </a:ln>
        </p:spPr>
      </p:cxnSp>
      <p:sp>
        <p:nvSpPr>
          <p:cNvPr id="11" name="Title 10">
            <a:extLst>
              <a:ext uri="{FF2B5EF4-FFF2-40B4-BE49-F238E27FC236}">
                <a16:creationId xmlns:a16="http://schemas.microsoft.com/office/drawing/2014/main" id="{55010504-083C-5149-9DD3-4ECED2E046AF}"/>
              </a:ext>
            </a:extLst>
          </p:cNvPr>
          <p:cNvSpPr>
            <a:spLocks noGrp="1"/>
          </p:cNvSpPr>
          <p:nvPr>
            <p:ph type="title" hasCustomPrompt="1"/>
          </p:nvPr>
        </p:nvSpPr>
        <p:spPr>
          <a:xfrm>
            <a:off x="1657559" y="1746766"/>
            <a:ext cx="3026664" cy="455669"/>
          </a:xfrm>
          <a:prstGeom prst="rect">
            <a:avLst/>
          </a:prstGeom>
        </p:spPr>
        <p:txBody>
          <a:bodyPr/>
          <a:lstStyle>
            <a:lvl1pPr>
              <a:defRPr sz="2500" b="1">
                <a:solidFill>
                  <a:schemeClr val="accent4"/>
                </a:solidFill>
                <a:latin typeface="+mj-lt"/>
                <a:ea typeface="Roboto" pitchFamily="2" charset="0"/>
              </a:defRPr>
            </a:lvl1pPr>
          </a:lstStyle>
          <a:p>
            <a:r>
              <a:rPr lang="en-US"/>
              <a:t>Presentation Title</a:t>
            </a:r>
          </a:p>
        </p:txBody>
      </p:sp>
      <p:sp>
        <p:nvSpPr>
          <p:cNvPr id="13" name="Text Placeholder 12">
            <a:extLst>
              <a:ext uri="{FF2B5EF4-FFF2-40B4-BE49-F238E27FC236}">
                <a16:creationId xmlns:a16="http://schemas.microsoft.com/office/drawing/2014/main" id="{AFC4F28A-3969-CB44-AD80-57430363975F}"/>
              </a:ext>
            </a:extLst>
          </p:cNvPr>
          <p:cNvSpPr>
            <a:spLocks noGrp="1"/>
          </p:cNvSpPr>
          <p:nvPr>
            <p:ph type="body" sz="quarter" idx="10" hasCustomPrompt="1"/>
          </p:nvPr>
        </p:nvSpPr>
        <p:spPr>
          <a:xfrm>
            <a:off x="1657559" y="2349393"/>
            <a:ext cx="3026664" cy="589750"/>
          </a:xfrm>
          <a:prstGeom prst="rect">
            <a:avLst/>
          </a:prstGeom>
        </p:spPr>
        <p:txBody>
          <a:bodyPr/>
          <a:lstStyle>
            <a:lvl1pPr marL="0" indent="0">
              <a:buNone/>
              <a:defRPr sz="2500" b="1">
                <a:solidFill>
                  <a:schemeClr val="accent1"/>
                </a:solidFill>
                <a:latin typeface="+mj-lt"/>
                <a:ea typeface="Roboto" pitchFamily="2" charset="0"/>
              </a:defRPr>
            </a:lvl1pPr>
          </a:lstStyle>
          <a:p>
            <a:pPr lvl="0"/>
            <a:r>
              <a:rPr lang="en-US"/>
              <a:t>Subtitle</a:t>
            </a:r>
          </a:p>
        </p:txBody>
      </p:sp>
    </p:spTree>
    <p:extLst>
      <p:ext uri="{BB962C8B-B14F-4D97-AF65-F5344CB8AC3E}">
        <p14:creationId xmlns:p14="http://schemas.microsoft.com/office/powerpoint/2010/main" val="769302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_4">
    <p:spTree>
      <p:nvGrpSpPr>
        <p:cNvPr id="1" name=""/>
        <p:cNvGrpSpPr/>
        <p:nvPr/>
      </p:nvGrpSpPr>
      <p:grpSpPr>
        <a:xfrm>
          <a:off x="0" y="0"/>
          <a:ext cx="0" cy="0"/>
          <a:chOff x="0" y="0"/>
          <a:chExt cx="0" cy="0"/>
        </a:xfrm>
      </p:grpSpPr>
      <p:pic>
        <p:nvPicPr>
          <p:cNvPr id="2" name="Shape 495">
            <a:extLst>
              <a:ext uri="{FF2B5EF4-FFF2-40B4-BE49-F238E27FC236}">
                <a16:creationId xmlns:a16="http://schemas.microsoft.com/office/drawing/2014/main" id="{7ED6698E-95BC-C349-A624-DD66B35A95D6}"/>
              </a:ext>
            </a:extLst>
          </p:cNvPr>
          <p:cNvPicPr preferRelativeResize="0"/>
          <p:nvPr userDrawn="1"/>
        </p:nvPicPr>
        <p:blipFill>
          <a:blip r:embed="rId2"/>
          <a:stretch>
            <a:fillRect/>
          </a:stretch>
        </p:blipFill>
        <p:spPr>
          <a:xfrm>
            <a:off x="0" y="0"/>
            <a:ext cx="12192000" cy="6858000"/>
          </a:xfrm>
          <a:prstGeom prst="rect">
            <a:avLst/>
          </a:prstGeom>
        </p:spPr>
      </p:pic>
      <p:sp>
        <p:nvSpPr>
          <p:cNvPr id="3" name="Shape 496">
            <a:extLst>
              <a:ext uri="{FF2B5EF4-FFF2-40B4-BE49-F238E27FC236}">
                <a16:creationId xmlns:a16="http://schemas.microsoft.com/office/drawing/2014/main" id="{5000F9B6-F8F6-9248-9AA7-D6B17635D5C0}"/>
              </a:ext>
            </a:extLst>
          </p:cNvPr>
          <p:cNvSpPr/>
          <p:nvPr userDrawn="1"/>
        </p:nvSpPr>
        <p:spPr>
          <a:xfrm>
            <a:off x="0" y="0"/>
            <a:ext cx="12192000" cy="6858000"/>
          </a:xfrm>
          <a:prstGeom prst="rect">
            <a:avLst/>
          </a:prstGeom>
          <a:solidFill>
            <a:schemeClr val="accent4">
              <a:lumMod val="50000"/>
              <a:alpha val="76920"/>
            </a:schemeClr>
          </a:solidFill>
          <a:ln>
            <a:noFill/>
          </a:ln>
        </p:spPr>
        <p:txBody>
          <a:bodyPr spcFirstLastPara="1" wrap="square" lIns="45570" tIns="22774" rIns="45570" bIns="22774" anchor="ctr" anchorCtr="0">
            <a:noAutofit/>
          </a:bodyPr>
          <a:lstStyle/>
          <a:p>
            <a:pPr algn="ctr"/>
            <a:endParaRPr sz="1774">
              <a:solidFill>
                <a:schemeClr val="lt1"/>
              </a:solidFill>
              <a:latin typeface="Calibri"/>
              <a:ea typeface="Calibri"/>
              <a:cs typeface="Calibri"/>
              <a:sym typeface="Calibri"/>
            </a:endParaRPr>
          </a:p>
        </p:txBody>
      </p:sp>
      <p:sp>
        <p:nvSpPr>
          <p:cNvPr id="4" name="Shape 498">
            <a:extLst>
              <a:ext uri="{FF2B5EF4-FFF2-40B4-BE49-F238E27FC236}">
                <a16:creationId xmlns:a16="http://schemas.microsoft.com/office/drawing/2014/main" id="{E8C2C508-A1E0-F74E-98D1-174AA76012A7}"/>
              </a:ext>
            </a:extLst>
          </p:cNvPr>
          <p:cNvSpPr/>
          <p:nvPr userDrawn="1"/>
        </p:nvSpPr>
        <p:spPr>
          <a:xfrm>
            <a:off x="836587" y="0"/>
            <a:ext cx="8011578" cy="3213847"/>
          </a:xfrm>
          <a:prstGeom prst="rect">
            <a:avLst/>
          </a:prstGeom>
          <a:solidFill>
            <a:schemeClr val="bg1"/>
          </a:solidFill>
          <a:ln>
            <a:noFill/>
          </a:ln>
        </p:spPr>
        <p:txBody>
          <a:bodyPr spcFirstLastPara="1" wrap="square" lIns="45570" tIns="45570" rIns="45570" bIns="45570" anchor="ctr" anchorCtr="0">
            <a:noAutofit/>
          </a:bodyPr>
          <a:lstStyle/>
          <a:p>
            <a:endParaRPr sz="3245"/>
          </a:p>
        </p:txBody>
      </p:sp>
      <p:cxnSp>
        <p:nvCxnSpPr>
          <p:cNvPr id="7" name="Shape 501">
            <a:extLst>
              <a:ext uri="{FF2B5EF4-FFF2-40B4-BE49-F238E27FC236}">
                <a16:creationId xmlns:a16="http://schemas.microsoft.com/office/drawing/2014/main" id="{BA649C26-AADD-2E4F-AB0A-7C7DF336509F}"/>
              </a:ext>
            </a:extLst>
          </p:cNvPr>
          <p:cNvCxnSpPr>
            <a:cxnSpLocks/>
          </p:cNvCxnSpPr>
          <p:nvPr userDrawn="1"/>
        </p:nvCxnSpPr>
        <p:spPr>
          <a:xfrm>
            <a:off x="1361722" y="1776179"/>
            <a:ext cx="0" cy="1005840"/>
          </a:xfrm>
          <a:prstGeom prst="straightConnector1">
            <a:avLst/>
          </a:prstGeom>
          <a:noFill/>
          <a:ln w="28575" cap="flat" cmpd="sng">
            <a:solidFill>
              <a:schemeClr val="accent1"/>
            </a:solidFill>
            <a:prstDash val="solid"/>
            <a:miter lim="800000"/>
            <a:headEnd type="none" w="sm" len="sm"/>
            <a:tailEnd type="none" w="sm" len="sm"/>
          </a:ln>
        </p:spPr>
      </p:cxnSp>
      <p:sp>
        <p:nvSpPr>
          <p:cNvPr id="11" name="Title 10">
            <a:extLst>
              <a:ext uri="{FF2B5EF4-FFF2-40B4-BE49-F238E27FC236}">
                <a16:creationId xmlns:a16="http://schemas.microsoft.com/office/drawing/2014/main" id="{55010504-083C-5149-9DD3-4ECED2E046AF}"/>
              </a:ext>
            </a:extLst>
          </p:cNvPr>
          <p:cNvSpPr>
            <a:spLocks noGrp="1"/>
          </p:cNvSpPr>
          <p:nvPr>
            <p:ph type="title" hasCustomPrompt="1"/>
          </p:nvPr>
        </p:nvSpPr>
        <p:spPr>
          <a:xfrm>
            <a:off x="1657558" y="1746766"/>
            <a:ext cx="6719958" cy="579584"/>
          </a:xfrm>
          <a:prstGeom prst="rect">
            <a:avLst/>
          </a:prstGeom>
        </p:spPr>
        <p:txBody>
          <a:bodyPr anchor="t">
            <a:noAutofit/>
          </a:bodyPr>
          <a:lstStyle>
            <a:lvl1pPr>
              <a:lnSpc>
                <a:spcPct val="100000"/>
              </a:lnSpc>
              <a:defRPr sz="3300" b="1">
                <a:solidFill>
                  <a:schemeClr val="accent4"/>
                </a:solidFill>
                <a:latin typeface="+mj-lt"/>
                <a:ea typeface="Roboto" pitchFamily="2" charset="0"/>
              </a:defRPr>
            </a:lvl1pPr>
          </a:lstStyle>
          <a:p>
            <a:r>
              <a:rPr lang="en-US"/>
              <a:t>Presentation Title</a:t>
            </a:r>
          </a:p>
        </p:txBody>
      </p:sp>
      <p:sp>
        <p:nvSpPr>
          <p:cNvPr id="13" name="Text Placeholder 12">
            <a:extLst>
              <a:ext uri="{FF2B5EF4-FFF2-40B4-BE49-F238E27FC236}">
                <a16:creationId xmlns:a16="http://schemas.microsoft.com/office/drawing/2014/main" id="{AFC4F28A-3969-CB44-AD80-57430363975F}"/>
              </a:ext>
            </a:extLst>
          </p:cNvPr>
          <p:cNvSpPr>
            <a:spLocks noGrp="1"/>
          </p:cNvSpPr>
          <p:nvPr>
            <p:ph type="body" sz="quarter" idx="10" hasCustomPrompt="1"/>
          </p:nvPr>
        </p:nvSpPr>
        <p:spPr>
          <a:xfrm>
            <a:off x="1657558" y="2326350"/>
            <a:ext cx="6719958" cy="455669"/>
          </a:xfrm>
          <a:prstGeom prst="rect">
            <a:avLst/>
          </a:prstGeom>
        </p:spPr>
        <p:txBody>
          <a:bodyPr anchor="b">
            <a:normAutofit/>
          </a:bodyPr>
          <a:lstStyle>
            <a:lvl1pPr marL="0" indent="0">
              <a:lnSpc>
                <a:spcPct val="100000"/>
              </a:lnSpc>
              <a:spcBef>
                <a:spcPts val="0"/>
              </a:spcBef>
              <a:buNone/>
              <a:defRPr sz="2500" b="1">
                <a:solidFill>
                  <a:schemeClr val="accent1"/>
                </a:solidFill>
                <a:latin typeface="+mj-lt"/>
                <a:ea typeface="Roboto" pitchFamily="2" charset="0"/>
              </a:defRPr>
            </a:lvl1pPr>
          </a:lstStyle>
          <a:p>
            <a:pPr lvl="0"/>
            <a:r>
              <a:rPr lang="en-US"/>
              <a:t>Subtitle</a:t>
            </a:r>
          </a:p>
        </p:txBody>
      </p:sp>
      <p:pic>
        <p:nvPicPr>
          <p:cNvPr id="9" name="Picture 8">
            <a:extLst>
              <a:ext uri="{FF2B5EF4-FFF2-40B4-BE49-F238E27FC236}">
                <a16:creationId xmlns:a16="http://schemas.microsoft.com/office/drawing/2014/main" id="{DB93324A-D0C9-487F-B733-73ADBB22FFDF}"/>
              </a:ext>
            </a:extLst>
          </p:cNvPr>
          <p:cNvPicPr>
            <a:picLocks noChangeAspect="1"/>
          </p:cNvPicPr>
          <p:nvPr userDrawn="1"/>
        </p:nvPicPr>
        <p:blipFill>
          <a:blip r:embed="rId3"/>
          <a:stretch>
            <a:fillRect/>
          </a:stretch>
        </p:blipFill>
        <p:spPr>
          <a:xfrm>
            <a:off x="910473" y="203199"/>
            <a:ext cx="2926080" cy="1170432"/>
          </a:xfrm>
          <a:prstGeom prst="rect">
            <a:avLst/>
          </a:prstGeom>
        </p:spPr>
      </p:pic>
    </p:spTree>
    <p:extLst>
      <p:ext uri="{BB962C8B-B14F-4D97-AF65-F5344CB8AC3E}">
        <p14:creationId xmlns:p14="http://schemas.microsoft.com/office/powerpoint/2010/main" val="3243094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D7C7D-F8F1-0D4D-AEAA-66297F64A552}"/>
              </a:ext>
            </a:extLst>
          </p:cNvPr>
          <p:cNvSpPr/>
          <p:nvPr userDrawn="1"/>
        </p:nvSpPr>
        <p:spPr>
          <a:xfrm>
            <a:off x="0" y="0"/>
            <a:ext cx="12192000" cy="44087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5" name="Rectangle 4">
            <a:extLst>
              <a:ext uri="{FF2B5EF4-FFF2-40B4-BE49-F238E27FC236}">
                <a16:creationId xmlns:a16="http://schemas.microsoft.com/office/drawing/2014/main" id="{A8516A2C-CC87-6842-B041-C88A51E348FA}"/>
              </a:ext>
            </a:extLst>
          </p:cNvPr>
          <p:cNvSpPr/>
          <p:nvPr userDrawn="1"/>
        </p:nvSpPr>
        <p:spPr>
          <a:xfrm>
            <a:off x="731520" y="3918857"/>
            <a:ext cx="3413760" cy="19594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7" name="Straight Connector 6">
            <a:extLst>
              <a:ext uri="{FF2B5EF4-FFF2-40B4-BE49-F238E27FC236}">
                <a16:creationId xmlns:a16="http://schemas.microsoft.com/office/drawing/2014/main" id="{5A5B437D-909F-EA4B-8D5D-F6143BC1973C}"/>
              </a:ext>
            </a:extLst>
          </p:cNvPr>
          <p:cNvCxnSpPr/>
          <p:nvPr userDrawn="1"/>
        </p:nvCxnSpPr>
        <p:spPr>
          <a:xfrm>
            <a:off x="994983" y="4408715"/>
            <a:ext cx="48768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E517F7E1-5F44-504D-BB37-7ABA804C5C50}"/>
              </a:ext>
            </a:extLst>
          </p:cNvPr>
          <p:cNvSpPr>
            <a:spLocks noGrp="1"/>
          </p:cNvSpPr>
          <p:nvPr>
            <p:ph type="title" hasCustomPrompt="1"/>
          </p:nvPr>
        </p:nvSpPr>
        <p:spPr>
          <a:xfrm>
            <a:off x="683699" y="1383396"/>
            <a:ext cx="4390814" cy="1011461"/>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kumimoji="0" lang="id-ID" sz="3300" b="1" i="0" u="none" strike="noStrike" kern="1200" cap="none" spc="0" normalizeH="0" baseline="0" noProof="0" smtClean="0">
                <a:ln>
                  <a:noFill/>
                </a:ln>
                <a:solidFill>
                  <a:srgbClr val="FFFFFF"/>
                </a:solidFill>
                <a:effectLst/>
                <a:uLnTx/>
                <a:uFillTx/>
                <a:latin typeface="+mj-lt"/>
                <a:ea typeface="Roboto" pitchFamily="2" charset="0"/>
                <a:cs typeface="+mj-cs"/>
              </a:defRPr>
            </a:lvl1pPr>
          </a:lstStyle>
          <a:p>
            <a:r>
              <a:rPr lang="en-US"/>
              <a:t>Section Title </a:t>
            </a:r>
            <a:br>
              <a:rPr lang="en-US"/>
            </a:br>
            <a:r>
              <a:rPr lang="en-US"/>
              <a:t>Lorem Ipsum</a:t>
            </a:r>
          </a:p>
        </p:txBody>
      </p:sp>
      <p:sp>
        <p:nvSpPr>
          <p:cNvPr id="13" name="Text Placeholder 12">
            <a:extLst>
              <a:ext uri="{FF2B5EF4-FFF2-40B4-BE49-F238E27FC236}">
                <a16:creationId xmlns:a16="http://schemas.microsoft.com/office/drawing/2014/main" id="{84AD058E-455F-F241-852A-2FC4AFC81430}"/>
              </a:ext>
            </a:extLst>
          </p:cNvPr>
          <p:cNvSpPr>
            <a:spLocks noGrp="1"/>
          </p:cNvSpPr>
          <p:nvPr>
            <p:ph type="body" sz="quarter" idx="10" hasCustomPrompt="1"/>
          </p:nvPr>
        </p:nvSpPr>
        <p:spPr>
          <a:xfrm>
            <a:off x="683699" y="2551338"/>
            <a:ext cx="4390814" cy="1108984"/>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Some detail about the section to follow this slide. Lorem ipsum</a:t>
            </a:r>
          </a:p>
        </p:txBody>
      </p:sp>
      <p:sp>
        <p:nvSpPr>
          <p:cNvPr id="15" name="Text Placeholder 14">
            <a:extLst>
              <a:ext uri="{FF2B5EF4-FFF2-40B4-BE49-F238E27FC236}">
                <a16:creationId xmlns:a16="http://schemas.microsoft.com/office/drawing/2014/main" id="{7BCAE3BB-EC9F-9244-913E-DEC271BA13FC}"/>
              </a:ext>
            </a:extLst>
          </p:cNvPr>
          <p:cNvSpPr>
            <a:spLocks noGrp="1"/>
          </p:cNvSpPr>
          <p:nvPr>
            <p:ph type="body" sz="quarter" idx="11" hasCustomPrompt="1"/>
          </p:nvPr>
        </p:nvSpPr>
        <p:spPr>
          <a:xfrm>
            <a:off x="954343" y="4565196"/>
            <a:ext cx="2892911" cy="1158879"/>
          </a:xfrm>
          <a:prstGeom prst="rect">
            <a:avLst/>
          </a:prstGeom>
        </p:spPr>
        <p:txBody>
          <a:bodyPr/>
          <a:lstStyle>
            <a:lvl1pPr marL="0" indent="0">
              <a:buNone/>
              <a:defRPr sz="1200">
                <a:solidFill>
                  <a:schemeClr val="accent4">
                    <a:lumMod val="50000"/>
                  </a:schemeClr>
                </a:solidFill>
                <a:latin typeface="+mj-lt"/>
                <a:ea typeface="Roboto" pitchFamily="2" charset="0"/>
              </a:defRPr>
            </a:lvl1pPr>
          </a:lstStyle>
          <a:p>
            <a:pPr lvl="0"/>
            <a:r>
              <a:rPr lang="en-US"/>
              <a:t>Lorem Ipsum is simply dummy text of the printing and typesetting industry. Lorem Ipsum has been the industry's standard dummy text ever since the 1500s, when an unknown printer took a galley of type.</a:t>
            </a:r>
          </a:p>
        </p:txBody>
      </p:sp>
      <p:sp>
        <p:nvSpPr>
          <p:cNvPr id="8" name="TextBox 7">
            <a:extLst>
              <a:ext uri="{FF2B5EF4-FFF2-40B4-BE49-F238E27FC236}">
                <a16:creationId xmlns:a16="http://schemas.microsoft.com/office/drawing/2014/main" id="{41BBE58B-3A38-AE4F-A7FA-9FBF1C7D262B}"/>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Tree>
    <p:extLst>
      <p:ext uri="{BB962C8B-B14F-4D97-AF65-F5344CB8AC3E}">
        <p14:creationId xmlns:p14="http://schemas.microsoft.com/office/powerpoint/2010/main" val="230231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Titl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D7C7D-F8F1-0D4D-AEAA-66297F64A552}"/>
              </a:ext>
            </a:extLst>
          </p:cNvPr>
          <p:cNvSpPr/>
          <p:nvPr userDrawn="1"/>
        </p:nvSpPr>
        <p:spPr>
          <a:xfrm>
            <a:off x="0" y="0"/>
            <a:ext cx="12192000" cy="44087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5" name="Rectangle 4">
            <a:extLst>
              <a:ext uri="{FF2B5EF4-FFF2-40B4-BE49-F238E27FC236}">
                <a16:creationId xmlns:a16="http://schemas.microsoft.com/office/drawing/2014/main" id="{A8516A2C-CC87-6842-B041-C88A51E348FA}"/>
              </a:ext>
            </a:extLst>
          </p:cNvPr>
          <p:cNvSpPr/>
          <p:nvPr userDrawn="1"/>
        </p:nvSpPr>
        <p:spPr>
          <a:xfrm>
            <a:off x="731520" y="3918857"/>
            <a:ext cx="5364480" cy="19594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7" name="Straight Connector 6">
            <a:extLst>
              <a:ext uri="{FF2B5EF4-FFF2-40B4-BE49-F238E27FC236}">
                <a16:creationId xmlns:a16="http://schemas.microsoft.com/office/drawing/2014/main" id="{5A5B437D-909F-EA4B-8D5D-F6143BC1973C}"/>
              </a:ext>
            </a:extLst>
          </p:cNvPr>
          <p:cNvCxnSpPr/>
          <p:nvPr userDrawn="1"/>
        </p:nvCxnSpPr>
        <p:spPr>
          <a:xfrm>
            <a:off x="994983" y="4252234"/>
            <a:ext cx="6858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E517F7E1-5F44-504D-BB37-7ABA804C5C50}"/>
              </a:ext>
            </a:extLst>
          </p:cNvPr>
          <p:cNvSpPr>
            <a:spLocks noGrp="1"/>
          </p:cNvSpPr>
          <p:nvPr>
            <p:ph type="title" hasCustomPrompt="1"/>
          </p:nvPr>
        </p:nvSpPr>
        <p:spPr>
          <a:xfrm>
            <a:off x="580644" y="1383396"/>
            <a:ext cx="6250463" cy="1011461"/>
          </a:xfrm>
          <a:prstGeom prst="rect">
            <a:avLst/>
          </a:prstGeom>
        </p:spPr>
        <p:txBody>
          <a:bodyPr anchor="b"/>
          <a:lstStyle>
            <a:lvl1pPr marL="0" marR="0" indent="0" algn="l" defTabSz="853455" rtl="0" eaLnBrk="1" fontAlgn="auto" latinLnBrk="0" hangingPunct="1">
              <a:lnSpc>
                <a:spcPct val="90000"/>
              </a:lnSpc>
              <a:spcBef>
                <a:spcPct val="0"/>
              </a:spcBef>
              <a:spcAft>
                <a:spcPts val="0"/>
              </a:spcAft>
              <a:buClrTx/>
              <a:buSzTx/>
              <a:buFontTx/>
              <a:buNone/>
              <a:tabLst/>
              <a:defRPr kumimoji="0" lang="id-ID" sz="3300" b="1" i="0" u="none" strike="noStrike" kern="1200" cap="none" spc="0" normalizeH="0" baseline="0" noProof="0" smtClean="0">
                <a:ln>
                  <a:noFill/>
                </a:ln>
                <a:solidFill>
                  <a:srgbClr val="FFFFFF"/>
                </a:solidFill>
                <a:effectLst/>
                <a:uLnTx/>
                <a:uFillTx/>
                <a:latin typeface="+mj-lt"/>
                <a:ea typeface="Roboto" pitchFamily="2" charset="0"/>
                <a:cs typeface="+mj-cs"/>
              </a:defRPr>
            </a:lvl1pPr>
          </a:lstStyle>
          <a:p>
            <a:r>
              <a:rPr lang="en-US"/>
              <a:t>Section Title </a:t>
            </a:r>
            <a:br>
              <a:rPr lang="en-US"/>
            </a:br>
            <a:r>
              <a:rPr lang="en-US"/>
              <a:t>Lorem Ipsum</a:t>
            </a:r>
          </a:p>
        </p:txBody>
      </p:sp>
      <p:sp>
        <p:nvSpPr>
          <p:cNvPr id="13" name="Text Placeholder 12">
            <a:extLst>
              <a:ext uri="{FF2B5EF4-FFF2-40B4-BE49-F238E27FC236}">
                <a16:creationId xmlns:a16="http://schemas.microsoft.com/office/drawing/2014/main" id="{84AD058E-455F-F241-852A-2FC4AFC81430}"/>
              </a:ext>
            </a:extLst>
          </p:cNvPr>
          <p:cNvSpPr>
            <a:spLocks noGrp="1"/>
          </p:cNvSpPr>
          <p:nvPr>
            <p:ph type="body" sz="quarter" idx="10" hasCustomPrompt="1"/>
          </p:nvPr>
        </p:nvSpPr>
        <p:spPr>
          <a:xfrm>
            <a:off x="580644" y="2653393"/>
            <a:ext cx="6250463" cy="1006929"/>
          </a:xfrm>
          <a:prstGeom prst="rect">
            <a:avLst/>
          </a:prstGeom>
        </p:spPr>
        <p:txBody>
          <a:bodyPr>
            <a:normAutofit/>
          </a:bodyPr>
          <a:lstStyle>
            <a:lvl1pPr marL="0" indent="0">
              <a:buNone/>
              <a:defRPr sz="2500" b="1">
                <a:solidFill>
                  <a:schemeClr val="accent1"/>
                </a:solidFill>
                <a:latin typeface="+mj-lt"/>
                <a:ea typeface="Roboto" pitchFamily="2" charset="0"/>
              </a:defRPr>
            </a:lvl1pPr>
          </a:lstStyle>
          <a:p>
            <a:pPr lvl="0"/>
            <a:r>
              <a:rPr lang="en-US"/>
              <a:t>Some detail about the section to follow this slide. Lorem ipsum</a:t>
            </a:r>
          </a:p>
        </p:txBody>
      </p:sp>
      <p:sp>
        <p:nvSpPr>
          <p:cNvPr id="15" name="Text Placeholder 14">
            <a:extLst>
              <a:ext uri="{FF2B5EF4-FFF2-40B4-BE49-F238E27FC236}">
                <a16:creationId xmlns:a16="http://schemas.microsoft.com/office/drawing/2014/main" id="{7BCAE3BB-EC9F-9244-913E-DEC271BA13FC}"/>
              </a:ext>
            </a:extLst>
          </p:cNvPr>
          <p:cNvSpPr>
            <a:spLocks noGrp="1"/>
          </p:cNvSpPr>
          <p:nvPr>
            <p:ph type="body" sz="quarter" idx="11" hasCustomPrompt="1"/>
          </p:nvPr>
        </p:nvSpPr>
        <p:spPr>
          <a:xfrm>
            <a:off x="954342" y="4408715"/>
            <a:ext cx="4871271" cy="1179286"/>
          </a:xfrm>
          <a:prstGeom prst="rect">
            <a:avLst/>
          </a:prstGeom>
        </p:spPr>
        <p:txBody>
          <a:bodyPr>
            <a:normAutofit/>
          </a:bodyPr>
          <a:lstStyle>
            <a:lvl1pPr marL="0" indent="0">
              <a:lnSpc>
                <a:spcPct val="114000"/>
              </a:lnSpc>
              <a:spcBef>
                <a:spcPts val="300"/>
              </a:spcBef>
              <a:buNone/>
              <a:defRPr sz="1400">
                <a:solidFill>
                  <a:schemeClr val="accent4">
                    <a:lumMod val="50000"/>
                  </a:schemeClr>
                </a:solidFill>
                <a:latin typeface="+mj-lt"/>
                <a:ea typeface="Roboto" pitchFamily="2" charset="0"/>
              </a:defRPr>
            </a:lvl1pPr>
          </a:lstStyle>
          <a:p>
            <a:pPr lvl="0"/>
            <a:r>
              <a:rPr lang="en-US"/>
              <a:t>Lorem Ipsum is simply dummy text of the printing and typesetting industry. Lorem Ipsum has been the industry's standard dummy text ever since the 1500s, when an unknown printer took a galley of type.</a:t>
            </a:r>
          </a:p>
        </p:txBody>
      </p:sp>
      <p:sp>
        <p:nvSpPr>
          <p:cNvPr id="8" name="TextBox 7">
            <a:extLst>
              <a:ext uri="{FF2B5EF4-FFF2-40B4-BE49-F238E27FC236}">
                <a16:creationId xmlns:a16="http://schemas.microsoft.com/office/drawing/2014/main" id="{41BBE58B-3A38-AE4F-A7FA-9FBF1C7D262B}"/>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9" name="Rectangle 8">
            <a:extLst>
              <a:ext uri="{FF2B5EF4-FFF2-40B4-BE49-F238E27FC236}">
                <a16:creationId xmlns:a16="http://schemas.microsoft.com/office/drawing/2014/main" id="{33E0E1BC-F2DA-4B65-9524-6AA02CB40CE7}"/>
              </a:ext>
            </a:extLst>
          </p:cNvPr>
          <p:cNvSpPr/>
          <p:nvPr userDrawn="1"/>
        </p:nvSpPr>
        <p:spPr>
          <a:xfrm>
            <a:off x="7664823" y="5878285"/>
            <a:ext cx="4527177" cy="97971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pic>
        <p:nvPicPr>
          <p:cNvPr id="12" name="Picture 11">
            <a:extLst>
              <a:ext uri="{FF2B5EF4-FFF2-40B4-BE49-F238E27FC236}">
                <a16:creationId xmlns:a16="http://schemas.microsoft.com/office/drawing/2014/main" id="{881504AA-CEC1-46D6-A993-BB5D86B38A1C}"/>
              </a:ext>
            </a:extLst>
          </p:cNvPr>
          <p:cNvPicPr>
            <a:picLocks noChangeAspect="1"/>
          </p:cNvPicPr>
          <p:nvPr userDrawn="1"/>
        </p:nvPicPr>
        <p:blipFill>
          <a:blip r:embed="rId2"/>
          <a:stretch>
            <a:fillRect/>
          </a:stretch>
        </p:blipFill>
        <p:spPr>
          <a:xfrm>
            <a:off x="7394436" y="4861690"/>
            <a:ext cx="4500620" cy="1800248"/>
          </a:xfrm>
          <a:prstGeom prst="rect">
            <a:avLst/>
          </a:prstGeom>
        </p:spPr>
      </p:pic>
    </p:spTree>
    <p:extLst>
      <p:ext uri="{BB962C8B-B14F-4D97-AF65-F5344CB8AC3E}">
        <p14:creationId xmlns:p14="http://schemas.microsoft.com/office/powerpoint/2010/main" val="3856119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F865BE-876E-E64A-BE6A-CEC390575C3D}"/>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10" name="Straight Connector 9">
            <a:extLst>
              <a:ext uri="{FF2B5EF4-FFF2-40B4-BE49-F238E27FC236}">
                <a16:creationId xmlns:a16="http://schemas.microsoft.com/office/drawing/2014/main" id="{10932BC1-9861-E24D-B703-FD05F5A906F3}"/>
              </a:ext>
            </a:extLst>
          </p:cNvPr>
          <p:cNvCxnSpPr>
            <a:cxnSpLocks/>
          </p:cNvCxnSpPr>
          <p:nvPr userDrawn="1"/>
        </p:nvCxnSpPr>
        <p:spPr>
          <a:xfrm>
            <a:off x="6539346" y="3740727"/>
            <a:ext cx="5652655" cy="0"/>
          </a:xfrm>
          <a:prstGeom prst="line">
            <a:avLst/>
          </a:prstGeom>
          <a:ln w="38100">
            <a:solidFill>
              <a:schemeClr val="accent1"/>
            </a:solidFill>
            <a:headEnd type="oval"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7A62B4-5094-094D-B550-45405E518EA6}"/>
              </a:ext>
            </a:extLst>
          </p:cNvPr>
          <p:cNvSpPr>
            <a:spLocks noGrp="1"/>
          </p:cNvSpPr>
          <p:nvPr>
            <p:ph type="title" hasCustomPrompt="1"/>
          </p:nvPr>
        </p:nvSpPr>
        <p:spPr>
          <a:xfrm>
            <a:off x="6776314" y="2514600"/>
            <a:ext cx="4791456" cy="1119783"/>
          </a:xfrm>
          <a:prstGeom prst="rect">
            <a:avLst/>
          </a:prstGeom>
        </p:spPr>
        <p:txBody>
          <a:bodyPr anchor="b">
            <a:noAutofit/>
          </a:bodyPr>
          <a:lstStyle>
            <a:lvl1pPr>
              <a:lnSpc>
                <a:spcPct val="100000"/>
              </a:lnSpc>
              <a:defRPr sz="3300" b="1" i="0">
                <a:solidFill>
                  <a:schemeClr val="bg1"/>
                </a:solidFill>
                <a:latin typeface="+mj-lt"/>
                <a:ea typeface="Roboto Medium" pitchFamily="2" charset="0"/>
              </a:defRPr>
            </a:lvl1pPr>
          </a:lstStyle>
          <a:p>
            <a:r>
              <a:rPr lang="en-US"/>
              <a:t>Section Title Lorem Ipsum</a:t>
            </a:r>
          </a:p>
        </p:txBody>
      </p:sp>
      <p:sp>
        <p:nvSpPr>
          <p:cNvPr id="14" name="Text Placeholder 12">
            <a:extLst>
              <a:ext uri="{FF2B5EF4-FFF2-40B4-BE49-F238E27FC236}">
                <a16:creationId xmlns:a16="http://schemas.microsoft.com/office/drawing/2014/main" id="{D66506BC-A56E-0D42-9C19-4B462635D0C5}"/>
              </a:ext>
            </a:extLst>
          </p:cNvPr>
          <p:cNvSpPr>
            <a:spLocks noGrp="1"/>
          </p:cNvSpPr>
          <p:nvPr>
            <p:ph type="body" sz="quarter" idx="10" hasCustomPrompt="1"/>
          </p:nvPr>
        </p:nvSpPr>
        <p:spPr>
          <a:xfrm>
            <a:off x="6776314" y="3891643"/>
            <a:ext cx="4791456" cy="882063"/>
          </a:xfrm>
          <a:prstGeom prst="rect">
            <a:avLst/>
          </a:prstGeom>
        </p:spPr>
        <p:txBody>
          <a:bodyPr>
            <a:normAutofit/>
          </a:bodyPr>
          <a:lstStyle>
            <a:lvl1pPr marL="0" indent="0">
              <a:lnSpc>
                <a:spcPct val="100000"/>
              </a:lnSpc>
              <a:spcBef>
                <a:spcPts val="0"/>
              </a:spcBef>
              <a:buNone/>
              <a:defRPr sz="2500" b="1">
                <a:solidFill>
                  <a:schemeClr val="accent1"/>
                </a:solidFill>
                <a:latin typeface="+mj-lt"/>
                <a:ea typeface="Roboto" pitchFamily="2" charset="0"/>
              </a:defRPr>
            </a:lvl1pPr>
          </a:lstStyle>
          <a:p>
            <a:pPr lvl="0"/>
            <a:r>
              <a:rPr lang="en-US"/>
              <a:t>Some detail about the section to follow this slide. Lorem ipsum</a:t>
            </a:r>
          </a:p>
        </p:txBody>
      </p:sp>
      <p:sp>
        <p:nvSpPr>
          <p:cNvPr id="16" name="TextBox 15">
            <a:extLst>
              <a:ext uri="{FF2B5EF4-FFF2-40B4-BE49-F238E27FC236}">
                <a16:creationId xmlns:a16="http://schemas.microsoft.com/office/drawing/2014/main" id="{4F5501CB-008A-2843-AD51-FB32AD36FDD3}"/>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17" name="TextBox 16">
            <a:extLst>
              <a:ext uri="{FF2B5EF4-FFF2-40B4-BE49-F238E27FC236}">
                <a16:creationId xmlns:a16="http://schemas.microsoft.com/office/drawing/2014/main" id="{46F1E770-63D6-9B4F-A610-0C5671F989A2}"/>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bg1"/>
                </a:solidFill>
                <a:latin typeface="Roboto" pitchFamily="2" charset="0"/>
                <a:ea typeface="Roboto" pitchFamily="2" charset="0"/>
              </a:rPr>
              <a:t>© 2024 Resilinc Corporation. All rights reserved.</a:t>
            </a:r>
          </a:p>
        </p:txBody>
      </p:sp>
      <p:grpSp>
        <p:nvGrpSpPr>
          <p:cNvPr id="3" name="Group 2">
            <a:extLst>
              <a:ext uri="{FF2B5EF4-FFF2-40B4-BE49-F238E27FC236}">
                <a16:creationId xmlns:a16="http://schemas.microsoft.com/office/drawing/2014/main" id="{1595708E-898C-49CE-80DC-D6E816769B61}"/>
              </a:ext>
            </a:extLst>
          </p:cNvPr>
          <p:cNvGrpSpPr/>
          <p:nvPr userDrawn="1"/>
        </p:nvGrpSpPr>
        <p:grpSpPr>
          <a:xfrm>
            <a:off x="7807044" y="6192297"/>
            <a:ext cx="4159557" cy="501588"/>
            <a:chOff x="15614087" y="12384593"/>
            <a:chExt cx="8319114" cy="1003175"/>
          </a:xfrm>
        </p:grpSpPr>
        <p:pic>
          <p:nvPicPr>
            <p:cNvPr id="28" name="Picture 27">
              <a:extLst>
                <a:ext uri="{FF2B5EF4-FFF2-40B4-BE49-F238E27FC236}">
                  <a16:creationId xmlns:a16="http://schemas.microsoft.com/office/drawing/2014/main" id="{23E07392-B1EC-44F0-B491-EED960AB9E1B}"/>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11" name="Rounded Rectangle 9">
              <a:extLst>
                <a:ext uri="{FF2B5EF4-FFF2-40B4-BE49-F238E27FC236}">
                  <a16:creationId xmlns:a16="http://schemas.microsoft.com/office/drawing/2014/main" id="{2C0BFD96-B8F4-4D08-84B6-FECB0CFBB137}"/>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0">
              <a:extLst>
                <a:ext uri="{FF2B5EF4-FFF2-40B4-BE49-F238E27FC236}">
                  <a16:creationId xmlns:a16="http://schemas.microsoft.com/office/drawing/2014/main" id="{DDB5BF1E-6DCE-4F79-950C-919B06E7822B}"/>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1">
              <a:extLst>
                <a:ext uri="{FF2B5EF4-FFF2-40B4-BE49-F238E27FC236}">
                  <a16:creationId xmlns:a16="http://schemas.microsoft.com/office/drawing/2014/main" id="{D32532A6-52F7-4A98-978D-87713977B603}"/>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ounded Rectangle 12">
              <a:extLst>
                <a:ext uri="{FF2B5EF4-FFF2-40B4-BE49-F238E27FC236}">
                  <a16:creationId xmlns:a16="http://schemas.microsoft.com/office/drawing/2014/main" id="{B8404A56-7D21-4376-9E77-BF53EDD8CED8}"/>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13">
              <a:extLst>
                <a:ext uri="{FF2B5EF4-FFF2-40B4-BE49-F238E27FC236}">
                  <a16:creationId xmlns:a16="http://schemas.microsoft.com/office/drawing/2014/main" id="{EAF8EDB3-B863-43C0-894F-285080D2E285}"/>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4">
              <a:extLst>
                <a:ext uri="{FF2B5EF4-FFF2-40B4-BE49-F238E27FC236}">
                  <a16:creationId xmlns:a16="http://schemas.microsoft.com/office/drawing/2014/main" id="{E3E051BC-3FB7-4FDD-A46A-7EF34EBEE51A}"/>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5">
              <a:extLst>
                <a:ext uri="{FF2B5EF4-FFF2-40B4-BE49-F238E27FC236}">
                  <a16:creationId xmlns:a16="http://schemas.microsoft.com/office/drawing/2014/main" id="{DB05CB51-0FE0-46DD-B738-6E8812A2A614}"/>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16">
              <a:extLst>
                <a:ext uri="{FF2B5EF4-FFF2-40B4-BE49-F238E27FC236}">
                  <a16:creationId xmlns:a16="http://schemas.microsoft.com/office/drawing/2014/main" id="{8F0EB324-B3A6-4489-83B3-8D335C373D13}"/>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17">
              <a:extLst>
                <a:ext uri="{FF2B5EF4-FFF2-40B4-BE49-F238E27FC236}">
                  <a16:creationId xmlns:a16="http://schemas.microsoft.com/office/drawing/2014/main" id="{245E5933-DF16-469F-9154-AEB6860ED0C4}"/>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ounded Rectangle 18">
              <a:extLst>
                <a:ext uri="{FF2B5EF4-FFF2-40B4-BE49-F238E27FC236}">
                  <a16:creationId xmlns:a16="http://schemas.microsoft.com/office/drawing/2014/main" id="{4F909F58-21A6-4664-ADBE-AC3B5C64A6A3}"/>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19">
              <a:extLst>
                <a:ext uri="{FF2B5EF4-FFF2-40B4-BE49-F238E27FC236}">
                  <a16:creationId xmlns:a16="http://schemas.microsoft.com/office/drawing/2014/main" id="{B0575E4D-3EE1-4B39-BF7C-ABAABD2B9D68}"/>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53628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03">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0932BC1-9861-E24D-B703-FD05F5A906F3}"/>
              </a:ext>
            </a:extLst>
          </p:cNvPr>
          <p:cNvCxnSpPr>
            <a:cxnSpLocks/>
          </p:cNvCxnSpPr>
          <p:nvPr userDrawn="1"/>
        </p:nvCxnSpPr>
        <p:spPr>
          <a:xfrm>
            <a:off x="6539346" y="3740727"/>
            <a:ext cx="5652655" cy="0"/>
          </a:xfrm>
          <a:prstGeom prst="line">
            <a:avLst/>
          </a:prstGeom>
          <a:ln w="38100">
            <a:solidFill>
              <a:schemeClr val="accent1">
                <a:lumMod val="75000"/>
              </a:schemeClr>
            </a:solidFill>
            <a:headEnd type="oval"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7A62B4-5094-094D-B550-45405E518EA6}"/>
              </a:ext>
            </a:extLst>
          </p:cNvPr>
          <p:cNvSpPr>
            <a:spLocks noGrp="1"/>
          </p:cNvSpPr>
          <p:nvPr>
            <p:ph type="title" hasCustomPrompt="1"/>
          </p:nvPr>
        </p:nvSpPr>
        <p:spPr>
          <a:xfrm>
            <a:off x="6777318" y="2514600"/>
            <a:ext cx="4790452" cy="1119783"/>
          </a:xfrm>
          <a:prstGeom prst="rect">
            <a:avLst/>
          </a:prstGeom>
        </p:spPr>
        <p:txBody>
          <a:bodyPr anchor="b">
            <a:noAutofit/>
          </a:bodyPr>
          <a:lstStyle>
            <a:lvl1pPr>
              <a:lnSpc>
                <a:spcPct val="100000"/>
              </a:lnSpc>
              <a:defRPr sz="3300" b="1" i="0">
                <a:solidFill>
                  <a:schemeClr val="accent4"/>
                </a:solidFill>
                <a:latin typeface="+mj-lt"/>
                <a:ea typeface="Roboto Medium" pitchFamily="2" charset="0"/>
              </a:defRPr>
            </a:lvl1pPr>
          </a:lstStyle>
          <a:p>
            <a:r>
              <a:rPr lang="en-US"/>
              <a:t>Section Title Lorem Ipsum</a:t>
            </a:r>
          </a:p>
        </p:txBody>
      </p:sp>
      <p:sp>
        <p:nvSpPr>
          <p:cNvPr id="14" name="Text Placeholder 12">
            <a:extLst>
              <a:ext uri="{FF2B5EF4-FFF2-40B4-BE49-F238E27FC236}">
                <a16:creationId xmlns:a16="http://schemas.microsoft.com/office/drawing/2014/main" id="{D66506BC-A56E-0D42-9C19-4B462635D0C5}"/>
              </a:ext>
            </a:extLst>
          </p:cNvPr>
          <p:cNvSpPr>
            <a:spLocks noGrp="1"/>
          </p:cNvSpPr>
          <p:nvPr>
            <p:ph type="body" sz="quarter" idx="10" hasCustomPrompt="1"/>
          </p:nvPr>
        </p:nvSpPr>
        <p:spPr>
          <a:xfrm>
            <a:off x="6777318" y="3891643"/>
            <a:ext cx="4790452" cy="882063"/>
          </a:xfrm>
          <a:prstGeom prst="rect">
            <a:avLst/>
          </a:prstGeom>
        </p:spPr>
        <p:txBody>
          <a:bodyPr>
            <a:normAutofit/>
          </a:bodyPr>
          <a:lstStyle>
            <a:lvl1pPr marL="0" indent="0">
              <a:lnSpc>
                <a:spcPct val="100000"/>
              </a:lnSpc>
              <a:spcBef>
                <a:spcPts val="0"/>
              </a:spcBef>
              <a:buNone/>
              <a:defRPr sz="2500">
                <a:solidFill>
                  <a:schemeClr val="accent1"/>
                </a:solidFill>
                <a:latin typeface="+mj-lt"/>
                <a:ea typeface="Roboto" pitchFamily="2" charset="0"/>
              </a:defRPr>
            </a:lvl1pPr>
          </a:lstStyle>
          <a:p>
            <a:pPr lvl="0"/>
            <a:r>
              <a:rPr lang="en-US"/>
              <a:t>Some detail about the section to follow this slide. Lorem ipsum</a:t>
            </a:r>
          </a:p>
        </p:txBody>
      </p:sp>
    </p:spTree>
    <p:extLst>
      <p:ext uri="{BB962C8B-B14F-4D97-AF65-F5344CB8AC3E}">
        <p14:creationId xmlns:p14="http://schemas.microsoft.com/office/powerpoint/2010/main" val="1438947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7B258-9A51-4539-895F-45DF1C47DE00}"/>
              </a:ext>
            </a:extLst>
          </p:cNvPr>
          <p:cNvSpPr>
            <a:spLocks noGrp="1"/>
          </p:cNvSpPr>
          <p:nvPr>
            <p:ph idx="1"/>
          </p:nvPr>
        </p:nvSpPr>
        <p:spPr>
          <a:xfrm>
            <a:off x="580339" y="1876153"/>
            <a:ext cx="10987431" cy="4109902"/>
          </a:xfrm>
          <a:prstGeom prst="rect">
            <a:avLst/>
          </a:prstGeom>
        </p:spPr>
        <p:txBody>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itle 6">
            <a:extLst>
              <a:ext uri="{FF2B5EF4-FFF2-40B4-BE49-F238E27FC236}">
                <a16:creationId xmlns:a16="http://schemas.microsoft.com/office/drawing/2014/main" id="{FCDB4642-7343-4FE7-A56C-A51EFC71834B}"/>
              </a:ext>
            </a:extLst>
          </p:cNvPr>
          <p:cNvSpPr>
            <a:spLocks noGrp="1"/>
          </p:cNvSpPr>
          <p:nvPr>
            <p:ph type="title"/>
          </p:nvPr>
        </p:nvSpPr>
        <p:spPr>
          <a:xfrm>
            <a:off x="580339" y="587829"/>
            <a:ext cx="10987431" cy="979715"/>
          </a:xfrm>
          <a:prstGeom prst="rect">
            <a:avLst/>
          </a:prstGeom>
        </p:spPr>
        <p:txBody>
          <a:bodyPr/>
          <a:lstStyle>
            <a:lvl1pPr>
              <a:defRPr sz="3300" b="1">
                <a:solidFill>
                  <a:schemeClr val="accent4"/>
                </a:solidFill>
              </a:defRPr>
            </a:lvl1pPr>
          </a:lstStyle>
          <a:p>
            <a:r>
              <a:rPr lang="en-US"/>
              <a:t>Click to edit Master title style</a:t>
            </a:r>
            <a:endParaRPr lang="en-IN"/>
          </a:p>
        </p:txBody>
      </p:sp>
    </p:spTree>
    <p:extLst>
      <p:ext uri="{BB962C8B-B14F-4D97-AF65-F5344CB8AC3E}">
        <p14:creationId xmlns:p14="http://schemas.microsoft.com/office/powerpoint/2010/main" val="1073987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4961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CFFBF-F17C-4E72-8314-940C83AF3776}"/>
              </a:ext>
            </a:extLst>
          </p:cNvPr>
          <p:cNvSpPr>
            <a:spLocks noGrp="1"/>
          </p:cNvSpPr>
          <p:nvPr>
            <p:ph type="title"/>
          </p:nvPr>
        </p:nvSpPr>
        <p:spPr>
          <a:xfrm>
            <a:off x="580339" y="587829"/>
            <a:ext cx="10987431" cy="979715"/>
          </a:xfrm>
        </p:spPr>
        <p:txBody>
          <a:bodyPr>
            <a:normAutofit/>
          </a:bodyPr>
          <a:lstStyle>
            <a:lvl1pPr>
              <a:defRPr sz="3300" b="1">
                <a:solidFill>
                  <a:schemeClr val="accent4"/>
                </a:solidFill>
              </a:defRPr>
            </a:lvl1pPr>
          </a:lstStyle>
          <a:p>
            <a:r>
              <a:rPr lang="en-US"/>
              <a:t>Click to edit Master title style</a:t>
            </a:r>
            <a:endParaRPr lang="en-IN"/>
          </a:p>
        </p:txBody>
      </p:sp>
    </p:spTree>
    <p:extLst>
      <p:ext uri="{BB962C8B-B14F-4D97-AF65-F5344CB8AC3E}">
        <p14:creationId xmlns:p14="http://schemas.microsoft.com/office/powerpoint/2010/main" val="38048515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6516"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6516"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Tree>
    <p:extLst>
      <p:ext uri="{BB962C8B-B14F-4D97-AF65-F5344CB8AC3E}">
        <p14:creationId xmlns:p14="http://schemas.microsoft.com/office/powerpoint/2010/main" val="40907881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nd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1DB7F4-15D9-4DA0-9FB9-ABFC4D35809E}"/>
              </a:ext>
            </a:extLst>
          </p:cNvPr>
          <p:cNvPicPr>
            <a:picLocks noChangeAspect="1"/>
          </p:cNvPicPr>
          <p:nvPr userDrawn="1"/>
        </p:nvPicPr>
        <p:blipFill>
          <a:blip r:embed="rId2"/>
          <a:stretch>
            <a:fillRect/>
          </a:stretch>
        </p:blipFill>
        <p:spPr>
          <a:xfrm>
            <a:off x="7129" y="1727128"/>
            <a:ext cx="12192000" cy="4918166"/>
          </a:xfrm>
          <a:prstGeom prst="rect">
            <a:avLst/>
          </a:prstGeom>
        </p:spPr>
      </p:pic>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6516"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6516" cy="570142"/>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Text Placeholder 6">
            <a:extLst>
              <a:ext uri="{FF2B5EF4-FFF2-40B4-BE49-F238E27FC236}">
                <a16:creationId xmlns:a16="http://schemas.microsoft.com/office/drawing/2014/main" id="{59F4D007-130F-4B19-8EA8-DA5A540BEA79}"/>
              </a:ext>
            </a:extLst>
          </p:cNvPr>
          <p:cNvSpPr>
            <a:spLocks noGrp="1"/>
          </p:cNvSpPr>
          <p:nvPr>
            <p:ph type="body" sz="quarter" idx="11"/>
          </p:nvPr>
        </p:nvSpPr>
        <p:spPr>
          <a:xfrm>
            <a:off x="580813" y="2135309"/>
            <a:ext cx="3521050" cy="1234440"/>
          </a:xfrm>
        </p:spPr>
        <p:txBody>
          <a:bodyPr>
            <a:normAutofit/>
          </a:bodyPr>
          <a:lstStyle>
            <a:lvl1pPr marL="0" indent="0">
              <a:lnSpc>
                <a:spcPct val="100000"/>
              </a:lnSpc>
              <a:spcBef>
                <a:spcPts val="0"/>
              </a:spcBef>
              <a:buNone/>
              <a:defRPr sz="1800"/>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1" name="TextBox 20">
            <a:extLst>
              <a:ext uri="{FF2B5EF4-FFF2-40B4-BE49-F238E27FC236}">
                <a16:creationId xmlns:a16="http://schemas.microsoft.com/office/drawing/2014/main" id="{CD706885-CE85-4758-8E8F-34A916E0ADA8}"/>
              </a:ext>
            </a:extLst>
          </p:cNvPr>
          <p:cNvSpPr txBox="1"/>
          <p:nvPr userDrawn="1"/>
        </p:nvSpPr>
        <p:spPr>
          <a:xfrm>
            <a:off x="390144" y="6342505"/>
            <a:ext cx="2908168" cy="246221"/>
          </a:xfrm>
          <a:prstGeom prst="rect">
            <a:avLst/>
          </a:prstGeom>
          <a:noFill/>
        </p:spPr>
        <p:txBody>
          <a:bodyPr wrap="none" rtlCol="0">
            <a:spAutoFit/>
          </a:bodyPr>
          <a:lstStyle/>
          <a:p>
            <a:r>
              <a:rPr lang="en-US" sz="1000" dirty="0">
                <a:latin typeface="+mn-lt"/>
                <a:ea typeface="Roboto" pitchFamily="2" charset="0"/>
              </a:rPr>
              <a:t>© 2024 Resilinc Corporation. All rights reserved.</a:t>
            </a:r>
          </a:p>
        </p:txBody>
      </p:sp>
      <p:grpSp>
        <p:nvGrpSpPr>
          <p:cNvPr id="22" name="Group 21">
            <a:extLst>
              <a:ext uri="{FF2B5EF4-FFF2-40B4-BE49-F238E27FC236}">
                <a16:creationId xmlns:a16="http://schemas.microsoft.com/office/drawing/2014/main" id="{9BC19FE4-2DC6-4E9A-B6A8-75049FEB530F}"/>
              </a:ext>
            </a:extLst>
          </p:cNvPr>
          <p:cNvGrpSpPr/>
          <p:nvPr userDrawn="1"/>
        </p:nvGrpSpPr>
        <p:grpSpPr>
          <a:xfrm>
            <a:off x="7807044" y="6192297"/>
            <a:ext cx="4159557" cy="501588"/>
            <a:chOff x="15614087" y="12384593"/>
            <a:chExt cx="8319114" cy="1003175"/>
          </a:xfrm>
        </p:grpSpPr>
        <p:pic>
          <p:nvPicPr>
            <p:cNvPr id="23" name="Picture 22">
              <a:extLst>
                <a:ext uri="{FF2B5EF4-FFF2-40B4-BE49-F238E27FC236}">
                  <a16:creationId xmlns:a16="http://schemas.microsoft.com/office/drawing/2014/main" id="{84F95031-FDC8-4DCE-AE0C-88756BCCE5C1}"/>
                </a:ext>
              </a:extLst>
            </p:cNvPr>
            <p:cNvPicPr>
              <a:picLocks noChangeAspect="1"/>
            </p:cNvPicPr>
            <p:nvPr userDrawn="1"/>
          </p:nvPicPr>
          <p:blipFill>
            <a:blip r:embed="rId3"/>
            <a:stretch>
              <a:fillRect/>
            </a:stretch>
          </p:blipFill>
          <p:spPr>
            <a:xfrm>
              <a:off x="19008573" y="12420334"/>
              <a:ext cx="2400301" cy="960120"/>
            </a:xfrm>
            <a:prstGeom prst="rect">
              <a:avLst/>
            </a:prstGeom>
          </p:spPr>
        </p:pic>
        <p:sp>
          <p:nvSpPr>
            <p:cNvPr id="24" name="Rounded Rectangle 9">
              <a:extLst>
                <a:ext uri="{FF2B5EF4-FFF2-40B4-BE49-F238E27FC236}">
                  <a16:creationId xmlns:a16="http://schemas.microsoft.com/office/drawing/2014/main" id="{3A57B923-26D2-4AD4-B0FF-6C8EAE3C0971}"/>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10">
              <a:extLst>
                <a:ext uri="{FF2B5EF4-FFF2-40B4-BE49-F238E27FC236}">
                  <a16:creationId xmlns:a16="http://schemas.microsoft.com/office/drawing/2014/main" id="{BBE0CFA1-C1D3-46C5-BA00-57D232981AC1}"/>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1">
              <a:extLst>
                <a:ext uri="{FF2B5EF4-FFF2-40B4-BE49-F238E27FC236}">
                  <a16:creationId xmlns:a16="http://schemas.microsoft.com/office/drawing/2014/main" id="{524BCD11-7995-455B-B880-44A41FFDA0B1}"/>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2">
              <a:extLst>
                <a:ext uri="{FF2B5EF4-FFF2-40B4-BE49-F238E27FC236}">
                  <a16:creationId xmlns:a16="http://schemas.microsoft.com/office/drawing/2014/main" id="{8600BC3B-64C0-4A3B-995B-4C10E3469905}"/>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3">
              <a:extLst>
                <a:ext uri="{FF2B5EF4-FFF2-40B4-BE49-F238E27FC236}">
                  <a16:creationId xmlns:a16="http://schemas.microsoft.com/office/drawing/2014/main" id="{6B992626-8CCA-473F-ACDE-A353B8479E2D}"/>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4">
              <a:extLst>
                <a:ext uri="{FF2B5EF4-FFF2-40B4-BE49-F238E27FC236}">
                  <a16:creationId xmlns:a16="http://schemas.microsoft.com/office/drawing/2014/main" id="{595EC7D1-19EE-420F-BD6D-7AF7F5EEA977}"/>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5">
              <a:extLst>
                <a:ext uri="{FF2B5EF4-FFF2-40B4-BE49-F238E27FC236}">
                  <a16:creationId xmlns:a16="http://schemas.microsoft.com/office/drawing/2014/main" id="{CE44081E-E366-48BD-90A1-0BBA995CC105}"/>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6">
              <a:extLst>
                <a:ext uri="{FF2B5EF4-FFF2-40B4-BE49-F238E27FC236}">
                  <a16:creationId xmlns:a16="http://schemas.microsoft.com/office/drawing/2014/main" id="{F3463F68-5C61-4C1D-B25D-25B1F0D366C7}"/>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7">
              <a:extLst>
                <a:ext uri="{FF2B5EF4-FFF2-40B4-BE49-F238E27FC236}">
                  <a16:creationId xmlns:a16="http://schemas.microsoft.com/office/drawing/2014/main" id="{F326F07C-292C-4976-BA4C-62166EE81F45}"/>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ounded Rectangle 18">
              <a:extLst>
                <a:ext uri="{FF2B5EF4-FFF2-40B4-BE49-F238E27FC236}">
                  <a16:creationId xmlns:a16="http://schemas.microsoft.com/office/drawing/2014/main" id="{3DF63AEF-C392-44A7-8BA2-D13F12EA7296}"/>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ounded Rectangle 19">
              <a:extLst>
                <a:ext uri="{FF2B5EF4-FFF2-40B4-BE49-F238E27FC236}">
                  <a16:creationId xmlns:a16="http://schemas.microsoft.com/office/drawing/2014/main" id="{0869D13F-C566-4A4D-AC53-0E0864FE6D00}"/>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161686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6155FCDE-91AB-D44B-9E1E-C16454584ED4}"/>
              </a:ext>
            </a:extLst>
          </p:cNvPr>
          <p:cNvSpPr>
            <a:spLocks noGrp="1"/>
          </p:cNvSpPr>
          <p:nvPr>
            <p:ph sz="quarter" idx="11"/>
          </p:nvPr>
        </p:nvSpPr>
        <p:spPr>
          <a:xfrm>
            <a:off x="580814" y="1876153"/>
            <a:ext cx="10988040" cy="4109902"/>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23321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Body and 2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6155FCDE-91AB-D44B-9E1E-C16454584ED4}"/>
              </a:ext>
            </a:extLst>
          </p:cNvPr>
          <p:cNvSpPr>
            <a:spLocks noGrp="1"/>
          </p:cNvSpPr>
          <p:nvPr>
            <p:ph sz="quarter" idx="11"/>
          </p:nvPr>
        </p:nvSpPr>
        <p:spPr>
          <a:xfrm>
            <a:off x="3657600" y="1994140"/>
            <a:ext cx="4876800" cy="4109902"/>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A92BAA56-689A-4DFD-B8F1-9EB3509420E4}"/>
              </a:ext>
            </a:extLst>
          </p:cNvPr>
          <p:cNvSpPr>
            <a:spLocks noGrp="1"/>
          </p:cNvSpPr>
          <p:nvPr>
            <p:ph type="body" sz="quarter" idx="14"/>
          </p:nvPr>
        </p:nvSpPr>
        <p:spPr>
          <a:xfrm>
            <a:off x="580813" y="31779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8" name="Text Placeholder 3">
            <a:extLst>
              <a:ext uri="{FF2B5EF4-FFF2-40B4-BE49-F238E27FC236}">
                <a16:creationId xmlns:a16="http://schemas.microsoft.com/office/drawing/2014/main" id="{9B68362E-59F4-480A-B446-F7CA092562E6}"/>
              </a:ext>
            </a:extLst>
          </p:cNvPr>
          <p:cNvSpPr>
            <a:spLocks noGrp="1"/>
          </p:cNvSpPr>
          <p:nvPr>
            <p:ph type="body" sz="quarter" idx="13"/>
          </p:nvPr>
        </p:nvSpPr>
        <p:spPr>
          <a:xfrm>
            <a:off x="9130453" y="31779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Tree>
    <p:extLst>
      <p:ext uri="{BB962C8B-B14F-4D97-AF65-F5344CB8AC3E}">
        <p14:creationId xmlns:p14="http://schemas.microsoft.com/office/powerpoint/2010/main" val="482809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Graph and 2 Textbox">
    <p:spTree>
      <p:nvGrpSpPr>
        <p:cNvPr id="1" name=""/>
        <p:cNvGrpSpPr/>
        <p:nvPr/>
      </p:nvGrpSpPr>
      <p:grpSpPr>
        <a:xfrm>
          <a:off x="0" y="0"/>
          <a:ext cx="0" cy="0"/>
          <a:chOff x="0" y="0"/>
          <a:chExt cx="0" cy="0"/>
        </a:xfrm>
      </p:grpSpPr>
      <p:sp>
        <p:nvSpPr>
          <p:cNvPr id="24" name="Text Placeholder 3">
            <a:extLst>
              <a:ext uri="{FF2B5EF4-FFF2-40B4-BE49-F238E27FC236}">
                <a16:creationId xmlns:a16="http://schemas.microsoft.com/office/drawing/2014/main" id="{C9A853D3-3510-4968-899F-BAFF4A829795}"/>
              </a:ext>
            </a:extLst>
          </p:cNvPr>
          <p:cNvSpPr>
            <a:spLocks noGrp="1"/>
          </p:cNvSpPr>
          <p:nvPr>
            <p:ph type="body" sz="quarter" idx="14"/>
          </p:nvPr>
        </p:nvSpPr>
        <p:spPr>
          <a:xfrm>
            <a:off x="580813" y="29270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23" name="Text Placeholder 3">
            <a:extLst>
              <a:ext uri="{FF2B5EF4-FFF2-40B4-BE49-F238E27FC236}">
                <a16:creationId xmlns:a16="http://schemas.microsoft.com/office/drawing/2014/main" id="{C76121FB-1414-4FC7-8C6C-232A9917F371}"/>
              </a:ext>
            </a:extLst>
          </p:cNvPr>
          <p:cNvSpPr>
            <a:spLocks noGrp="1"/>
          </p:cNvSpPr>
          <p:nvPr>
            <p:ph type="body" sz="quarter" idx="13"/>
          </p:nvPr>
        </p:nvSpPr>
        <p:spPr>
          <a:xfrm>
            <a:off x="9130453" y="29270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31" name="AutoShape 291">
            <a:extLst>
              <a:ext uri="{FF2B5EF4-FFF2-40B4-BE49-F238E27FC236}">
                <a16:creationId xmlns:a16="http://schemas.microsoft.com/office/drawing/2014/main" id="{ADA1F60F-EF7A-4A89-BA24-54D7D798819F}"/>
              </a:ext>
            </a:extLst>
          </p:cNvPr>
          <p:cNvSpPr>
            <a:spLocks/>
          </p:cNvSpPr>
          <p:nvPr/>
        </p:nvSpPr>
        <p:spPr bwMode="auto">
          <a:xfrm>
            <a:off x="4272546" y="1930985"/>
            <a:ext cx="1740987" cy="1487980"/>
          </a:xfrm>
          <a:custGeom>
            <a:avLst/>
            <a:gdLst/>
            <a:ahLst/>
            <a:cxnLst/>
            <a:rect l="0" t="0" r="r" b="b"/>
            <a:pathLst>
              <a:path w="21458" h="21246">
                <a:moveTo>
                  <a:pt x="21458" y="12411"/>
                </a:moveTo>
                <a:lnTo>
                  <a:pt x="21458" y="1072"/>
                </a:lnTo>
                <a:cubicBezTo>
                  <a:pt x="21458" y="447"/>
                  <a:pt x="21000" y="-44"/>
                  <a:pt x="20464" y="3"/>
                </a:cubicBezTo>
                <a:cubicBezTo>
                  <a:pt x="12032" y="742"/>
                  <a:pt x="4677" y="5972"/>
                  <a:pt x="161" y="13646"/>
                </a:cubicBezTo>
                <a:cubicBezTo>
                  <a:pt x="-142" y="14162"/>
                  <a:pt x="-5" y="14870"/>
                  <a:pt x="460" y="15182"/>
                </a:cubicBezTo>
                <a:lnTo>
                  <a:pt x="8896" y="20852"/>
                </a:lnTo>
                <a:cubicBezTo>
                  <a:pt x="9944" y="21556"/>
                  <a:pt x="11258" y="21292"/>
                  <a:pt x="12078" y="20256"/>
                </a:cubicBezTo>
                <a:cubicBezTo>
                  <a:pt x="14006" y="17818"/>
                  <a:pt x="16556" y="16059"/>
                  <a:pt x="19435" y="15315"/>
                </a:cubicBezTo>
                <a:cubicBezTo>
                  <a:pt x="20612" y="15011"/>
                  <a:pt x="21458" y="13814"/>
                  <a:pt x="21458" y="12411"/>
                </a:cubicBezTo>
                <a:close/>
                <a:moveTo>
                  <a:pt x="21458" y="12411"/>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26" name="AutoShape 286">
            <a:extLst>
              <a:ext uri="{FF2B5EF4-FFF2-40B4-BE49-F238E27FC236}">
                <a16:creationId xmlns:a16="http://schemas.microsoft.com/office/drawing/2014/main" id="{4DCC6B99-EF46-4F1C-9036-BEB663950321}"/>
              </a:ext>
            </a:extLst>
          </p:cNvPr>
          <p:cNvSpPr>
            <a:spLocks/>
          </p:cNvSpPr>
          <p:nvPr/>
        </p:nvSpPr>
        <p:spPr bwMode="auto">
          <a:xfrm>
            <a:off x="6175414" y="1930985"/>
            <a:ext cx="1744041" cy="1487980"/>
          </a:xfrm>
          <a:custGeom>
            <a:avLst/>
            <a:gdLst/>
            <a:ahLst/>
            <a:cxnLst/>
            <a:rect l="0" t="0" r="r" b="b"/>
            <a:pathLst>
              <a:path w="21458" h="21246">
                <a:moveTo>
                  <a:pt x="12562" y="20852"/>
                </a:moveTo>
                <a:lnTo>
                  <a:pt x="20998" y="15182"/>
                </a:lnTo>
                <a:cubicBezTo>
                  <a:pt x="21463" y="14870"/>
                  <a:pt x="21600" y="14162"/>
                  <a:pt x="21297" y="13646"/>
                </a:cubicBezTo>
                <a:cubicBezTo>
                  <a:pt x="16781" y="5972"/>
                  <a:pt x="9426" y="742"/>
                  <a:pt x="994" y="3"/>
                </a:cubicBezTo>
                <a:cubicBezTo>
                  <a:pt x="458" y="-44"/>
                  <a:pt x="0" y="447"/>
                  <a:pt x="0" y="1072"/>
                </a:cubicBezTo>
                <a:lnTo>
                  <a:pt x="0" y="12411"/>
                </a:lnTo>
                <a:cubicBezTo>
                  <a:pt x="0" y="13814"/>
                  <a:pt x="846" y="15011"/>
                  <a:pt x="2023" y="15315"/>
                </a:cubicBezTo>
                <a:cubicBezTo>
                  <a:pt x="4902" y="16059"/>
                  <a:pt x="7451" y="17818"/>
                  <a:pt x="9380" y="20255"/>
                </a:cubicBezTo>
                <a:cubicBezTo>
                  <a:pt x="10200" y="21292"/>
                  <a:pt x="11514" y="21556"/>
                  <a:pt x="12562" y="20852"/>
                </a:cubicBezTo>
                <a:close/>
                <a:moveTo>
                  <a:pt x="12562" y="20852"/>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7" name="AutoShape 287">
            <a:extLst>
              <a:ext uri="{FF2B5EF4-FFF2-40B4-BE49-F238E27FC236}">
                <a16:creationId xmlns:a16="http://schemas.microsoft.com/office/drawing/2014/main" id="{C7CD91F4-2A54-4103-9020-7BED1D380DF9}"/>
              </a:ext>
            </a:extLst>
          </p:cNvPr>
          <p:cNvSpPr>
            <a:spLocks/>
          </p:cNvSpPr>
          <p:nvPr/>
        </p:nvSpPr>
        <p:spPr bwMode="auto">
          <a:xfrm>
            <a:off x="6178468" y="4851719"/>
            <a:ext cx="1740987" cy="1487980"/>
          </a:xfrm>
          <a:custGeom>
            <a:avLst/>
            <a:gdLst/>
            <a:ahLst/>
            <a:cxnLst/>
            <a:rect l="0" t="0" r="r" b="b"/>
            <a:pathLst>
              <a:path w="21458" h="21246">
                <a:moveTo>
                  <a:pt x="0" y="8835"/>
                </a:moveTo>
                <a:lnTo>
                  <a:pt x="0" y="20174"/>
                </a:lnTo>
                <a:cubicBezTo>
                  <a:pt x="0" y="20799"/>
                  <a:pt x="458" y="21290"/>
                  <a:pt x="994" y="21243"/>
                </a:cubicBezTo>
                <a:cubicBezTo>
                  <a:pt x="9426" y="20504"/>
                  <a:pt x="16780" y="15274"/>
                  <a:pt x="21297" y="7600"/>
                </a:cubicBezTo>
                <a:cubicBezTo>
                  <a:pt x="21600" y="7084"/>
                  <a:pt x="21462" y="6377"/>
                  <a:pt x="20998" y="6064"/>
                </a:cubicBezTo>
                <a:lnTo>
                  <a:pt x="12562" y="394"/>
                </a:lnTo>
                <a:cubicBezTo>
                  <a:pt x="11514" y="-310"/>
                  <a:pt x="10199" y="-46"/>
                  <a:pt x="9379" y="990"/>
                </a:cubicBezTo>
                <a:cubicBezTo>
                  <a:pt x="7451" y="3428"/>
                  <a:pt x="4901" y="5187"/>
                  <a:pt x="2023" y="5931"/>
                </a:cubicBezTo>
                <a:cubicBezTo>
                  <a:pt x="846" y="6235"/>
                  <a:pt x="0" y="7432"/>
                  <a:pt x="0" y="8835"/>
                </a:cubicBezTo>
                <a:close/>
                <a:moveTo>
                  <a:pt x="0" y="8835"/>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8" name="AutoShape 288">
            <a:extLst>
              <a:ext uri="{FF2B5EF4-FFF2-40B4-BE49-F238E27FC236}">
                <a16:creationId xmlns:a16="http://schemas.microsoft.com/office/drawing/2014/main" id="{D1B5FD3E-E370-4A51-ACEA-29F8EB92E6FE}"/>
              </a:ext>
            </a:extLst>
          </p:cNvPr>
          <p:cNvSpPr>
            <a:spLocks/>
          </p:cNvSpPr>
          <p:nvPr/>
        </p:nvSpPr>
        <p:spPr bwMode="auto">
          <a:xfrm>
            <a:off x="3906022" y="3133640"/>
            <a:ext cx="1105680" cy="1997267"/>
          </a:xfrm>
          <a:custGeom>
            <a:avLst/>
            <a:gdLst/>
            <a:ahLst/>
            <a:cxnLst/>
            <a:rect l="0" t="0" r="r" b="b"/>
            <a:pathLst>
              <a:path w="21228" h="21348">
                <a:moveTo>
                  <a:pt x="20038" y="10674"/>
                </a:moveTo>
                <a:cubicBezTo>
                  <a:pt x="20038" y="9387"/>
                  <a:pt x="20388" y="8146"/>
                  <a:pt x="21039" y="6979"/>
                </a:cubicBezTo>
                <a:cubicBezTo>
                  <a:pt x="21600" y="5971"/>
                  <a:pt x="20886" y="4879"/>
                  <a:pt x="19256" y="4351"/>
                </a:cubicBezTo>
                <a:lnTo>
                  <a:pt x="6147" y="107"/>
                </a:lnTo>
                <a:cubicBezTo>
                  <a:pt x="5426" y="-126"/>
                  <a:pt x="4502" y="34"/>
                  <a:pt x="4141" y="455"/>
                </a:cubicBezTo>
                <a:cubicBezTo>
                  <a:pt x="1488" y="3547"/>
                  <a:pt x="0" y="7013"/>
                  <a:pt x="0" y="10674"/>
                </a:cubicBezTo>
                <a:cubicBezTo>
                  <a:pt x="0" y="14335"/>
                  <a:pt x="1488" y="17801"/>
                  <a:pt x="4141" y="20893"/>
                </a:cubicBezTo>
                <a:cubicBezTo>
                  <a:pt x="4502" y="21314"/>
                  <a:pt x="5426" y="21474"/>
                  <a:pt x="6147" y="21241"/>
                </a:cubicBezTo>
                <a:lnTo>
                  <a:pt x="19255" y="16997"/>
                </a:lnTo>
                <a:cubicBezTo>
                  <a:pt x="20886" y="16469"/>
                  <a:pt x="21600" y="15377"/>
                  <a:pt x="21038" y="14369"/>
                </a:cubicBezTo>
                <a:cubicBezTo>
                  <a:pt x="20388" y="13202"/>
                  <a:pt x="20038" y="11961"/>
                  <a:pt x="20038" y="10674"/>
                </a:cubicBezTo>
                <a:close/>
                <a:moveTo>
                  <a:pt x="20038" y="10674"/>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9" name="AutoShape 289">
            <a:extLst>
              <a:ext uri="{FF2B5EF4-FFF2-40B4-BE49-F238E27FC236}">
                <a16:creationId xmlns:a16="http://schemas.microsoft.com/office/drawing/2014/main" id="{3DDC26D3-0968-4C72-821D-CD41B9B9F0D7}"/>
              </a:ext>
            </a:extLst>
          </p:cNvPr>
          <p:cNvSpPr>
            <a:spLocks/>
          </p:cNvSpPr>
          <p:nvPr/>
        </p:nvSpPr>
        <p:spPr bwMode="auto">
          <a:xfrm>
            <a:off x="4272546" y="4851719"/>
            <a:ext cx="1740987" cy="1487980"/>
          </a:xfrm>
          <a:custGeom>
            <a:avLst/>
            <a:gdLst/>
            <a:ahLst/>
            <a:cxnLst/>
            <a:rect l="0" t="0" r="r" b="b"/>
            <a:pathLst>
              <a:path w="21458" h="21246">
                <a:moveTo>
                  <a:pt x="8896" y="394"/>
                </a:moveTo>
                <a:lnTo>
                  <a:pt x="460" y="6064"/>
                </a:lnTo>
                <a:cubicBezTo>
                  <a:pt x="-5" y="6376"/>
                  <a:pt x="-142" y="7084"/>
                  <a:pt x="161" y="7600"/>
                </a:cubicBezTo>
                <a:cubicBezTo>
                  <a:pt x="4677" y="15274"/>
                  <a:pt x="12032" y="20504"/>
                  <a:pt x="20464" y="21243"/>
                </a:cubicBezTo>
                <a:cubicBezTo>
                  <a:pt x="21000" y="21290"/>
                  <a:pt x="21458" y="20799"/>
                  <a:pt x="21458" y="20174"/>
                </a:cubicBezTo>
                <a:lnTo>
                  <a:pt x="21458" y="8834"/>
                </a:lnTo>
                <a:cubicBezTo>
                  <a:pt x="21458" y="7431"/>
                  <a:pt x="20612" y="6234"/>
                  <a:pt x="19435" y="5931"/>
                </a:cubicBezTo>
                <a:cubicBezTo>
                  <a:pt x="16556" y="5187"/>
                  <a:pt x="14007" y="3428"/>
                  <a:pt x="12078" y="990"/>
                </a:cubicBezTo>
                <a:cubicBezTo>
                  <a:pt x="11258" y="-46"/>
                  <a:pt x="9944" y="-310"/>
                  <a:pt x="8896" y="394"/>
                </a:cubicBezTo>
                <a:close/>
                <a:moveTo>
                  <a:pt x="8896" y="394"/>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30" name="AutoShape 290">
            <a:extLst>
              <a:ext uri="{FF2B5EF4-FFF2-40B4-BE49-F238E27FC236}">
                <a16:creationId xmlns:a16="http://schemas.microsoft.com/office/drawing/2014/main" id="{E4F960E2-65AD-4458-9B0B-CBEC1B1D5A31}"/>
              </a:ext>
            </a:extLst>
          </p:cNvPr>
          <p:cNvSpPr>
            <a:spLocks/>
          </p:cNvSpPr>
          <p:nvPr/>
        </p:nvSpPr>
        <p:spPr bwMode="auto">
          <a:xfrm>
            <a:off x="7180299" y="3133640"/>
            <a:ext cx="1105680" cy="1997267"/>
          </a:xfrm>
          <a:custGeom>
            <a:avLst/>
            <a:gdLst/>
            <a:ahLst/>
            <a:cxnLst/>
            <a:rect l="0" t="0" r="r" b="b"/>
            <a:pathLst>
              <a:path w="21228" h="21348">
                <a:moveTo>
                  <a:pt x="1191" y="10674"/>
                </a:moveTo>
                <a:cubicBezTo>
                  <a:pt x="1191" y="11961"/>
                  <a:pt x="840" y="13202"/>
                  <a:pt x="190" y="14369"/>
                </a:cubicBezTo>
                <a:cubicBezTo>
                  <a:pt x="-372" y="15377"/>
                  <a:pt x="342" y="16469"/>
                  <a:pt x="1973" y="16997"/>
                </a:cubicBezTo>
                <a:lnTo>
                  <a:pt x="15081" y="21241"/>
                </a:lnTo>
                <a:cubicBezTo>
                  <a:pt x="15802" y="21474"/>
                  <a:pt x="16726" y="21314"/>
                  <a:pt x="17087" y="20893"/>
                </a:cubicBezTo>
                <a:cubicBezTo>
                  <a:pt x="19740" y="17801"/>
                  <a:pt x="21228" y="14335"/>
                  <a:pt x="21228" y="10674"/>
                </a:cubicBezTo>
                <a:cubicBezTo>
                  <a:pt x="21228" y="7013"/>
                  <a:pt x="19740" y="3547"/>
                  <a:pt x="17087" y="455"/>
                </a:cubicBezTo>
                <a:cubicBezTo>
                  <a:pt x="16726" y="34"/>
                  <a:pt x="15802" y="-126"/>
                  <a:pt x="15081" y="107"/>
                </a:cubicBezTo>
                <a:lnTo>
                  <a:pt x="1972" y="4351"/>
                </a:lnTo>
                <a:cubicBezTo>
                  <a:pt x="341" y="4878"/>
                  <a:pt x="-372" y="5971"/>
                  <a:pt x="189" y="6978"/>
                </a:cubicBezTo>
                <a:cubicBezTo>
                  <a:pt x="840" y="8145"/>
                  <a:pt x="1191" y="9386"/>
                  <a:pt x="1191" y="10674"/>
                </a:cubicBezTo>
                <a:close/>
                <a:moveTo>
                  <a:pt x="1191" y="10674"/>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32" name="Oval 31">
            <a:extLst>
              <a:ext uri="{FF2B5EF4-FFF2-40B4-BE49-F238E27FC236}">
                <a16:creationId xmlns:a16="http://schemas.microsoft.com/office/drawing/2014/main" id="{F69067E5-8828-4C1F-9E27-DB0E70F1BC41}"/>
              </a:ext>
            </a:extLst>
          </p:cNvPr>
          <p:cNvSpPr/>
          <p:nvPr/>
        </p:nvSpPr>
        <p:spPr>
          <a:xfrm>
            <a:off x="4583944" y="2616535"/>
            <a:ext cx="3024112" cy="3037613"/>
          </a:xfrm>
          <a:prstGeom prst="ellipse">
            <a:avLst/>
          </a:prstGeom>
          <a:solidFill>
            <a:schemeClr val="bg2">
              <a:alpha val="24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41" name="Picture Placeholder 2">
            <a:extLst>
              <a:ext uri="{FF2B5EF4-FFF2-40B4-BE49-F238E27FC236}">
                <a16:creationId xmlns:a16="http://schemas.microsoft.com/office/drawing/2014/main" id="{183D46A7-A9F8-4CFB-BD31-C79E4EEFB731}"/>
              </a:ext>
            </a:extLst>
          </p:cNvPr>
          <p:cNvSpPr>
            <a:spLocks noGrp="1"/>
          </p:cNvSpPr>
          <p:nvPr>
            <p:ph type="pic" sz="quarter" idx="11"/>
          </p:nvPr>
        </p:nvSpPr>
        <p:spPr>
          <a:xfrm>
            <a:off x="7755401" y="3970788"/>
            <a:ext cx="342900" cy="342900"/>
          </a:xfrm>
        </p:spPr>
        <p:txBody>
          <a:bodyPr anchor="t">
            <a:normAutofit/>
          </a:bodyPr>
          <a:lstStyle>
            <a:lvl1pPr marL="0" indent="0" algn="ctr">
              <a:buNone/>
              <a:defRPr sz="700"/>
            </a:lvl1pPr>
          </a:lstStyle>
          <a:p>
            <a:endParaRPr lang="en-IN"/>
          </a:p>
        </p:txBody>
      </p:sp>
      <p:sp>
        <p:nvSpPr>
          <p:cNvPr id="42" name="Picture Placeholder 2">
            <a:extLst>
              <a:ext uri="{FF2B5EF4-FFF2-40B4-BE49-F238E27FC236}">
                <a16:creationId xmlns:a16="http://schemas.microsoft.com/office/drawing/2014/main" id="{A4634416-0203-4F0B-BCED-FC384FFFB77E}"/>
              </a:ext>
            </a:extLst>
          </p:cNvPr>
          <p:cNvSpPr>
            <a:spLocks noGrp="1"/>
          </p:cNvSpPr>
          <p:nvPr>
            <p:ph type="pic" sz="quarter" idx="15"/>
          </p:nvPr>
        </p:nvSpPr>
        <p:spPr>
          <a:xfrm>
            <a:off x="4131504" y="3970788"/>
            <a:ext cx="342900" cy="342900"/>
          </a:xfrm>
        </p:spPr>
        <p:txBody>
          <a:bodyPr anchor="t">
            <a:normAutofit/>
          </a:bodyPr>
          <a:lstStyle>
            <a:lvl1pPr marL="0" indent="0" algn="ctr">
              <a:buNone/>
              <a:defRPr sz="700"/>
            </a:lvl1pPr>
          </a:lstStyle>
          <a:p>
            <a:endParaRPr lang="en-IN"/>
          </a:p>
        </p:txBody>
      </p:sp>
      <p:sp>
        <p:nvSpPr>
          <p:cNvPr id="43" name="Picture Placeholder 2">
            <a:extLst>
              <a:ext uri="{FF2B5EF4-FFF2-40B4-BE49-F238E27FC236}">
                <a16:creationId xmlns:a16="http://schemas.microsoft.com/office/drawing/2014/main" id="{05274FD8-9149-4286-AA0F-0695A8EFCC6D}"/>
              </a:ext>
            </a:extLst>
          </p:cNvPr>
          <p:cNvSpPr>
            <a:spLocks noGrp="1"/>
          </p:cNvSpPr>
          <p:nvPr>
            <p:ph type="pic" sz="quarter" idx="16"/>
          </p:nvPr>
        </p:nvSpPr>
        <p:spPr>
          <a:xfrm>
            <a:off x="6869626" y="2375359"/>
            <a:ext cx="342900" cy="342900"/>
          </a:xfrm>
        </p:spPr>
        <p:txBody>
          <a:bodyPr anchor="t">
            <a:normAutofit/>
          </a:bodyPr>
          <a:lstStyle>
            <a:lvl1pPr marL="0" indent="0" algn="ctr">
              <a:buNone/>
              <a:defRPr sz="700"/>
            </a:lvl1pPr>
          </a:lstStyle>
          <a:p>
            <a:endParaRPr lang="en-IN"/>
          </a:p>
        </p:txBody>
      </p:sp>
      <p:sp>
        <p:nvSpPr>
          <p:cNvPr id="44" name="Picture Placeholder 2">
            <a:extLst>
              <a:ext uri="{FF2B5EF4-FFF2-40B4-BE49-F238E27FC236}">
                <a16:creationId xmlns:a16="http://schemas.microsoft.com/office/drawing/2014/main" id="{C3A6DFAC-6BAB-4D6C-960C-1668F79C4BE2}"/>
              </a:ext>
            </a:extLst>
          </p:cNvPr>
          <p:cNvSpPr>
            <a:spLocks noGrp="1"/>
          </p:cNvSpPr>
          <p:nvPr>
            <p:ph type="pic" sz="quarter" idx="17"/>
          </p:nvPr>
        </p:nvSpPr>
        <p:spPr>
          <a:xfrm>
            <a:off x="5017279" y="2375359"/>
            <a:ext cx="342900" cy="342900"/>
          </a:xfrm>
        </p:spPr>
        <p:txBody>
          <a:bodyPr anchor="t">
            <a:normAutofit/>
          </a:bodyPr>
          <a:lstStyle>
            <a:lvl1pPr marL="0" indent="0" algn="ctr">
              <a:buNone/>
              <a:defRPr sz="700"/>
            </a:lvl1pPr>
          </a:lstStyle>
          <a:p>
            <a:endParaRPr lang="en-IN"/>
          </a:p>
        </p:txBody>
      </p:sp>
      <p:sp>
        <p:nvSpPr>
          <p:cNvPr id="45" name="Picture Placeholder 2">
            <a:extLst>
              <a:ext uri="{FF2B5EF4-FFF2-40B4-BE49-F238E27FC236}">
                <a16:creationId xmlns:a16="http://schemas.microsoft.com/office/drawing/2014/main" id="{06D34FD0-1F45-4AC9-AC71-A3B40C0826C6}"/>
              </a:ext>
            </a:extLst>
          </p:cNvPr>
          <p:cNvSpPr>
            <a:spLocks noGrp="1"/>
          </p:cNvSpPr>
          <p:nvPr>
            <p:ph type="pic" sz="quarter" idx="18"/>
          </p:nvPr>
        </p:nvSpPr>
        <p:spPr>
          <a:xfrm>
            <a:off x="6869626" y="5617028"/>
            <a:ext cx="342900" cy="342900"/>
          </a:xfrm>
        </p:spPr>
        <p:txBody>
          <a:bodyPr anchor="t">
            <a:normAutofit/>
          </a:bodyPr>
          <a:lstStyle>
            <a:lvl1pPr marL="0" indent="0" algn="ctr">
              <a:buNone/>
              <a:defRPr sz="700"/>
            </a:lvl1pPr>
          </a:lstStyle>
          <a:p>
            <a:endParaRPr lang="en-IN"/>
          </a:p>
        </p:txBody>
      </p:sp>
      <p:sp>
        <p:nvSpPr>
          <p:cNvPr id="46" name="Picture Placeholder 2">
            <a:extLst>
              <a:ext uri="{FF2B5EF4-FFF2-40B4-BE49-F238E27FC236}">
                <a16:creationId xmlns:a16="http://schemas.microsoft.com/office/drawing/2014/main" id="{DDD55799-5890-4290-9F50-9441239ED8FC}"/>
              </a:ext>
            </a:extLst>
          </p:cNvPr>
          <p:cNvSpPr>
            <a:spLocks noGrp="1"/>
          </p:cNvSpPr>
          <p:nvPr>
            <p:ph type="pic" sz="quarter" idx="19"/>
          </p:nvPr>
        </p:nvSpPr>
        <p:spPr>
          <a:xfrm>
            <a:off x="5017279" y="5617028"/>
            <a:ext cx="342900" cy="342900"/>
          </a:xfrm>
        </p:spPr>
        <p:txBody>
          <a:bodyPr anchor="t">
            <a:normAutofit/>
          </a:bodyPr>
          <a:lstStyle>
            <a:lvl1pPr marL="0" indent="0" algn="ctr">
              <a:buNone/>
              <a:defRPr sz="700"/>
            </a:lvl1pPr>
          </a:lstStyle>
          <a:p>
            <a:endParaRPr lang="en-IN"/>
          </a:p>
        </p:txBody>
      </p:sp>
    </p:spTree>
    <p:extLst>
      <p:ext uri="{BB962C8B-B14F-4D97-AF65-F5344CB8AC3E}">
        <p14:creationId xmlns:p14="http://schemas.microsoft.com/office/powerpoint/2010/main" val="875325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72F1-98C4-4A0C-8A18-34EBB375A8BC}"/>
              </a:ext>
            </a:extLst>
          </p:cNvPr>
          <p:cNvSpPr>
            <a:spLocks noGrp="1"/>
          </p:cNvSpPr>
          <p:nvPr>
            <p:ph type="title"/>
          </p:nvPr>
        </p:nvSpPr>
        <p:spPr>
          <a:xfrm>
            <a:off x="580339" y="587829"/>
            <a:ext cx="10987431" cy="979715"/>
          </a:xfrm>
        </p:spPr>
        <p:txBody>
          <a:bodyPr>
            <a:normAutofit/>
          </a:bodyPr>
          <a:lstStyle>
            <a:lvl1pPr>
              <a:defRPr sz="3300" b="1">
                <a:solidFill>
                  <a:schemeClr val="accent4"/>
                </a:solidFill>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8F1F1F-8AE8-4101-871F-330193E381D7}"/>
              </a:ext>
            </a:extLst>
          </p:cNvPr>
          <p:cNvSpPr>
            <a:spLocks noGrp="1"/>
          </p:cNvSpPr>
          <p:nvPr>
            <p:ph sz="half" idx="1"/>
          </p:nvPr>
        </p:nvSpPr>
        <p:spPr>
          <a:xfrm>
            <a:off x="580340" y="1876153"/>
            <a:ext cx="5475021" cy="4109902"/>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FD51D4-6DEF-45D5-A6E3-15AD39381400}"/>
              </a:ext>
            </a:extLst>
          </p:cNvPr>
          <p:cNvSpPr>
            <a:spLocks noGrp="1"/>
          </p:cNvSpPr>
          <p:nvPr>
            <p:ph sz="half" idx="2"/>
          </p:nvPr>
        </p:nvSpPr>
        <p:spPr>
          <a:xfrm>
            <a:off x="6136640" y="1876153"/>
            <a:ext cx="5431130" cy="4109902"/>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67213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5268-D4BE-40B4-BA22-23E231E174CE}"/>
              </a:ext>
            </a:extLst>
          </p:cNvPr>
          <p:cNvSpPr>
            <a:spLocks noGrp="1"/>
          </p:cNvSpPr>
          <p:nvPr>
            <p:ph type="title"/>
          </p:nvPr>
        </p:nvSpPr>
        <p:spPr>
          <a:xfrm>
            <a:off x="580339" y="587829"/>
            <a:ext cx="10987431" cy="979715"/>
          </a:xfrm>
        </p:spPr>
        <p:txBody>
          <a:bodyPr>
            <a:normAutofit/>
          </a:bodyPr>
          <a:lstStyle>
            <a:lvl1pPr>
              <a:defRPr sz="33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052A09-5880-43A2-9ED3-AB4AAFB50EE8}"/>
              </a:ext>
            </a:extLst>
          </p:cNvPr>
          <p:cNvSpPr>
            <a:spLocks noGrp="1"/>
          </p:cNvSpPr>
          <p:nvPr>
            <p:ph type="body" idx="1"/>
          </p:nvPr>
        </p:nvSpPr>
        <p:spPr>
          <a:xfrm>
            <a:off x="580339" y="1763486"/>
            <a:ext cx="5417448" cy="636815"/>
          </a:xfrm>
        </p:spPr>
        <p:txBody>
          <a:bodyPr anchor="ctr">
            <a:normAutofit/>
          </a:bodyPr>
          <a:lstStyle>
            <a:lvl1pPr marL="0" indent="0">
              <a:buNone/>
              <a:defRPr sz="2000" b="1">
                <a:solidFill>
                  <a:schemeClr val="accent1"/>
                </a:solidFill>
                <a:latin typeface="+mj-lt"/>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a:extLst>
              <a:ext uri="{FF2B5EF4-FFF2-40B4-BE49-F238E27FC236}">
                <a16:creationId xmlns:a16="http://schemas.microsoft.com/office/drawing/2014/main" id="{85C97AA1-8D02-4386-8A63-31F1034A3682}"/>
              </a:ext>
            </a:extLst>
          </p:cNvPr>
          <p:cNvSpPr>
            <a:spLocks noGrp="1"/>
          </p:cNvSpPr>
          <p:nvPr>
            <p:ph sz="half" idx="2"/>
          </p:nvPr>
        </p:nvSpPr>
        <p:spPr>
          <a:xfrm>
            <a:off x="580339" y="2505415"/>
            <a:ext cx="5417448" cy="3491624"/>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2AB6C3-A810-4CCC-A5F0-C7246CB2D22E}"/>
              </a:ext>
            </a:extLst>
          </p:cNvPr>
          <p:cNvSpPr>
            <a:spLocks noGrp="1"/>
          </p:cNvSpPr>
          <p:nvPr>
            <p:ph type="body" sz="quarter" idx="3"/>
          </p:nvPr>
        </p:nvSpPr>
        <p:spPr>
          <a:xfrm>
            <a:off x="6172201" y="1763486"/>
            <a:ext cx="5395570" cy="636815"/>
          </a:xfrm>
        </p:spPr>
        <p:txBody>
          <a:bodyPr anchor="ctr">
            <a:normAutofit/>
          </a:bodyPr>
          <a:lstStyle>
            <a:lvl1pPr marL="0" indent="0">
              <a:buNone/>
              <a:defRPr sz="2000" b="1">
                <a:solidFill>
                  <a:schemeClr val="accent1"/>
                </a:solidFill>
                <a:latin typeface="+mj-lt"/>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a:extLst>
              <a:ext uri="{FF2B5EF4-FFF2-40B4-BE49-F238E27FC236}">
                <a16:creationId xmlns:a16="http://schemas.microsoft.com/office/drawing/2014/main" id="{252B914C-4C51-4482-B89D-8B0C987883C7}"/>
              </a:ext>
            </a:extLst>
          </p:cNvPr>
          <p:cNvSpPr>
            <a:spLocks noGrp="1"/>
          </p:cNvSpPr>
          <p:nvPr>
            <p:ph sz="quarter" idx="4"/>
          </p:nvPr>
        </p:nvSpPr>
        <p:spPr>
          <a:xfrm>
            <a:off x="6172201" y="2505415"/>
            <a:ext cx="5395570" cy="3491624"/>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148527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27F661F8-EAA2-1042-89C8-6A22F809408B}"/>
              </a:ext>
            </a:extLst>
          </p:cNvPr>
          <p:cNvSpPr>
            <a:spLocks noGrp="1"/>
          </p:cNvSpPr>
          <p:nvPr>
            <p:ph sz="quarter" idx="11"/>
          </p:nvPr>
        </p:nvSpPr>
        <p:spPr>
          <a:xfrm>
            <a:off x="580814" y="1877786"/>
            <a:ext cx="5352627" cy="4109357"/>
          </a:xfrm>
          <a:prstGeom prst="rect">
            <a:avLst/>
          </a:prstGeom>
        </p:spPr>
        <p:txBody>
          <a:bodyPr/>
          <a:lstStyle>
            <a:lvl1pPr>
              <a:buClr>
                <a:schemeClr val="accent4"/>
              </a:buClr>
              <a:defRPr sz="2000">
                <a:solidFill>
                  <a:schemeClr val="tx2"/>
                </a:solidFill>
                <a:latin typeface="+mn-lt"/>
                <a:ea typeface="Roboto" pitchFamily="2" charset="0"/>
                <a:cs typeface="+mn-cs"/>
              </a:defRPr>
            </a:lvl1pPr>
            <a:lvl2pPr>
              <a:buClr>
                <a:schemeClr val="accent1">
                  <a:lumMod val="50000"/>
                </a:schemeClr>
              </a:buClr>
              <a:defRPr sz="1800">
                <a:solidFill>
                  <a:schemeClr val="tx2"/>
                </a:solidFill>
                <a:latin typeface="+mn-lt"/>
                <a:ea typeface="Roboto" pitchFamily="2" charset="0"/>
                <a:cs typeface="+mn-cs"/>
              </a:defRPr>
            </a:lvl2pPr>
            <a:lvl3pPr>
              <a:buClr>
                <a:schemeClr val="accent4"/>
              </a:buClr>
              <a:defRPr sz="1400">
                <a:solidFill>
                  <a:schemeClr val="tx2"/>
                </a:solidFill>
                <a:latin typeface="+mn-lt"/>
                <a:ea typeface="Roboto" pitchFamily="2" charset="0"/>
                <a:cs typeface="+mn-cs"/>
              </a:defRPr>
            </a:lvl3pPr>
            <a:lvl4pPr>
              <a:buClr>
                <a:schemeClr val="accent4"/>
              </a:buClr>
              <a:defRPr sz="1200">
                <a:solidFill>
                  <a:schemeClr val="tx2"/>
                </a:solidFill>
                <a:latin typeface="+mn-lt"/>
                <a:ea typeface="Roboto" pitchFamily="2" charset="0"/>
                <a:cs typeface="+mn-cs"/>
              </a:defRPr>
            </a:lvl4pPr>
            <a:lvl5pPr>
              <a:buClr>
                <a:schemeClr val="accent4"/>
              </a:buClr>
              <a:defRPr sz="1200">
                <a:solidFill>
                  <a:schemeClr val="tx2"/>
                </a:solidFill>
                <a:latin typeface="+mn-lt"/>
                <a:ea typeface="Roboto" pitchFamily="2" charset="0"/>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5659244B-9381-4242-A74E-3B7E2E2CE445}"/>
              </a:ext>
            </a:extLst>
          </p:cNvPr>
          <p:cNvSpPr>
            <a:spLocks noGrp="1"/>
          </p:cNvSpPr>
          <p:nvPr>
            <p:ph sz="quarter" idx="12"/>
          </p:nvPr>
        </p:nvSpPr>
        <p:spPr>
          <a:xfrm>
            <a:off x="6109547" y="1877786"/>
            <a:ext cx="5459307" cy="4109357"/>
          </a:xfrm>
          <a:prstGeom prst="rect">
            <a:avLst/>
          </a:prstGeom>
        </p:spPr>
        <p:txBody>
          <a:bodyPr/>
          <a:lstStyle>
            <a:lvl1pPr>
              <a:buClr>
                <a:schemeClr val="accent4"/>
              </a:buClr>
              <a:defRPr sz="2000">
                <a:solidFill>
                  <a:schemeClr val="tx2"/>
                </a:solidFill>
                <a:latin typeface="+mn-lt"/>
                <a:ea typeface="Roboto" pitchFamily="2" charset="0"/>
                <a:cs typeface="+mn-cs"/>
              </a:defRPr>
            </a:lvl1pPr>
            <a:lvl2pPr>
              <a:buClr>
                <a:schemeClr val="accent1">
                  <a:lumMod val="50000"/>
                </a:schemeClr>
              </a:buClr>
              <a:defRPr sz="1800">
                <a:solidFill>
                  <a:schemeClr val="tx2"/>
                </a:solidFill>
                <a:latin typeface="+mn-lt"/>
                <a:ea typeface="Roboto" pitchFamily="2" charset="0"/>
                <a:cs typeface="+mn-cs"/>
              </a:defRPr>
            </a:lvl2pPr>
            <a:lvl3pPr>
              <a:buClr>
                <a:schemeClr val="accent4"/>
              </a:buClr>
              <a:defRPr sz="1400">
                <a:solidFill>
                  <a:schemeClr val="tx2"/>
                </a:solidFill>
                <a:latin typeface="+mn-lt"/>
                <a:ea typeface="Roboto" pitchFamily="2" charset="0"/>
                <a:cs typeface="+mn-cs"/>
              </a:defRPr>
            </a:lvl3pPr>
            <a:lvl4pPr>
              <a:buClr>
                <a:schemeClr val="accent4"/>
              </a:buClr>
              <a:defRPr sz="1200">
                <a:solidFill>
                  <a:schemeClr val="tx2"/>
                </a:solidFill>
                <a:latin typeface="+mn-lt"/>
                <a:ea typeface="Roboto" pitchFamily="2" charset="0"/>
                <a:cs typeface="+mn-cs"/>
              </a:defRPr>
            </a:lvl4pPr>
            <a:lvl5pPr>
              <a:buClr>
                <a:schemeClr val="accent4"/>
              </a:buClr>
              <a:defRPr sz="1200">
                <a:solidFill>
                  <a:schemeClr val="tx2"/>
                </a:solidFill>
                <a:latin typeface="+mn-lt"/>
                <a:ea typeface="Roboto" pitchFamily="2" charset="0"/>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32996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ighlight 1">
    <p:spTree>
      <p:nvGrpSpPr>
        <p:cNvPr id="1" name=""/>
        <p:cNvGrpSpPr/>
        <p:nvPr/>
      </p:nvGrpSpPr>
      <p:grpSpPr>
        <a:xfrm>
          <a:off x="0" y="0"/>
          <a:ext cx="0" cy="0"/>
          <a:chOff x="0" y="0"/>
          <a:chExt cx="0" cy="0"/>
        </a:xfrm>
      </p:grpSpPr>
      <p:sp>
        <p:nvSpPr>
          <p:cNvPr id="8" name="Shape 665">
            <a:extLst>
              <a:ext uri="{FF2B5EF4-FFF2-40B4-BE49-F238E27FC236}">
                <a16:creationId xmlns:a16="http://schemas.microsoft.com/office/drawing/2014/main" id="{2DEC90FF-AE90-AF41-B738-ACFE38A8171B}"/>
              </a:ext>
            </a:extLst>
          </p:cNvPr>
          <p:cNvSpPr/>
          <p:nvPr userDrawn="1"/>
        </p:nvSpPr>
        <p:spPr>
          <a:xfrm>
            <a:off x="0" y="0"/>
            <a:ext cx="12192000" cy="2639786"/>
          </a:xfrm>
          <a:prstGeom prst="rect">
            <a:avLst/>
          </a:prstGeom>
          <a:solidFill>
            <a:schemeClr val="accent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2" y="589788"/>
            <a:ext cx="10986516" cy="992309"/>
          </a:xfrm>
          <a:prstGeom prst="rect">
            <a:avLst/>
          </a:prstGeom>
        </p:spPr>
        <p:txBody>
          <a:bodyPr/>
          <a:lstStyle>
            <a:lvl1pPr>
              <a:defRPr sz="3300" b="1">
                <a:solidFill>
                  <a:schemeClr val="bg1"/>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2" y="1728107"/>
            <a:ext cx="10986516" cy="680357"/>
          </a:xfrm>
          <a:prstGeom prst="rect">
            <a:avLst/>
          </a:prstGeom>
        </p:spPr>
        <p:txBody>
          <a:bodyPr>
            <a:norm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5" name="TextBox 4">
            <a:extLst>
              <a:ext uri="{FF2B5EF4-FFF2-40B4-BE49-F238E27FC236}">
                <a16:creationId xmlns:a16="http://schemas.microsoft.com/office/drawing/2014/main" id="{C2F15064-9687-2744-BEB4-CA21A744BBE7}"/>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7" name="Content Placeholder 6">
            <a:extLst>
              <a:ext uri="{FF2B5EF4-FFF2-40B4-BE49-F238E27FC236}">
                <a16:creationId xmlns:a16="http://schemas.microsoft.com/office/drawing/2014/main" id="{94FAB905-711F-4EAC-9B21-675C72A11984}"/>
              </a:ext>
            </a:extLst>
          </p:cNvPr>
          <p:cNvSpPr>
            <a:spLocks noGrp="1"/>
          </p:cNvSpPr>
          <p:nvPr>
            <p:ph sz="quarter" idx="11"/>
          </p:nvPr>
        </p:nvSpPr>
        <p:spPr>
          <a:xfrm>
            <a:off x="580814" y="2898322"/>
            <a:ext cx="10988040" cy="3087733"/>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1756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ighlight 2">
    <p:spTree>
      <p:nvGrpSpPr>
        <p:cNvPr id="1" name=""/>
        <p:cNvGrpSpPr/>
        <p:nvPr/>
      </p:nvGrpSpPr>
      <p:grpSpPr>
        <a:xfrm>
          <a:off x="0" y="0"/>
          <a:ext cx="0" cy="0"/>
          <a:chOff x="0" y="0"/>
          <a:chExt cx="0" cy="0"/>
        </a:xfrm>
      </p:grpSpPr>
      <p:sp>
        <p:nvSpPr>
          <p:cNvPr id="26" name="Text Placeholder 5">
            <a:extLst>
              <a:ext uri="{FF2B5EF4-FFF2-40B4-BE49-F238E27FC236}">
                <a16:creationId xmlns:a16="http://schemas.microsoft.com/office/drawing/2014/main" id="{D248AFF4-4CB0-4A47-B958-913B3FD109C3}"/>
              </a:ext>
            </a:extLst>
          </p:cNvPr>
          <p:cNvSpPr>
            <a:spLocks noGrp="1"/>
          </p:cNvSpPr>
          <p:nvPr>
            <p:ph type="body" sz="quarter" idx="23"/>
          </p:nvPr>
        </p:nvSpPr>
        <p:spPr>
          <a:xfrm>
            <a:off x="9325781" y="556991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7" name="Text Placeholder 5">
            <a:extLst>
              <a:ext uri="{FF2B5EF4-FFF2-40B4-BE49-F238E27FC236}">
                <a16:creationId xmlns:a16="http://schemas.microsoft.com/office/drawing/2014/main" id="{AD6AE61A-848D-46C6-AACF-3F823F6EB695}"/>
              </a:ext>
            </a:extLst>
          </p:cNvPr>
          <p:cNvSpPr>
            <a:spLocks noGrp="1"/>
          </p:cNvSpPr>
          <p:nvPr>
            <p:ph type="body" sz="quarter" idx="24"/>
          </p:nvPr>
        </p:nvSpPr>
        <p:spPr>
          <a:xfrm>
            <a:off x="9325782" y="4829281"/>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24" name="Text Placeholder 5">
            <a:extLst>
              <a:ext uri="{FF2B5EF4-FFF2-40B4-BE49-F238E27FC236}">
                <a16:creationId xmlns:a16="http://schemas.microsoft.com/office/drawing/2014/main" id="{6ACF6803-FE2D-4EBB-B25D-7C251FCD0426}"/>
              </a:ext>
            </a:extLst>
          </p:cNvPr>
          <p:cNvSpPr>
            <a:spLocks noGrp="1"/>
          </p:cNvSpPr>
          <p:nvPr>
            <p:ph type="body" sz="quarter" idx="21"/>
          </p:nvPr>
        </p:nvSpPr>
        <p:spPr>
          <a:xfrm>
            <a:off x="6960745" y="555673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5" name="Text Placeholder 5">
            <a:extLst>
              <a:ext uri="{FF2B5EF4-FFF2-40B4-BE49-F238E27FC236}">
                <a16:creationId xmlns:a16="http://schemas.microsoft.com/office/drawing/2014/main" id="{4968CEF2-1F13-4A44-BF00-5C222F3470EA}"/>
              </a:ext>
            </a:extLst>
          </p:cNvPr>
          <p:cNvSpPr>
            <a:spLocks noGrp="1"/>
          </p:cNvSpPr>
          <p:nvPr>
            <p:ph type="body" sz="quarter" idx="22"/>
          </p:nvPr>
        </p:nvSpPr>
        <p:spPr>
          <a:xfrm>
            <a:off x="6960746" y="4829281"/>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8" name="Shape 665">
            <a:extLst>
              <a:ext uri="{FF2B5EF4-FFF2-40B4-BE49-F238E27FC236}">
                <a16:creationId xmlns:a16="http://schemas.microsoft.com/office/drawing/2014/main" id="{2DEC90FF-AE90-AF41-B738-ACFE38A8171B}"/>
              </a:ext>
            </a:extLst>
          </p:cNvPr>
          <p:cNvSpPr/>
          <p:nvPr userDrawn="1"/>
        </p:nvSpPr>
        <p:spPr>
          <a:xfrm>
            <a:off x="0" y="0"/>
            <a:ext cx="12192000" cy="4829281"/>
          </a:xfrm>
          <a:prstGeom prst="rect">
            <a:avLst/>
          </a:prstGeom>
          <a:solidFill>
            <a:schemeClr val="accent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3902697" cy="992309"/>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bg1"/>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4" y="1728107"/>
            <a:ext cx="3902696" cy="1147829"/>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5" name="TextBox 4">
            <a:extLst>
              <a:ext uri="{FF2B5EF4-FFF2-40B4-BE49-F238E27FC236}">
                <a16:creationId xmlns:a16="http://schemas.microsoft.com/office/drawing/2014/main" id="{45CCF68B-C052-7C42-A474-EA9B7FC89D3F}"/>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4" name="Text Placeholder 3">
            <a:extLst>
              <a:ext uri="{FF2B5EF4-FFF2-40B4-BE49-F238E27FC236}">
                <a16:creationId xmlns:a16="http://schemas.microsoft.com/office/drawing/2014/main" id="{C48249EC-5DC9-4EF6-942A-51D94FD79CE6}"/>
              </a:ext>
            </a:extLst>
          </p:cNvPr>
          <p:cNvSpPr>
            <a:spLocks noGrp="1"/>
          </p:cNvSpPr>
          <p:nvPr>
            <p:ph type="body" sz="quarter" idx="11"/>
          </p:nvPr>
        </p:nvSpPr>
        <p:spPr>
          <a:xfrm>
            <a:off x="4632202"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7" name="Text Placeholder 3">
            <a:extLst>
              <a:ext uri="{FF2B5EF4-FFF2-40B4-BE49-F238E27FC236}">
                <a16:creationId xmlns:a16="http://schemas.microsoft.com/office/drawing/2014/main" id="{1265D542-09A6-4186-BB98-1D092A612485}"/>
              </a:ext>
            </a:extLst>
          </p:cNvPr>
          <p:cNvSpPr>
            <a:spLocks noGrp="1"/>
          </p:cNvSpPr>
          <p:nvPr>
            <p:ph type="body" sz="quarter" idx="12"/>
          </p:nvPr>
        </p:nvSpPr>
        <p:spPr>
          <a:xfrm>
            <a:off x="5834265"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8" name="Text Placeholder 3">
            <a:extLst>
              <a:ext uri="{FF2B5EF4-FFF2-40B4-BE49-F238E27FC236}">
                <a16:creationId xmlns:a16="http://schemas.microsoft.com/office/drawing/2014/main" id="{63E0831D-41CC-475E-BDE7-8ACEE573333D}"/>
              </a:ext>
            </a:extLst>
          </p:cNvPr>
          <p:cNvSpPr>
            <a:spLocks noGrp="1"/>
          </p:cNvSpPr>
          <p:nvPr>
            <p:ph type="body" sz="quarter" idx="13"/>
          </p:nvPr>
        </p:nvSpPr>
        <p:spPr>
          <a:xfrm>
            <a:off x="7036328"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9" name="Text Placeholder 3">
            <a:extLst>
              <a:ext uri="{FF2B5EF4-FFF2-40B4-BE49-F238E27FC236}">
                <a16:creationId xmlns:a16="http://schemas.microsoft.com/office/drawing/2014/main" id="{4CACA51A-B659-4658-89E7-CE51550AE511}"/>
              </a:ext>
            </a:extLst>
          </p:cNvPr>
          <p:cNvSpPr>
            <a:spLocks noGrp="1"/>
          </p:cNvSpPr>
          <p:nvPr>
            <p:ph type="body" sz="quarter" idx="14"/>
          </p:nvPr>
        </p:nvSpPr>
        <p:spPr>
          <a:xfrm>
            <a:off x="8238391"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0" name="Text Placeholder 3">
            <a:extLst>
              <a:ext uri="{FF2B5EF4-FFF2-40B4-BE49-F238E27FC236}">
                <a16:creationId xmlns:a16="http://schemas.microsoft.com/office/drawing/2014/main" id="{10B88B77-72E8-43F3-8139-DDCEECE32AD1}"/>
              </a:ext>
            </a:extLst>
          </p:cNvPr>
          <p:cNvSpPr>
            <a:spLocks noGrp="1"/>
          </p:cNvSpPr>
          <p:nvPr>
            <p:ph type="body" sz="quarter" idx="15"/>
          </p:nvPr>
        </p:nvSpPr>
        <p:spPr>
          <a:xfrm>
            <a:off x="9440454"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1" name="Text Placeholder 3">
            <a:extLst>
              <a:ext uri="{FF2B5EF4-FFF2-40B4-BE49-F238E27FC236}">
                <a16:creationId xmlns:a16="http://schemas.microsoft.com/office/drawing/2014/main" id="{D45846BA-D0E4-4356-85DC-BD7EB942DD5B}"/>
              </a:ext>
            </a:extLst>
          </p:cNvPr>
          <p:cNvSpPr>
            <a:spLocks noGrp="1"/>
          </p:cNvSpPr>
          <p:nvPr>
            <p:ph type="body" sz="quarter" idx="16"/>
          </p:nvPr>
        </p:nvSpPr>
        <p:spPr>
          <a:xfrm>
            <a:off x="10642517"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8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2" name="Text Placeholder 5">
            <a:extLst>
              <a:ext uri="{FF2B5EF4-FFF2-40B4-BE49-F238E27FC236}">
                <a16:creationId xmlns:a16="http://schemas.microsoft.com/office/drawing/2014/main" id="{E92F910C-3F07-4CF0-9787-9D545851F155}"/>
              </a:ext>
            </a:extLst>
          </p:cNvPr>
          <p:cNvSpPr>
            <a:spLocks noGrp="1"/>
          </p:cNvSpPr>
          <p:nvPr>
            <p:ph type="body" sz="quarter" idx="20"/>
          </p:nvPr>
        </p:nvSpPr>
        <p:spPr>
          <a:xfrm>
            <a:off x="4595709" y="555673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3" name="Text Placeholder 5">
            <a:extLst>
              <a:ext uri="{FF2B5EF4-FFF2-40B4-BE49-F238E27FC236}">
                <a16:creationId xmlns:a16="http://schemas.microsoft.com/office/drawing/2014/main" id="{82A301D0-0B60-46C4-8A6F-C7F590A3D4DD}"/>
              </a:ext>
            </a:extLst>
          </p:cNvPr>
          <p:cNvSpPr>
            <a:spLocks noGrp="1"/>
          </p:cNvSpPr>
          <p:nvPr>
            <p:ph type="body" sz="quarter" idx="19"/>
          </p:nvPr>
        </p:nvSpPr>
        <p:spPr>
          <a:xfrm>
            <a:off x="4595710" y="4829281"/>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Tree>
    <p:extLst>
      <p:ext uri="{BB962C8B-B14F-4D97-AF65-F5344CB8AC3E}">
        <p14:creationId xmlns:p14="http://schemas.microsoft.com/office/powerpoint/2010/main" val="27440296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ighligh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5" name="Shape 665">
            <a:extLst>
              <a:ext uri="{FF2B5EF4-FFF2-40B4-BE49-F238E27FC236}">
                <a16:creationId xmlns:a16="http://schemas.microsoft.com/office/drawing/2014/main" id="{5809F598-B180-BF43-B4A7-44075B4C8A09}"/>
              </a:ext>
            </a:extLst>
          </p:cNvPr>
          <p:cNvSpPr/>
          <p:nvPr userDrawn="1"/>
        </p:nvSpPr>
        <p:spPr>
          <a:xfrm>
            <a:off x="0" y="5252357"/>
            <a:ext cx="12192000" cy="1605643"/>
          </a:xfrm>
          <a:prstGeom prst="rect">
            <a:avLst/>
          </a:prstGeom>
          <a:solidFill>
            <a:schemeClr val="accent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7" name="Text Placeholder 6">
            <a:extLst>
              <a:ext uri="{FF2B5EF4-FFF2-40B4-BE49-F238E27FC236}">
                <a16:creationId xmlns:a16="http://schemas.microsoft.com/office/drawing/2014/main" id="{ECDD7CF0-D4B0-B64C-BA5A-901E0C0E07B9}"/>
              </a:ext>
            </a:extLst>
          </p:cNvPr>
          <p:cNvSpPr>
            <a:spLocks noGrp="1"/>
          </p:cNvSpPr>
          <p:nvPr>
            <p:ph type="body" sz="quarter" idx="12" hasCustomPrompt="1"/>
          </p:nvPr>
        </p:nvSpPr>
        <p:spPr>
          <a:xfrm>
            <a:off x="580813" y="5483679"/>
            <a:ext cx="10988041" cy="555269"/>
          </a:xfrm>
          <a:prstGeom prst="rect">
            <a:avLst/>
          </a:prstGeom>
        </p:spPr>
        <p:txBody>
          <a:bodyPr anchor="ctr">
            <a:normAutofit/>
          </a:bodyPr>
          <a:lstStyle>
            <a:lvl1pPr marL="0" indent="0" algn="ctr">
              <a:buNone/>
              <a:defRPr sz="2500">
                <a:solidFill>
                  <a:schemeClr val="bg1"/>
                </a:solidFill>
                <a:latin typeface="+mj-lt"/>
                <a:ea typeface="Roboto" pitchFamily="2" charset="0"/>
              </a:defRPr>
            </a:lvl1pPr>
          </a:lstStyle>
          <a:p>
            <a:pPr lvl="0"/>
            <a:r>
              <a:rPr lang="en-US"/>
              <a:t>Conclusion or highlight</a:t>
            </a:r>
          </a:p>
        </p:txBody>
      </p:sp>
      <p:sp>
        <p:nvSpPr>
          <p:cNvPr id="9" name="Content Placeholder 8">
            <a:extLst>
              <a:ext uri="{FF2B5EF4-FFF2-40B4-BE49-F238E27FC236}">
                <a16:creationId xmlns:a16="http://schemas.microsoft.com/office/drawing/2014/main" id="{335744AB-A402-6B46-BF87-84794D8A4AA5}"/>
              </a:ext>
            </a:extLst>
          </p:cNvPr>
          <p:cNvSpPr>
            <a:spLocks noGrp="1"/>
          </p:cNvSpPr>
          <p:nvPr>
            <p:ph sz="quarter" idx="13"/>
          </p:nvPr>
        </p:nvSpPr>
        <p:spPr>
          <a:xfrm>
            <a:off x="580814" y="1876153"/>
            <a:ext cx="10988040" cy="3282693"/>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D2B59855-57CD-194B-8048-1268FC0AF86A}"/>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bg1"/>
                </a:solidFill>
                <a:latin typeface="Roboto" pitchFamily="2" charset="0"/>
                <a:ea typeface="Roboto" pitchFamily="2" charset="0"/>
              </a:rPr>
              <a:t>© 2024 Resilinc Corporation. All rights reserved.</a:t>
            </a:r>
          </a:p>
        </p:txBody>
      </p:sp>
      <p:grpSp>
        <p:nvGrpSpPr>
          <p:cNvPr id="21" name="Group 20">
            <a:extLst>
              <a:ext uri="{FF2B5EF4-FFF2-40B4-BE49-F238E27FC236}">
                <a16:creationId xmlns:a16="http://schemas.microsoft.com/office/drawing/2014/main" id="{BC6E0981-07ED-4D72-8199-4D42D3350F75}"/>
              </a:ext>
            </a:extLst>
          </p:cNvPr>
          <p:cNvGrpSpPr/>
          <p:nvPr userDrawn="1"/>
        </p:nvGrpSpPr>
        <p:grpSpPr>
          <a:xfrm>
            <a:off x="7807044" y="6192297"/>
            <a:ext cx="4159557" cy="501588"/>
            <a:chOff x="15614087" y="12384593"/>
            <a:chExt cx="8319114" cy="1003175"/>
          </a:xfrm>
        </p:grpSpPr>
        <p:pic>
          <p:nvPicPr>
            <p:cNvPr id="22" name="Picture 21">
              <a:extLst>
                <a:ext uri="{FF2B5EF4-FFF2-40B4-BE49-F238E27FC236}">
                  <a16:creationId xmlns:a16="http://schemas.microsoft.com/office/drawing/2014/main" id="{5FFB62FA-B397-4EB8-9EBC-BF48E19863A2}"/>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23" name="Rounded Rectangle 9">
              <a:extLst>
                <a:ext uri="{FF2B5EF4-FFF2-40B4-BE49-F238E27FC236}">
                  <a16:creationId xmlns:a16="http://schemas.microsoft.com/office/drawing/2014/main" id="{09F71130-3C5F-4DEC-BD7D-C98DE04432EC}"/>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10">
              <a:extLst>
                <a:ext uri="{FF2B5EF4-FFF2-40B4-BE49-F238E27FC236}">
                  <a16:creationId xmlns:a16="http://schemas.microsoft.com/office/drawing/2014/main" id="{FEE486B9-6404-4FB0-820F-24E45278F3F1}"/>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ounded Rectangle 11">
              <a:extLst>
                <a:ext uri="{FF2B5EF4-FFF2-40B4-BE49-F238E27FC236}">
                  <a16:creationId xmlns:a16="http://schemas.microsoft.com/office/drawing/2014/main" id="{4512AF96-F939-436D-88E8-522ADAFD2CE2}"/>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12">
              <a:extLst>
                <a:ext uri="{FF2B5EF4-FFF2-40B4-BE49-F238E27FC236}">
                  <a16:creationId xmlns:a16="http://schemas.microsoft.com/office/drawing/2014/main" id="{B4257F70-1423-497E-8D24-0D5A761C6418}"/>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13">
              <a:extLst>
                <a:ext uri="{FF2B5EF4-FFF2-40B4-BE49-F238E27FC236}">
                  <a16:creationId xmlns:a16="http://schemas.microsoft.com/office/drawing/2014/main" id="{12A0409B-A62C-41B8-A6DC-9AD8766351E6}"/>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14">
              <a:extLst>
                <a:ext uri="{FF2B5EF4-FFF2-40B4-BE49-F238E27FC236}">
                  <a16:creationId xmlns:a16="http://schemas.microsoft.com/office/drawing/2014/main" id="{A538D689-3E83-4A39-B604-EDC90AABB2DD}"/>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15">
              <a:extLst>
                <a:ext uri="{FF2B5EF4-FFF2-40B4-BE49-F238E27FC236}">
                  <a16:creationId xmlns:a16="http://schemas.microsoft.com/office/drawing/2014/main" id="{4FD45C1A-51B5-485E-9DBE-B8451007479D}"/>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Rounded Rectangle 16">
              <a:extLst>
                <a:ext uri="{FF2B5EF4-FFF2-40B4-BE49-F238E27FC236}">
                  <a16:creationId xmlns:a16="http://schemas.microsoft.com/office/drawing/2014/main" id="{7EEA7C51-9CA2-49EA-8901-96D2F938526A}"/>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4" name="Rounded Rectangle 17">
              <a:extLst>
                <a:ext uri="{FF2B5EF4-FFF2-40B4-BE49-F238E27FC236}">
                  <a16:creationId xmlns:a16="http://schemas.microsoft.com/office/drawing/2014/main" id="{9B634CF0-0E0E-4BC8-8991-0EEA6485A581}"/>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ounded Rectangle 18">
              <a:extLst>
                <a:ext uri="{FF2B5EF4-FFF2-40B4-BE49-F238E27FC236}">
                  <a16:creationId xmlns:a16="http://schemas.microsoft.com/office/drawing/2014/main" id="{2EC98E66-8493-4C03-AB10-63413F85CC3B}"/>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Rounded Rectangle 19">
              <a:extLst>
                <a:ext uri="{FF2B5EF4-FFF2-40B4-BE49-F238E27FC236}">
                  <a16:creationId xmlns:a16="http://schemas.microsoft.com/office/drawing/2014/main" id="{21E3C14C-9DD1-4383-B049-463CAE16287C}"/>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515541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ighligh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7222069"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7222068"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a:t>
            </a:r>
          </a:p>
        </p:txBody>
      </p:sp>
      <p:sp>
        <p:nvSpPr>
          <p:cNvPr id="5" name="Shape 665">
            <a:extLst>
              <a:ext uri="{FF2B5EF4-FFF2-40B4-BE49-F238E27FC236}">
                <a16:creationId xmlns:a16="http://schemas.microsoft.com/office/drawing/2014/main" id="{5809F598-B180-BF43-B4A7-44075B4C8A09}"/>
              </a:ext>
            </a:extLst>
          </p:cNvPr>
          <p:cNvSpPr/>
          <p:nvPr userDrawn="1"/>
        </p:nvSpPr>
        <p:spPr>
          <a:xfrm>
            <a:off x="8087360" y="0"/>
            <a:ext cx="4104640" cy="6858000"/>
          </a:xfrm>
          <a:prstGeom prst="rect">
            <a:avLst/>
          </a:prstGeom>
          <a:solidFill>
            <a:schemeClr val="accent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8" name="Content Placeholder 7">
            <a:extLst>
              <a:ext uri="{FF2B5EF4-FFF2-40B4-BE49-F238E27FC236}">
                <a16:creationId xmlns:a16="http://schemas.microsoft.com/office/drawing/2014/main" id="{E9073DD1-F53B-2F48-B013-A8ADCEE407DB}"/>
              </a:ext>
            </a:extLst>
          </p:cNvPr>
          <p:cNvSpPr>
            <a:spLocks noGrp="1"/>
          </p:cNvSpPr>
          <p:nvPr>
            <p:ph sz="quarter" idx="13"/>
          </p:nvPr>
        </p:nvSpPr>
        <p:spPr>
          <a:xfrm>
            <a:off x="580814" y="1876153"/>
            <a:ext cx="7222067" cy="4287883"/>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618D8D36-8FAC-9442-AEE3-E19FD1796950}"/>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10" name="Content Placeholder 9">
            <a:extLst>
              <a:ext uri="{FF2B5EF4-FFF2-40B4-BE49-F238E27FC236}">
                <a16:creationId xmlns:a16="http://schemas.microsoft.com/office/drawing/2014/main" id="{11ABAFB8-B0A8-0D4F-8644-CC570C13E3C3}"/>
              </a:ext>
            </a:extLst>
          </p:cNvPr>
          <p:cNvSpPr>
            <a:spLocks noGrp="1"/>
          </p:cNvSpPr>
          <p:nvPr>
            <p:ph sz="quarter" idx="14"/>
          </p:nvPr>
        </p:nvSpPr>
        <p:spPr>
          <a:xfrm>
            <a:off x="8344747" y="1876153"/>
            <a:ext cx="3589867" cy="4287883"/>
          </a:xfrm>
          <a:prstGeom prst="rect">
            <a:avLst/>
          </a:prstGeom>
        </p:spPr>
        <p:txBody>
          <a:bodyPr anchor="ctr">
            <a:normAutofit/>
          </a:bodyPr>
          <a:lstStyle>
            <a:lvl1pPr marL="0" indent="0">
              <a:buNone/>
              <a:defRPr sz="2400">
                <a:solidFill>
                  <a:schemeClr val="bg1"/>
                </a:solidFill>
                <a:latin typeface="+mj-lt"/>
                <a:ea typeface="Roboto" pitchFamily="2" charset="0"/>
              </a:defRPr>
            </a:lvl1pPr>
            <a:lvl2pPr marL="426728" indent="0">
              <a:buNone/>
              <a:defRPr sz="2200">
                <a:solidFill>
                  <a:schemeClr val="bg1"/>
                </a:solidFill>
                <a:latin typeface="+mj-lt"/>
                <a:ea typeface="Roboto" pitchFamily="2" charset="0"/>
              </a:defRPr>
            </a:lvl2pPr>
            <a:lvl3pPr marL="853455" indent="0">
              <a:buNone/>
              <a:defRPr sz="1800">
                <a:solidFill>
                  <a:schemeClr val="bg1"/>
                </a:solidFill>
                <a:latin typeface="+mj-lt"/>
                <a:ea typeface="Roboto" pitchFamily="2" charset="0"/>
              </a:defRPr>
            </a:lvl3pPr>
            <a:lvl4pPr marL="1280183" indent="0">
              <a:buNone/>
              <a:defRPr sz="1600">
                <a:solidFill>
                  <a:schemeClr val="bg1"/>
                </a:solidFill>
                <a:latin typeface="+mj-lt"/>
                <a:ea typeface="Roboto" pitchFamily="2" charset="0"/>
              </a:defRPr>
            </a:lvl4pPr>
            <a:lvl5pPr marL="1706911" indent="0">
              <a:buNone/>
              <a:defRPr sz="1600">
                <a:solidFill>
                  <a:schemeClr val="bg1"/>
                </a:solidFill>
                <a:latin typeface="+mj-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1" name="Group 20">
            <a:extLst>
              <a:ext uri="{FF2B5EF4-FFF2-40B4-BE49-F238E27FC236}">
                <a16:creationId xmlns:a16="http://schemas.microsoft.com/office/drawing/2014/main" id="{84B9BD35-701A-463C-9880-B4CFB02E5835}"/>
              </a:ext>
            </a:extLst>
          </p:cNvPr>
          <p:cNvGrpSpPr/>
          <p:nvPr userDrawn="1"/>
        </p:nvGrpSpPr>
        <p:grpSpPr>
          <a:xfrm>
            <a:off x="7807044" y="6192297"/>
            <a:ext cx="4159557" cy="501588"/>
            <a:chOff x="15614087" y="12384593"/>
            <a:chExt cx="8319114" cy="1003175"/>
          </a:xfrm>
        </p:grpSpPr>
        <p:pic>
          <p:nvPicPr>
            <p:cNvPr id="22" name="Picture 21">
              <a:extLst>
                <a:ext uri="{FF2B5EF4-FFF2-40B4-BE49-F238E27FC236}">
                  <a16:creationId xmlns:a16="http://schemas.microsoft.com/office/drawing/2014/main" id="{37892B28-FD6B-4318-A815-DD8FF486F444}"/>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36" name="Rounded Rectangle 9">
              <a:extLst>
                <a:ext uri="{FF2B5EF4-FFF2-40B4-BE49-F238E27FC236}">
                  <a16:creationId xmlns:a16="http://schemas.microsoft.com/office/drawing/2014/main" id="{792F22F0-BF66-4299-95BC-85A696F77978}"/>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10">
              <a:extLst>
                <a:ext uri="{FF2B5EF4-FFF2-40B4-BE49-F238E27FC236}">
                  <a16:creationId xmlns:a16="http://schemas.microsoft.com/office/drawing/2014/main" id="{08AFC1D9-EC96-4D61-A34B-5D43ECD83A16}"/>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ounded Rectangle 11">
              <a:extLst>
                <a:ext uri="{FF2B5EF4-FFF2-40B4-BE49-F238E27FC236}">
                  <a16:creationId xmlns:a16="http://schemas.microsoft.com/office/drawing/2014/main" id="{85C3C31E-8255-450A-974E-DF3DEFC8DB27}"/>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12">
              <a:extLst>
                <a:ext uri="{FF2B5EF4-FFF2-40B4-BE49-F238E27FC236}">
                  <a16:creationId xmlns:a16="http://schemas.microsoft.com/office/drawing/2014/main" id="{1B855E4F-7043-4978-A9CF-BD5512B793DA}"/>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13">
              <a:extLst>
                <a:ext uri="{FF2B5EF4-FFF2-40B4-BE49-F238E27FC236}">
                  <a16:creationId xmlns:a16="http://schemas.microsoft.com/office/drawing/2014/main" id="{ABAB8109-DEB5-46D6-8138-F0205D0BABC2}"/>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14">
              <a:extLst>
                <a:ext uri="{FF2B5EF4-FFF2-40B4-BE49-F238E27FC236}">
                  <a16:creationId xmlns:a16="http://schemas.microsoft.com/office/drawing/2014/main" id="{A73BE25C-974D-45C7-8FB2-FAEB71FA2F44}"/>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15">
              <a:extLst>
                <a:ext uri="{FF2B5EF4-FFF2-40B4-BE49-F238E27FC236}">
                  <a16:creationId xmlns:a16="http://schemas.microsoft.com/office/drawing/2014/main" id="{8A3D002F-BC96-4BFA-BE47-7D48E1C227CF}"/>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Rounded Rectangle 16">
              <a:extLst>
                <a:ext uri="{FF2B5EF4-FFF2-40B4-BE49-F238E27FC236}">
                  <a16:creationId xmlns:a16="http://schemas.microsoft.com/office/drawing/2014/main" id="{1186C67F-8A5F-4061-8F78-1F16A3A452BB}"/>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4" name="Rounded Rectangle 17">
              <a:extLst>
                <a:ext uri="{FF2B5EF4-FFF2-40B4-BE49-F238E27FC236}">
                  <a16:creationId xmlns:a16="http://schemas.microsoft.com/office/drawing/2014/main" id="{19FB4061-94E1-4051-B385-46489446E3B6}"/>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ounded Rectangle 18">
              <a:extLst>
                <a:ext uri="{FF2B5EF4-FFF2-40B4-BE49-F238E27FC236}">
                  <a16:creationId xmlns:a16="http://schemas.microsoft.com/office/drawing/2014/main" id="{844FC483-EA4C-409C-BFDD-708C6095AFE3}"/>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Rounded Rectangle 19">
              <a:extLst>
                <a:ext uri="{FF2B5EF4-FFF2-40B4-BE49-F238E27FC236}">
                  <a16:creationId xmlns:a16="http://schemas.microsoft.com/office/drawing/2014/main" id="{8B82E3E3-0A6B-4486-BE86-669559FD0A48}"/>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8612221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7431"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2" y="1156607"/>
            <a:ext cx="10987431"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a:t>
            </a:r>
          </a:p>
        </p:txBody>
      </p:sp>
      <p:sp>
        <p:nvSpPr>
          <p:cNvPr id="8" name="Content Placeholder 7">
            <a:extLst>
              <a:ext uri="{FF2B5EF4-FFF2-40B4-BE49-F238E27FC236}">
                <a16:creationId xmlns:a16="http://schemas.microsoft.com/office/drawing/2014/main" id="{E9073DD1-F53B-2F48-B013-A8ADCEE407DB}"/>
              </a:ext>
            </a:extLst>
          </p:cNvPr>
          <p:cNvSpPr>
            <a:spLocks noGrp="1"/>
          </p:cNvSpPr>
          <p:nvPr>
            <p:ph sz="quarter" idx="13"/>
          </p:nvPr>
        </p:nvSpPr>
        <p:spPr>
          <a:xfrm>
            <a:off x="580814" y="1876153"/>
            <a:ext cx="7103841" cy="4288536"/>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11ABAFB8-B0A8-0D4F-8644-CC570C13E3C3}"/>
              </a:ext>
            </a:extLst>
          </p:cNvPr>
          <p:cNvSpPr>
            <a:spLocks noGrp="1"/>
          </p:cNvSpPr>
          <p:nvPr>
            <p:ph sz="quarter" idx="14"/>
          </p:nvPr>
        </p:nvSpPr>
        <p:spPr>
          <a:xfrm>
            <a:off x="7978376" y="1876153"/>
            <a:ext cx="3589867" cy="4288536"/>
          </a:xfrm>
          <a:prstGeom prst="rect">
            <a:avLst/>
          </a:prstGeom>
        </p:spPr>
        <p:txBody>
          <a:bodyPr anchor="ctr">
            <a:normAutofit/>
          </a:bodyPr>
          <a:lstStyle>
            <a:lvl1pPr>
              <a:defRPr sz="1800">
                <a:solidFill>
                  <a:schemeClr val="tx2"/>
                </a:solidFill>
                <a:latin typeface="+mn-lt"/>
                <a:ea typeface="Roboto" pitchFamily="2" charset="0"/>
              </a:defRPr>
            </a:lvl1pPr>
            <a:lvl2pPr>
              <a:defRPr sz="1600">
                <a:solidFill>
                  <a:schemeClr val="tx2"/>
                </a:solidFill>
                <a:latin typeface="+mn-lt"/>
                <a:ea typeface="Roboto" pitchFamily="2" charset="0"/>
              </a:defRPr>
            </a:lvl2pPr>
            <a:lvl3pPr>
              <a:defRPr sz="1200">
                <a:solidFill>
                  <a:schemeClr val="tx2"/>
                </a:solidFill>
                <a:latin typeface="+mn-lt"/>
                <a:ea typeface="Roboto" pitchFamily="2" charset="0"/>
              </a:defRPr>
            </a:lvl3pPr>
            <a:lvl4pPr>
              <a:defRPr sz="1000">
                <a:solidFill>
                  <a:schemeClr val="tx2"/>
                </a:solidFill>
                <a:latin typeface="+mn-lt"/>
                <a:ea typeface="Roboto" pitchFamily="2" charset="0"/>
              </a:defRPr>
            </a:lvl4pPr>
            <a:lvl5pPr>
              <a:defRPr sz="10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51508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wo Conten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1"/>
            <a:ext cx="10987431"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2" y="1156607"/>
            <a:ext cx="10987431"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a:t>
            </a:r>
          </a:p>
        </p:txBody>
      </p:sp>
      <p:sp>
        <p:nvSpPr>
          <p:cNvPr id="8" name="Content Placeholder 7">
            <a:extLst>
              <a:ext uri="{FF2B5EF4-FFF2-40B4-BE49-F238E27FC236}">
                <a16:creationId xmlns:a16="http://schemas.microsoft.com/office/drawing/2014/main" id="{E9073DD1-F53B-2F48-B013-A8ADCEE407DB}"/>
              </a:ext>
            </a:extLst>
          </p:cNvPr>
          <p:cNvSpPr>
            <a:spLocks noGrp="1"/>
          </p:cNvSpPr>
          <p:nvPr>
            <p:ph sz="quarter" idx="13"/>
          </p:nvPr>
        </p:nvSpPr>
        <p:spPr>
          <a:xfrm>
            <a:off x="580813" y="1876153"/>
            <a:ext cx="7709747" cy="4260669"/>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11ABAFB8-B0A8-0D4F-8644-CC570C13E3C3}"/>
              </a:ext>
            </a:extLst>
          </p:cNvPr>
          <p:cNvSpPr>
            <a:spLocks noGrp="1"/>
          </p:cNvSpPr>
          <p:nvPr>
            <p:ph sz="quarter" idx="14"/>
          </p:nvPr>
        </p:nvSpPr>
        <p:spPr>
          <a:xfrm>
            <a:off x="8844380" y="3244912"/>
            <a:ext cx="2723863" cy="1523151"/>
          </a:xfrm>
          <a:prstGeom prst="rect">
            <a:avLst/>
          </a:prstGeom>
        </p:spPr>
        <p:txBody>
          <a:bodyPr anchor="ctr">
            <a:normAutofit/>
          </a:bodyPr>
          <a:lstStyle>
            <a:lvl1pPr marL="0" indent="0">
              <a:buNone/>
              <a:defRPr sz="1800">
                <a:solidFill>
                  <a:schemeClr val="tx2"/>
                </a:solidFill>
                <a:latin typeface="+mn-lt"/>
                <a:ea typeface="Roboto" pitchFamily="2" charset="0"/>
              </a:defRPr>
            </a:lvl1pPr>
            <a:lvl2pPr marL="426728" indent="0">
              <a:buNone/>
              <a:defRPr sz="1800">
                <a:solidFill>
                  <a:schemeClr val="tx2"/>
                </a:solidFill>
                <a:latin typeface="+mn-lt"/>
                <a:ea typeface="Roboto" pitchFamily="2" charset="0"/>
              </a:defRPr>
            </a:lvl2pPr>
            <a:lvl3pPr marL="853455" indent="0">
              <a:buNone/>
              <a:defRPr sz="1400">
                <a:solidFill>
                  <a:schemeClr val="tx2"/>
                </a:solidFill>
                <a:latin typeface="+mn-lt"/>
                <a:ea typeface="Roboto" pitchFamily="2" charset="0"/>
              </a:defRPr>
            </a:lvl3pPr>
            <a:lvl4pPr marL="1280183" indent="0">
              <a:buNone/>
              <a:defRPr sz="1200">
                <a:solidFill>
                  <a:schemeClr val="tx2"/>
                </a:solidFill>
                <a:latin typeface="+mn-lt"/>
                <a:ea typeface="Roboto" pitchFamily="2" charset="0"/>
              </a:defRPr>
            </a:lvl4pPr>
            <a:lvl5pPr marL="1706911" indent="0">
              <a:buNone/>
              <a:defRPr sz="1200">
                <a:solidFill>
                  <a:schemeClr val="tx2"/>
                </a:solidFill>
                <a:latin typeface="+mn-lt"/>
                <a:ea typeface="Roboto" pitchFamily="2" charset="0"/>
              </a:defRPr>
            </a:lvl5pPr>
          </a:lstStyle>
          <a:p>
            <a:pPr lvl="0"/>
            <a:r>
              <a:rPr lang="en-US"/>
              <a:t>Edit Master text styles</a:t>
            </a:r>
          </a:p>
        </p:txBody>
      </p:sp>
    </p:spTree>
    <p:extLst>
      <p:ext uri="{BB962C8B-B14F-4D97-AF65-F5344CB8AC3E}">
        <p14:creationId xmlns:p14="http://schemas.microsoft.com/office/powerpoint/2010/main" val="1818785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ighlight 5">
    <p:spTree>
      <p:nvGrpSpPr>
        <p:cNvPr id="1" name=""/>
        <p:cNvGrpSpPr/>
        <p:nvPr/>
      </p:nvGrpSpPr>
      <p:grpSpPr>
        <a:xfrm>
          <a:off x="0" y="0"/>
          <a:ext cx="0" cy="0"/>
          <a:chOff x="0" y="0"/>
          <a:chExt cx="0" cy="0"/>
        </a:xfrm>
      </p:grpSpPr>
      <p:sp>
        <p:nvSpPr>
          <p:cNvPr id="4" name="Rectangle 3"/>
          <p:cNvSpPr/>
          <p:nvPr userDrawn="1"/>
        </p:nvSpPr>
        <p:spPr>
          <a:xfrm>
            <a:off x="0" y="0"/>
            <a:ext cx="3684694"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12" name="Content Placeholder 7">
            <a:extLst>
              <a:ext uri="{FF2B5EF4-FFF2-40B4-BE49-F238E27FC236}">
                <a16:creationId xmlns:a16="http://schemas.microsoft.com/office/drawing/2014/main" id="{617C3DF4-801A-124B-952C-AC6FCAD7041A}"/>
              </a:ext>
            </a:extLst>
          </p:cNvPr>
          <p:cNvSpPr>
            <a:spLocks noGrp="1"/>
          </p:cNvSpPr>
          <p:nvPr>
            <p:ph sz="quarter" idx="13"/>
          </p:nvPr>
        </p:nvSpPr>
        <p:spPr>
          <a:xfrm>
            <a:off x="4306147" y="1741715"/>
            <a:ext cx="7222067" cy="4191000"/>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5">
            <a:extLst>
              <a:ext uri="{FF2B5EF4-FFF2-40B4-BE49-F238E27FC236}">
                <a16:creationId xmlns:a16="http://schemas.microsoft.com/office/drawing/2014/main" id="{D1D056F4-A80D-C341-927D-3C75C3779870}"/>
              </a:ext>
            </a:extLst>
          </p:cNvPr>
          <p:cNvSpPr>
            <a:spLocks noGrp="1"/>
          </p:cNvSpPr>
          <p:nvPr>
            <p:ph type="body" sz="quarter" idx="14" hasCustomPrompt="1"/>
          </p:nvPr>
        </p:nvSpPr>
        <p:spPr>
          <a:xfrm>
            <a:off x="580814" y="1741715"/>
            <a:ext cx="2860041" cy="1488183"/>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6" name="TextBox 5">
            <a:extLst>
              <a:ext uri="{FF2B5EF4-FFF2-40B4-BE49-F238E27FC236}">
                <a16:creationId xmlns:a16="http://schemas.microsoft.com/office/drawing/2014/main" id="{7F47BA5E-AFCD-C848-8763-031DDAF78F54}"/>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bg1"/>
                </a:solidFill>
                <a:latin typeface="Roboto" pitchFamily="2" charset="0"/>
                <a:ea typeface="Roboto" pitchFamily="2" charset="0"/>
              </a:rPr>
              <a:t>© 2024 Resilinc Corporation. All rights reserved.</a:t>
            </a:r>
          </a:p>
        </p:txBody>
      </p:sp>
      <p:sp>
        <p:nvSpPr>
          <p:cNvPr id="2" name="Title 1">
            <a:extLst>
              <a:ext uri="{FF2B5EF4-FFF2-40B4-BE49-F238E27FC236}">
                <a16:creationId xmlns:a16="http://schemas.microsoft.com/office/drawing/2014/main" id="{E921559F-91A4-4D02-BD29-DFDE63B0538F}"/>
              </a:ext>
            </a:extLst>
          </p:cNvPr>
          <p:cNvSpPr>
            <a:spLocks noGrp="1"/>
          </p:cNvSpPr>
          <p:nvPr>
            <p:ph type="title" hasCustomPrompt="1"/>
          </p:nvPr>
        </p:nvSpPr>
        <p:spPr>
          <a:xfrm>
            <a:off x="580814" y="586121"/>
            <a:ext cx="2862072" cy="992124"/>
          </a:xfrm>
        </p:spPr>
        <p:txBody>
          <a:bodyPr anchor="t"/>
          <a:lstStyle>
            <a:lvl1pPr>
              <a:defRPr>
                <a:solidFill>
                  <a:schemeClr val="bg1"/>
                </a:solidFill>
              </a:defRPr>
            </a:lvl1pPr>
          </a:lstStyle>
          <a:p>
            <a:r>
              <a:rPr lang="en-US"/>
              <a:t>Slide Title Lorem Ipsum</a:t>
            </a:r>
          </a:p>
        </p:txBody>
      </p:sp>
    </p:spTree>
    <p:extLst>
      <p:ext uri="{BB962C8B-B14F-4D97-AF65-F5344CB8AC3E}">
        <p14:creationId xmlns:p14="http://schemas.microsoft.com/office/powerpoint/2010/main" val="1345467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istics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633D26C-F68B-C442-AD58-B50653BF3A57}"/>
              </a:ext>
            </a:extLst>
          </p:cNvPr>
          <p:cNvSpPr>
            <a:spLocks noGrp="1"/>
          </p:cNvSpPr>
          <p:nvPr>
            <p:ph type="title" hasCustomPrompt="1"/>
          </p:nvPr>
        </p:nvSpPr>
        <p:spPr>
          <a:xfrm>
            <a:off x="481256" y="938506"/>
            <a:ext cx="3252894" cy="1020923"/>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99AE76B9-E8B7-C84A-8E56-F41009CC135A}"/>
              </a:ext>
            </a:extLst>
          </p:cNvPr>
          <p:cNvSpPr>
            <a:spLocks noGrp="1"/>
          </p:cNvSpPr>
          <p:nvPr>
            <p:ph type="body" sz="quarter" idx="10" hasCustomPrompt="1"/>
          </p:nvPr>
        </p:nvSpPr>
        <p:spPr>
          <a:xfrm>
            <a:off x="481256" y="2079216"/>
            <a:ext cx="3252894" cy="1020922"/>
          </a:xfrm>
          <a:prstGeom prst="rect">
            <a:avLst/>
          </a:prstGeom>
        </p:spPr>
        <p:txBody>
          <a:bodyPr>
            <a:no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9" name="Rounded Rectangle 8">
            <a:extLst>
              <a:ext uri="{FF2B5EF4-FFF2-40B4-BE49-F238E27FC236}">
                <a16:creationId xmlns:a16="http://schemas.microsoft.com/office/drawing/2014/main" id="{24409468-2A81-CA40-A485-9152DEB85E00}"/>
              </a:ext>
            </a:extLst>
          </p:cNvPr>
          <p:cNvSpPr/>
          <p:nvPr userDrawn="1"/>
        </p:nvSpPr>
        <p:spPr>
          <a:xfrm>
            <a:off x="4132454" y="952500"/>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DDACDE58-005E-2B40-9087-B1E2BCCAED28}"/>
              </a:ext>
            </a:extLst>
          </p:cNvPr>
          <p:cNvSpPr/>
          <p:nvPr userDrawn="1"/>
        </p:nvSpPr>
        <p:spPr>
          <a:xfrm>
            <a:off x="6708122" y="952500"/>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13" name="Rounded Rectangle 12">
            <a:extLst>
              <a:ext uri="{FF2B5EF4-FFF2-40B4-BE49-F238E27FC236}">
                <a16:creationId xmlns:a16="http://schemas.microsoft.com/office/drawing/2014/main" id="{EEDA6A17-5EF5-6145-9A98-3E103485B5F3}"/>
              </a:ext>
            </a:extLst>
          </p:cNvPr>
          <p:cNvSpPr/>
          <p:nvPr userDrawn="1"/>
        </p:nvSpPr>
        <p:spPr>
          <a:xfrm>
            <a:off x="9285413" y="952500"/>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15" name="Rounded Rectangle 14">
            <a:extLst>
              <a:ext uri="{FF2B5EF4-FFF2-40B4-BE49-F238E27FC236}">
                <a16:creationId xmlns:a16="http://schemas.microsoft.com/office/drawing/2014/main" id="{F59DDE8A-01C9-A440-B76C-0BCAEF04DD1C}"/>
              </a:ext>
            </a:extLst>
          </p:cNvPr>
          <p:cNvSpPr/>
          <p:nvPr userDrawn="1"/>
        </p:nvSpPr>
        <p:spPr>
          <a:xfrm>
            <a:off x="9285413" y="3230857"/>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17" name="Rounded Rectangle 16">
            <a:extLst>
              <a:ext uri="{FF2B5EF4-FFF2-40B4-BE49-F238E27FC236}">
                <a16:creationId xmlns:a16="http://schemas.microsoft.com/office/drawing/2014/main" id="{CF2A6607-A015-F748-9CB0-B862F58BCDBA}"/>
              </a:ext>
            </a:extLst>
          </p:cNvPr>
          <p:cNvSpPr/>
          <p:nvPr userDrawn="1"/>
        </p:nvSpPr>
        <p:spPr>
          <a:xfrm>
            <a:off x="6708122" y="3230857"/>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19" name="Rounded Rectangle 18">
            <a:extLst>
              <a:ext uri="{FF2B5EF4-FFF2-40B4-BE49-F238E27FC236}">
                <a16:creationId xmlns:a16="http://schemas.microsoft.com/office/drawing/2014/main" id="{0FFD9197-EEBB-DB49-91C2-51B98C75F0C9}"/>
              </a:ext>
            </a:extLst>
          </p:cNvPr>
          <p:cNvSpPr/>
          <p:nvPr userDrawn="1"/>
        </p:nvSpPr>
        <p:spPr>
          <a:xfrm>
            <a:off x="4130832" y="3230857"/>
            <a:ext cx="2438400" cy="2155372"/>
          </a:xfrm>
          <a:prstGeom prst="roundRect">
            <a:avLst>
              <a:gd name="adj" fmla="val 2160"/>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Roboto" pitchFamily="2" charset="0"/>
              <a:ea typeface="Roboto" pitchFamily="2" charset="0"/>
            </a:endParaRPr>
          </a:p>
        </p:txBody>
      </p:sp>
      <p:sp>
        <p:nvSpPr>
          <p:cNvPr id="3" name="Picture Placeholder 2">
            <a:extLst>
              <a:ext uri="{FF2B5EF4-FFF2-40B4-BE49-F238E27FC236}">
                <a16:creationId xmlns:a16="http://schemas.microsoft.com/office/drawing/2014/main" id="{97BD4874-1603-4E19-B236-7AC447F89FBD}"/>
              </a:ext>
            </a:extLst>
          </p:cNvPr>
          <p:cNvSpPr>
            <a:spLocks noGrp="1"/>
          </p:cNvSpPr>
          <p:nvPr>
            <p:ph type="pic" sz="quarter" idx="11"/>
          </p:nvPr>
        </p:nvSpPr>
        <p:spPr>
          <a:xfrm>
            <a:off x="5180204" y="1196186"/>
            <a:ext cx="342900" cy="342900"/>
          </a:xfrm>
        </p:spPr>
        <p:txBody>
          <a:bodyPr anchor="t">
            <a:normAutofit/>
          </a:bodyPr>
          <a:lstStyle>
            <a:lvl1pPr marL="0" indent="0" algn="ctr">
              <a:buNone/>
              <a:defRPr sz="700"/>
            </a:lvl1pPr>
          </a:lstStyle>
          <a:p>
            <a:endParaRPr lang="en-IN"/>
          </a:p>
        </p:txBody>
      </p:sp>
      <p:sp>
        <p:nvSpPr>
          <p:cNvPr id="27" name="Picture Placeholder 2">
            <a:extLst>
              <a:ext uri="{FF2B5EF4-FFF2-40B4-BE49-F238E27FC236}">
                <a16:creationId xmlns:a16="http://schemas.microsoft.com/office/drawing/2014/main" id="{A3F105EA-E46D-48DC-B0AC-71E4259F8370}"/>
              </a:ext>
            </a:extLst>
          </p:cNvPr>
          <p:cNvSpPr>
            <a:spLocks noGrp="1"/>
          </p:cNvSpPr>
          <p:nvPr>
            <p:ph type="pic" sz="quarter" idx="12"/>
          </p:nvPr>
        </p:nvSpPr>
        <p:spPr>
          <a:xfrm>
            <a:off x="7755872" y="1196186"/>
            <a:ext cx="342900" cy="342900"/>
          </a:xfrm>
        </p:spPr>
        <p:txBody>
          <a:bodyPr anchor="t">
            <a:normAutofit/>
          </a:bodyPr>
          <a:lstStyle>
            <a:lvl1pPr marL="0" indent="0" algn="ctr">
              <a:buNone/>
              <a:defRPr sz="700"/>
            </a:lvl1pPr>
          </a:lstStyle>
          <a:p>
            <a:endParaRPr lang="en-IN"/>
          </a:p>
        </p:txBody>
      </p:sp>
      <p:sp>
        <p:nvSpPr>
          <p:cNvPr id="28" name="Picture Placeholder 2">
            <a:extLst>
              <a:ext uri="{FF2B5EF4-FFF2-40B4-BE49-F238E27FC236}">
                <a16:creationId xmlns:a16="http://schemas.microsoft.com/office/drawing/2014/main" id="{26268961-F1C9-416E-9D16-810A85F7A8CC}"/>
              </a:ext>
            </a:extLst>
          </p:cNvPr>
          <p:cNvSpPr>
            <a:spLocks noGrp="1"/>
          </p:cNvSpPr>
          <p:nvPr>
            <p:ph type="pic" sz="quarter" idx="13"/>
          </p:nvPr>
        </p:nvSpPr>
        <p:spPr>
          <a:xfrm>
            <a:off x="10333163" y="1197466"/>
            <a:ext cx="342900" cy="342900"/>
          </a:xfrm>
        </p:spPr>
        <p:txBody>
          <a:bodyPr anchor="t">
            <a:normAutofit/>
          </a:bodyPr>
          <a:lstStyle>
            <a:lvl1pPr marL="0" indent="0" algn="ctr">
              <a:buNone/>
              <a:defRPr sz="700"/>
            </a:lvl1pPr>
          </a:lstStyle>
          <a:p>
            <a:endParaRPr lang="en-IN"/>
          </a:p>
        </p:txBody>
      </p:sp>
      <p:sp>
        <p:nvSpPr>
          <p:cNvPr id="29" name="Picture Placeholder 2">
            <a:extLst>
              <a:ext uri="{FF2B5EF4-FFF2-40B4-BE49-F238E27FC236}">
                <a16:creationId xmlns:a16="http://schemas.microsoft.com/office/drawing/2014/main" id="{CE02F3D9-AB4A-4F2A-B1E9-DBD15F0BA57F}"/>
              </a:ext>
            </a:extLst>
          </p:cNvPr>
          <p:cNvSpPr>
            <a:spLocks noGrp="1"/>
          </p:cNvSpPr>
          <p:nvPr>
            <p:ph type="pic" sz="quarter" idx="14"/>
          </p:nvPr>
        </p:nvSpPr>
        <p:spPr>
          <a:xfrm>
            <a:off x="5178582" y="3474540"/>
            <a:ext cx="342900" cy="342900"/>
          </a:xfrm>
        </p:spPr>
        <p:txBody>
          <a:bodyPr anchor="t">
            <a:normAutofit/>
          </a:bodyPr>
          <a:lstStyle>
            <a:lvl1pPr marL="0" indent="0" algn="ctr">
              <a:buNone/>
              <a:defRPr sz="700"/>
            </a:lvl1pPr>
          </a:lstStyle>
          <a:p>
            <a:endParaRPr lang="en-IN"/>
          </a:p>
        </p:txBody>
      </p:sp>
      <p:sp>
        <p:nvSpPr>
          <p:cNvPr id="30" name="Picture Placeholder 2">
            <a:extLst>
              <a:ext uri="{FF2B5EF4-FFF2-40B4-BE49-F238E27FC236}">
                <a16:creationId xmlns:a16="http://schemas.microsoft.com/office/drawing/2014/main" id="{CD2733FB-00DC-4012-95F1-7730E98EBA1B}"/>
              </a:ext>
            </a:extLst>
          </p:cNvPr>
          <p:cNvSpPr>
            <a:spLocks noGrp="1"/>
          </p:cNvSpPr>
          <p:nvPr>
            <p:ph type="pic" sz="quarter" idx="15"/>
          </p:nvPr>
        </p:nvSpPr>
        <p:spPr>
          <a:xfrm>
            <a:off x="7755872" y="3461021"/>
            <a:ext cx="342900" cy="342900"/>
          </a:xfrm>
        </p:spPr>
        <p:txBody>
          <a:bodyPr anchor="t">
            <a:normAutofit/>
          </a:bodyPr>
          <a:lstStyle>
            <a:lvl1pPr marL="0" indent="0" algn="ctr">
              <a:buNone/>
              <a:defRPr sz="700"/>
            </a:lvl1pPr>
          </a:lstStyle>
          <a:p>
            <a:endParaRPr lang="en-IN"/>
          </a:p>
        </p:txBody>
      </p:sp>
      <p:sp>
        <p:nvSpPr>
          <p:cNvPr id="31" name="Picture Placeholder 2">
            <a:extLst>
              <a:ext uri="{FF2B5EF4-FFF2-40B4-BE49-F238E27FC236}">
                <a16:creationId xmlns:a16="http://schemas.microsoft.com/office/drawing/2014/main" id="{0A62D7D2-5AFB-4216-88F8-273B2AB9C449}"/>
              </a:ext>
            </a:extLst>
          </p:cNvPr>
          <p:cNvSpPr>
            <a:spLocks noGrp="1"/>
          </p:cNvSpPr>
          <p:nvPr>
            <p:ph type="pic" sz="quarter" idx="16"/>
          </p:nvPr>
        </p:nvSpPr>
        <p:spPr>
          <a:xfrm>
            <a:off x="10333163" y="3461021"/>
            <a:ext cx="342900" cy="342900"/>
          </a:xfrm>
        </p:spPr>
        <p:txBody>
          <a:bodyPr anchor="t">
            <a:normAutofit/>
          </a:bodyPr>
          <a:lstStyle>
            <a:lvl1pPr marL="0" indent="0" algn="ctr">
              <a:buNone/>
              <a:defRPr sz="700"/>
            </a:lvl1pPr>
          </a:lstStyle>
          <a:p>
            <a:endParaRPr lang="en-IN"/>
          </a:p>
        </p:txBody>
      </p:sp>
      <p:sp>
        <p:nvSpPr>
          <p:cNvPr id="32" name="Text Placeholder 5">
            <a:extLst>
              <a:ext uri="{FF2B5EF4-FFF2-40B4-BE49-F238E27FC236}">
                <a16:creationId xmlns:a16="http://schemas.microsoft.com/office/drawing/2014/main" id="{31BEE2EE-DB85-4007-A36A-3577403C7B31}"/>
              </a:ext>
            </a:extLst>
          </p:cNvPr>
          <p:cNvSpPr>
            <a:spLocks noGrp="1"/>
          </p:cNvSpPr>
          <p:nvPr>
            <p:ph type="body" sz="quarter" idx="18"/>
          </p:nvPr>
        </p:nvSpPr>
        <p:spPr>
          <a:xfrm>
            <a:off x="4266665" y="2178201"/>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B9FED89-59F2-45BC-8535-8505A5AC3545}"/>
              </a:ext>
            </a:extLst>
          </p:cNvPr>
          <p:cNvSpPr>
            <a:spLocks noGrp="1"/>
          </p:cNvSpPr>
          <p:nvPr>
            <p:ph type="body" sz="quarter" idx="17"/>
          </p:nvPr>
        </p:nvSpPr>
        <p:spPr>
          <a:xfrm>
            <a:off x="4266665" y="1752117"/>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41" name="Text Placeholder 5">
            <a:extLst>
              <a:ext uri="{FF2B5EF4-FFF2-40B4-BE49-F238E27FC236}">
                <a16:creationId xmlns:a16="http://schemas.microsoft.com/office/drawing/2014/main" id="{67D62AD8-793A-4179-9963-B1890E99B160}"/>
              </a:ext>
            </a:extLst>
          </p:cNvPr>
          <p:cNvSpPr>
            <a:spLocks noGrp="1"/>
          </p:cNvSpPr>
          <p:nvPr>
            <p:ph type="body" sz="quarter" idx="26"/>
          </p:nvPr>
        </p:nvSpPr>
        <p:spPr>
          <a:xfrm>
            <a:off x="6843955" y="1750973"/>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40" name="Text Placeholder 5">
            <a:extLst>
              <a:ext uri="{FF2B5EF4-FFF2-40B4-BE49-F238E27FC236}">
                <a16:creationId xmlns:a16="http://schemas.microsoft.com/office/drawing/2014/main" id="{E7734511-9768-4624-A25E-AB1551062DDD}"/>
              </a:ext>
            </a:extLst>
          </p:cNvPr>
          <p:cNvSpPr>
            <a:spLocks noGrp="1"/>
          </p:cNvSpPr>
          <p:nvPr>
            <p:ph type="body" sz="quarter" idx="25"/>
          </p:nvPr>
        </p:nvSpPr>
        <p:spPr>
          <a:xfrm>
            <a:off x="6843955" y="2177056"/>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43" name="Text Placeholder 5">
            <a:extLst>
              <a:ext uri="{FF2B5EF4-FFF2-40B4-BE49-F238E27FC236}">
                <a16:creationId xmlns:a16="http://schemas.microsoft.com/office/drawing/2014/main" id="{7E1CFD8D-650F-42C3-8FD4-D43CAD0D2608}"/>
              </a:ext>
            </a:extLst>
          </p:cNvPr>
          <p:cNvSpPr>
            <a:spLocks noGrp="1"/>
          </p:cNvSpPr>
          <p:nvPr>
            <p:ph type="body" sz="quarter" idx="28"/>
          </p:nvPr>
        </p:nvSpPr>
        <p:spPr>
          <a:xfrm>
            <a:off x="9421245" y="1750973"/>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42" name="Text Placeholder 5">
            <a:extLst>
              <a:ext uri="{FF2B5EF4-FFF2-40B4-BE49-F238E27FC236}">
                <a16:creationId xmlns:a16="http://schemas.microsoft.com/office/drawing/2014/main" id="{65C58E1C-9E16-40C0-83BE-92E02171394C}"/>
              </a:ext>
            </a:extLst>
          </p:cNvPr>
          <p:cNvSpPr>
            <a:spLocks noGrp="1"/>
          </p:cNvSpPr>
          <p:nvPr>
            <p:ph type="body" sz="quarter" idx="27"/>
          </p:nvPr>
        </p:nvSpPr>
        <p:spPr>
          <a:xfrm>
            <a:off x="9421245" y="2177056"/>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35" name="Text Placeholder 5">
            <a:extLst>
              <a:ext uri="{FF2B5EF4-FFF2-40B4-BE49-F238E27FC236}">
                <a16:creationId xmlns:a16="http://schemas.microsoft.com/office/drawing/2014/main" id="{2255AB8B-4A50-42B8-9118-F21C48B93FCE}"/>
              </a:ext>
            </a:extLst>
          </p:cNvPr>
          <p:cNvSpPr>
            <a:spLocks noGrp="1"/>
          </p:cNvSpPr>
          <p:nvPr>
            <p:ph type="body" sz="quarter" idx="20"/>
          </p:nvPr>
        </p:nvSpPr>
        <p:spPr>
          <a:xfrm>
            <a:off x="4266665" y="4032435"/>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37" name="Text Placeholder 5">
            <a:extLst>
              <a:ext uri="{FF2B5EF4-FFF2-40B4-BE49-F238E27FC236}">
                <a16:creationId xmlns:a16="http://schemas.microsoft.com/office/drawing/2014/main" id="{073DAD84-A22D-4957-B3AF-06655911CA51}"/>
              </a:ext>
            </a:extLst>
          </p:cNvPr>
          <p:cNvSpPr>
            <a:spLocks noGrp="1"/>
          </p:cNvSpPr>
          <p:nvPr>
            <p:ph type="body" sz="quarter" idx="22"/>
          </p:nvPr>
        </p:nvSpPr>
        <p:spPr>
          <a:xfrm>
            <a:off x="6845391" y="4032435"/>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39" name="Text Placeholder 5">
            <a:extLst>
              <a:ext uri="{FF2B5EF4-FFF2-40B4-BE49-F238E27FC236}">
                <a16:creationId xmlns:a16="http://schemas.microsoft.com/office/drawing/2014/main" id="{6B21FB59-C0A4-4022-8816-429F85A9DB4F}"/>
              </a:ext>
            </a:extLst>
          </p:cNvPr>
          <p:cNvSpPr>
            <a:spLocks noGrp="1"/>
          </p:cNvSpPr>
          <p:nvPr>
            <p:ph type="body" sz="quarter" idx="24"/>
          </p:nvPr>
        </p:nvSpPr>
        <p:spPr>
          <a:xfrm>
            <a:off x="9421245" y="4032435"/>
            <a:ext cx="2165299" cy="426084"/>
          </a:xfrm>
        </p:spPr>
        <p:txBody>
          <a:bodyPr anchor="ctr">
            <a:normAutofit/>
          </a:bodyPr>
          <a:lstStyle>
            <a:lvl1pPr marL="0" indent="0" algn="ctr">
              <a:buNone/>
              <a:defRPr sz="1400" b="1">
                <a:solidFill>
                  <a:schemeClr val="tx1">
                    <a:lumMod val="65000"/>
                    <a:lumOff val="35000"/>
                  </a:schemeClr>
                </a:solidFill>
                <a:latin typeface="+mj-lt"/>
              </a:defRPr>
            </a:lvl1pPr>
          </a:lstStyle>
          <a:p>
            <a:pPr lvl="0"/>
            <a:r>
              <a:rPr lang="en-US"/>
              <a:t>Edit Master text styles</a:t>
            </a:r>
          </a:p>
        </p:txBody>
      </p:sp>
      <p:sp>
        <p:nvSpPr>
          <p:cNvPr id="34" name="Text Placeholder 5">
            <a:extLst>
              <a:ext uri="{FF2B5EF4-FFF2-40B4-BE49-F238E27FC236}">
                <a16:creationId xmlns:a16="http://schemas.microsoft.com/office/drawing/2014/main" id="{BD8EDAE3-CD0E-476E-9A3F-F7BB5368E6C1}"/>
              </a:ext>
            </a:extLst>
          </p:cNvPr>
          <p:cNvSpPr>
            <a:spLocks noGrp="1"/>
          </p:cNvSpPr>
          <p:nvPr>
            <p:ph type="body" sz="quarter" idx="19"/>
          </p:nvPr>
        </p:nvSpPr>
        <p:spPr>
          <a:xfrm>
            <a:off x="4266665" y="4458518"/>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36" name="Text Placeholder 5">
            <a:extLst>
              <a:ext uri="{FF2B5EF4-FFF2-40B4-BE49-F238E27FC236}">
                <a16:creationId xmlns:a16="http://schemas.microsoft.com/office/drawing/2014/main" id="{03C51259-1D8D-4917-B989-7B2C06D2F62A}"/>
              </a:ext>
            </a:extLst>
          </p:cNvPr>
          <p:cNvSpPr>
            <a:spLocks noGrp="1"/>
          </p:cNvSpPr>
          <p:nvPr>
            <p:ph type="body" sz="quarter" idx="21"/>
          </p:nvPr>
        </p:nvSpPr>
        <p:spPr>
          <a:xfrm>
            <a:off x="6845391" y="4458518"/>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38" name="Text Placeholder 5">
            <a:extLst>
              <a:ext uri="{FF2B5EF4-FFF2-40B4-BE49-F238E27FC236}">
                <a16:creationId xmlns:a16="http://schemas.microsoft.com/office/drawing/2014/main" id="{C4626112-F516-4441-850E-F8E93722ED4F}"/>
              </a:ext>
            </a:extLst>
          </p:cNvPr>
          <p:cNvSpPr>
            <a:spLocks noGrp="1"/>
          </p:cNvSpPr>
          <p:nvPr>
            <p:ph type="body" sz="quarter" idx="23"/>
          </p:nvPr>
        </p:nvSpPr>
        <p:spPr>
          <a:xfrm>
            <a:off x="9421245" y="4458518"/>
            <a:ext cx="2165299" cy="717774"/>
          </a:xfrm>
        </p:spPr>
        <p:txBody>
          <a:bodyPr tIns="45720">
            <a:normAutofit/>
          </a:bodyPr>
          <a:lstStyle>
            <a:lvl1pPr marL="0" indent="0" algn="ctr">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33" name="Content Placeholder 6">
            <a:extLst>
              <a:ext uri="{FF2B5EF4-FFF2-40B4-BE49-F238E27FC236}">
                <a16:creationId xmlns:a16="http://schemas.microsoft.com/office/drawing/2014/main" id="{AF28F1C0-4570-44DE-9D64-B03BECC32436}"/>
              </a:ext>
            </a:extLst>
          </p:cNvPr>
          <p:cNvSpPr>
            <a:spLocks noGrp="1"/>
          </p:cNvSpPr>
          <p:nvPr>
            <p:ph sz="quarter" idx="29"/>
          </p:nvPr>
        </p:nvSpPr>
        <p:spPr>
          <a:xfrm>
            <a:off x="481256" y="3230857"/>
            <a:ext cx="3252894" cy="2755198"/>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20150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istics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633D26C-F68B-C442-AD58-B50653BF3A57}"/>
              </a:ext>
            </a:extLst>
          </p:cNvPr>
          <p:cNvSpPr>
            <a:spLocks noGrp="1"/>
          </p:cNvSpPr>
          <p:nvPr>
            <p:ph type="title" hasCustomPrompt="1"/>
          </p:nvPr>
        </p:nvSpPr>
        <p:spPr>
          <a:xfrm>
            <a:off x="481256" y="938506"/>
            <a:ext cx="3252894" cy="1020923"/>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99AE76B9-E8B7-C84A-8E56-F41009CC135A}"/>
              </a:ext>
            </a:extLst>
          </p:cNvPr>
          <p:cNvSpPr>
            <a:spLocks noGrp="1"/>
          </p:cNvSpPr>
          <p:nvPr>
            <p:ph type="body" sz="quarter" idx="10" hasCustomPrompt="1"/>
          </p:nvPr>
        </p:nvSpPr>
        <p:spPr>
          <a:xfrm>
            <a:off x="481256" y="2079215"/>
            <a:ext cx="3252894" cy="1020923"/>
          </a:xfrm>
          <a:prstGeom prst="rect">
            <a:avLst/>
          </a:prstGeom>
        </p:spPr>
        <p:txBody>
          <a:bodyPr>
            <a:no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2" name="Oval 1">
            <a:extLst>
              <a:ext uri="{FF2B5EF4-FFF2-40B4-BE49-F238E27FC236}">
                <a16:creationId xmlns:a16="http://schemas.microsoft.com/office/drawing/2014/main" id="{DF531560-BF66-4A47-A8A2-653479256842}"/>
              </a:ext>
            </a:extLst>
          </p:cNvPr>
          <p:cNvSpPr/>
          <p:nvPr userDrawn="1"/>
        </p:nvSpPr>
        <p:spPr>
          <a:xfrm>
            <a:off x="4314265" y="85725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2" name="Oval 11">
            <a:extLst>
              <a:ext uri="{FF2B5EF4-FFF2-40B4-BE49-F238E27FC236}">
                <a16:creationId xmlns:a16="http://schemas.microsoft.com/office/drawing/2014/main" id="{24AAFA51-BDC8-2447-87E8-84EF6B4D0E04}"/>
              </a:ext>
            </a:extLst>
          </p:cNvPr>
          <p:cNvSpPr/>
          <p:nvPr userDrawn="1"/>
        </p:nvSpPr>
        <p:spPr>
          <a:xfrm>
            <a:off x="6833945" y="85725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4" name="Oval 13">
            <a:extLst>
              <a:ext uri="{FF2B5EF4-FFF2-40B4-BE49-F238E27FC236}">
                <a16:creationId xmlns:a16="http://schemas.microsoft.com/office/drawing/2014/main" id="{5A970A8A-8D7C-6043-889F-EB3A6590BF39}"/>
              </a:ext>
            </a:extLst>
          </p:cNvPr>
          <p:cNvSpPr/>
          <p:nvPr userDrawn="1"/>
        </p:nvSpPr>
        <p:spPr>
          <a:xfrm>
            <a:off x="9353625" y="85725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6" name="Oval 15">
            <a:extLst>
              <a:ext uri="{FF2B5EF4-FFF2-40B4-BE49-F238E27FC236}">
                <a16:creationId xmlns:a16="http://schemas.microsoft.com/office/drawing/2014/main" id="{628A687A-F91B-5849-AA48-FB8A2AAFFE8E}"/>
              </a:ext>
            </a:extLst>
          </p:cNvPr>
          <p:cNvSpPr/>
          <p:nvPr userDrawn="1"/>
        </p:nvSpPr>
        <p:spPr>
          <a:xfrm>
            <a:off x="4314265" y="342900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8" name="Oval 17">
            <a:extLst>
              <a:ext uri="{FF2B5EF4-FFF2-40B4-BE49-F238E27FC236}">
                <a16:creationId xmlns:a16="http://schemas.microsoft.com/office/drawing/2014/main" id="{E0B61753-2B86-7648-9D9D-B43070A699F7}"/>
              </a:ext>
            </a:extLst>
          </p:cNvPr>
          <p:cNvSpPr/>
          <p:nvPr userDrawn="1"/>
        </p:nvSpPr>
        <p:spPr>
          <a:xfrm>
            <a:off x="6833945" y="342900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20" name="Oval 19">
            <a:extLst>
              <a:ext uri="{FF2B5EF4-FFF2-40B4-BE49-F238E27FC236}">
                <a16:creationId xmlns:a16="http://schemas.microsoft.com/office/drawing/2014/main" id="{372EF9F2-2649-974B-8822-BCECC8F2CED1}"/>
              </a:ext>
            </a:extLst>
          </p:cNvPr>
          <p:cNvSpPr/>
          <p:nvPr userDrawn="1"/>
        </p:nvSpPr>
        <p:spPr>
          <a:xfrm>
            <a:off x="9353625" y="3429000"/>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0" name="Content Placeholder 6">
            <a:extLst>
              <a:ext uri="{FF2B5EF4-FFF2-40B4-BE49-F238E27FC236}">
                <a16:creationId xmlns:a16="http://schemas.microsoft.com/office/drawing/2014/main" id="{B91ECA77-9848-498C-AEFE-8E9C6C737A7D}"/>
              </a:ext>
            </a:extLst>
          </p:cNvPr>
          <p:cNvSpPr>
            <a:spLocks noGrp="1"/>
          </p:cNvSpPr>
          <p:nvPr>
            <p:ph sz="quarter" idx="29"/>
          </p:nvPr>
        </p:nvSpPr>
        <p:spPr>
          <a:xfrm>
            <a:off x="481256" y="3230857"/>
            <a:ext cx="3252894" cy="2755198"/>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94595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istics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633D26C-F68B-C442-AD58-B50653BF3A57}"/>
              </a:ext>
            </a:extLst>
          </p:cNvPr>
          <p:cNvSpPr>
            <a:spLocks noGrp="1"/>
          </p:cNvSpPr>
          <p:nvPr>
            <p:ph type="title" hasCustomPrompt="1"/>
          </p:nvPr>
        </p:nvSpPr>
        <p:spPr>
          <a:xfrm>
            <a:off x="657362" y="938506"/>
            <a:ext cx="10987431" cy="558280"/>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99AE76B9-E8B7-C84A-8E56-F41009CC135A}"/>
              </a:ext>
            </a:extLst>
          </p:cNvPr>
          <p:cNvSpPr>
            <a:spLocks noGrp="1"/>
          </p:cNvSpPr>
          <p:nvPr>
            <p:ph type="body" sz="quarter" idx="10" hasCustomPrompt="1"/>
          </p:nvPr>
        </p:nvSpPr>
        <p:spPr>
          <a:xfrm>
            <a:off x="657362" y="1602966"/>
            <a:ext cx="10987431" cy="558280"/>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2" name="Oval 1">
            <a:extLst>
              <a:ext uri="{FF2B5EF4-FFF2-40B4-BE49-F238E27FC236}">
                <a16:creationId xmlns:a16="http://schemas.microsoft.com/office/drawing/2014/main" id="{DF531560-BF66-4A47-A8A2-653479256842}"/>
              </a:ext>
            </a:extLst>
          </p:cNvPr>
          <p:cNvSpPr/>
          <p:nvPr userDrawn="1"/>
        </p:nvSpPr>
        <p:spPr>
          <a:xfrm>
            <a:off x="547565" y="2880938"/>
            <a:ext cx="2363545" cy="2374096"/>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2" name="Oval 11">
            <a:extLst>
              <a:ext uri="{FF2B5EF4-FFF2-40B4-BE49-F238E27FC236}">
                <a16:creationId xmlns:a16="http://schemas.microsoft.com/office/drawing/2014/main" id="{24AAFA51-BDC8-2447-87E8-84EF6B4D0E04}"/>
              </a:ext>
            </a:extLst>
          </p:cNvPr>
          <p:cNvSpPr/>
          <p:nvPr userDrawn="1"/>
        </p:nvSpPr>
        <p:spPr>
          <a:xfrm>
            <a:off x="3458674" y="2880938"/>
            <a:ext cx="2363545" cy="2374096"/>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4" name="Oval 13">
            <a:extLst>
              <a:ext uri="{FF2B5EF4-FFF2-40B4-BE49-F238E27FC236}">
                <a16:creationId xmlns:a16="http://schemas.microsoft.com/office/drawing/2014/main" id="{5A970A8A-8D7C-6043-889F-EB3A6590BF39}"/>
              </a:ext>
            </a:extLst>
          </p:cNvPr>
          <p:cNvSpPr/>
          <p:nvPr userDrawn="1"/>
        </p:nvSpPr>
        <p:spPr>
          <a:xfrm>
            <a:off x="6369783" y="2880938"/>
            <a:ext cx="2363545" cy="2374096"/>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
        <p:nvSpPr>
          <p:cNvPr id="10" name="Oval 9">
            <a:extLst>
              <a:ext uri="{FF2B5EF4-FFF2-40B4-BE49-F238E27FC236}">
                <a16:creationId xmlns:a16="http://schemas.microsoft.com/office/drawing/2014/main" id="{91E53C42-1E04-B941-B327-7FB689704D41}"/>
              </a:ext>
            </a:extLst>
          </p:cNvPr>
          <p:cNvSpPr/>
          <p:nvPr userDrawn="1"/>
        </p:nvSpPr>
        <p:spPr>
          <a:xfrm>
            <a:off x="9280892" y="2880938"/>
            <a:ext cx="2363545" cy="2374096"/>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latin typeface="Roboto" pitchFamily="2" charset="0"/>
              <a:ea typeface="Roboto" pitchFamily="2" charset="0"/>
            </a:endParaRPr>
          </a:p>
        </p:txBody>
      </p:sp>
    </p:spTree>
    <p:extLst>
      <p:ext uri="{BB962C8B-B14F-4D97-AF65-F5344CB8AC3E}">
        <p14:creationId xmlns:p14="http://schemas.microsoft.com/office/powerpoint/2010/main" val="30132832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5" name="Picture Placeholder 18"/>
          <p:cNvSpPr>
            <a:spLocks noGrp="1"/>
          </p:cNvSpPr>
          <p:nvPr>
            <p:ph type="pic" sz="quarter" idx="13"/>
          </p:nvPr>
        </p:nvSpPr>
        <p:spPr>
          <a:xfrm>
            <a:off x="905134" y="1544691"/>
            <a:ext cx="1916583" cy="1925139"/>
          </a:xfrm>
          <a:prstGeom prst="ellipse">
            <a:avLst/>
          </a:prstGeom>
          <a:solidFill>
            <a:schemeClr val="bg2">
              <a:lumMod val="90000"/>
            </a:schemeClr>
          </a:solidFill>
        </p:spPr>
      </p:sp>
      <p:sp>
        <p:nvSpPr>
          <p:cNvPr id="6" name="Picture Placeholder 19"/>
          <p:cNvSpPr>
            <a:spLocks noGrp="1"/>
          </p:cNvSpPr>
          <p:nvPr>
            <p:ph type="pic" sz="quarter" idx="14"/>
          </p:nvPr>
        </p:nvSpPr>
        <p:spPr>
          <a:xfrm>
            <a:off x="3726851" y="1544691"/>
            <a:ext cx="1916583" cy="1925139"/>
          </a:xfrm>
          <a:prstGeom prst="ellipse">
            <a:avLst/>
          </a:prstGeom>
          <a:solidFill>
            <a:schemeClr val="bg2">
              <a:lumMod val="90000"/>
            </a:schemeClr>
          </a:solidFill>
        </p:spPr>
      </p:sp>
      <p:sp>
        <p:nvSpPr>
          <p:cNvPr id="7" name="Picture Placeholder 20"/>
          <p:cNvSpPr>
            <a:spLocks noGrp="1"/>
          </p:cNvSpPr>
          <p:nvPr>
            <p:ph type="pic" sz="quarter" idx="15"/>
          </p:nvPr>
        </p:nvSpPr>
        <p:spPr>
          <a:xfrm>
            <a:off x="6548567" y="1544691"/>
            <a:ext cx="1916583" cy="1925139"/>
          </a:xfrm>
          <a:prstGeom prst="ellipse">
            <a:avLst/>
          </a:prstGeom>
          <a:solidFill>
            <a:schemeClr val="bg2">
              <a:lumMod val="90000"/>
            </a:schemeClr>
          </a:solidFill>
        </p:spPr>
      </p:sp>
      <p:sp>
        <p:nvSpPr>
          <p:cNvPr id="8" name="Picture Placeholder 21"/>
          <p:cNvSpPr>
            <a:spLocks noGrp="1"/>
          </p:cNvSpPr>
          <p:nvPr>
            <p:ph type="pic" sz="quarter" idx="16"/>
          </p:nvPr>
        </p:nvSpPr>
        <p:spPr>
          <a:xfrm>
            <a:off x="9370284" y="1544691"/>
            <a:ext cx="1916583" cy="1925139"/>
          </a:xfrm>
          <a:prstGeom prst="ellipse">
            <a:avLst/>
          </a:prstGeom>
          <a:solidFill>
            <a:schemeClr val="bg2">
              <a:lumMod val="90000"/>
            </a:schemeClr>
          </a:solidFill>
        </p:spPr>
      </p:sp>
    </p:spTree>
    <p:extLst>
      <p:ext uri="{BB962C8B-B14F-4D97-AF65-F5344CB8AC3E}">
        <p14:creationId xmlns:p14="http://schemas.microsoft.com/office/powerpoint/2010/main" val="1292651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5" name="Picture Placeholder 8"/>
          <p:cNvSpPr>
            <a:spLocks noGrp="1"/>
          </p:cNvSpPr>
          <p:nvPr>
            <p:ph type="pic" sz="quarter" idx="13"/>
          </p:nvPr>
        </p:nvSpPr>
        <p:spPr>
          <a:xfrm>
            <a:off x="0" y="0"/>
            <a:ext cx="12192000" cy="3429000"/>
          </a:xfrm>
          <a:prstGeom prst="rect">
            <a:avLst/>
          </a:prstGeom>
          <a:solidFill>
            <a:schemeClr val="bg2">
              <a:lumMod val="90000"/>
            </a:schemeClr>
          </a:solidFill>
        </p:spPr>
      </p:sp>
      <p:sp>
        <p:nvSpPr>
          <p:cNvPr id="6" name="Picture Placeholder 9"/>
          <p:cNvSpPr>
            <a:spLocks noGrp="1"/>
          </p:cNvSpPr>
          <p:nvPr>
            <p:ph type="pic" sz="quarter" idx="14"/>
          </p:nvPr>
        </p:nvSpPr>
        <p:spPr>
          <a:xfrm>
            <a:off x="1584960" y="2459706"/>
            <a:ext cx="1950720" cy="1959429"/>
          </a:xfrm>
          <a:prstGeom prst="ellipse">
            <a:avLst/>
          </a:prstGeom>
          <a:solidFill>
            <a:schemeClr val="bg2">
              <a:lumMod val="90000"/>
            </a:schemeClr>
          </a:solidFill>
        </p:spPr>
      </p:sp>
      <p:sp>
        <p:nvSpPr>
          <p:cNvPr id="7" name="Picture Placeholder 10"/>
          <p:cNvSpPr>
            <a:spLocks noGrp="1"/>
          </p:cNvSpPr>
          <p:nvPr>
            <p:ph type="pic" sz="quarter" idx="15"/>
          </p:nvPr>
        </p:nvSpPr>
        <p:spPr>
          <a:xfrm>
            <a:off x="5120640" y="2459706"/>
            <a:ext cx="1950720" cy="1959429"/>
          </a:xfrm>
          <a:prstGeom prst="ellipse">
            <a:avLst/>
          </a:prstGeom>
          <a:solidFill>
            <a:schemeClr val="bg2">
              <a:lumMod val="90000"/>
            </a:schemeClr>
          </a:solidFill>
        </p:spPr>
      </p:sp>
      <p:sp>
        <p:nvSpPr>
          <p:cNvPr id="8" name="Picture Placeholder 11"/>
          <p:cNvSpPr>
            <a:spLocks noGrp="1"/>
          </p:cNvSpPr>
          <p:nvPr>
            <p:ph type="pic" sz="quarter" idx="16"/>
          </p:nvPr>
        </p:nvSpPr>
        <p:spPr>
          <a:xfrm>
            <a:off x="8656320" y="2459706"/>
            <a:ext cx="1950720" cy="1959429"/>
          </a:xfrm>
          <a:prstGeom prst="ellipse">
            <a:avLst/>
          </a:prstGeom>
          <a:solidFill>
            <a:schemeClr val="bg2">
              <a:lumMod val="90000"/>
            </a:schemeClr>
          </a:solidFill>
        </p:spPr>
      </p:sp>
      <p:sp>
        <p:nvSpPr>
          <p:cNvPr id="10" name="TextBox 9">
            <a:extLst>
              <a:ext uri="{FF2B5EF4-FFF2-40B4-BE49-F238E27FC236}">
                <a16:creationId xmlns:a16="http://schemas.microsoft.com/office/drawing/2014/main" id="{4FC8C81D-24AC-4180-9EB2-BB2CBC2CC7E3}"/>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Tree>
    <p:extLst>
      <p:ext uri="{BB962C8B-B14F-4D97-AF65-F5344CB8AC3E}">
        <p14:creationId xmlns:p14="http://schemas.microsoft.com/office/powerpoint/2010/main" val="35799324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5" name="Picture Placeholder 11"/>
          <p:cNvSpPr>
            <a:spLocks noGrp="1"/>
          </p:cNvSpPr>
          <p:nvPr>
            <p:ph type="pic" sz="quarter" idx="13"/>
          </p:nvPr>
        </p:nvSpPr>
        <p:spPr>
          <a:xfrm>
            <a:off x="877824" y="1532106"/>
            <a:ext cx="1950720" cy="1959429"/>
          </a:xfrm>
          <a:prstGeom prst="rect">
            <a:avLst/>
          </a:prstGeom>
          <a:solidFill>
            <a:schemeClr val="bg2">
              <a:lumMod val="90000"/>
            </a:schemeClr>
          </a:solidFill>
        </p:spPr>
      </p:sp>
      <p:sp>
        <p:nvSpPr>
          <p:cNvPr id="6" name="Picture Placeholder 12"/>
          <p:cNvSpPr>
            <a:spLocks noGrp="1"/>
          </p:cNvSpPr>
          <p:nvPr>
            <p:ph type="pic" sz="quarter" idx="14"/>
          </p:nvPr>
        </p:nvSpPr>
        <p:spPr>
          <a:xfrm>
            <a:off x="3706368" y="1532106"/>
            <a:ext cx="1950720" cy="1959429"/>
          </a:xfrm>
          <a:prstGeom prst="rect">
            <a:avLst/>
          </a:prstGeom>
          <a:solidFill>
            <a:schemeClr val="bg2">
              <a:lumMod val="90000"/>
            </a:schemeClr>
          </a:solidFill>
        </p:spPr>
      </p:sp>
      <p:sp>
        <p:nvSpPr>
          <p:cNvPr id="7" name="Picture Placeholder 13"/>
          <p:cNvSpPr>
            <a:spLocks noGrp="1"/>
          </p:cNvSpPr>
          <p:nvPr>
            <p:ph type="pic" sz="quarter" idx="15"/>
          </p:nvPr>
        </p:nvSpPr>
        <p:spPr>
          <a:xfrm>
            <a:off x="6534912" y="1532106"/>
            <a:ext cx="1950720" cy="1959429"/>
          </a:xfrm>
          <a:prstGeom prst="rect">
            <a:avLst/>
          </a:prstGeom>
          <a:solidFill>
            <a:schemeClr val="bg2">
              <a:lumMod val="90000"/>
            </a:schemeClr>
          </a:solidFill>
        </p:spPr>
      </p:sp>
      <p:sp>
        <p:nvSpPr>
          <p:cNvPr id="8" name="Picture Placeholder 14"/>
          <p:cNvSpPr>
            <a:spLocks noGrp="1"/>
          </p:cNvSpPr>
          <p:nvPr>
            <p:ph type="pic" sz="quarter" idx="16"/>
          </p:nvPr>
        </p:nvSpPr>
        <p:spPr>
          <a:xfrm>
            <a:off x="9363456" y="1532106"/>
            <a:ext cx="1950720" cy="1959429"/>
          </a:xfrm>
          <a:prstGeom prst="rect">
            <a:avLst/>
          </a:prstGeom>
          <a:solidFill>
            <a:schemeClr val="bg2">
              <a:lumMod val="90000"/>
            </a:schemeClr>
          </a:solidFill>
        </p:spPr>
      </p:sp>
    </p:spTree>
    <p:extLst>
      <p:ext uri="{BB962C8B-B14F-4D97-AF65-F5344CB8AC3E}">
        <p14:creationId xmlns:p14="http://schemas.microsoft.com/office/powerpoint/2010/main" val="6822737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Holder 01">
    <p:spTree>
      <p:nvGrpSpPr>
        <p:cNvPr id="1" name=""/>
        <p:cNvGrpSpPr/>
        <p:nvPr/>
      </p:nvGrpSpPr>
      <p:grpSpPr>
        <a:xfrm>
          <a:off x="0" y="0"/>
          <a:ext cx="0" cy="0"/>
          <a:chOff x="0" y="0"/>
          <a:chExt cx="0" cy="0"/>
        </a:xfrm>
      </p:grpSpPr>
      <p:sp>
        <p:nvSpPr>
          <p:cNvPr id="4" name="Rectangle 3"/>
          <p:cNvSpPr/>
          <p:nvPr userDrawn="1"/>
        </p:nvSpPr>
        <p:spPr>
          <a:xfrm>
            <a:off x="6096000" y="979715"/>
            <a:ext cx="5364480" cy="48985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7" name="Picture Placeholder 17"/>
          <p:cNvSpPr>
            <a:spLocks noGrp="1"/>
          </p:cNvSpPr>
          <p:nvPr>
            <p:ph type="pic" sz="quarter" idx="13"/>
          </p:nvPr>
        </p:nvSpPr>
        <p:spPr>
          <a:xfrm>
            <a:off x="731520" y="979715"/>
            <a:ext cx="5364480" cy="4898572"/>
          </a:xfrm>
          <a:prstGeom prst="rect">
            <a:avLst/>
          </a:prstGeom>
          <a:solidFill>
            <a:schemeClr val="bg2">
              <a:lumMod val="90000"/>
            </a:schemeClr>
          </a:solidFill>
        </p:spPr>
      </p:sp>
      <p:sp>
        <p:nvSpPr>
          <p:cNvPr id="6" name="Title 1">
            <a:extLst>
              <a:ext uri="{FF2B5EF4-FFF2-40B4-BE49-F238E27FC236}">
                <a16:creationId xmlns:a16="http://schemas.microsoft.com/office/drawing/2014/main" id="{A01CA41F-183B-4CAB-849E-C5E7CD71F30D}"/>
              </a:ext>
            </a:extLst>
          </p:cNvPr>
          <p:cNvSpPr>
            <a:spLocks noGrp="1"/>
          </p:cNvSpPr>
          <p:nvPr>
            <p:ph type="title" hasCustomPrompt="1"/>
          </p:nvPr>
        </p:nvSpPr>
        <p:spPr>
          <a:xfrm>
            <a:off x="6322708" y="1218133"/>
            <a:ext cx="4935984" cy="529985"/>
          </a:xfrm>
        </p:spPr>
        <p:txBody>
          <a:bodyPr anchor="t"/>
          <a:lstStyle>
            <a:lvl1pPr>
              <a:defRPr>
                <a:solidFill>
                  <a:schemeClr val="bg1"/>
                </a:solidFill>
              </a:defRPr>
            </a:lvl1pPr>
          </a:lstStyle>
          <a:p>
            <a:r>
              <a:rPr lang="en-US"/>
              <a:t>Slide Title Lorem Ipsum</a:t>
            </a:r>
          </a:p>
        </p:txBody>
      </p:sp>
      <p:sp>
        <p:nvSpPr>
          <p:cNvPr id="9" name="Content Placeholder 6">
            <a:extLst>
              <a:ext uri="{FF2B5EF4-FFF2-40B4-BE49-F238E27FC236}">
                <a16:creationId xmlns:a16="http://schemas.microsoft.com/office/drawing/2014/main" id="{BBAB4A80-CD47-4E7B-B06D-21688BEA61AC}"/>
              </a:ext>
            </a:extLst>
          </p:cNvPr>
          <p:cNvSpPr>
            <a:spLocks noGrp="1"/>
          </p:cNvSpPr>
          <p:nvPr>
            <p:ph sz="quarter" idx="11"/>
          </p:nvPr>
        </p:nvSpPr>
        <p:spPr>
          <a:xfrm>
            <a:off x="6322708" y="1873117"/>
            <a:ext cx="4935984" cy="3766751"/>
          </a:xfrm>
          <a:prstGeom prst="rect">
            <a:avLst/>
          </a:prstGeom>
        </p:spPr>
        <p:txBody>
          <a:bodyPr/>
          <a:lstStyle>
            <a:lvl1pPr>
              <a:buClr>
                <a:schemeClr val="bg1"/>
              </a:buClr>
              <a:defRPr sz="2000">
                <a:solidFill>
                  <a:schemeClr val="bg1"/>
                </a:solidFill>
                <a:latin typeface="+mn-lt"/>
                <a:ea typeface="Roboto" pitchFamily="2" charset="0"/>
              </a:defRPr>
            </a:lvl1pPr>
            <a:lvl2pPr>
              <a:buClr>
                <a:schemeClr val="bg1"/>
              </a:buClr>
              <a:defRPr sz="1800">
                <a:solidFill>
                  <a:schemeClr val="bg1"/>
                </a:solidFill>
                <a:latin typeface="+mn-lt"/>
                <a:ea typeface="Roboto" pitchFamily="2" charset="0"/>
              </a:defRPr>
            </a:lvl2pPr>
            <a:lvl3pPr>
              <a:buClr>
                <a:schemeClr val="bg1"/>
              </a:buClr>
              <a:defRPr sz="1400">
                <a:solidFill>
                  <a:schemeClr val="bg1"/>
                </a:solidFill>
                <a:latin typeface="+mn-lt"/>
                <a:ea typeface="Roboto" pitchFamily="2" charset="0"/>
              </a:defRPr>
            </a:lvl3pPr>
            <a:lvl4pPr>
              <a:buClr>
                <a:schemeClr val="bg1"/>
              </a:buClr>
              <a:defRPr sz="1200">
                <a:solidFill>
                  <a:schemeClr val="bg1"/>
                </a:solidFill>
                <a:latin typeface="+mn-lt"/>
                <a:ea typeface="Roboto" pitchFamily="2" charset="0"/>
              </a:defRPr>
            </a:lvl4pPr>
            <a:lvl5pPr>
              <a:buClr>
                <a:schemeClr val="bg1"/>
              </a:buClr>
              <a:defRPr sz="1200">
                <a:solidFill>
                  <a:schemeClr val="bg1"/>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99556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Holder 02">
    <p:spTree>
      <p:nvGrpSpPr>
        <p:cNvPr id="1" name=""/>
        <p:cNvGrpSpPr/>
        <p:nvPr/>
      </p:nvGrpSpPr>
      <p:grpSpPr>
        <a:xfrm>
          <a:off x="0" y="0"/>
          <a:ext cx="0" cy="0"/>
          <a:chOff x="0" y="0"/>
          <a:chExt cx="0" cy="0"/>
        </a:xfrm>
      </p:grpSpPr>
      <p:sp>
        <p:nvSpPr>
          <p:cNvPr id="4" name="Rectangle 3"/>
          <p:cNvSpPr/>
          <p:nvPr userDrawn="1"/>
        </p:nvSpPr>
        <p:spPr>
          <a:xfrm>
            <a:off x="731520" y="979715"/>
            <a:ext cx="3413760" cy="48985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5" name="Picture Placeholder 8"/>
          <p:cNvSpPr>
            <a:spLocks noGrp="1"/>
          </p:cNvSpPr>
          <p:nvPr>
            <p:ph type="pic" sz="quarter" idx="13"/>
          </p:nvPr>
        </p:nvSpPr>
        <p:spPr>
          <a:xfrm>
            <a:off x="4145280" y="3429000"/>
            <a:ext cx="4876800" cy="2449286"/>
          </a:xfrm>
          <a:prstGeom prst="rect">
            <a:avLst/>
          </a:prstGeom>
          <a:solidFill>
            <a:schemeClr val="bg2">
              <a:lumMod val="90000"/>
            </a:schemeClr>
          </a:solidFill>
        </p:spPr>
      </p:sp>
      <p:sp>
        <p:nvSpPr>
          <p:cNvPr id="8" name="Picture Placeholder 9"/>
          <p:cNvSpPr>
            <a:spLocks noGrp="1"/>
          </p:cNvSpPr>
          <p:nvPr>
            <p:ph type="pic" sz="quarter" idx="14"/>
          </p:nvPr>
        </p:nvSpPr>
        <p:spPr>
          <a:xfrm>
            <a:off x="4145280" y="979715"/>
            <a:ext cx="1950720" cy="2449286"/>
          </a:xfrm>
          <a:prstGeom prst="rect">
            <a:avLst/>
          </a:prstGeom>
          <a:solidFill>
            <a:schemeClr val="bg2">
              <a:lumMod val="90000"/>
            </a:schemeClr>
          </a:solidFill>
        </p:spPr>
      </p:sp>
      <p:sp>
        <p:nvSpPr>
          <p:cNvPr id="9" name="Picture Placeholder 10"/>
          <p:cNvSpPr>
            <a:spLocks noGrp="1"/>
          </p:cNvSpPr>
          <p:nvPr>
            <p:ph type="pic" sz="quarter" idx="15"/>
          </p:nvPr>
        </p:nvSpPr>
        <p:spPr>
          <a:xfrm>
            <a:off x="6096000" y="979715"/>
            <a:ext cx="2926080" cy="2449286"/>
          </a:xfrm>
          <a:prstGeom prst="rect">
            <a:avLst/>
          </a:prstGeom>
          <a:solidFill>
            <a:schemeClr val="bg2">
              <a:lumMod val="90000"/>
            </a:schemeClr>
          </a:solidFill>
        </p:spPr>
      </p:sp>
      <p:sp>
        <p:nvSpPr>
          <p:cNvPr id="10" name="Picture Placeholder 11"/>
          <p:cNvSpPr>
            <a:spLocks noGrp="1"/>
          </p:cNvSpPr>
          <p:nvPr>
            <p:ph type="pic" sz="quarter" idx="16"/>
          </p:nvPr>
        </p:nvSpPr>
        <p:spPr>
          <a:xfrm>
            <a:off x="9022080" y="979715"/>
            <a:ext cx="2438400" cy="4898572"/>
          </a:xfrm>
          <a:prstGeom prst="rect">
            <a:avLst/>
          </a:prstGeom>
          <a:solidFill>
            <a:schemeClr val="bg2">
              <a:lumMod val="90000"/>
            </a:schemeClr>
          </a:solidFill>
        </p:spPr>
      </p:sp>
      <p:sp>
        <p:nvSpPr>
          <p:cNvPr id="11" name="Title 1">
            <a:extLst>
              <a:ext uri="{FF2B5EF4-FFF2-40B4-BE49-F238E27FC236}">
                <a16:creationId xmlns:a16="http://schemas.microsoft.com/office/drawing/2014/main" id="{6E847A53-F737-4141-94CA-1AE6DBAD776F}"/>
              </a:ext>
            </a:extLst>
          </p:cNvPr>
          <p:cNvSpPr>
            <a:spLocks noGrp="1"/>
          </p:cNvSpPr>
          <p:nvPr>
            <p:ph type="title" hasCustomPrompt="1"/>
          </p:nvPr>
        </p:nvSpPr>
        <p:spPr>
          <a:xfrm>
            <a:off x="1007364" y="1231580"/>
            <a:ext cx="2862072" cy="992124"/>
          </a:xfrm>
        </p:spPr>
        <p:txBody>
          <a:bodyPr anchor="t"/>
          <a:lstStyle>
            <a:lvl1pPr>
              <a:defRPr>
                <a:solidFill>
                  <a:schemeClr val="bg1"/>
                </a:solidFill>
              </a:defRPr>
            </a:lvl1pPr>
          </a:lstStyle>
          <a:p>
            <a:r>
              <a:rPr lang="en-US"/>
              <a:t>Slide Title Lorem Ipsum</a:t>
            </a:r>
          </a:p>
        </p:txBody>
      </p:sp>
      <p:sp>
        <p:nvSpPr>
          <p:cNvPr id="12" name="Content Placeholder 6">
            <a:extLst>
              <a:ext uri="{FF2B5EF4-FFF2-40B4-BE49-F238E27FC236}">
                <a16:creationId xmlns:a16="http://schemas.microsoft.com/office/drawing/2014/main" id="{531B56FC-D820-4AD8-9D76-7D3937ECC07D}"/>
              </a:ext>
            </a:extLst>
          </p:cNvPr>
          <p:cNvSpPr>
            <a:spLocks noGrp="1"/>
          </p:cNvSpPr>
          <p:nvPr>
            <p:ph sz="quarter" idx="11"/>
          </p:nvPr>
        </p:nvSpPr>
        <p:spPr>
          <a:xfrm>
            <a:off x="1007364" y="2363400"/>
            <a:ext cx="2862072" cy="3263021"/>
          </a:xfrm>
          <a:prstGeom prst="rect">
            <a:avLst/>
          </a:prstGeom>
        </p:spPr>
        <p:txBody>
          <a:bodyPr/>
          <a:lstStyle>
            <a:lvl1pPr>
              <a:buClr>
                <a:schemeClr val="bg1"/>
              </a:buClr>
              <a:defRPr sz="2000">
                <a:solidFill>
                  <a:schemeClr val="bg1"/>
                </a:solidFill>
                <a:latin typeface="+mn-lt"/>
                <a:ea typeface="Roboto" pitchFamily="2" charset="0"/>
              </a:defRPr>
            </a:lvl1pPr>
            <a:lvl2pPr>
              <a:buClr>
                <a:schemeClr val="bg1"/>
              </a:buClr>
              <a:defRPr sz="1800">
                <a:solidFill>
                  <a:schemeClr val="bg1"/>
                </a:solidFill>
                <a:latin typeface="+mn-lt"/>
                <a:ea typeface="Roboto" pitchFamily="2" charset="0"/>
              </a:defRPr>
            </a:lvl2pPr>
            <a:lvl3pPr>
              <a:buClr>
                <a:schemeClr val="bg1"/>
              </a:buClr>
              <a:defRPr sz="1400">
                <a:solidFill>
                  <a:schemeClr val="bg1"/>
                </a:solidFill>
                <a:latin typeface="+mn-lt"/>
                <a:ea typeface="Roboto" pitchFamily="2" charset="0"/>
              </a:defRPr>
            </a:lvl3pPr>
            <a:lvl4pPr>
              <a:buClr>
                <a:schemeClr val="bg1"/>
              </a:buClr>
              <a:defRPr sz="1200">
                <a:solidFill>
                  <a:schemeClr val="bg1"/>
                </a:solidFill>
                <a:latin typeface="+mn-lt"/>
                <a:ea typeface="Roboto" pitchFamily="2" charset="0"/>
              </a:defRPr>
            </a:lvl4pPr>
            <a:lvl5pPr>
              <a:buClr>
                <a:schemeClr val="bg1"/>
              </a:buClr>
              <a:defRPr sz="1200">
                <a:solidFill>
                  <a:schemeClr val="bg1"/>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47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Holder 03">
    <p:spTree>
      <p:nvGrpSpPr>
        <p:cNvPr id="1" name=""/>
        <p:cNvGrpSpPr/>
        <p:nvPr/>
      </p:nvGrpSpPr>
      <p:grpSpPr>
        <a:xfrm>
          <a:off x="0" y="0"/>
          <a:ext cx="0" cy="0"/>
          <a:chOff x="0" y="0"/>
          <a:chExt cx="0" cy="0"/>
        </a:xfrm>
      </p:grpSpPr>
      <p:sp>
        <p:nvSpPr>
          <p:cNvPr id="4" name="Picture Placeholder 10"/>
          <p:cNvSpPr>
            <a:spLocks noGrp="1"/>
          </p:cNvSpPr>
          <p:nvPr>
            <p:ph type="pic" sz="quarter" idx="13"/>
          </p:nvPr>
        </p:nvSpPr>
        <p:spPr>
          <a:xfrm>
            <a:off x="741896" y="979714"/>
            <a:ext cx="2657856" cy="2419895"/>
          </a:xfrm>
          <a:prstGeom prst="rect">
            <a:avLst/>
          </a:prstGeom>
          <a:solidFill>
            <a:schemeClr val="bg2">
              <a:lumMod val="90000"/>
            </a:schemeClr>
          </a:solidFill>
        </p:spPr>
      </p:sp>
      <p:sp>
        <p:nvSpPr>
          <p:cNvPr id="5" name="Picture Placeholder 11"/>
          <p:cNvSpPr>
            <a:spLocks noGrp="1"/>
          </p:cNvSpPr>
          <p:nvPr>
            <p:ph type="pic" sz="quarter" idx="14"/>
          </p:nvPr>
        </p:nvSpPr>
        <p:spPr>
          <a:xfrm>
            <a:off x="3430880" y="979714"/>
            <a:ext cx="2677363" cy="2419895"/>
          </a:xfrm>
          <a:prstGeom prst="rect">
            <a:avLst/>
          </a:prstGeom>
          <a:solidFill>
            <a:schemeClr val="bg2">
              <a:lumMod val="90000"/>
            </a:schemeClr>
          </a:solidFill>
        </p:spPr>
      </p:sp>
      <p:sp>
        <p:nvSpPr>
          <p:cNvPr id="6" name="Picture Placeholder 12"/>
          <p:cNvSpPr>
            <a:spLocks noGrp="1"/>
          </p:cNvSpPr>
          <p:nvPr>
            <p:ph type="pic" sz="quarter" idx="15"/>
          </p:nvPr>
        </p:nvSpPr>
        <p:spPr>
          <a:xfrm>
            <a:off x="6137503" y="979714"/>
            <a:ext cx="2633472" cy="4869180"/>
          </a:xfrm>
          <a:prstGeom prst="rect">
            <a:avLst/>
          </a:prstGeom>
          <a:solidFill>
            <a:schemeClr val="bg2">
              <a:lumMod val="90000"/>
            </a:schemeClr>
          </a:solidFill>
        </p:spPr>
      </p:sp>
      <p:sp>
        <p:nvSpPr>
          <p:cNvPr id="7" name="Picture Placeholder 13"/>
          <p:cNvSpPr>
            <a:spLocks noGrp="1"/>
          </p:cNvSpPr>
          <p:nvPr>
            <p:ph type="pic" sz="quarter" idx="16"/>
          </p:nvPr>
        </p:nvSpPr>
        <p:spPr>
          <a:xfrm>
            <a:off x="8802103" y="979714"/>
            <a:ext cx="2657856" cy="4869180"/>
          </a:xfrm>
          <a:prstGeom prst="rect">
            <a:avLst/>
          </a:prstGeom>
          <a:solidFill>
            <a:schemeClr val="bg2">
              <a:lumMod val="90000"/>
            </a:schemeClr>
          </a:solidFill>
        </p:spPr>
      </p:sp>
      <p:sp>
        <p:nvSpPr>
          <p:cNvPr id="10" name="Picture Placeholder 17"/>
          <p:cNvSpPr>
            <a:spLocks noGrp="1"/>
          </p:cNvSpPr>
          <p:nvPr>
            <p:ph type="pic" sz="quarter" idx="20"/>
          </p:nvPr>
        </p:nvSpPr>
        <p:spPr>
          <a:xfrm>
            <a:off x="741895" y="3427125"/>
            <a:ext cx="5364480" cy="2419895"/>
          </a:xfrm>
          <a:prstGeom prst="rect">
            <a:avLst/>
          </a:prstGeom>
          <a:solidFill>
            <a:schemeClr val="bg2">
              <a:lumMod val="90000"/>
            </a:schemeClr>
          </a:solidFill>
        </p:spPr>
      </p:sp>
    </p:spTree>
    <p:extLst>
      <p:ext uri="{BB962C8B-B14F-4D97-AF65-F5344CB8AC3E}">
        <p14:creationId xmlns:p14="http://schemas.microsoft.com/office/powerpoint/2010/main" val="4291003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 Holder 04">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7031231" y="281666"/>
            <a:ext cx="4114800" cy="365125"/>
          </a:xfrm>
          <a:prstGeom prst="rect">
            <a:avLst/>
          </a:prstGeom>
        </p:spPr>
        <p:txBody>
          <a:bodyPr/>
          <a:lstStyle/>
          <a:p>
            <a:r>
              <a:rPr lang="en-US"/>
              <a:t>© 2024 Resilinc. All rights reserved.</a:t>
            </a:r>
          </a:p>
        </p:txBody>
      </p:sp>
      <p:sp>
        <p:nvSpPr>
          <p:cNvPr id="9" name="Slide Number Placeholder 8"/>
          <p:cNvSpPr>
            <a:spLocks noGrp="1"/>
          </p:cNvSpPr>
          <p:nvPr>
            <p:ph type="sldNum" sz="quarter" idx="12"/>
          </p:nvPr>
        </p:nvSpPr>
        <p:spPr>
          <a:xfrm>
            <a:off x="8789913" y="281667"/>
            <a:ext cx="2743200" cy="365125"/>
          </a:xfrm>
          <a:prstGeom prst="rect">
            <a:avLst/>
          </a:prstGeom>
        </p:spPr>
        <p:txBody>
          <a:bodyPr/>
          <a:lstStyle/>
          <a:p>
            <a:fld id="{56DCFB14-7DA6-44D4-A265-5EB7147727CA}" type="slidenum">
              <a:rPr lang="en-US" smtClean="0"/>
              <a:t>‹#›</a:t>
            </a:fld>
            <a:endParaRPr lang="en-US"/>
          </a:p>
        </p:txBody>
      </p:sp>
      <p:sp>
        <p:nvSpPr>
          <p:cNvPr id="4" name="Picture Placeholder 12"/>
          <p:cNvSpPr>
            <a:spLocks noGrp="1"/>
          </p:cNvSpPr>
          <p:nvPr>
            <p:ph type="pic" sz="quarter" idx="15"/>
          </p:nvPr>
        </p:nvSpPr>
        <p:spPr>
          <a:xfrm>
            <a:off x="5364480" y="0"/>
            <a:ext cx="3413760" cy="6858000"/>
          </a:xfrm>
          <a:prstGeom prst="rect">
            <a:avLst/>
          </a:prstGeom>
          <a:solidFill>
            <a:schemeClr val="bg2">
              <a:lumMod val="90000"/>
            </a:schemeClr>
          </a:solidFill>
        </p:spPr>
      </p:sp>
      <p:sp>
        <p:nvSpPr>
          <p:cNvPr id="5" name="Picture Placeholder 13"/>
          <p:cNvSpPr>
            <a:spLocks noGrp="1"/>
          </p:cNvSpPr>
          <p:nvPr>
            <p:ph type="pic" sz="quarter" idx="16"/>
          </p:nvPr>
        </p:nvSpPr>
        <p:spPr>
          <a:xfrm>
            <a:off x="8778240" y="0"/>
            <a:ext cx="3413760" cy="6858000"/>
          </a:xfrm>
          <a:prstGeom prst="rect">
            <a:avLst/>
          </a:prstGeom>
          <a:solidFill>
            <a:schemeClr val="bg2">
              <a:lumMod val="90000"/>
            </a:schemeClr>
          </a:solidFill>
        </p:spPr>
      </p:sp>
      <p:sp>
        <p:nvSpPr>
          <p:cNvPr id="6" name="TextBox 5">
            <a:extLst>
              <a:ext uri="{FF2B5EF4-FFF2-40B4-BE49-F238E27FC236}">
                <a16:creationId xmlns:a16="http://schemas.microsoft.com/office/drawing/2014/main" id="{79517316-28B0-4153-9C97-3FE71CF1127C}"/>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grpSp>
        <p:nvGrpSpPr>
          <p:cNvPr id="22" name="Group 21">
            <a:extLst>
              <a:ext uri="{FF2B5EF4-FFF2-40B4-BE49-F238E27FC236}">
                <a16:creationId xmlns:a16="http://schemas.microsoft.com/office/drawing/2014/main" id="{6CC33283-6C47-48E7-AE22-F565C16B4F4D}"/>
              </a:ext>
            </a:extLst>
          </p:cNvPr>
          <p:cNvGrpSpPr/>
          <p:nvPr userDrawn="1"/>
        </p:nvGrpSpPr>
        <p:grpSpPr>
          <a:xfrm>
            <a:off x="7807044" y="6192297"/>
            <a:ext cx="4159557" cy="501588"/>
            <a:chOff x="15614087" y="12384593"/>
            <a:chExt cx="8319114" cy="1003175"/>
          </a:xfrm>
        </p:grpSpPr>
        <p:pic>
          <p:nvPicPr>
            <p:cNvPr id="23" name="Picture 22">
              <a:extLst>
                <a:ext uri="{FF2B5EF4-FFF2-40B4-BE49-F238E27FC236}">
                  <a16:creationId xmlns:a16="http://schemas.microsoft.com/office/drawing/2014/main" id="{8EEAC1CE-F5D3-4CA7-B427-FE5D67FBFCA6}"/>
                </a:ext>
              </a:extLst>
            </p:cNvPr>
            <p:cNvPicPr>
              <a:picLocks noChangeAspect="1"/>
            </p:cNvPicPr>
            <p:nvPr userDrawn="1"/>
          </p:nvPicPr>
          <p:blipFill>
            <a:blip r:embed="rId2"/>
            <a:stretch>
              <a:fillRect/>
            </a:stretch>
          </p:blipFill>
          <p:spPr>
            <a:xfrm>
              <a:off x="19008573" y="12420334"/>
              <a:ext cx="2400301" cy="960120"/>
            </a:xfrm>
            <a:prstGeom prst="rect">
              <a:avLst/>
            </a:prstGeom>
          </p:spPr>
        </p:pic>
        <p:sp>
          <p:nvSpPr>
            <p:cNvPr id="24" name="Rounded Rectangle 9">
              <a:extLst>
                <a:ext uri="{FF2B5EF4-FFF2-40B4-BE49-F238E27FC236}">
                  <a16:creationId xmlns:a16="http://schemas.microsoft.com/office/drawing/2014/main" id="{5BBDCD96-B75D-48C9-8079-921D1B72C100}"/>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10">
              <a:extLst>
                <a:ext uri="{FF2B5EF4-FFF2-40B4-BE49-F238E27FC236}">
                  <a16:creationId xmlns:a16="http://schemas.microsoft.com/office/drawing/2014/main" id="{CF3FCD20-93CA-4DAB-BE75-D88C7F4A26FB}"/>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1">
              <a:extLst>
                <a:ext uri="{FF2B5EF4-FFF2-40B4-BE49-F238E27FC236}">
                  <a16:creationId xmlns:a16="http://schemas.microsoft.com/office/drawing/2014/main" id="{DFEFA108-0472-4E2E-B10D-B15F193DCCA0}"/>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2">
              <a:extLst>
                <a:ext uri="{FF2B5EF4-FFF2-40B4-BE49-F238E27FC236}">
                  <a16:creationId xmlns:a16="http://schemas.microsoft.com/office/drawing/2014/main" id="{D87FC840-607B-4228-A2C5-9791E7675F31}"/>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3">
              <a:extLst>
                <a:ext uri="{FF2B5EF4-FFF2-40B4-BE49-F238E27FC236}">
                  <a16:creationId xmlns:a16="http://schemas.microsoft.com/office/drawing/2014/main" id="{5E8823C5-242F-4C56-9F5C-7F73FB3B744D}"/>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4">
              <a:extLst>
                <a:ext uri="{FF2B5EF4-FFF2-40B4-BE49-F238E27FC236}">
                  <a16:creationId xmlns:a16="http://schemas.microsoft.com/office/drawing/2014/main" id="{9DD5B0E9-2B22-4E00-8937-C46E692D9CF0}"/>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5">
              <a:extLst>
                <a:ext uri="{FF2B5EF4-FFF2-40B4-BE49-F238E27FC236}">
                  <a16:creationId xmlns:a16="http://schemas.microsoft.com/office/drawing/2014/main" id="{38115474-059B-4331-A487-B2CB0BFEE763}"/>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6">
              <a:extLst>
                <a:ext uri="{FF2B5EF4-FFF2-40B4-BE49-F238E27FC236}">
                  <a16:creationId xmlns:a16="http://schemas.microsoft.com/office/drawing/2014/main" id="{DB12EC94-B826-4671-B4AA-9FC13FB6357C}"/>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7">
              <a:extLst>
                <a:ext uri="{FF2B5EF4-FFF2-40B4-BE49-F238E27FC236}">
                  <a16:creationId xmlns:a16="http://schemas.microsoft.com/office/drawing/2014/main" id="{6E0476B8-1001-4E51-9E9F-A61CD0D05887}"/>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ounded Rectangle 18">
              <a:extLst>
                <a:ext uri="{FF2B5EF4-FFF2-40B4-BE49-F238E27FC236}">
                  <a16:creationId xmlns:a16="http://schemas.microsoft.com/office/drawing/2014/main" id="{9B137955-2F0A-4A79-A691-43D048F6EE5B}"/>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ounded Rectangle 19">
              <a:extLst>
                <a:ext uri="{FF2B5EF4-FFF2-40B4-BE49-F238E27FC236}">
                  <a16:creationId xmlns:a16="http://schemas.microsoft.com/office/drawing/2014/main" id="{78ADD29E-E37E-47C2-B528-EE5C550A9738}"/>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2450283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Holder 05">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7031231" y="281666"/>
            <a:ext cx="4114800" cy="365125"/>
          </a:xfrm>
          <a:prstGeom prst="rect">
            <a:avLst/>
          </a:prstGeom>
        </p:spPr>
        <p:txBody>
          <a:bodyPr/>
          <a:lstStyle/>
          <a:p>
            <a:r>
              <a:rPr lang="en-US"/>
              <a:t>© 2024 Resilinc. All rights reserved.</a:t>
            </a:r>
          </a:p>
        </p:txBody>
      </p:sp>
      <p:sp>
        <p:nvSpPr>
          <p:cNvPr id="7" name="Slide Number Placeholder 6"/>
          <p:cNvSpPr>
            <a:spLocks noGrp="1"/>
          </p:cNvSpPr>
          <p:nvPr>
            <p:ph type="sldNum" sz="quarter" idx="12"/>
          </p:nvPr>
        </p:nvSpPr>
        <p:spPr>
          <a:xfrm>
            <a:off x="8789913" y="281667"/>
            <a:ext cx="2743200" cy="365125"/>
          </a:xfrm>
          <a:prstGeom prst="rect">
            <a:avLst/>
          </a:prstGeom>
        </p:spPr>
        <p:txBody>
          <a:bodyPr/>
          <a:lstStyle/>
          <a:p>
            <a:fld id="{56DCFB14-7DA6-44D4-A265-5EB7147727CA}" type="slidenum">
              <a:rPr lang="en-US" smtClean="0"/>
              <a:t>‹#›</a:t>
            </a:fld>
            <a:endParaRPr lang="en-US"/>
          </a:p>
        </p:txBody>
      </p:sp>
      <p:sp>
        <p:nvSpPr>
          <p:cNvPr id="4" name="Picture Placeholder 3"/>
          <p:cNvSpPr>
            <a:spLocks noGrp="1"/>
          </p:cNvSpPr>
          <p:nvPr>
            <p:ph type="pic" sz="quarter" idx="13"/>
          </p:nvPr>
        </p:nvSpPr>
        <p:spPr>
          <a:xfrm>
            <a:off x="6096000" y="0"/>
            <a:ext cx="6096000" cy="6858000"/>
          </a:xfrm>
          <a:prstGeom prst="rect">
            <a:avLst/>
          </a:prstGeom>
          <a:solidFill>
            <a:schemeClr val="bg2">
              <a:lumMod val="90000"/>
            </a:schemeClr>
          </a:solidFill>
        </p:spPr>
      </p:sp>
      <p:sp>
        <p:nvSpPr>
          <p:cNvPr id="5" name="Title 1">
            <a:extLst>
              <a:ext uri="{FF2B5EF4-FFF2-40B4-BE49-F238E27FC236}">
                <a16:creationId xmlns:a16="http://schemas.microsoft.com/office/drawing/2014/main" id="{D633D26C-F68B-C442-AD58-B50653BF3A57}"/>
              </a:ext>
            </a:extLst>
          </p:cNvPr>
          <p:cNvSpPr>
            <a:spLocks noGrp="1"/>
          </p:cNvSpPr>
          <p:nvPr>
            <p:ph type="title" hasCustomPrompt="1"/>
          </p:nvPr>
        </p:nvSpPr>
        <p:spPr>
          <a:xfrm>
            <a:off x="513080" y="599727"/>
            <a:ext cx="5406814"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99AE76B9-E8B7-C84A-8E56-F41009CC135A}"/>
              </a:ext>
            </a:extLst>
          </p:cNvPr>
          <p:cNvSpPr>
            <a:spLocks noGrp="1"/>
          </p:cNvSpPr>
          <p:nvPr>
            <p:ph type="body" sz="quarter" idx="10" hasCustomPrompt="1"/>
          </p:nvPr>
        </p:nvSpPr>
        <p:spPr>
          <a:xfrm>
            <a:off x="513080" y="1170214"/>
            <a:ext cx="5406814"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9" name="TextBox 8">
            <a:extLst>
              <a:ext uri="{FF2B5EF4-FFF2-40B4-BE49-F238E27FC236}">
                <a16:creationId xmlns:a16="http://schemas.microsoft.com/office/drawing/2014/main" id="{C66D9668-739E-4592-9FEB-360BB3162ECE}"/>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
        <p:nvSpPr>
          <p:cNvPr id="24" name="Content Placeholder 6">
            <a:extLst>
              <a:ext uri="{FF2B5EF4-FFF2-40B4-BE49-F238E27FC236}">
                <a16:creationId xmlns:a16="http://schemas.microsoft.com/office/drawing/2014/main" id="{BABACAE0-5A0D-4A73-AE97-5D48505A0C68}"/>
              </a:ext>
            </a:extLst>
          </p:cNvPr>
          <p:cNvSpPr>
            <a:spLocks noGrp="1"/>
          </p:cNvSpPr>
          <p:nvPr>
            <p:ph sz="quarter" idx="29"/>
          </p:nvPr>
        </p:nvSpPr>
        <p:spPr>
          <a:xfrm>
            <a:off x="513080" y="1917291"/>
            <a:ext cx="5406814" cy="4068764"/>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3" name="Group 22">
            <a:extLst>
              <a:ext uri="{FF2B5EF4-FFF2-40B4-BE49-F238E27FC236}">
                <a16:creationId xmlns:a16="http://schemas.microsoft.com/office/drawing/2014/main" id="{3AC5CDF7-91DB-45AF-B000-7579F215A0CA}"/>
              </a:ext>
            </a:extLst>
          </p:cNvPr>
          <p:cNvGrpSpPr/>
          <p:nvPr userDrawn="1"/>
        </p:nvGrpSpPr>
        <p:grpSpPr>
          <a:xfrm>
            <a:off x="7807044" y="6192297"/>
            <a:ext cx="4159557" cy="501588"/>
            <a:chOff x="15614087" y="12384593"/>
            <a:chExt cx="8319114" cy="1003175"/>
          </a:xfrm>
        </p:grpSpPr>
        <p:pic>
          <p:nvPicPr>
            <p:cNvPr id="25" name="Picture 24">
              <a:extLst>
                <a:ext uri="{FF2B5EF4-FFF2-40B4-BE49-F238E27FC236}">
                  <a16:creationId xmlns:a16="http://schemas.microsoft.com/office/drawing/2014/main" id="{67CE6DCC-D302-45BB-A1F1-2C1A835AB08C}"/>
                </a:ext>
              </a:extLst>
            </p:cNvPr>
            <p:cNvPicPr>
              <a:picLocks noChangeAspect="1"/>
            </p:cNvPicPr>
            <p:nvPr userDrawn="1"/>
          </p:nvPicPr>
          <p:blipFill>
            <a:blip r:embed="rId2"/>
            <a:stretch>
              <a:fillRect/>
            </a:stretch>
          </p:blipFill>
          <p:spPr>
            <a:xfrm>
              <a:off x="19008573" y="12420334"/>
              <a:ext cx="2400301" cy="960120"/>
            </a:xfrm>
            <a:prstGeom prst="rect">
              <a:avLst/>
            </a:prstGeom>
          </p:spPr>
        </p:pic>
        <p:sp>
          <p:nvSpPr>
            <p:cNvPr id="26" name="Rounded Rectangle 9">
              <a:extLst>
                <a:ext uri="{FF2B5EF4-FFF2-40B4-BE49-F238E27FC236}">
                  <a16:creationId xmlns:a16="http://schemas.microsoft.com/office/drawing/2014/main" id="{01C05AAF-8420-4CDF-AEF3-19EBD3A5B1F5}"/>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0">
              <a:extLst>
                <a:ext uri="{FF2B5EF4-FFF2-40B4-BE49-F238E27FC236}">
                  <a16:creationId xmlns:a16="http://schemas.microsoft.com/office/drawing/2014/main" id="{D86BCEF6-5C0C-4D65-9980-D4F8125BC79C}"/>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1">
              <a:extLst>
                <a:ext uri="{FF2B5EF4-FFF2-40B4-BE49-F238E27FC236}">
                  <a16:creationId xmlns:a16="http://schemas.microsoft.com/office/drawing/2014/main" id="{96F9C1AF-74BE-4A31-BE18-AC6B54234A3A}"/>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2">
              <a:extLst>
                <a:ext uri="{FF2B5EF4-FFF2-40B4-BE49-F238E27FC236}">
                  <a16:creationId xmlns:a16="http://schemas.microsoft.com/office/drawing/2014/main" id="{586E9DF1-1E1C-455D-9953-B274EBF3109B}"/>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3">
              <a:extLst>
                <a:ext uri="{FF2B5EF4-FFF2-40B4-BE49-F238E27FC236}">
                  <a16:creationId xmlns:a16="http://schemas.microsoft.com/office/drawing/2014/main" id="{9AB431B2-C90C-49AD-B66D-23DAD98D293E}"/>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4">
              <a:extLst>
                <a:ext uri="{FF2B5EF4-FFF2-40B4-BE49-F238E27FC236}">
                  <a16:creationId xmlns:a16="http://schemas.microsoft.com/office/drawing/2014/main" id="{1139F8C8-6DAC-448D-9516-A16F2E319B9E}"/>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5">
              <a:extLst>
                <a:ext uri="{FF2B5EF4-FFF2-40B4-BE49-F238E27FC236}">
                  <a16:creationId xmlns:a16="http://schemas.microsoft.com/office/drawing/2014/main" id="{BAEFE721-DB18-498B-B6BB-D70D8828159D}"/>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ounded Rectangle 16">
              <a:extLst>
                <a:ext uri="{FF2B5EF4-FFF2-40B4-BE49-F238E27FC236}">
                  <a16:creationId xmlns:a16="http://schemas.microsoft.com/office/drawing/2014/main" id="{C968480B-2E46-477F-B74B-73B6F70CD005}"/>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ounded Rectangle 17">
              <a:extLst>
                <a:ext uri="{FF2B5EF4-FFF2-40B4-BE49-F238E27FC236}">
                  <a16:creationId xmlns:a16="http://schemas.microsoft.com/office/drawing/2014/main" id="{372F57C6-4D48-418E-9769-7F4B05A89C39}"/>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ounded Rectangle 18">
              <a:extLst>
                <a:ext uri="{FF2B5EF4-FFF2-40B4-BE49-F238E27FC236}">
                  <a16:creationId xmlns:a16="http://schemas.microsoft.com/office/drawing/2014/main" id="{F915D7AB-FB47-45E8-BA62-55F641FB8DEF}"/>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ounded Rectangle 19">
              <a:extLst>
                <a:ext uri="{FF2B5EF4-FFF2-40B4-BE49-F238E27FC236}">
                  <a16:creationId xmlns:a16="http://schemas.microsoft.com/office/drawing/2014/main" id="{C34AC0B8-3ADB-48B1-9FE1-BC0B1BBA4103}"/>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6013818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Holder 06">
    <p:spTree>
      <p:nvGrpSpPr>
        <p:cNvPr id="1" name=""/>
        <p:cNvGrpSpPr/>
        <p:nvPr/>
      </p:nvGrpSpPr>
      <p:grpSpPr>
        <a:xfrm>
          <a:off x="0" y="0"/>
          <a:ext cx="0" cy="0"/>
          <a:chOff x="0" y="0"/>
          <a:chExt cx="0" cy="0"/>
        </a:xfrm>
      </p:grpSpPr>
      <p:sp>
        <p:nvSpPr>
          <p:cNvPr id="5" name="Picture Placeholder 11"/>
          <p:cNvSpPr>
            <a:spLocks noGrp="1"/>
          </p:cNvSpPr>
          <p:nvPr>
            <p:ph type="pic" sz="quarter" idx="13"/>
          </p:nvPr>
        </p:nvSpPr>
        <p:spPr>
          <a:xfrm>
            <a:off x="0" y="0"/>
            <a:ext cx="6096000" cy="6858000"/>
          </a:xfrm>
          <a:prstGeom prst="rect">
            <a:avLst/>
          </a:prstGeom>
          <a:solidFill>
            <a:schemeClr val="bg2">
              <a:lumMod val="90000"/>
            </a:schemeClr>
          </a:solidFill>
        </p:spPr>
      </p:sp>
      <p:sp>
        <p:nvSpPr>
          <p:cNvPr id="6" name="Title 1">
            <a:extLst>
              <a:ext uri="{FF2B5EF4-FFF2-40B4-BE49-F238E27FC236}">
                <a16:creationId xmlns:a16="http://schemas.microsoft.com/office/drawing/2014/main" id="{05A611D1-21BC-604E-B121-755AAFBC9E8C}"/>
              </a:ext>
            </a:extLst>
          </p:cNvPr>
          <p:cNvSpPr>
            <a:spLocks noGrp="1"/>
          </p:cNvSpPr>
          <p:nvPr>
            <p:ph type="title" hasCustomPrompt="1"/>
          </p:nvPr>
        </p:nvSpPr>
        <p:spPr>
          <a:xfrm>
            <a:off x="6405880" y="599727"/>
            <a:ext cx="5406814"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7" name="Text Placeholder 5">
            <a:extLst>
              <a:ext uri="{FF2B5EF4-FFF2-40B4-BE49-F238E27FC236}">
                <a16:creationId xmlns:a16="http://schemas.microsoft.com/office/drawing/2014/main" id="{937CDED2-0FDF-DB4C-AFAE-4FEE189F7035}"/>
              </a:ext>
            </a:extLst>
          </p:cNvPr>
          <p:cNvSpPr>
            <a:spLocks noGrp="1"/>
          </p:cNvSpPr>
          <p:nvPr>
            <p:ph type="body" sz="quarter" idx="10" hasCustomPrompt="1"/>
          </p:nvPr>
        </p:nvSpPr>
        <p:spPr>
          <a:xfrm>
            <a:off x="6405880" y="1170214"/>
            <a:ext cx="5406814"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8" name="TextBox 7">
            <a:extLst>
              <a:ext uri="{FF2B5EF4-FFF2-40B4-BE49-F238E27FC236}">
                <a16:creationId xmlns:a16="http://schemas.microsoft.com/office/drawing/2014/main" id="{D145DD6D-3504-45E3-B85D-0E993B60C205}"/>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tx2"/>
                </a:solidFill>
                <a:latin typeface="Roboto" pitchFamily="2" charset="0"/>
                <a:ea typeface="Roboto" pitchFamily="2" charset="0"/>
              </a:rPr>
              <a:t>© 2024 Resilinc Corporation. All rights reserved.</a:t>
            </a:r>
          </a:p>
        </p:txBody>
      </p:sp>
      <p:sp>
        <p:nvSpPr>
          <p:cNvPr id="9" name="Content Placeholder 6">
            <a:extLst>
              <a:ext uri="{FF2B5EF4-FFF2-40B4-BE49-F238E27FC236}">
                <a16:creationId xmlns:a16="http://schemas.microsoft.com/office/drawing/2014/main" id="{DD93B7D0-42B3-4421-A0AC-EB330AF99CFE}"/>
              </a:ext>
            </a:extLst>
          </p:cNvPr>
          <p:cNvSpPr>
            <a:spLocks noGrp="1"/>
          </p:cNvSpPr>
          <p:nvPr>
            <p:ph sz="quarter" idx="29"/>
          </p:nvPr>
        </p:nvSpPr>
        <p:spPr>
          <a:xfrm>
            <a:off x="6405879" y="1917291"/>
            <a:ext cx="5406814" cy="4068764"/>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41190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Holder 07">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7031231" y="281666"/>
            <a:ext cx="4114800" cy="365125"/>
          </a:xfrm>
          <a:prstGeom prst="rect">
            <a:avLst/>
          </a:prstGeom>
        </p:spPr>
        <p:txBody>
          <a:bodyPr/>
          <a:lstStyle/>
          <a:p>
            <a:r>
              <a:rPr lang="en-US"/>
              <a:t>© 2024 Resilinc. All rights reserved.</a:t>
            </a:r>
          </a:p>
        </p:txBody>
      </p:sp>
      <p:sp>
        <p:nvSpPr>
          <p:cNvPr id="9" name="Slide Number Placeholder 8"/>
          <p:cNvSpPr>
            <a:spLocks noGrp="1"/>
          </p:cNvSpPr>
          <p:nvPr>
            <p:ph type="sldNum" sz="quarter" idx="12"/>
          </p:nvPr>
        </p:nvSpPr>
        <p:spPr>
          <a:xfrm>
            <a:off x="8789913" y="281667"/>
            <a:ext cx="2743200" cy="365125"/>
          </a:xfrm>
          <a:prstGeom prst="rect">
            <a:avLst/>
          </a:prstGeom>
        </p:spPr>
        <p:txBody>
          <a:bodyPr/>
          <a:lstStyle/>
          <a:p>
            <a:fld id="{56DCFB14-7DA6-44D4-A265-5EB7147727CA}" type="slidenum">
              <a:rPr lang="en-US" smtClean="0"/>
              <a:t>‹#›</a:t>
            </a:fld>
            <a:endParaRPr lang="en-US"/>
          </a:p>
        </p:txBody>
      </p:sp>
      <p:sp>
        <p:nvSpPr>
          <p:cNvPr id="4" name="Picture Placeholder 3"/>
          <p:cNvSpPr>
            <a:spLocks noGrp="1"/>
          </p:cNvSpPr>
          <p:nvPr>
            <p:ph type="pic" sz="quarter" idx="13"/>
          </p:nvPr>
        </p:nvSpPr>
        <p:spPr>
          <a:xfrm>
            <a:off x="0" y="0"/>
            <a:ext cx="12192000" cy="4408715"/>
          </a:xfrm>
          <a:prstGeom prst="rect">
            <a:avLst/>
          </a:prstGeom>
          <a:solidFill>
            <a:schemeClr val="bg2">
              <a:lumMod val="90000"/>
            </a:schemeClr>
          </a:solidFill>
        </p:spPr>
      </p:sp>
      <p:sp>
        <p:nvSpPr>
          <p:cNvPr id="5" name="TextBox 4">
            <a:extLst>
              <a:ext uri="{FF2B5EF4-FFF2-40B4-BE49-F238E27FC236}">
                <a16:creationId xmlns:a16="http://schemas.microsoft.com/office/drawing/2014/main" id="{F915FB32-F9BC-4EDB-A16D-E8100CC86C22}"/>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Tree>
    <p:extLst>
      <p:ext uri="{BB962C8B-B14F-4D97-AF65-F5344CB8AC3E}">
        <p14:creationId xmlns:p14="http://schemas.microsoft.com/office/powerpoint/2010/main" val="16423068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Holder 08">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0" y="3918857"/>
            <a:ext cx="12192000" cy="2939143"/>
          </a:xfrm>
          <a:prstGeom prst="rect">
            <a:avLst/>
          </a:prstGeom>
          <a:solidFill>
            <a:schemeClr val="bg2">
              <a:lumMod val="90000"/>
            </a:schemeClr>
          </a:solidFill>
        </p:spPr>
      </p:sp>
      <p:sp>
        <p:nvSpPr>
          <p:cNvPr id="6" name="Title 1">
            <a:extLst>
              <a:ext uri="{FF2B5EF4-FFF2-40B4-BE49-F238E27FC236}">
                <a16:creationId xmlns:a16="http://schemas.microsoft.com/office/drawing/2014/main" id="{C57B950F-106A-9C41-BDDA-FD191248C297}"/>
              </a:ext>
            </a:extLst>
          </p:cNvPr>
          <p:cNvSpPr>
            <a:spLocks noGrp="1"/>
          </p:cNvSpPr>
          <p:nvPr>
            <p:ph type="title" hasCustomPrompt="1"/>
          </p:nvPr>
        </p:nvSpPr>
        <p:spPr>
          <a:xfrm>
            <a:off x="513080" y="599727"/>
            <a:ext cx="10987431"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a:t>
            </a:r>
          </a:p>
        </p:txBody>
      </p:sp>
      <p:sp>
        <p:nvSpPr>
          <p:cNvPr id="7" name="Text Placeholder 5">
            <a:extLst>
              <a:ext uri="{FF2B5EF4-FFF2-40B4-BE49-F238E27FC236}">
                <a16:creationId xmlns:a16="http://schemas.microsoft.com/office/drawing/2014/main" id="{6866A082-B56D-F841-948E-2B8F1DA26525}"/>
              </a:ext>
            </a:extLst>
          </p:cNvPr>
          <p:cNvSpPr>
            <a:spLocks noGrp="1"/>
          </p:cNvSpPr>
          <p:nvPr>
            <p:ph type="body" sz="quarter" idx="10" hasCustomPrompt="1"/>
          </p:nvPr>
        </p:nvSpPr>
        <p:spPr>
          <a:xfrm>
            <a:off x="513079" y="1170214"/>
            <a:ext cx="10987431"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a:t>
            </a:r>
          </a:p>
        </p:txBody>
      </p:sp>
      <p:sp>
        <p:nvSpPr>
          <p:cNvPr id="21" name="TextBox 20">
            <a:extLst>
              <a:ext uri="{FF2B5EF4-FFF2-40B4-BE49-F238E27FC236}">
                <a16:creationId xmlns:a16="http://schemas.microsoft.com/office/drawing/2014/main" id="{29527F31-9585-4D28-8630-CFDE91B0E612}"/>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tx2"/>
                </a:solidFill>
                <a:latin typeface="Roboto" pitchFamily="2" charset="0"/>
                <a:ea typeface="Roboto" pitchFamily="2" charset="0"/>
              </a:rPr>
              <a:t>© 2024 Resilinc Corporation. All rights reserved.</a:t>
            </a:r>
          </a:p>
        </p:txBody>
      </p:sp>
      <p:sp>
        <p:nvSpPr>
          <p:cNvPr id="22" name="Content Placeholder 6">
            <a:extLst>
              <a:ext uri="{FF2B5EF4-FFF2-40B4-BE49-F238E27FC236}">
                <a16:creationId xmlns:a16="http://schemas.microsoft.com/office/drawing/2014/main" id="{31EDE91D-D0C2-4C1B-AA94-52EF7304FA75}"/>
              </a:ext>
            </a:extLst>
          </p:cNvPr>
          <p:cNvSpPr>
            <a:spLocks noGrp="1"/>
          </p:cNvSpPr>
          <p:nvPr>
            <p:ph sz="quarter" idx="29"/>
          </p:nvPr>
        </p:nvSpPr>
        <p:spPr>
          <a:xfrm>
            <a:off x="513079" y="1917291"/>
            <a:ext cx="10987431" cy="1824276"/>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3" name="Group 22">
            <a:extLst>
              <a:ext uri="{FF2B5EF4-FFF2-40B4-BE49-F238E27FC236}">
                <a16:creationId xmlns:a16="http://schemas.microsoft.com/office/drawing/2014/main" id="{B6708DC5-0249-4AA6-B598-C34554B4FFC3}"/>
              </a:ext>
            </a:extLst>
          </p:cNvPr>
          <p:cNvGrpSpPr/>
          <p:nvPr userDrawn="1"/>
        </p:nvGrpSpPr>
        <p:grpSpPr>
          <a:xfrm>
            <a:off x="7807044" y="6192297"/>
            <a:ext cx="4159557" cy="501588"/>
            <a:chOff x="15614087" y="12384593"/>
            <a:chExt cx="8319114" cy="1003175"/>
          </a:xfrm>
        </p:grpSpPr>
        <p:pic>
          <p:nvPicPr>
            <p:cNvPr id="24" name="Picture 23">
              <a:extLst>
                <a:ext uri="{FF2B5EF4-FFF2-40B4-BE49-F238E27FC236}">
                  <a16:creationId xmlns:a16="http://schemas.microsoft.com/office/drawing/2014/main" id="{D340F1A2-7041-4785-BEA7-6E49F42717E7}"/>
                </a:ext>
              </a:extLst>
            </p:cNvPr>
            <p:cNvPicPr>
              <a:picLocks noChangeAspect="1"/>
            </p:cNvPicPr>
            <p:nvPr userDrawn="1"/>
          </p:nvPicPr>
          <p:blipFill>
            <a:blip r:embed="rId2"/>
            <a:stretch>
              <a:fillRect/>
            </a:stretch>
          </p:blipFill>
          <p:spPr>
            <a:xfrm>
              <a:off x="19008573" y="12420334"/>
              <a:ext cx="2400301" cy="960120"/>
            </a:xfrm>
            <a:prstGeom prst="rect">
              <a:avLst/>
            </a:prstGeom>
          </p:spPr>
        </p:pic>
        <p:sp>
          <p:nvSpPr>
            <p:cNvPr id="25" name="Rounded Rectangle 9">
              <a:extLst>
                <a:ext uri="{FF2B5EF4-FFF2-40B4-BE49-F238E27FC236}">
                  <a16:creationId xmlns:a16="http://schemas.microsoft.com/office/drawing/2014/main" id="{5F797AAF-0AF5-4488-8192-4FB77AE44A98}"/>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0">
              <a:extLst>
                <a:ext uri="{FF2B5EF4-FFF2-40B4-BE49-F238E27FC236}">
                  <a16:creationId xmlns:a16="http://schemas.microsoft.com/office/drawing/2014/main" id="{DB72BCAB-A4A6-4C4D-AD86-F5306A18F355}"/>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1">
              <a:extLst>
                <a:ext uri="{FF2B5EF4-FFF2-40B4-BE49-F238E27FC236}">
                  <a16:creationId xmlns:a16="http://schemas.microsoft.com/office/drawing/2014/main" id="{4088A1C9-0FFE-4B48-A9C6-9EAE20B395E9}"/>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2">
              <a:extLst>
                <a:ext uri="{FF2B5EF4-FFF2-40B4-BE49-F238E27FC236}">
                  <a16:creationId xmlns:a16="http://schemas.microsoft.com/office/drawing/2014/main" id="{217F45D7-3961-4A36-9B65-814480E39EA6}"/>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3">
              <a:extLst>
                <a:ext uri="{FF2B5EF4-FFF2-40B4-BE49-F238E27FC236}">
                  <a16:creationId xmlns:a16="http://schemas.microsoft.com/office/drawing/2014/main" id="{0DD3DB5F-C976-4B47-B285-B662F251A2B7}"/>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4">
              <a:extLst>
                <a:ext uri="{FF2B5EF4-FFF2-40B4-BE49-F238E27FC236}">
                  <a16:creationId xmlns:a16="http://schemas.microsoft.com/office/drawing/2014/main" id="{60E2ECAE-5C83-4FC0-9800-057DCD98DDC9}"/>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5">
              <a:extLst>
                <a:ext uri="{FF2B5EF4-FFF2-40B4-BE49-F238E27FC236}">
                  <a16:creationId xmlns:a16="http://schemas.microsoft.com/office/drawing/2014/main" id="{9CADC821-D5B4-4D42-ABBD-AA023988457E}"/>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6">
              <a:extLst>
                <a:ext uri="{FF2B5EF4-FFF2-40B4-BE49-F238E27FC236}">
                  <a16:creationId xmlns:a16="http://schemas.microsoft.com/office/drawing/2014/main" id="{54BB9B42-D143-4EDC-AF23-DA84CAA5A620}"/>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ounded Rectangle 17">
              <a:extLst>
                <a:ext uri="{FF2B5EF4-FFF2-40B4-BE49-F238E27FC236}">
                  <a16:creationId xmlns:a16="http://schemas.microsoft.com/office/drawing/2014/main" id="{E9A408F0-D6ED-4252-8717-EA990CF80194}"/>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ounded Rectangle 18">
              <a:extLst>
                <a:ext uri="{FF2B5EF4-FFF2-40B4-BE49-F238E27FC236}">
                  <a16:creationId xmlns:a16="http://schemas.microsoft.com/office/drawing/2014/main" id="{EB6CC20A-1E5A-4934-AD2A-F4D9E30430A2}"/>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ounded Rectangle 19">
              <a:extLst>
                <a:ext uri="{FF2B5EF4-FFF2-40B4-BE49-F238E27FC236}">
                  <a16:creationId xmlns:a16="http://schemas.microsoft.com/office/drawing/2014/main" id="{589BE57E-ACCD-4792-A603-05EBB6E745B6}"/>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0636994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 Holder 09">
    <p:spTree>
      <p:nvGrpSpPr>
        <p:cNvPr id="1" name=""/>
        <p:cNvGrpSpPr/>
        <p:nvPr/>
      </p:nvGrpSpPr>
      <p:grpSpPr>
        <a:xfrm>
          <a:off x="0" y="0"/>
          <a:ext cx="0" cy="0"/>
          <a:chOff x="0" y="0"/>
          <a:chExt cx="0" cy="0"/>
        </a:xfrm>
      </p:grpSpPr>
      <p:sp>
        <p:nvSpPr>
          <p:cNvPr id="6" name="Picture Placeholder 3"/>
          <p:cNvSpPr>
            <a:spLocks noGrp="1"/>
          </p:cNvSpPr>
          <p:nvPr>
            <p:ph type="pic" sz="quarter" idx="13"/>
          </p:nvPr>
        </p:nvSpPr>
        <p:spPr>
          <a:xfrm>
            <a:off x="0" y="979715"/>
            <a:ext cx="6096000" cy="2449286"/>
          </a:xfrm>
          <a:prstGeom prst="rect">
            <a:avLst/>
          </a:prstGeom>
          <a:solidFill>
            <a:schemeClr val="bg2">
              <a:lumMod val="90000"/>
            </a:schemeClr>
          </a:solidFill>
        </p:spPr>
      </p:sp>
      <p:sp>
        <p:nvSpPr>
          <p:cNvPr id="7" name="Picture Placeholder 4"/>
          <p:cNvSpPr>
            <a:spLocks noGrp="1"/>
          </p:cNvSpPr>
          <p:nvPr>
            <p:ph type="pic" sz="quarter" idx="14"/>
          </p:nvPr>
        </p:nvSpPr>
        <p:spPr>
          <a:xfrm>
            <a:off x="6096000" y="3429000"/>
            <a:ext cx="6096000" cy="2449286"/>
          </a:xfrm>
          <a:prstGeom prst="rect">
            <a:avLst/>
          </a:prstGeom>
          <a:solidFill>
            <a:schemeClr val="bg2">
              <a:lumMod val="90000"/>
            </a:schemeClr>
          </a:solidFill>
        </p:spPr>
      </p:sp>
    </p:spTree>
    <p:extLst>
      <p:ext uri="{BB962C8B-B14F-4D97-AF65-F5344CB8AC3E}">
        <p14:creationId xmlns:p14="http://schemas.microsoft.com/office/powerpoint/2010/main" val="41482979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 Holder 10">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0" y="0"/>
            <a:ext cx="6096000" cy="3429000"/>
          </a:xfrm>
          <a:prstGeom prst="rect">
            <a:avLst/>
          </a:prstGeom>
          <a:solidFill>
            <a:schemeClr val="bg2">
              <a:lumMod val="90000"/>
            </a:schemeClr>
          </a:solidFill>
        </p:spPr>
      </p:sp>
      <p:sp>
        <p:nvSpPr>
          <p:cNvPr id="6" name="Rectangle 5"/>
          <p:cNvSpPr/>
          <p:nvPr userDrawn="1"/>
        </p:nvSpPr>
        <p:spPr>
          <a:xfrm>
            <a:off x="6096000" y="342900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32" name="Content Placeholder 6">
            <a:extLst>
              <a:ext uri="{FF2B5EF4-FFF2-40B4-BE49-F238E27FC236}">
                <a16:creationId xmlns:a16="http://schemas.microsoft.com/office/drawing/2014/main" id="{3528D493-89DD-43D1-B4BD-0871CA727969}"/>
              </a:ext>
            </a:extLst>
          </p:cNvPr>
          <p:cNvSpPr>
            <a:spLocks noGrp="1"/>
          </p:cNvSpPr>
          <p:nvPr>
            <p:ph sz="quarter" idx="29"/>
          </p:nvPr>
        </p:nvSpPr>
        <p:spPr>
          <a:xfrm>
            <a:off x="6440593" y="3746090"/>
            <a:ext cx="5406814" cy="2239965"/>
          </a:xfrm>
          <a:prstGeom prst="rect">
            <a:avLst/>
          </a:prstGeom>
        </p:spPr>
        <p:txBody>
          <a:bodyPr/>
          <a:lstStyle>
            <a:lvl1pPr>
              <a:buClr>
                <a:schemeClr val="bg1"/>
              </a:buClr>
              <a:defRPr sz="2000">
                <a:solidFill>
                  <a:schemeClr val="bg1"/>
                </a:solidFill>
                <a:latin typeface="+mn-lt"/>
                <a:ea typeface="Roboto" pitchFamily="2" charset="0"/>
              </a:defRPr>
            </a:lvl1pPr>
            <a:lvl2pPr>
              <a:buClr>
                <a:schemeClr val="bg1"/>
              </a:buClr>
              <a:defRPr sz="1800">
                <a:solidFill>
                  <a:schemeClr val="bg1"/>
                </a:solidFill>
                <a:latin typeface="+mn-lt"/>
                <a:ea typeface="Roboto" pitchFamily="2" charset="0"/>
              </a:defRPr>
            </a:lvl2pPr>
            <a:lvl3pPr>
              <a:buClr>
                <a:schemeClr val="bg1"/>
              </a:buClr>
              <a:defRPr sz="1400">
                <a:solidFill>
                  <a:schemeClr val="bg1"/>
                </a:solidFill>
                <a:latin typeface="+mn-lt"/>
                <a:ea typeface="Roboto" pitchFamily="2" charset="0"/>
              </a:defRPr>
            </a:lvl3pPr>
            <a:lvl4pPr>
              <a:buClr>
                <a:schemeClr val="bg1"/>
              </a:buClr>
              <a:defRPr sz="1200">
                <a:solidFill>
                  <a:schemeClr val="bg1"/>
                </a:solidFill>
                <a:latin typeface="+mn-lt"/>
                <a:ea typeface="Roboto" pitchFamily="2" charset="0"/>
              </a:defRPr>
            </a:lvl4pPr>
            <a:lvl5pPr>
              <a:buClr>
                <a:schemeClr val="bg1"/>
              </a:buClr>
              <a:defRPr sz="1200">
                <a:solidFill>
                  <a:schemeClr val="bg1"/>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E097E82B-7CB5-4303-8AEF-425FC610AE40}"/>
              </a:ext>
            </a:extLst>
          </p:cNvPr>
          <p:cNvGrpSpPr/>
          <p:nvPr userDrawn="1"/>
        </p:nvGrpSpPr>
        <p:grpSpPr>
          <a:xfrm>
            <a:off x="7807044" y="6192297"/>
            <a:ext cx="4159557" cy="501588"/>
            <a:chOff x="15614087" y="12384593"/>
            <a:chExt cx="8319114" cy="1003175"/>
          </a:xfrm>
        </p:grpSpPr>
        <p:pic>
          <p:nvPicPr>
            <p:cNvPr id="33" name="Picture 32">
              <a:extLst>
                <a:ext uri="{FF2B5EF4-FFF2-40B4-BE49-F238E27FC236}">
                  <a16:creationId xmlns:a16="http://schemas.microsoft.com/office/drawing/2014/main" id="{69E29820-59FE-4575-9338-5F7E04AC1227}"/>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34" name="Rounded Rectangle 9">
              <a:extLst>
                <a:ext uri="{FF2B5EF4-FFF2-40B4-BE49-F238E27FC236}">
                  <a16:creationId xmlns:a16="http://schemas.microsoft.com/office/drawing/2014/main" id="{2375100D-A722-4C91-AB73-196295AB2595}"/>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ounded Rectangle 10">
              <a:extLst>
                <a:ext uri="{FF2B5EF4-FFF2-40B4-BE49-F238E27FC236}">
                  <a16:creationId xmlns:a16="http://schemas.microsoft.com/office/drawing/2014/main" id="{0DED0F5B-D00F-48A5-A7A2-12C96AFFD63B}"/>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ounded Rectangle 11">
              <a:extLst>
                <a:ext uri="{FF2B5EF4-FFF2-40B4-BE49-F238E27FC236}">
                  <a16:creationId xmlns:a16="http://schemas.microsoft.com/office/drawing/2014/main" id="{C31AF2A5-1F8B-47DB-BFAD-AFB67913DBF4}"/>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12">
              <a:extLst>
                <a:ext uri="{FF2B5EF4-FFF2-40B4-BE49-F238E27FC236}">
                  <a16:creationId xmlns:a16="http://schemas.microsoft.com/office/drawing/2014/main" id="{39808D2B-C53B-4E8F-836E-2E9B68DE2624}"/>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ounded Rectangle 13">
              <a:extLst>
                <a:ext uri="{FF2B5EF4-FFF2-40B4-BE49-F238E27FC236}">
                  <a16:creationId xmlns:a16="http://schemas.microsoft.com/office/drawing/2014/main" id="{A13B0A79-740F-4FFC-8B36-DD65E3D41395}"/>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14">
              <a:extLst>
                <a:ext uri="{FF2B5EF4-FFF2-40B4-BE49-F238E27FC236}">
                  <a16:creationId xmlns:a16="http://schemas.microsoft.com/office/drawing/2014/main" id="{0A19A8D3-BD9B-4B2F-BA3D-9BE2CB98D18E}"/>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15">
              <a:extLst>
                <a:ext uri="{FF2B5EF4-FFF2-40B4-BE49-F238E27FC236}">
                  <a16:creationId xmlns:a16="http://schemas.microsoft.com/office/drawing/2014/main" id="{4266BC27-9DD7-458E-8342-72DF102E4B8B}"/>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16">
              <a:extLst>
                <a:ext uri="{FF2B5EF4-FFF2-40B4-BE49-F238E27FC236}">
                  <a16:creationId xmlns:a16="http://schemas.microsoft.com/office/drawing/2014/main" id="{BA2649B5-05B6-4862-A401-BA93CC3AFDB4}"/>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17">
              <a:extLst>
                <a:ext uri="{FF2B5EF4-FFF2-40B4-BE49-F238E27FC236}">
                  <a16:creationId xmlns:a16="http://schemas.microsoft.com/office/drawing/2014/main" id="{83EC5370-1C01-4F06-B0B8-99DF3F260858}"/>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Rounded Rectangle 18">
              <a:extLst>
                <a:ext uri="{FF2B5EF4-FFF2-40B4-BE49-F238E27FC236}">
                  <a16:creationId xmlns:a16="http://schemas.microsoft.com/office/drawing/2014/main" id="{5CBC8030-6DA4-4A2C-A6CE-D15C32476FAE}"/>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4" name="Rounded Rectangle 19">
              <a:extLst>
                <a:ext uri="{FF2B5EF4-FFF2-40B4-BE49-F238E27FC236}">
                  <a16:creationId xmlns:a16="http://schemas.microsoft.com/office/drawing/2014/main" id="{FF7E268B-3D8E-4DEF-B6DF-8A2C253B9117}"/>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3651695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 Holder 11">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7031231" y="281666"/>
            <a:ext cx="4114800" cy="365125"/>
          </a:xfrm>
          <a:prstGeom prst="rect">
            <a:avLst/>
          </a:prstGeom>
        </p:spPr>
        <p:txBody>
          <a:bodyPr/>
          <a:lstStyle/>
          <a:p>
            <a:r>
              <a:rPr lang="en-US"/>
              <a:t>© 2024 Resilinc. All rights reserved.</a:t>
            </a:r>
          </a:p>
        </p:txBody>
      </p:sp>
      <p:sp>
        <p:nvSpPr>
          <p:cNvPr id="5" name="Picture Placeholder 7"/>
          <p:cNvSpPr>
            <a:spLocks noGrp="1"/>
          </p:cNvSpPr>
          <p:nvPr>
            <p:ph type="pic" sz="quarter" idx="16"/>
          </p:nvPr>
        </p:nvSpPr>
        <p:spPr>
          <a:xfrm>
            <a:off x="0" y="0"/>
            <a:ext cx="6096000" cy="6858000"/>
          </a:xfrm>
          <a:prstGeom prst="rect">
            <a:avLst/>
          </a:prstGeom>
          <a:solidFill>
            <a:schemeClr val="bg2">
              <a:lumMod val="90000"/>
            </a:schemeClr>
          </a:solidFill>
        </p:spPr>
      </p:sp>
      <p:sp>
        <p:nvSpPr>
          <p:cNvPr id="6" name="Rectangle 5"/>
          <p:cNvSpPr/>
          <p:nvPr userDrawn="1"/>
        </p:nvSpPr>
        <p:spPr>
          <a:xfrm>
            <a:off x="6096000" y="0"/>
            <a:ext cx="6096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7" name="Title 1">
            <a:extLst>
              <a:ext uri="{FF2B5EF4-FFF2-40B4-BE49-F238E27FC236}">
                <a16:creationId xmlns:a16="http://schemas.microsoft.com/office/drawing/2014/main" id="{5741175F-C760-064A-95B9-AD15356C0304}"/>
              </a:ext>
            </a:extLst>
          </p:cNvPr>
          <p:cNvSpPr>
            <a:spLocks noGrp="1"/>
          </p:cNvSpPr>
          <p:nvPr>
            <p:ph type="title" hasCustomPrompt="1"/>
          </p:nvPr>
        </p:nvSpPr>
        <p:spPr>
          <a:xfrm>
            <a:off x="6440593" y="538114"/>
            <a:ext cx="5406814" cy="503215"/>
          </a:xfrm>
          <a:prstGeom prst="rect">
            <a:avLst/>
          </a:prstGeom>
        </p:spPr>
        <p:txBody>
          <a:bodyPr wrap="square">
            <a:normAutofit/>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bg1"/>
                </a:solidFill>
                <a:latin typeface="+mj-lt"/>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E9D133A3-1C09-E941-9BA0-F205351881F9}"/>
              </a:ext>
            </a:extLst>
          </p:cNvPr>
          <p:cNvSpPr>
            <a:spLocks noGrp="1"/>
          </p:cNvSpPr>
          <p:nvPr>
            <p:ph type="body" sz="quarter" idx="10" hasCustomPrompt="1"/>
          </p:nvPr>
        </p:nvSpPr>
        <p:spPr>
          <a:xfrm>
            <a:off x="6440594" y="990876"/>
            <a:ext cx="5406814" cy="738664"/>
          </a:xfrm>
          <a:prstGeom prst="rect">
            <a:avLst/>
          </a:prstGeom>
        </p:spPr>
        <p:txBody>
          <a:bodyPr wrap="square" anchor="ctr">
            <a:normAutofit/>
          </a:bodyPr>
          <a:lstStyle>
            <a:lvl1pPr marL="0" indent="0" algn="l">
              <a:buNone/>
              <a:defRPr sz="2500" b="1">
                <a:solidFill>
                  <a:schemeClr val="bg1"/>
                </a:solidFill>
                <a:latin typeface="+mj-lt"/>
                <a:ea typeface="Roboto" pitchFamily="2" charset="0"/>
              </a:defRPr>
            </a:lvl1pPr>
          </a:lstStyle>
          <a:p>
            <a:pPr lvl="0"/>
            <a:r>
              <a:rPr lang="en-US"/>
              <a:t>Subtitle of the slide as a second line</a:t>
            </a:r>
          </a:p>
        </p:txBody>
      </p:sp>
      <p:sp>
        <p:nvSpPr>
          <p:cNvPr id="9" name="TextBox 8">
            <a:extLst>
              <a:ext uri="{FF2B5EF4-FFF2-40B4-BE49-F238E27FC236}">
                <a16:creationId xmlns:a16="http://schemas.microsoft.com/office/drawing/2014/main" id="{A860CBDD-EFB4-4EE8-A414-ABE8FE2908BB}"/>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mn-lt"/>
                <a:ea typeface="Roboto" pitchFamily="2" charset="0"/>
              </a:rPr>
              <a:pPr algn="r"/>
              <a:t>‹#›</a:t>
            </a:fld>
            <a:endParaRPr lang="en-US" sz="1200">
              <a:solidFill>
                <a:schemeClr val="bg1"/>
              </a:solidFill>
              <a:latin typeface="+mn-lt"/>
              <a:ea typeface="Roboto" pitchFamily="2" charset="0"/>
            </a:endParaRPr>
          </a:p>
        </p:txBody>
      </p:sp>
      <p:sp>
        <p:nvSpPr>
          <p:cNvPr id="23" name="TextBox 22">
            <a:extLst>
              <a:ext uri="{FF2B5EF4-FFF2-40B4-BE49-F238E27FC236}">
                <a16:creationId xmlns:a16="http://schemas.microsoft.com/office/drawing/2014/main" id="{5E519BF0-7D50-4F6E-8025-72EC16A0CD10}"/>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tx2"/>
                </a:solidFill>
                <a:latin typeface="Roboto" pitchFamily="2" charset="0"/>
                <a:ea typeface="Roboto" pitchFamily="2" charset="0"/>
              </a:rPr>
              <a:t>© 2024 Resilinc Corporation. All rights reserved.</a:t>
            </a:r>
          </a:p>
        </p:txBody>
      </p:sp>
      <p:sp>
        <p:nvSpPr>
          <p:cNvPr id="37" name="Content Placeholder 6">
            <a:extLst>
              <a:ext uri="{FF2B5EF4-FFF2-40B4-BE49-F238E27FC236}">
                <a16:creationId xmlns:a16="http://schemas.microsoft.com/office/drawing/2014/main" id="{FD94F333-EBAC-42B4-8E0C-56C212F9CDD7}"/>
              </a:ext>
            </a:extLst>
          </p:cNvPr>
          <p:cNvSpPr>
            <a:spLocks noGrp="1"/>
          </p:cNvSpPr>
          <p:nvPr>
            <p:ph sz="quarter" idx="29"/>
          </p:nvPr>
        </p:nvSpPr>
        <p:spPr>
          <a:xfrm>
            <a:off x="6440593" y="1917291"/>
            <a:ext cx="5406814" cy="4068764"/>
          </a:xfrm>
          <a:prstGeom prst="rect">
            <a:avLst/>
          </a:prstGeom>
        </p:spPr>
        <p:txBody>
          <a:bodyPr/>
          <a:lstStyle>
            <a:lvl1pPr>
              <a:buClr>
                <a:schemeClr val="bg1"/>
              </a:buClr>
              <a:defRPr sz="2000">
                <a:solidFill>
                  <a:schemeClr val="bg1"/>
                </a:solidFill>
                <a:latin typeface="+mn-lt"/>
                <a:ea typeface="Roboto" pitchFamily="2" charset="0"/>
              </a:defRPr>
            </a:lvl1pPr>
            <a:lvl2pPr>
              <a:buClr>
                <a:schemeClr val="bg1"/>
              </a:buClr>
              <a:defRPr sz="1800">
                <a:solidFill>
                  <a:schemeClr val="bg1"/>
                </a:solidFill>
                <a:latin typeface="+mn-lt"/>
                <a:ea typeface="Roboto" pitchFamily="2" charset="0"/>
              </a:defRPr>
            </a:lvl2pPr>
            <a:lvl3pPr>
              <a:buClr>
                <a:schemeClr val="bg1"/>
              </a:buClr>
              <a:defRPr sz="1400">
                <a:solidFill>
                  <a:schemeClr val="bg1"/>
                </a:solidFill>
                <a:latin typeface="+mn-lt"/>
                <a:ea typeface="Roboto" pitchFamily="2" charset="0"/>
              </a:defRPr>
            </a:lvl3pPr>
            <a:lvl4pPr>
              <a:buClr>
                <a:schemeClr val="bg1"/>
              </a:buClr>
              <a:defRPr sz="1200">
                <a:solidFill>
                  <a:schemeClr val="bg1"/>
                </a:solidFill>
                <a:latin typeface="+mn-lt"/>
                <a:ea typeface="Roboto" pitchFamily="2" charset="0"/>
              </a:defRPr>
            </a:lvl4pPr>
            <a:lvl5pPr>
              <a:buClr>
                <a:schemeClr val="bg1"/>
              </a:buClr>
              <a:defRPr sz="1200">
                <a:solidFill>
                  <a:schemeClr val="bg1"/>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1" name="Group 50">
            <a:extLst>
              <a:ext uri="{FF2B5EF4-FFF2-40B4-BE49-F238E27FC236}">
                <a16:creationId xmlns:a16="http://schemas.microsoft.com/office/drawing/2014/main" id="{52B4B189-47F4-44DE-994A-241E00F6972E}"/>
              </a:ext>
            </a:extLst>
          </p:cNvPr>
          <p:cNvGrpSpPr/>
          <p:nvPr userDrawn="1"/>
        </p:nvGrpSpPr>
        <p:grpSpPr>
          <a:xfrm>
            <a:off x="7807044" y="6192297"/>
            <a:ext cx="4159557" cy="501588"/>
            <a:chOff x="15614087" y="12384593"/>
            <a:chExt cx="8319114" cy="1003175"/>
          </a:xfrm>
        </p:grpSpPr>
        <p:pic>
          <p:nvPicPr>
            <p:cNvPr id="52" name="Picture 51">
              <a:extLst>
                <a:ext uri="{FF2B5EF4-FFF2-40B4-BE49-F238E27FC236}">
                  <a16:creationId xmlns:a16="http://schemas.microsoft.com/office/drawing/2014/main" id="{4C3E9527-E0F5-43F7-82F6-5AA45777A036}"/>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53" name="Rounded Rectangle 9">
              <a:extLst>
                <a:ext uri="{FF2B5EF4-FFF2-40B4-BE49-F238E27FC236}">
                  <a16:creationId xmlns:a16="http://schemas.microsoft.com/office/drawing/2014/main" id="{FA5F4A99-556A-4909-A5B1-80BEEE68DB8F}"/>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10">
              <a:extLst>
                <a:ext uri="{FF2B5EF4-FFF2-40B4-BE49-F238E27FC236}">
                  <a16:creationId xmlns:a16="http://schemas.microsoft.com/office/drawing/2014/main" id="{BB6994F5-2991-42BC-8C03-560C32F19BAF}"/>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Rounded Rectangle 11">
              <a:extLst>
                <a:ext uri="{FF2B5EF4-FFF2-40B4-BE49-F238E27FC236}">
                  <a16:creationId xmlns:a16="http://schemas.microsoft.com/office/drawing/2014/main" id="{46208AC9-DF3F-4353-BAB5-57143C3C9ED9}"/>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6" name="Rounded Rectangle 12">
              <a:extLst>
                <a:ext uri="{FF2B5EF4-FFF2-40B4-BE49-F238E27FC236}">
                  <a16:creationId xmlns:a16="http://schemas.microsoft.com/office/drawing/2014/main" id="{58024527-628D-4681-8464-731BD45FD6F7}"/>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7" name="Rounded Rectangle 13">
              <a:extLst>
                <a:ext uri="{FF2B5EF4-FFF2-40B4-BE49-F238E27FC236}">
                  <a16:creationId xmlns:a16="http://schemas.microsoft.com/office/drawing/2014/main" id="{99AF2B01-B1CE-4C0C-AE28-9066EFD44CA5}"/>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8" name="Rounded Rectangle 14">
              <a:extLst>
                <a:ext uri="{FF2B5EF4-FFF2-40B4-BE49-F238E27FC236}">
                  <a16:creationId xmlns:a16="http://schemas.microsoft.com/office/drawing/2014/main" id="{05B00BDF-DA27-476C-8A62-73FD31963956}"/>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9" name="Rounded Rectangle 15">
              <a:extLst>
                <a:ext uri="{FF2B5EF4-FFF2-40B4-BE49-F238E27FC236}">
                  <a16:creationId xmlns:a16="http://schemas.microsoft.com/office/drawing/2014/main" id="{B5E34725-DC07-4374-8CFC-1A97AE890EC9}"/>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Rounded Rectangle 16">
              <a:extLst>
                <a:ext uri="{FF2B5EF4-FFF2-40B4-BE49-F238E27FC236}">
                  <a16:creationId xmlns:a16="http://schemas.microsoft.com/office/drawing/2014/main" id="{5B6BF20E-E316-4958-BE2D-5EA4F87BED1E}"/>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Rounded Rectangle 17">
              <a:extLst>
                <a:ext uri="{FF2B5EF4-FFF2-40B4-BE49-F238E27FC236}">
                  <a16:creationId xmlns:a16="http://schemas.microsoft.com/office/drawing/2014/main" id="{C98B5317-44F2-4F9A-A48D-19F8DB96D2ED}"/>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Rounded Rectangle 18">
              <a:extLst>
                <a:ext uri="{FF2B5EF4-FFF2-40B4-BE49-F238E27FC236}">
                  <a16:creationId xmlns:a16="http://schemas.microsoft.com/office/drawing/2014/main" id="{E3DFB87D-19E5-4939-87AD-F7F8A2932061}"/>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Rounded Rectangle 19">
              <a:extLst>
                <a:ext uri="{FF2B5EF4-FFF2-40B4-BE49-F238E27FC236}">
                  <a16:creationId xmlns:a16="http://schemas.microsoft.com/office/drawing/2014/main" id="{77B209C1-B6BC-4AB8-A320-F94ECC93D3CC}"/>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2070783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 Holder 12">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0" y="0"/>
            <a:ext cx="12192000" cy="3429000"/>
          </a:xfrm>
          <a:prstGeom prst="rect">
            <a:avLst/>
          </a:prstGeom>
          <a:solidFill>
            <a:schemeClr val="bg2">
              <a:lumMod val="90000"/>
            </a:schemeClr>
          </a:solidFill>
        </p:spPr>
      </p:sp>
      <p:sp>
        <p:nvSpPr>
          <p:cNvPr id="4" name="TextBox 3">
            <a:extLst>
              <a:ext uri="{FF2B5EF4-FFF2-40B4-BE49-F238E27FC236}">
                <a16:creationId xmlns:a16="http://schemas.microsoft.com/office/drawing/2014/main" id="{F6AB739A-E834-4BC2-BE57-80CBA109C96C}"/>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Tree>
    <p:extLst>
      <p:ext uri="{BB962C8B-B14F-4D97-AF65-F5344CB8AC3E}">
        <p14:creationId xmlns:p14="http://schemas.microsoft.com/office/powerpoint/2010/main" val="19338384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 Holder 13">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0" y="0"/>
            <a:ext cx="12192000" cy="6858000"/>
          </a:xfrm>
          <a:prstGeom prst="rect">
            <a:avLst/>
          </a:prstGeom>
          <a:solidFill>
            <a:schemeClr val="bg2">
              <a:lumMod val="90000"/>
            </a:schemeClr>
          </a:solidFill>
        </p:spPr>
      </p:sp>
      <p:sp>
        <p:nvSpPr>
          <p:cNvPr id="4" name="TextBox 3">
            <a:extLst>
              <a:ext uri="{FF2B5EF4-FFF2-40B4-BE49-F238E27FC236}">
                <a16:creationId xmlns:a16="http://schemas.microsoft.com/office/drawing/2014/main" id="{50E63068-E392-44D6-8ACA-982AADFE0BBF}"/>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
        <p:nvSpPr>
          <p:cNvPr id="19" name="TextBox 18">
            <a:extLst>
              <a:ext uri="{FF2B5EF4-FFF2-40B4-BE49-F238E27FC236}">
                <a16:creationId xmlns:a16="http://schemas.microsoft.com/office/drawing/2014/main" id="{72037FB7-44CF-471D-964E-C5521F1CBCC6}"/>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tx2"/>
                </a:solidFill>
                <a:latin typeface="Roboto" pitchFamily="2" charset="0"/>
                <a:ea typeface="Roboto" pitchFamily="2" charset="0"/>
              </a:rPr>
              <a:t>© 2024 Resilinc Corporation. All rights reserved.</a:t>
            </a:r>
          </a:p>
        </p:txBody>
      </p:sp>
      <p:grpSp>
        <p:nvGrpSpPr>
          <p:cNvPr id="20" name="Group 19">
            <a:extLst>
              <a:ext uri="{FF2B5EF4-FFF2-40B4-BE49-F238E27FC236}">
                <a16:creationId xmlns:a16="http://schemas.microsoft.com/office/drawing/2014/main" id="{02862CC3-9359-4624-92DA-B73245FB8B48}"/>
              </a:ext>
            </a:extLst>
          </p:cNvPr>
          <p:cNvGrpSpPr/>
          <p:nvPr userDrawn="1"/>
        </p:nvGrpSpPr>
        <p:grpSpPr>
          <a:xfrm>
            <a:off x="7807044" y="6192297"/>
            <a:ext cx="4159557" cy="501588"/>
            <a:chOff x="15614087" y="12384593"/>
            <a:chExt cx="8319114" cy="1003175"/>
          </a:xfrm>
        </p:grpSpPr>
        <p:pic>
          <p:nvPicPr>
            <p:cNvPr id="21" name="Picture 20">
              <a:extLst>
                <a:ext uri="{FF2B5EF4-FFF2-40B4-BE49-F238E27FC236}">
                  <a16:creationId xmlns:a16="http://schemas.microsoft.com/office/drawing/2014/main" id="{88F85C4A-32F1-40C6-87B4-9E630263EFCA}"/>
                </a:ext>
              </a:extLst>
            </p:cNvPr>
            <p:cNvPicPr>
              <a:picLocks noChangeAspect="1"/>
            </p:cNvPicPr>
            <p:nvPr userDrawn="1"/>
          </p:nvPicPr>
          <p:blipFill>
            <a:blip r:embed="rId2"/>
            <a:stretch>
              <a:fillRect/>
            </a:stretch>
          </p:blipFill>
          <p:spPr>
            <a:xfrm>
              <a:off x="19008573" y="12420334"/>
              <a:ext cx="2400301" cy="960120"/>
            </a:xfrm>
            <a:prstGeom prst="rect">
              <a:avLst/>
            </a:prstGeom>
          </p:spPr>
        </p:pic>
        <p:sp>
          <p:nvSpPr>
            <p:cNvPr id="22" name="Rounded Rectangle 9">
              <a:extLst>
                <a:ext uri="{FF2B5EF4-FFF2-40B4-BE49-F238E27FC236}">
                  <a16:creationId xmlns:a16="http://schemas.microsoft.com/office/drawing/2014/main" id="{59042C63-D279-4621-B517-510E511332FD}"/>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ounded Rectangle 10">
              <a:extLst>
                <a:ext uri="{FF2B5EF4-FFF2-40B4-BE49-F238E27FC236}">
                  <a16:creationId xmlns:a16="http://schemas.microsoft.com/office/drawing/2014/main" id="{F930B262-6DB9-49AA-A321-576C916A755F}"/>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11">
              <a:extLst>
                <a:ext uri="{FF2B5EF4-FFF2-40B4-BE49-F238E27FC236}">
                  <a16:creationId xmlns:a16="http://schemas.microsoft.com/office/drawing/2014/main" id="{60F5FA23-2E46-47CB-AC17-ECC9BF6B83B9}"/>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12">
              <a:extLst>
                <a:ext uri="{FF2B5EF4-FFF2-40B4-BE49-F238E27FC236}">
                  <a16:creationId xmlns:a16="http://schemas.microsoft.com/office/drawing/2014/main" id="{6C0E2EF9-12EE-4BE2-B2B9-6AFEF0ED3921}"/>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3">
              <a:extLst>
                <a:ext uri="{FF2B5EF4-FFF2-40B4-BE49-F238E27FC236}">
                  <a16:creationId xmlns:a16="http://schemas.microsoft.com/office/drawing/2014/main" id="{13766AAD-1AF0-4E67-BE67-42A28FD3DEC9}"/>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4">
              <a:extLst>
                <a:ext uri="{FF2B5EF4-FFF2-40B4-BE49-F238E27FC236}">
                  <a16:creationId xmlns:a16="http://schemas.microsoft.com/office/drawing/2014/main" id="{15826C98-3B53-4AA1-8175-A9C14E25C627}"/>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5">
              <a:extLst>
                <a:ext uri="{FF2B5EF4-FFF2-40B4-BE49-F238E27FC236}">
                  <a16:creationId xmlns:a16="http://schemas.microsoft.com/office/drawing/2014/main" id="{90D20FFB-C7BF-48FE-874B-65973C5EACEB}"/>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6">
              <a:extLst>
                <a:ext uri="{FF2B5EF4-FFF2-40B4-BE49-F238E27FC236}">
                  <a16:creationId xmlns:a16="http://schemas.microsoft.com/office/drawing/2014/main" id="{54EAA8AB-CC08-4C72-96AF-B03C5801DE14}"/>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7">
              <a:extLst>
                <a:ext uri="{FF2B5EF4-FFF2-40B4-BE49-F238E27FC236}">
                  <a16:creationId xmlns:a16="http://schemas.microsoft.com/office/drawing/2014/main" id="{C4CF8AE5-0F62-49F9-8EFC-7E5752B97FD5}"/>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8">
              <a:extLst>
                <a:ext uri="{FF2B5EF4-FFF2-40B4-BE49-F238E27FC236}">
                  <a16:creationId xmlns:a16="http://schemas.microsoft.com/office/drawing/2014/main" id="{4ECBD0F3-44A3-46C8-85BF-0DF9A20840FC}"/>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9">
              <a:extLst>
                <a:ext uri="{FF2B5EF4-FFF2-40B4-BE49-F238E27FC236}">
                  <a16:creationId xmlns:a16="http://schemas.microsoft.com/office/drawing/2014/main" id="{0F8BF9FC-2661-420A-8400-FDC0B7CA2E6A}"/>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9398973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 Holder 14">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0" y="0"/>
            <a:ext cx="8534400" cy="6858000"/>
          </a:xfrm>
          <a:prstGeom prst="rect">
            <a:avLst/>
          </a:prstGeom>
          <a:solidFill>
            <a:schemeClr val="bg2">
              <a:lumMod val="90000"/>
            </a:schemeClr>
          </a:solidFill>
        </p:spPr>
      </p:sp>
      <p:sp>
        <p:nvSpPr>
          <p:cNvPr id="3" name="TextBox 2">
            <a:extLst>
              <a:ext uri="{FF2B5EF4-FFF2-40B4-BE49-F238E27FC236}">
                <a16:creationId xmlns:a16="http://schemas.microsoft.com/office/drawing/2014/main" id="{9107C45D-287B-4FBC-BE39-8B983B2B3CD9}"/>
              </a:ext>
            </a:extLst>
          </p:cNvPr>
          <p:cNvSpPr txBox="1"/>
          <p:nvPr userDrawn="1"/>
        </p:nvSpPr>
        <p:spPr>
          <a:xfrm>
            <a:off x="390144" y="6342505"/>
            <a:ext cx="2908168" cy="246221"/>
          </a:xfrm>
          <a:prstGeom prst="rect">
            <a:avLst/>
          </a:prstGeom>
          <a:noFill/>
        </p:spPr>
        <p:txBody>
          <a:bodyPr wrap="none" rtlCol="0">
            <a:spAutoFit/>
          </a:bodyPr>
          <a:lstStyle/>
          <a:p>
            <a:r>
              <a:rPr lang="en-US" sz="1000" dirty="0">
                <a:solidFill>
                  <a:schemeClr val="tx2"/>
                </a:solidFill>
                <a:latin typeface="Roboto" pitchFamily="2" charset="0"/>
                <a:ea typeface="Roboto" pitchFamily="2" charset="0"/>
              </a:rPr>
              <a:t>© 2024 Resilinc Corporation. All rights reserved.</a:t>
            </a:r>
          </a:p>
        </p:txBody>
      </p:sp>
    </p:spTree>
    <p:extLst>
      <p:ext uri="{BB962C8B-B14F-4D97-AF65-F5344CB8AC3E}">
        <p14:creationId xmlns:p14="http://schemas.microsoft.com/office/powerpoint/2010/main" val="37498534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Statistics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633D26C-F68B-C442-AD58-B50653BF3A57}"/>
              </a:ext>
            </a:extLst>
          </p:cNvPr>
          <p:cNvSpPr>
            <a:spLocks noGrp="1"/>
          </p:cNvSpPr>
          <p:nvPr>
            <p:ph type="title" hasCustomPrompt="1"/>
          </p:nvPr>
        </p:nvSpPr>
        <p:spPr>
          <a:xfrm>
            <a:off x="481256" y="938506"/>
            <a:ext cx="3252894" cy="1020923"/>
          </a:xfrm>
          <a:prstGeom prst="rect">
            <a:avLst/>
          </a:prstGeom>
        </p:spPr>
        <p:txBody>
          <a:bodyPr/>
          <a:lstStyle>
            <a:lvl1pPr marL="0" marR="0" indent="0" algn="l" defTabSz="910381" rtl="0" eaLnBrk="1" fontAlgn="auto" latinLnBrk="0" hangingPunct="1">
              <a:lnSpc>
                <a:spcPct val="90000"/>
              </a:lnSpc>
              <a:spcBef>
                <a:spcPct val="0"/>
              </a:spcBef>
              <a:spcAft>
                <a:spcPts val="0"/>
              </a:spcAft>
              <a:buClrTx/>
              <a:buSzTx/>
              <a:buFontTx/>
              <a:buNone/>
              <a:tabLst/>
              <a:defRPr sz="3520" b="1">
                <a:solidFill>
                  <a:schemeClr val="tx1"/>
                </a:solidFill>
                <a:latin typeface="Roboto" pitchFamily="2" charset="0"/>
                <a:ea typeface="Roboto" pitchFamily="2" charset="0"/>
              </a:defRPr>
            </a:lvl1pPr>
          </a:lstStyle>
          <a:p>
            <a:r>
              <a:rPr lang="en-US"/>
              <a:t>Slide Title Lorem Ipsum</a:t>
            </a:r>
          </a:p>
        </p:txBody>
      </p:sp>
      <p:sp>
        <p:nvSpPr>
          <p:cNvPr id="8" name="Text Placeholder 5">
            <a:extLst>
              <a:ext uri="{FF2B5EF4-FFF2-40B4-BE49-F238E27FC236}">
                <a16:creationId xmlns:a16="http://schemas.microsoft.com/office/drawing/2014/main" id="{99AE76B9-E8B7-C84A-8E56-F41009CC135A}"/>
              </a:ext>
            </a:extLst>
          </p:cNvPr>
          <p:cNvSpPr>
            <a:spLocks noGrp="1"/>
          </p:cNvSpPr>
          <p:nvPr>
            <p:ph type="body" sz="quarter" idx="10" hasCustomPrompt="1"/>
          </p:nvPr>
        </p:nvSpPr>
        <p:spPr>
          <a:xfrm>
            <a:off x="481256" y="2079216"/>
            <a:ext cx="3252894" cy="696642"/>
          </a:xfrm>
          <a:prstGeom prst="rect">
            <a:avLst/>
          </a:prstGeom>
        </p:spPr>
        <p:txBody>
          <a:bodyPr/>
          <a:lstStyle>
            <a:lvl1pPr marL="0" indent="0">
              <a:buNone/>
              <a:defRPr sz="2134">
                <a:solidFill>
                  <a:schemeClr val="accent1"/>
                </a:solidFill>
                <a:latin typeface="Roboto" pitchFamily="2" charset="0"/>
                <a:ea typeface="Roboto" pitchFamily="2" charset="0"/>
              </a:defRPr>
            </a:lvl1pPr>
          </a:lstStyle>
          <a:p>
            <a:pPr lvl="0"/>
            <a:r>
              <a:rPr lang="en-US"/>
              <a:t>Subtitle of the slide as a second line</a:t>
            </a:r>
          </a:p>
        </p:txBody>
      </p:sp>
      <p:sp>
        <p:nvSpPr>
          <p:cNvPr id="2" name="Oval 1">
            <a:extLst>
              <a:ext uri="{FF2B5EF4-FFF2-40B4-BE49-F238E27FC236}">
                <a16:creationId xmlns:a16="http://schemas.microsoft.com/office/drawing/2014/main" id="{DF531560-BF66-4A47-A8A2-653479256842}"/>
              </a:ext>
            </a:extLst>
          </p:cNvPr>
          <p:cNvSpPr/>
          <p:nvPr userDrawn="1"/>
        </p:nvSpPr>
        <p:spPr>
          <a:xfrm>
            <a:off x="4497494" y="89539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
        <p:nvSpPr>
          <p:cNvPr id="12" name="Oval 11">
            <a:extLst>
              <a:ext uri="{FF2B5EF4-FFF2-40B4-BE49-F238E27FC236}">
                <a16:creationId xmlns:a16="http://schemas.microsoft.com/office/drawing/2014/main" id="{24AAFA51-BDC8-2447-87E8-84EF6B4D0E04}"/>
              </a:ext>
            </a:extLst>
          </p:cNvPr>
          <p:cNvSpPr/>
          <p:nvPr userDrawn="1"/>
        </p:nvSpPr>
        <p:spPr>
          <a:xfrm>
            <a:off x="7017174" y="89539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
        <p:nvSpPr>
          <p:cNvPr id="14" name="Oval 13">
            <a:extLst>
              <a:ext uri="{FF2B5EF4-FFF2-40B4-BE49-F238E27FC236}">
                <a16:creationId xmlns:a16="http://schemas.microsoft.com/office/drawing/2014/main" id="{5A970A8A-8D7C-6043-889F-EB3A6590BF39}"/>
              </a:ext>
            </a:extLst>
          </p:cNvPr>
          <p:cNvSpPr/>
          <p:nvPr userDrawn="1"/>
        </p:nvSpPr>
        <p:spPr>
          <a:xfrm>
            <a:off x="9536854" y="89539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
        <p:nvSpPr>
          <p:cNvPr id="16" name="Oval 15">
            <a:extLst>
              <a:ext uri="{FF2B5EF4-FFF2-40B4-BE49-F238E27FC236}">
                <a16:creationId xmlns:a16="http://schemas.microsoft.com/office/drawing/2014/main" id="{628A687A-F91B-5849-AA48-FB8A2AAFFE8E}"/>
              </a:ext>
            </a:extLst>
          </p:cNvPr>
          <p:cNvSpPr/>
          <p:nvPr userDrawn="1"/>
        </p:nvSpPr>
        <p:spPr>
          <a:xfrm>
            <a:off x="4497494" y="346714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
        <p:nvSpPr>
          <p:cNvPr id="18" name="Oval 17">
            <a:extLst>
              <a:ext uri="{FF2B5EF4-FFF2-40B4-BE49-F238E27FC236}">
                <a16:creationId xmlns:a16="http://schemas.microsoft.com/office/drawing/2014/main" id="{E0B61753-2B86-7648-9D9D-B43070A699F7}"/>
              </a:ext>
            </a:extLst>
          </p:cNvPr>
          <p:cNvSpPr/>
          <p:nvPr userDrawn="1"/>
        </p:nvSpPr>
        <p:spPr>
          <a:xfrm>
            <a:off x="7017174" y="346714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
        <p:nvSpPr>
          <p:cNvPr id="20" name="Oval 19">
            <a:extLst>
              <a:ext uri="{FF2B5EF4-FFF2-40B4-BE49-F238E27FC236}">
                <a16:creationId xmlns:a16="http://schemas.microsoft.com/office/drawing/2014/main" id="{372EF9F2-2649-974B-8822-BCECC8F2CED1}"/>
              </a:ext>
            </a:extLst>
          </p:cNvPr>
          <p:cNvSpPr/>
          <p:nvPr userDrawn="1"/>
        </p:nvSpPr>
        <p:spPr>
          <a:xfrm>
            <a:off x="9536854" y="3467144"/>
            <a:ext cx="2357120" cy="2367643"/>
          </a:xfrm>
          <a:prstGeom prst="ellipse">
            <a:avLst/>
          </a:prstGeom>
          <a:solidFill>
            <a:schemeClr val="bg2">
              <a:lumMod val="90000"/>
              <a:alpha val="5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07">
              <a:latin typeface="Roboto" pitchFamily="2" charset="0"/>
              <a:ea typeface="Roboto" pitchFamily="2" charset="0"/>
            </a:endParaRPr>
          </a:p>
        </p:txBody>
      </p:sp>
    </p:spTree>
    <p:extLst>
      <p:ext uri="{BB962C8B-B14F-4D97-AF65-F5344CB8AC3E}">
        <p14:creationId xmlns:p14="http://schemas.microsoft.com/office/powerpoint/2010/main" val="37477246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Text Placeholder 15"/>
          <p:cNvSpPr>
            <a:spLocks noGrp="1"/>
          </p:cNvSpPr>
          <p:nvPr>
            <p:ph type="body" sz="quarter" idx="12"/>
          </p:nvPr>
        </p:nvSpPr>
        <p:spPr>
          <a:xfrm>
            <a:off x="850559" y="1325606"/>
            <a:ext cx="10974917" cy="515937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3"/>
          </p:nvPr>
        </p:nvSpPr>
        <p:spPr/>
        <p:txBody>
          <a:bodyPr/>
          <a:lstStyle/>
          <a:p>
            <a:fld id="{E7531113-0B10-49C6-A0A3-271F233B1CCD}" type="datetime4">
              <a:rPr lang="en-US" smtClean="0"/>
              <a:t>August 31, 2026</a:t>
            </a:fld>
            <a:endParaRPr lang="en-US"/>
          </a:p>
        </p:txBody>
      </p:sp>
      <p:sp>
        <p:nvSpPr>
          <p:cNvPr id="7" name="Footer Placeholder 6"/>
          <p:cNvSpPr>
            <a:spLocks noGrp="1"/>
          </p:cNvSpPr>
          <p:nvPr>
            <p:ph type="ftr" sz="quarter" idx="14"/>
          </p:nvPr>
        </p:nvSpPr>
        <p:spPr/>
        <p:txBody>
          <a:bodyPr/>
          <a:lstStyle/>
          <a:p>
            <a:r>
              <a:rPr lang="en-US"/>
              <a:t>© 2024 Resilinc. All rights reserved.</a:t>
            </a:r>
          </a:p>
        </p:txBody>
      </p:sp>
      <p:sp>
        <p:nvSpPr>
          <p:cNvPr id="8" name="Slide Number Placeholder 7"/>
          <p:cNvSpPr>
            <a:spLocks noGrp="1"/>
          </p:cNvSpPr>
          <p:nvPr>
            <p:ph type="sldNum" sz="quarter" idx="15"/>
          </p:nvPr>
        </p:nvSpPr>
        <p:spPr/>
        <p:txBody>
          <a:bodyPr/>
          <a:lstStyle/>
          <a:p>
            <a:endParaRPr lang="en-US"/>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07409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E096738A-873E-422C-8A1D-45315B22284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57C1072B-2A16-4A00-8A87-7A807B0C763E}"/>
              </a:ext>
            </a:extLst>
          </p:cNvPr>
          <p:cNvSpPr/>
          <p:nvPr userDrawn="1"/>
        </p:nvSpPr>
        <p:spPr>
          <a:xfrm>
            <a:off x="0" y="-5829"/>
            <a:ext cx="12192000" cy="6858000"/>
          </a:xfrm>
          <a:prstGeom prst="rect">
            <a:avLst/>
          </a:prstGeom>
          <a:solidFill>
            <a:srgbClr val="0D2344">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9" name="Straight Connector 8">
            <a:extLst>
              <a:ext uri="{FF2B5EF4-FFF2-40B4-BE49-F238E27FC236}">
                <a16:creationId xmlns:a16="http://schemas.microsoft.com/office/drawing/2014/main" id="{A79A1D03-5F26-4BB0-B51D-9F8820B20127}"/>
              </a:ext>
            </a:extLst>
          </p:cNvPr>
          <p:cNvCxnSpPr/>
          <p:nvPr userDrawn="1"/>
        </p:nvCxnSpPr>
        <p:spPr>
          <a:xfrm>
            <a:off x="731520" y="1467612"/>
            <a:ext cx="0" cy="19613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Text Placeholder 28">
            <a:extLst>
              <a:ext uri="{FF2B5EF4-FFF2-40B4-BE49-F238E27FC236}">
                <a16:creationId xmlns:a16="http://schemas.microsoft.com/office/drawing/2014/main" id="{7C87712A-CC52-45AC-A884-C6BB3403248C}"/>
              </a:ext>
            </a:extLst>
          </p:cNvPr>
          <p:cNvSpPr>
            <a:spLocks noGrp="1"/>
          </p:cNvSpPr>
          <p:nvPr>
            <p:ph type="body" sz="quarter" idx="11" hasCustomPrompt="1"/>
          </p:nvPr>
        </p:nvSpPr>
        <p:spPr>
          <a:xfrm>
            <a:off x="1164725" y="5178972"/>
            <a:ext cx="4876800" cy="1053193"/>
          </a:xfrm>
          <a:prstGeom prst="rect">
            <a:avLst/>
          </a:prstGeom>
        </p:spPr>
        <p:txBody>
          <a:bodyPr anchor="ctr"/>
          <a:lstStyle>
            <a:lvl1pPr marL="0" marR="0" indent="0" algn="l" defTabSz="882951" rtl="0" eaLnBrk="1" fontAlgn="auto" latinLnBrk="0" hangingPunct="1">
              <a:lnSpc>
                <a:spcPct val="100000"/>
              </a:lnSpc>
              <a:spcBef>
                <a:spcPts val="0"/>
              </a:spcBef>
              <a:spcAft>
                <a:spcPts val="0"/>
              </a:spcAft>
              <a:buClrTx/>
              <a:buSzTx/>
              <a:buFontTx/>
              <a:buNone/>
              <a:tabLst/>
              <a:defRPr sz="1400">
                <a:solidFill>
                  <a:schemeClr val="bg1"/>
                </a:solidFill>
                <a:latin typeface="+mj-lt"/>
                <a:ea typeface="Roboto" pitchFamily="2" charset="0"/>
              </a:defRPr>
            </a:lvl1pPr>
          </a:lstStyle>
          <a:p>
            <a:pPr lvl="0"/>
            <a:r>
              <a:rPr lang="en-US"/>
              <a:t>Author of the presentation</a:t>
            </a:r>
          </a:p>
          <a:p>
            <a:pPr lvl="0"/>
            <a:r>
              <a:rPr lang="en-US"/>
              <a:t>Designation</a:t>
            </a:r>
          </a:p>
        </p:txBody>
      </p:sp>
      <p:sp>
        <p:nvSpPr>
          <p:cNvPr id="2" name="Title 1">
            <a:extLst>
              <a:ext uri="{FF2B5EF4-FFF2-40B4-BE49-F238E27FC236}">
                <a16:creationId xmlns:a16="http://schemas.microsoft.com/office/drawing/2014/main" id="{CE113BB0-882C-47E6-8E4C-A551870CDF01}"/>
              </a:ext>
            </a:extLst>
          </p:cNvPr>
          <p:cNvSpPr>
            <a:spLocks noGrp="1"/>
          </p:cNvSpPr>
          <p:nvPr>
            <p:ph type="ctrTitle" hasCustomPrompt="1"/>
          </p:nvPr>
        </p:nvSpPr>
        <p:spPr>
          <a:xfrm>
            <a:off x="1164725" y="1469573"/>
            <a:ext cx="4876800" cy="484959"/>
          </a:xfrm>
          <a:prstGeom prst="rect">
            <a:avLst/>
          </a:prstGeom>
        </p:spPr>
        <p:txBody>
          <a:bodyPr anchor="b"/>
          <a:lstStyle>
            <a:lvl1pPr algn="l">
              <a:defRPr sz="2500" b="1">
                <a:solidFill>
                  <a:schemeClr val="accent1"/>
                </a:solidFill>
              </a:defRPr>
            </a:lvl1pPr>
          </a:lstStyle>
          <a:p>
            <a:r>
              <a:rPr lang="en-US"/>
              <a:t>Presentation Title</a:t>
            </a:r>
            <a:endParaRPr lang="en-IN"/>
          </a:p>
        </p:txBody>
      </p:sp>
      <p:sp>
        <p:nvSpPr>
          <p:cNvPr id="3" name="Subtitle 2">
            <a:extLst>
              <a:ext uri="{FF2B5EF4-FFF2-40B4-BE49-F238E27FC236}">
                <a16:creationId xmlns:a16="http://schemas.microsoft.com/office/drawing/2014/main" id="{FED70083-BBB3-4541-8749-0FF16F810F63}"/>
              </a:ext>
            </a:extLst>
          </p:cNvPr>
          <p:cNvSpPr>
            <a:spLocks noGrp="1"/>
          </p:cNvSpPr>
          <p:nvPr>
            <p:ph type="subTitle" idx="1" hasCustomPrompt="1"/>
          </p:nvPr>
        </p:nvSpPr>
        <p:spPr>
          <a:xfrm>
            <a:off x="1164725" y="2076065"/>
            <a:ext cx="4876800" cy="1347107"/>
          </a:xfrm>
          <a:prstGeom prst="rect">
            <a:avLst/>
          </a:prstGeom>
        </p:spPr>
        <p:txBody>
          <a:bodyPr/>
          <a:lstStyle>
            <a:lvl1pPr marL="0" indent="0" algn="l">
              <a:buNone/>
              <a:defRPr sz="2500" b="0">
                <a:solidFill>
                  <a:schemeClr val="bg1"/>
                </a:solidFill>
                <a:latin typeface="+mj-lt"/>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Subtitle goes here Lorem Ipsum Lorem Ipsum lorem ipsum lorem ipsum</a:t>
            </a:r>
          </a:p>
        </p:txBody>
      </p:sp>
    </p:spTree>
    <p:extLst>
      <p:ext uri="{BB962C8B-B14F-4D97-AF65-F5344CB8AC3E}">
        <p14:creationId xmlns:p14="http://schemas.microsoft.com/office/powerpoint/2010/main" val="37804434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_2">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E096738A-873E-422C-8A1D-45315B222843}"/>
              </a:ext>
            </a:extLst>
          </p:cNvPr>
          <p:cNvPicPr>
            <a:picLocks noChangeAspect="1"/>
          </p:cNvPicPr>
          <p:nvPr userDrawn="1"/>
        </p:nvPicPr>
        <p:blipFill rotWithShape="1">
          <a:blip r:embed="rId2"/>
          <a:srcRect l="57244"/>
          <a:stretch/>
        </p:blipFill>
        <p:spPr>
          <a:xfrm>
            <a:off x="3450724" y="0"/>
            <a:ext cx="8741276" cy="3429000"/>
          </a:xfrm>
          <a:prstGeom prst="rect">
            <a:avLst/>
          </a:prstGeom>
        </p:spPr>
      </p:pic>
      <p:sp>
        <p:nvSpPr>
          <p:cNvPr id="11" name="Rectangle 10">
            <a:extLst>
              <a:ext uri="{FF2B5EF4-FFF2-40B4-BE49-F238E27FC236}">
                <a16:creationId xmlns:a16="http://schemas.microsoft.com/office/drawing/2014/main" id="{B756C449-4BFD-49AE-9006-734CC9A7221F}"/>
              </a:ext>
            </a:extLst>
          </p:cNvPr>
          <p:cNvSpPr/>
          <p:nvPr userDrawn="1"/>
        </p:nvSpPr>
        <p:spPr>
          <a:xfrm>
            <a:off x="0" y="3429000"/>
            <a:ext cx="12192000" cy="3429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pic>
        <p:nvPicPr>
          <p:cNvPr id="10" name="Picture Placeholder 5">
            <a:extLst>
              <a:ext uri="{FF2B5EF4-FFF2-40B4-BE49-F238E27FC236}">
                <a16:creationId xmlns:a16="http://schemas.microsoft.com/office/drawing/2014/main" id="{CC258AF8-8795-482A-8809-5CB6C5F8FCA4}"/>
              </a:ext>
            </a:extLst>
          </p:cNvPr>
          <p:cNvPicPr>
            <a:picLocks noChangeAspect="1"/>
          </p:cNvPicPr>
          <p:nvPr userDrawn="1"/>
        </p:nvPicPr>
        <p:blipFill rotWithShape="1">
          <a:blip r:embed="rId2"/>
          <a:srcRect r="42500"/>
          <a:stretch/>
        </p:blipFill>
        <p:spPr>
          <a:xfrm>
            <a:off x="0" y="0"/>
            <a:ext cx="3505200" cy="3413760"/>
          </a:xfrm>
          <a:prstGeom prst="rect">
            <a:avLst/>
          </a:prstGeom>
        </p:spPr>
      </p:pic>
      <p:sp>
        <p:nvSpPr>
          <p:cNvPr id="8" name="Rectangle 7">
            <a:extLst>
              <a:ext uri="{FF2B5EF4-FFF2-40B4-BE49-F238E27FC236}">
                <a16:creationId xmlns:a16="http://schemas.microsoft.com/office/drawing/2014/main" id="{57C1072B-2A16-4A00-8A87-7A807B0C763E}"/>
              </a:ext>
            </a:extLst>
          </p:cNvPr>
          <p:cNvSpPr/>
          <p:nvPr userDrawn="1"/>
        </p:nvSpPr>
        <p:spPr>
          <a:xfrm>
            <a:off x="0" y="0"/>
            <a:ext cx="12192000" cy="3429000"/>
          </a:xfrm>
          <a:prstGeom prst="rect">
            <a:avLst/>
          </a:prstGeom>
          <a:solidFill>
            <a:srgbClr val="0D2344">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9" name="Straight Connector 8">
            <a:extLst>
              <a:ext uri="{FF2B5EF4-FFF2-40B4-BE49-F238E27FC236}">
                <a16:creationId xmlns:a16="http://schemas.microsoft.com/office/drawing/2014/main" id="{A79A1D03-5F26-4BB0-B51D-9F8820B20127}"/>
              </a:ext>
            </a:extLst>
          </p:cNvPr>
          <p:cNvCxnSpPr/>
          <p:nvPr userDrawn="1"/>
        </p:nvCxnSpPr>
        <p:spPr>
          <a:xfrm>
            <a:off x="731520" y="1573480"/>
            <a:ext cx="0" cy="171450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E113BB0-882C-47E6-8E4C-A551870CDF01}"/>
              </a:ext>
            </a:extLst>
          </p:cNvPr>
          <p:cNvSpPr>
            <a:spLocks noGrp="1"/>
          </p:cNvSpPr>
          <p:nvPr>
            <p:ph type="ctrTitle" hasCustomPrompt="1"/>
          </p:nvPr>
        </p:nvSpPr>
        <p:spPr>
          <a:xfrm>
            <a:off x="1164725" y="1469573"/>
            <a:ext cx="10295753" cy="705939"/>
          </a:xfrm>
          <a:prstGeom prst="rect">
            <a:avLst/>
          </a:prstGeom>
        </p:spPr>
        <p:txBody>
          <a:bodyPr anchor="ctr">
            <a:noAutofit/>
          </a:bodyPr>
          <a:lstStyle>
            <a:lvl1pPr algn="l">
              <a:lnSpc>
                <a:spcPct val="100000"/>
              </a:lnSpc>
              <a:defRPr sz="3300" b="1">
                <a:solidFill>
                  <a:schemeClr val="accent1"/>
                </a:solidFill>
              </a:defRPr>
            </a:lvl1pPr>
          </a:lstStyle>
          <a:p>
            <a:r>
              <a:rPr lang="en-US"/>
              <a:t>Presentation Title</a:t>
            </a:r>
            <a:endParaRPr lang="en-IN"/>
          </a:p>
        </p:txBody>
      </p:sp>
      <p:sp>
        <p:nvSpPr>
          <p:cNvPr id="3" name="Subtitle 2">
            <a:extLst>
              <a:ext uri="{FF2B5EF4-FFF2-40B4-BE49-F238E27FC236}">
                <a16:creationId xmlns:a16="http://schemas.microsoft.com/office/drawing/2014/main" id="{FED70083-BBB3-4541-8749-0FF16F810F63}"/>
              </a:ext>
            </a:extLst>
          </p:cNvPr>
          <p:cNvSpPr>
            <a:spLocks noGrp="1"/>
          </p:cNvSpPr>
          <p:nvPr>
            <p:ph type="subTitle" idx="1" hasCustomPrompt="1"/>
          </p:nvPr>
        </p:nvSpPr>
        <p:spPr>
          <a:xfrm>
            <a:off x="1164725" y="2190750"/>
            <a:ext cx="10295753" cy="1097230"/>
          </a:xfrm>
          <a:prstGeom prst="rect">
            <a:avLst/>
          </a:prstGeom>
        </p:spPr>
        <p:txBody>
          <a:bodyPr>
            <a:normAutofit/>
          </a:bodyPr>
          <a:lstStyle>
            <a:lvl1pPr marL="0" indent="0" algn="l">
              <a:lnSpc>
                <a:spcPct val="100000"/>
              </a:lnSpc>
              <a:spcBef>
                <a:spcPts val="0"/>
              </a:spcBef>
              <a:buNone/>
              <a:defRPr sz="2500" b="0">
                <a:solidFill>
                  <a:schemeClr val="bg1"/>
                </a:solidFill>
                <a:latin typeface="+mj-lt"/>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Subtitle goes here Lorem Ipsum Lorem Ipsum lorem ipsum lorem ipsum</a:t>
            </a:r>
          </a:p>
        </p:txBody>
      </p:sp>
      <p:sp>
        <p:nvSpPr>
          <p:cNvPr id="13" name="Text Placeholder 28">
            <a:extLst>
              <a:ext uri="{FF2B5EF4-FFF2-40B4-BE49-F238E27FC236}">
                <a16:creationId xmlns:a16="http://schemas.microsoft.com/office/drawing/2014/main" id="{7C87712A-CC52-45AC-A884-C6BB3403248C}"/>
              </a:ext>
            </a:extLst>
          </p:cNvPr>
          <p:cNvSpPr>
            <a:spLocks noGrp="1"/>
          </p:cNvSpPr>
          <p:nvPr>
            <p:ph type="body" sz="quarter" idx="11" hasCustomPrompt="1"/>
          </p:nvPr>
        </p:nvSpPr>
        <p:spPr>
          <a:xfrm>
            <a:off x="1164725" y="4861833"/>
            <a:ext cx="4876800" cy="1053193"/>
          </a:xfrm>
          <a:prstGeom prst="rect">
            <a:avLst/>
          </a:prstGeom>
        </p:spPr>
        <p:txBody>
          <a:bodyPr anchor="ctr">
            <a:normAutofit/>
          </a:bodyPr>
          <a:lstStyle>
            <a:lvl1pPr marL="0" marR="0" indent="0" algn="l" defTabSz="882951" rtl="0" eaLnBrk="1" fontAlgn="auto" latinLnBrk="0" hangingPunct="1">
              <a:lnSpc>
                <a:spcPct val="100000"/>
              </a:lnSpc>
              <a:spcBef>
                <a:spcPts val="0"/>
              </a:spcBef>
              <a:spcAft>
                <a:spcPts val="0"/>
              </a:spcAft>
              <a:buClrTx/>
              <a:buSzTx/>
              <a:buFontTx/>
              <a:buNone/>
              <a:tabLst/>
              <a:defRPr sz="2000">
                <a:solidFill>
                  <a:schemeClr val="tx2"/>
                </a:solidFill>
                <a:latin typeface="+mj-lt"/>
                <a:ea typeface="Roboto" pitchFamily="2" charset="0"/>
              </a:defRPr>
            </a:lvl1pPr>
          </a:lstStyle>
          <a:p>
            <a:pPr lvl="0"/>
            <a:r>
              <a:rPr lang="en-US"/>
              <a:t>Author of the presentation</a:t>
            </a:r>
            <a:br>
              <a:rPr lang="en-US"/>
            </a:br>
            <a:r>
              <a:rPr lang="en-US"/>
              <a:t>Designation</a:t>
            </a:r>
          </a:p>
        </p:txBody>
      </p:sp>
      <p:pic>
        <p:nvPicPr>
          <p:cNvPr id="6" name="Picture 5">
            <a:extLst>
              <a:ext uri="{FF2B5EF4-FFF2-40B4-BE49-F238E27FC236}">
                <a16:creationId xmlns:a16="http://schemas.microsoft.com/office/drawing/2014/main" id="{F834F728-BC40-4832-99EB-CA56C0EB9F00}"/>
              </a:ext>
            </a:extLst>
          </p:cNvPr>
          <p:cNvPicPr>
            <a:picLocks noChangeAspect="1"/>
          </p:cNvPicPr>
          <p:nvPr userDrawn="1"/>
        </p:nvPicPr>
        <p:blipFill>
          <a:blip r:embed="rId3"/>
          <a:stretch>
            <a:fillRect/>
          </a:stretch>
        </p:blipFill>
        <p:spPr>
          <a:xfrm>
            <a:off x="9378520" y="5654553"/>
            <a:ext cx="2364970" cy="945988"/>
          </a:xfrm>
          <a:prstGeom prst="rect">
            <a:avLst/>
          </a:prstGeom>
        </p:spPr>
      </p:pic>
    </p:spTree>
    <p:extLst>
      <p:ext uri="{BB962C8B-B14F-4D97-AF65-F5344CB8AC3E}">
        <p14:creationId xmlns:p14="http://schemas.microsoft.com/office/powerpoint/2010/main" val="5629737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_3">
    <p:spTree>
      <p:nvGrpSpPr>
        <p:cNvPr id="1" name=""/>
        <p:cNvGrpSpPr/>
        <p:nvPr/>
      </p:nvGrpSpPr>
      <p:grpSpPr>
        <a:xfrm>
          <a:off x="0" y="0"/>
          <a:ext cx="0" cy="0"/>
          <a:chOff x="0" y="0"/>
          <a:chExt cx="0" cy="0"/>
        </a:xfrm>
      </p:grpSpPr>
      <p:pic>
        <p:nvPicPr>
          <p:cNvPr id="2" name="Shape 495">
            <a:extLst>
              <a:ext uri="{FF2B5EF4-FFF2-40B4-BE49-F238E27FC236}">
                <a16:creationId xmlns:a16="http://schemas.microsoft.com/office/drawing/2014/main" id="{7ED6698E-95BC-C349-A624-DD66B35A95D6}"/>
              </a:ext>
            </a:extLst>
          </p:cNvPr>
          <p:cNvPicPr preferRelativeResize="0"/>
          <p:nvPr userDrawn="1"/>
        </p:nvPicPr>
        <p:blipFill>
          <a:blip r:embed="rId2"/>
          <a:stretch>
            <a:fillRect/>
          </a:stretch>
        </p:blipFill>
        <p:spPr>
          <a:xfrm>
            <a:off x="0" y="0"/>
            <a:ext cx="12192000" cy="6858000"/>
          </a:xfrm>
          <a:prstGeom prst="rect">
            <a:avLst/>
          </a:prstGeom>
        </p:spPr>
      </p:pic>
      <p:sp>
        <p:nvSpPr>
          <p:cNvPr id="3" name="Shape 496">
            <a:extLst>
              <a:ext uri="{FF2B5EF4-FFF2-40B4-BE49-F238E27FC236}">
                <a16:creationId xmlns:a16="http://schemas.microsoft.com/office/drawing/2014/main" id="{5000F9B6-F8F6-9248-9AA7-D6B17635D5C0}"/>
              </a:ext>
            </a:extLst>
          </p:cNvPr>
          <p:cNvSpPr/>
          <p:nvPr userDrawn="1"/>
        </p:nvSpPr>
        <p:spPr>
          <a:xfrm>
            <a:off x="0" y="0"/>
            <a:ext cx="12192000" cy="6858000"/>
          </a:xfrm>
          <a:prstGeom prst="rect">
            <a:avLst/>
          </a:prstGeom>
          <a:solidFill>
            <a:schemeClr val="accent4">
              <a:lumMod val="50000"/>
              <a:alpha val="76920"/>
            </a:schemeClr>
          </a:solidFill>
          <a:ln>
            <a:noFill/>
          </a:ln>
        </p:spPr>
        <p:txBody>
          <a:bodyPr spcFirstLastPara="1" wrap="square" lIns="45570" tIns="22774" rIns="45570" bIns="22774" anchor="ctr" anchorCtr="0">
            <a:noAutofit/>
          </a:bodyPr>
          <a:lstStyle/>
          <a:p>
            <a:pPr algn="ctr"/>
            <a:endParaRPr sz="1774">
              <a:solidFill>
                <a:schemeClr val="lt1"/>
              </a:solidFill>
              <a:latin typeface="Calibri"/>
              <a:ea typeface="Calibri"/>
              <a:cs typeface="Calibri"/>
              <a:sym typeface="Calibri"/>
            </a:endParaRPr>
          </a:p>
        </p:txBody>
      </p:sp>
      <p:sp>
        <p:nvSpPr>
          <p:cNvPr id="4" name="Shape 498">
            <a:extLst>
              <a:ext uri="{FF2B5EF4-FFF2-40B4-BE49-F238E27FC236}">
                <a16:creationId xmlns:a16="http://schemas.microsoft.com/office/drawing/2014/main" id="{E8C2C508-A1E0-F74E-98D1-174AA76012A7}"/>
              </a:ext>
            </a:extLst>
          </p:cNvPr>
          <p:cNvSpPr/>
          <p:nvPr userDrawn="1"/>
        </p:nvSpPr>
        <p:spPr>
          <a:xfrm>
            <a:off x="836587" y="1"/>
            <a:ext cx="4466934" cy="3312278"/>
          </a:xfrm>
          <a:prstGeom prst="rect">
            <a:avLst/>
          </a:prstGeom>
          <a:solidFill>
            <a:srgbClr val="FFFFFF"/>
          </a:solidFill>
          <a:ln>
            <a:noFill/>
          </a:ln>
        </p:spPr>
        <p:txBody>
          <a:bodyPr spcFirstLastPara="1" wrap="square" lIns="45570" tIns="45570" rIns="45570" bIns="45570" anchor="ctr" anchorCtr="0">
            <a:noAutofit/>
          </a:bodyPr>
          <a:lstStyle/>
          <a:p>
            <a:endParaRPr sz="3245"/>
          </a:p>
        </p:txBody>
      </p:sp>
      <p:pic>
        <p:nvPicPr>
          <p:cNvPr id="9" name="Picture 8">
            <a:extLst>
              <a:ext uri="{FF2B5EF4-FFF2-40B4-BE49-F238E27FC236}">
                <a16:creationId xmlns:a16="http://schemas.microsoft.com/office/drawing/2014/main" id="{DD48431B-12CB-4C32-BE00-CC59087D3C16}"/>
              </a:ext>
            </a:extLst>
          </p:cNvPr>
          <p:cNvPicPr>
            <a:picLocks noChangeAspect="1"/>
          </p:cNvPicPr>
          <p:nvPr userDrawn="1"/>
        </p:nvPicPr>
        <p:blipFill>
          <a:blip r:embed="rId3"/>
          <a:stretch>
            <a:fillRect/>
          </a:stretch>
        </p:blipFill>
        <p:spPr>
          <a:xfrm>
            <a:off x="910473" y="203199"/>
            <a:ext cx="2926080" cy="1170432"/>
          </a:xfrm>
          <a:prstGeom prst="rect">
            <a:avLst/>
          </a:prstGeom>
        </p:spPr>
      </p:pic>
      <p:cxnSp>
        <p:nvCxnSpPr>
          <p:cNvPr id="7" name="Shape 501">
            <a:extLst>
              <a:ext uri="{FF2B5EF4-FFF2-40B4-BE49-F238E27FC236}">
                <a16:creationId xmlns:a16="http://schemas.microsoft.com/office/drawing/2014/main" id="{BA649C26-AADD-2E4F-AB0A-7C7DF336509F}"/>
              </a:ext>
            </a:extLst>
          </p:cNvPr>
          <p:cNvCxnSpPr>
            <a:cxnSpLocks/>
          </p:cNvCxnSpPr>
          <p:nvPr userDrawn="1"/>
        </p:nvCxnSpPr>
        <p:spPr>
          <a:xfrm>
            <a:off x="1361722" y="1776180"/>
            <a:ext cx="0" cy="881743"/>
          </a:xfrm>
          <a:prstGeom prst="straightConnector1">
            <a:avLst/>
          </a:prstGeom>
          <a:noFill/>
          <a:ln w="28575" cap="flat" cmpd="sng">
            <a:solidFill>
              <a:schemeClr val="accent1"/>
            </a:solidFill>
            <a:prstDash val="solid"/>
            <a:miter lim="800000"/>
            <a:headEnd type="none" w="sm" len="sm"/>
            <a:tailEnd type="none" w="sm" len="sm"/>
          </a:ln>
        </p:spPr>
      </p:cxnSp>
      <p:sp>
        <p:nvSpPr>
          <p:cNvPr id="11" name="Title 10">
            <a:extLst>
              <a:ext uri="{FF2B5EF4-FFF2-40B4-BE49-F238E27FC236}">
                <a16:creationId xmlns:a16="http://schemas.microsoft.com/office/drawing/2014/main" id="{55010504-083C-5149-9DD3-4ECED2E046AF}"/>
              </a:ext>
            </a:extLst>
          </p:cNvPr>
          <p:cNvSpPr>
            <a:spLocks noGrp="1"/>
          </p:cNvSpPr>
          <p:nvPr>
            <p:ph type="title" hasCustomPrompt="1"/>
          </p:nvPr>
        </p:nvSpPr>
        <p:spPr>
          <a:xfrm>
            <a:off x="1657559" y="1746767"/>
            <a:ext cx="3026664" cy="455669"/>
          </a:xfrm>
          <a:prstGeom prst="rect">
            <a:avLst/>
          </a:prstGeom>
        </p:spPr>
        <p:txBody>
          <a:bodyPr/>
          <a:lstStyle>
            <a:lvl1pPr>
              <a:defRPr sz="2500" b="1">
                <a:solidFill>
                  <a:schemeClr val="accent4"/>
                </a:solidFill>
                <a:latin typeface="+mj-lt"/>
                <a:ea typeface="Roboto" pitchFamily="2" charset="0"/>
              </a:defRPr>
            </a:lvl1pPr>
          </a:lstStyle>
          <a:p>
            <a:r>
              <a:rPr lang="en-US"/>
              <a:t>Presentation Title</a:t>
            </a:r>
          </a:p>
        </p:txBody>
      </p:sp>
      <p:sp>
        <p:nvSpPr>
          <p:cNvPr id="13" name="Text Placeholder 12">
            <a:extLst>
              <a:ext uri="{FF2B5EF4-FFF2-40B4-BE49-F238E27FC236}">
                <a16:creationId xmlns:a16="http://schemas.microsoft.com/office/drawing/2014/main" id="{AFC4F28A-3969-CB44-AD80-57430363975F}"/>
              </a:ext>
            </a:extLst>
          </p:cNvPr>
          <p:cNvSpPr>
            <a:spLocks noGrp="1"/>
          </p:cNvSpPr>
          <p:nvPr>
            <p:ph type="body" sz="quarter" idx="10" hasCustomPrompt="1"/>
          </p:nvPr>
        </p:nvSpPr>
        <p:spPr>
          <a:xfrm>
            <a:off x="1657559" y="2349393"/>
            <a:ext cx="3026664" cy="589750"/>
          </a:xfrm>
          <a:prstGeom prst="rect">
            <a:avLst/>
          </a:prstGeom>
        </p:spPr>
        <p:txBody>
          <a:bodyPr/>
          <a:lstStyle>
            <a:lvl1pPr marL="0" indent="0">
              <a:buNone/>
              <a:defRPr sz="2500" b="1">
                <a:solidFill>
                  <a:schemeClr val="accent1"/>
                </a:solidFill>
                <a:latin typeface="+mj-lt"/>
                <a:ea typeface="Roboto" pitchFamily="2" charset="0"/>
              </a:defRPr>
            </a:lvl1pPr>
          </a:lstStyle>
          <a:p>
            <a:pPr lvl="0"/>
            <a:r>
              <a:rPr lang="en-US"/>
              <a:t>Subtitle</a:t>
            </a:r>
          </a:p>
        </p:txBody>
      </p:sp>
    </p:spTree>
    <p:extLst>
      <p:ext uri="{BB962C8B-B14F-4D97-AF65-F5344CB8AC3E}">
        <p14:creationId xmlns:p14="http://schemas.microsoft.com/office/powerpoint/2010/main" val="323509945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_4">
    <p:spTree>
      <p:nvGrpSpPr>
        <p:cNvPr id="1" name=""/>
        <p:cNvGrpSpPr/>
        <p:nvPr/>
      </p:nvGrpSpPr>
      <p:grpSpPr>
        <a:xfrm>
          <a:off x="0" y="0"/>
          <a:ext cx="0" cy="0"/>
          <a:chOff x="0" y="0"/>
          <a:chExt cx="0" cy="0"/>
        </a:xfrm>
      </p:grpSpPr>
      <p:pic>
        <p:nvPicPr>
          <p:cNvPr id="2" name="Shape 495">
            <a:extLst>
              <a:ext uri="{FF2B5EF4-FFF2-40B4-BE49-F238E27FC236}">
                <a16:creationId xmlns:a16="http://schemas.microsoft.com/office/drawing/2014/main" id="{7ED6698E-95BC-C349-A624-DD66B35A95D6}"/>
              </a:ext>
            </a:extLst>
          </p:cNvPr>
          <p:cNvPicPr preferRelativeResize="0"/>
          <p:nvPr userDrawn="1"/>
        </p:nvPicPr>
        <p:blipFill>
          <a:blip r:embed="rId2"/>
          <a:stretch>
            <a:fillRect/>
          </a:stretch>
        </p:blipFill>
        <p:spPr>
          <a:xfrm>
            <a:off x="0" y="0"/>
            <a:ext cx="12192000" cy="6858000"/>
          </a:xfrm>
          <a:prstGeom prst="rect">
            <a:avLst/>
          </a:prstGeom>
        </p:spPr>
      </p:pic>
      <p:sp>
        <p:nvSpPr>
          <p:cNvPr id="3" name="Shape 496">
            <a:extLst>
              <a:ext uri="{FF2B5EF4-FFF2-40B4-BE49-F238E27FC236}">
                <a16:creationId xmlns:a16="http://schemas.microsoft.com/office/drawing/2014/main" id="{5000F9B6-F8F6-9248-9AA7-D6B17635D5C0}"/>
              </a:ext>
            </a:extLst>
          </p:cNvPr>
          <p:cNvSpPr/>
          <p:nvPr userDrawn="1"/>
        </p:nvSpPr>
        <p:spPr>
          <a:xfrm>
            <a:off x="0" y="0"/>
            <a:ext cx="12192000" cy="6858000"/>
          </a:xfrm>
          <a:prstGeom prst="rect">
            <a:avLst/>
          </a:prstGeom>
          <a:solidFill>
            <a:schemeClr val="accent4">
              <a:lumMod val="50000"/>
              <a:alpha val="76920"/>
            </a:schemeClr>
          </a:solidFill>
          <a:ln>
            <a:noFill/>
          </a:ln>
        </p:spPr>
        <p:txBody>
          <a:bodyPr spcFirstLastPara="1" wrap="square" lIns="45570" tIns="22774" rIns="45570" bIns="22774" anchor="ctr" anchorCtr="0">
            <a:noAutofit/>
          </a:bodyPr>
          <a:lstStyle/>
          <a:p>
            <a:pPr algn="ctr"/>
            <a:endParaRPr sz="1774">
              <a:solidFill>
                <a:schemeClr val="lt1"/>
              </a:solidFill>
              <a:latin typeface="Calibri"/>
              <a:ea typeface="Calibri"/>
              <a:cs typeface="Calibri"/>
              <a:sym typeface="Calibri"/>
            </a:endParaRPr>
          </a:p>
        </p:txBody>
      </p:sp>
      <p:sp>
        <p:nvSpPr>
          <p:cNvPr id="4" name="Shape 498">
            <a:extLst>
              <a:ext uri="{FF2B5EF4-FFF2-40B4-BE49-F238E27FC236}">
                <a16:creationId xmlns:a16="http://schemas.microsoft.com/office/drawing/2014/main" id="{E8C2C508-A1E0-F74E-98D1-174AA76012A7}"/>
              </a:ext>
            </a:extLst>
          </p:cNvPr>
          <p:cNvSpPr/>
          <p:nvPr userDrawn="1"/>
        </p:nvSpPr>
        <p:spPr>
          <a:xfrm>
            <a:off x="836587" y="1"/>
            <a:ext cx="8011578" cy="3213847"/>
          </a:xfrm>
          <a:prstGeom prst="rect">
            <a:avLst/>
          </a:prstGeom>
          <a:solidFill>
            <a:schemeClr val="bg1"/>
          </a:solidFill>
          <a:ln>
            <a:noFill/>
          </a:ln>
        </p:spPr>
        <p:txBody>
          <a:bodyPr spcFirstLastPara="1" wrap="square" lIns="45570" tIns="45570" rIns="45570" bIns="45570" anchor="ctr" anchorCtr="0">
            <a:noAutofit/>
          </a:bodyPr>
          <a:lstStyle/>
          <a:p>
            <a:endParaRPr sz="3245"/>
          </a:p>
        </p:txBody>
      </p:sp>
      <p:cxnSp>
        <p:nvCxnSpPr>
          <p:cNvPr id="7" name="Shape 501">
            <a:extLst>
              <a:ext uri="{FF2B5EF4-FFF2-40B4-BE49-F238E27FC236}">
                <a16:creationId xmlns:a16="http://schemas.microsoft.com/office/drawing/2014/main" id="{BA649C26-AADD-2E4F-AB0A-7C7DF336509F}"/>
              </a:ext>
            </a:extLst>
          </p:cNvPr>
          <p:cNvCxnSpPr>
            <a:cxnSpLocks/>
          </p:cNvCxnSpPr>
          <p:nvPr userDrawn="1"/>
        </p:nvCxnSpPr>
        <p:spPr>
          <a:xfrm>
            <a:off x="1361722" y="1776179"/>
            <a:ext cx="0" cy="1005840"/>
          </a:xfrm>
          <a:prstGeom prst="straightConnector1">
            <a:avLst/>
          </a:prstGeom>
          <a:noFill/>
          <a:ln w="28575" cap="flat" cmpd="sng">
            <a:solidFill>
              <a:schemeClr val="accent1"/>
            </a:solidFill>
            <a:prstDash val="solid"/>
            <a:miter lim="800000"/>
            <a:headEnd type="none" w="sm" len="sm"/>
            <a:tailEnd type="none" w="sm" len="sm"/>
          </a:ln>
        </p:spPr>
      </p:cxnSp>
      <p:sp>
        <p:nvSpPr>
          <p:cNvPr id="11" name="Title 10">
            <a:extLst>
              <a:ext uri="{FF2B5EF4-FFF2-40B4-BE49-F238E27FC236}">
                <a16:creationId xmlns:a16="http://schemas.microsoft.com/office/drawing/2014/main" id="{55010504-083C-5149-9DD3-4ECED2E046AF}"/>
              </a:ext>
            </a:extLst>
          </p:cNvPr>
          <p:cNvSpPr>
            <a:spLocks noGrp="1"/>
          </p:cNvSpPr>
          <p:nvPr>
            <p:ph type="title" hasCustomPrompt="1"/>
          </p:nvPr>
        </p:nvSpPr>
        <p:spPr>
          <a:xfrm>
            <a:off x="1657558" y="1746766"/>
            <a:ext cx="6719958" cy="579584"/>
          </a:xfrm>
          <a:prstGeom prst="rect">
            <a:avLst/>
          </a:prstGeom>
        </p:spPr>
        <p:txBody>
          <a:bodyPr anchor="t">
            <a:noAutofit/>
          </a:bodyPr>
          <a:lstStyle>
            <a:lvl1pPr>
              <a:lnSpc>
                <a:spcPct val="100000"/>
              </a:lnSpc>
              <a:defRPr sz="3300" b="1">
                <a:solidFill>
                  <a:srgbClr val="0D2344"/>
                </a:solidFill>
                <a:latin typeface="+mj-lt"/>
                <a:ea typeface="Roboto" pitchFamily="2" charset="0"/>
              </a:defRPr>
            </a:lvl1pPr>
          </a:lstStyle>
          <a:p>
            <a:r>
              <a:rPr lang="en-US"/>
              <a:t>Presentation Title</a:t>
            </a:r>
          </a:p>
        </p:txBody>
      </p:sp>
      <p:sp>
        <p:nvSpPr>
          <p:cNvPr id="13" name="Text Placeholder 12">
            <a:extLst>
              <a:ext uri="{FF2B5EF4-FFF2-40B4-BE49-F238E27FC236}">
                <a16:creationId xmlns:a16="http://schemas.microsoft.com/office/drawing/2014/main" id="{AFC4F28A-3969-CB44-AD80-57430363975F}"/>
              </a:ext>
            </a:extLst>
          </p:cNvPr>
          <p:cNvSpPr>
            <a:spLocks noGrp="1"/>
          </p:cNvSpPr>
          <p:nvPr>
            <p:ph type="body" sz="quarter" idx="10" hasCustomPrompt="1"/>
          </p:nvPr>
        </p:nvSpPr>
        <p:spPr>
          <a:xfrm>
            <a:off x="1657558" y="2326351"/>
            <a:ext cx="6719958" cy="455669"/>
          </a:xfrm>
          <a:prstGeom prst="rect">
            <a:avLst/>
          </a:prstGeom>
        </p:spPr>
        <p:txBody>
          <a:bodyPr anchor="b">
            <a:normAutofit/>
          </a:bodyPr>
          <a:lstStyle>
            <a:lvl1pPr marL="0" indent="0">
              <a:lnSpc>
                <a:spcPct val="100000"/>
              </a:lnSpc>
              <a:spcBef>
                <a:spcPts val="0"/>
              </a:spcBef>
              <a:buNone/>
              <a:defRPr sz="2500" b="1">
                <a:solidFill>
                  <a:schemeClr val="accent1"/>
                </a:solidFill>
                <a:latin typeface="+mj-lt"/>
                <a:ea typeface="Roboto" pitchFamily="2" charset="0"/>
              </a:defRPr>
            </a:lvl1pPr>
          </a:lstStyle>
          <a:p>
            <a:pPr lvl="0"/>
            <a:r>
              <a:rPr lang="en-US"/>
              <a:t>Subtitle</a:t>
            </a:r>
          </a:p>
        </p:txBody>
      </p:sp>
      <p:pic>
        <p:nvPicPr>
          <p:cNvPr id="9" name="Picture 8">
            <a:extLst>
              <a:ext uri="{FF2B5EF4-FFF2-40B4-BE49-F238E27FC236}">
                <a16:creationId xmlns:a16="http://schemas.microsoft.com/office/drawing/2014/main" id="{DB93324A-D0C9-487F-B733-73ADBB22FFDF}"/>
              </a:ext>
            </a:extLst>
          </p:cNvPr>
          <p:cNvPicPr>
            <a:picLocks noChangeAspect="1"/>
          </p:cNvPicPr>
          <p:nvPr userDrawn="1"/>
        </p:nvPicPr>
        <p:blipFill>
          <a:blip r:embed="rId3"/>
          <a:stretch>
            <a:fillRect/>
          </a:stretch>
        </p:blipFill>
        <p:spPr>
          <a:xfrm>
            <a:off x="910473" y="203199"/>
            <a:ext cx="2926080" cy="1170432"/>
          </a:xfrm>
          <a:prstGeom prst="rect">
            <a:avLst/>
          </a:prstGeom>
        </p:spPr>
      </p:pic>
    </p:spTree>
    <p:extLst>
      <p:ext uri="{BB962C8B-B14F-4D97-AF65-F5344CB8AC3E}">
        <p14:creationId xmlns:p14="http://schemas.microsoft.com/office/powerpoint/2010/main" val="25880002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D7C7D-F8F1-0D4D-AEAA-66297F64A552}"/>
              </a:ext>
            </a:extLst>
          </p:cNvPr>
          <p:cNvSpPr/>
          <p:nvPr userDrawn="1"/>
        </p:nvSpPr>
        <p:spPr>
          <a:xfrm>
            <a:off x="0" y="1"/>
            <a:ext cx="12192000" cy="4408715"/>
          </a:xfrm>
          <a:prstGeom prst="rect">
            <a:avLst/>
          </a:prstGeom>
          <a:solidFill>
            <a:srgbClr val="0D2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5" name="Rectangle 4">
            <a:extLst>
              <a:ext uri="{FF2B5EF4-FFF2-40B4-BE49-F238E27FC236}">
                <a16:creationId xmlns:a16="http://schemas.microsoft.com/office/drawing/2014/main" id="{A8516A2C-CC87-6842-B041-C88A51E348FA}"/>
              </a:ext>
            </a:extLst>
          </p:cNvPr>
          <p:cNvSpPr/>
          <p:nvPr userDrawn="1"/>
        </p:nvSpPr>
        <p:spPr>
          <a:xfrm>
            <a:off x="731520" y="3918858"/>
            <a:ext cx="3413760" cy="19594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7" name="Straight Connector 6">
            <a:extLst>
              <a:ext uri="{FF2B5EF4-FFF2-40B4-BE49-F238E27FC236}">
                <a16:creationId xmlns:a16="http://schemas.microsoft.com/office/drawing/2014/main" id="{5A5B437D-909F-EA4B-8D5D-F6143BC1973C}"/>
              </a:ext>
            </a:extLst>
          </p:cNvPr>
          <p:cNvCxnSpPr/>
          <p:nvPr userDrawn="1"/>
        </p:nvCxnSpPr>
        <p:spPr>
          <a:xfrm>
            <a:off x="994983" y="4408715"/>
            <a:ext cx="48768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E517F7E1-5F44-504D-BB37-7ABA804C5C50}"/>
              </a:ext>
            </a:extLst>
          </p:cNvPr>
          <p:cNvSpPr>
            <a:spLocks noGrp="1"/>
          </p:cNvSpPr>
          <p:nvPr>
            <p:ph type="title" hasCustomPrompt="1"/>
          </p:nvPr>
        </p:nvSpPr>
        <p:spPr>
          <a:xfrm>
            <a:off x="683699" y="1383396"/>
            <a:ext cx="4390814" cy="1011461"/>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kumimoji="0" lang="id-ID" sz="3300" b="1" i="0" u="none" strike="noStrike" kern="1200" cap="none" spc="0" normalizeH="0" baseline="0" noProof="0" smtClean="0">
                <a:ln>
                  <a:noFill/>
                </a:ln>
                <a:solidFill>
                  <a:srgbClr val="FFFFFF"/>
                </a:solidFill>
                <a:effectLst/>
                <a:uLnTx/>
                <a:uFillTx/>
                <a:latin typeface="+mj-lt"/>
                <a:ea typeface="Roboto" pitchFamily="2" charset="0"/>
                <a:cs typeface="+mj-cs"/>
              </a:defRPr>
            </a:lvl1pPr>
          </a:lstStyle>
          <a:p>
            <a:r>
              <a:rPr lang="en-US"/>
              <a:t>Section Title </a:t>
            </a:r>
            <a:br>
              <a:rPr lang="en-US"/>
            </a:br>
            <a:r>
              <a:rPr lang="en-US"/>
              <a:t>Lorem Ipsum</a:t>
            </a:r>
          </a:p>
        </p:txBody>
      </p:sp>
      <p:sp>
        <p:nvSpPr>
          <p:cNvPr id="13" name="Text Placeholder 12">
            <a:extLst>
              <a:ext uri="{FF2B5EF4-FFF2-40B4-BE49-F238E27FC236}">
                <a16:creationId xmlns:a16="http://schemas.microsoft.com/office/drawing/2014/main" id="{84AD058E-455F-F241-852A-2FC4AFC81430}"/>
              </a:ext>
            </a:extLst>
          </p:cNvPr>
          <p:cNvSpPr>
            <a:spLocks noGrp="1"/>
          </p:cNvSpPr>
          <p:nvPr>
            <p:ph type="body" sz="quarter" idx="10" hasCustomPrompt="1"/>
          </p:nvPr>
        </p:nvSpPr>
        <p:spPr>
          <a:xfrm>
            <a:off x="683699" y="2551338"/>
            <a:ext cx="4390814" cy="1108984"/>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Some detail about the section to follow this slide. Lorem ipsum</a:t>
            </a:r>
          </a:p>
        </p:txBody>
      </p:sp>
      <p:sp>
        <p:nvSpPr>
          <p:cNvPr id="15" name="Text Placeholder 14">
            <a:extLst>
              <a:ext uri="{FF2B5EF4-FFF2-40B4-BE49-F238E27FC236}">
                <a16:creationId xmlns:a16="http://schemas.microsoft.com/office/drawing/2014/main" id="{7BCAE3BB-EC9F-9244-913E-DEC271BA13FC}"/>
              </a:ext>
            </a:extLst>
          </p:cNvPr>
          <p:cNvSpPr>
            <a:spLocks noGrp="1"/>
          </p:cNvSpPr>
          <p:nvPr>
            <p:ph type="body" sz="quarter" idx="11" hasCustomPrompt="1"/>
          </p:nvPr>
        </p:nvSpPr>
        <p:spPr>
          <a:xfrm>
            <a:off x="954344" y="4565197"/>
            <a:ext cx="2892911" cy="1158879"/>
          </a:xfrm>
          <a:prstGeom prst="rect">
            <a:avLst/>
          </a:prstGeom>
        </p:spPr>
        <p:txBody>
          <a:bodyPr/>
          <a:lstStyle>
            <a:lvl1pPr marL="0" indent="0">
              <a:lnSpc>
                <a:spcPct val="100000"/>
              </a:lnSpc>
              <a:buNone/>
              <a:defRPr sz="1200">
                <a:solidFill>
                  <a:schemeClr val="accent4">
                    <a:lumMod val="50000"/>
                  </a:schemeClr>
                </a:solidFill>
                <a:latin typeface="+mj-lt"/>
                <a:ea typeface="Roboto" pitchFamily="2" charset="0"/>
              </a:defRPr>
            </a:lvl1pPr>
          </a:lstStyle>
          <a:p>
            <a:pPr lvl="0"/>
            <a:r>
              <a:rPr lang="en-US"/>
              <a:t>Lorem Ipsum is simply dummy text of the printing and typesetting industry. Lorem Ipsum has been the industry's standard dummy text ever since the 1500s, when an unknown printer took a galley of type.</a:t>
            </a:r>
          </a:p>
        </p:txBody>
      </p:sp>
      <p:sp>
        <p:nvSpPr>
          <p:cNvPr id="8" name="TextBox 7">
            <a:extLst>
              <a:ext uri="{FF2B5EF4-FFF2-40B4-BE49-F238E27FC236}">
                <a16:creationId xmlns:a16="http://schemas.microsoft.com/office/drawing/2014/main" id="{41BBE58B-3A38-AE4F-A7FA-9FBF1C7D262B}"/>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Tree>
    <p:extLst>
      <p:ext uri="{BB962C8B-B14F-4D97-AF65-F5344CB8AC3E}">
        <p14:creationId xmlns:p14="http://schemas.microsoft.com/office/powerpoint/2010/main" val="10845743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Section Titl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D7C7D-F8F1-0D4D-AEAA-66297F64A552}"/>
              </a:ext>
            </a:extLst>
          </p:cNvPr>
          <p:cNvSpPr/>
          <p:nvPr userDrawn="1"/>
        </p:nvSpPr>
        <p:spPr>
          <a:xfrm>
            <a:off x="0" y="1"/>
            <a:ext cx="12192000" cy="4408715"/>
          </a:xfrm>
          <a:prstGeom prst="rect">
            <a:avLst/>
          </a:prstGeom>
          <a:solidFill>
            <a:srgbClr val="0D2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5" name="Rectangle 4">
            <a:extLst>
              <a:ext uri="{FF2B5EF4-FFF2-40B4-BE49-F238E27FC236}">
                <a16:creationId xmlns:a16="http://schemas.microsoft.com/office/drawing/2014/main" id="{A8516A2C-CC87-6842-B041-C88A51E348FA}"/>
              </a:ext>
            </a:extLst>
          </p:cNvPr>
          <p:cNvSpPr/>
          <p:nvPr userDrawn="1"/>
        </p:nvSpPr>
        <p:spPr>
          <a:xfrm>
            <a:off x="731520" y="3918858"/>
            <a:ext cx="5364480" cy="19594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7" name="Straight Connector 6">
            <a:extLst>
              <a:ext uri="{FF2B5EF4-FFF2-40B4-BE49-F238E27FC236}">
                <a16:creationId xmlns:a16="http://schemas.microsoft.com/office/drawing/2014/main" id="{5A5B437D-909F-EA4B-8D5D-F6143BC1973C}"/>
              </a:ext>
            </a:extLst>
          </p:cNvPr>
          <p:cNvCxnSpPr/>
          <p:nvPr userDrawn="1"/>
        </p:nvCxnSpPr>
        <p:spPr>
          <a:xfrm>
            <a:off x="994983" y="4252234"/>
            <a:ext cx="6858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E517F7E1-5F44-504D-BB37-7ABA804C5C50}"/>
              </a:ext>
            </a:extLst>
          </p:cNvPr>
          <p:cNvSpPr>
            <a:spLocks noGrp="1"/>
          </p:cNvSpPr>
          <p:nvPr>
            <p:ph type="title" hasCustomPrompt="1"/>
          </p:nvPr>
        </p:nvSpPr>
        <p:spPr>
          <a:xfrm>
            <a:off x="580645" y="1383396"/>
            <a:ext cx="6250463" cy="1011461"/>
          </a:xfrm>
          <a:prstGeom prst="rect">
            <a:avLst/>
          </a:prstGeom>
        </p:spPr>
        <p:txBody>
          <a:bodyPr anchor="b"/>
          <a:lstStyle>
            <a:lvl1pPr marL="0" marR="0" indent="0" algn="l" defTabSz="853455" rtl="0" eaLnBrk="1" fontAlgn="auto" latinLnBrk="0" hangingPunct="1">
              <a:lnSpc>
                <a:spcPct val="90000"/>
              </a:lnSpc>
              <a:spcBef>
                <a:spcPct val="0"/>
              </a:spcBef>
              <a:spcAft>
                <a:spcPts val="0"/>
              </a:spcAft>
              <a:buClrTx/>
              <a:buSzTx/>
              <a:buFontTx/>
              <a:buNone/>
              <a:tabLst/>
              <a:defRPr kumimoji="0" lang="id-ID" sz="3300" b="1" i="0" u="none" strike="noStrike" kern="1200" cap="none" spc="0" normalizeH="0" baseline="0" noProof="0" smtClean="0">
                <a:ln>
                  <a:noFill/>
                </a:ln>
                <a:solidFill>
                  <a:srgbClr val="FFFFFF"/>
                </a:solidFill>
                <a:effectLst/>
                <a:uLnTx/>
                <a:uFillTx/>
                <a:latin typeface="+mj-lt"/>
                <a:ea typeface="Roboto" pitchFamily="2" charset="0"/>
                <a:cs typeface="+mj-cs"/>
              </a:defRPr>
            </a:lvl1pPr>
          </a:lstStyle>
          <a:p>
            <a:r>
              <a:rPr lang="en-US"/>
              <a:t>Section Title </a:t>
            </a:r>
            <a:br>
              <a:rPr lang="en-US"/>
            </a:br>
            <a:r>
              <a:rPr lang="en-US"/>
              <a:t>Lorem Ipsum</a:t>
            </a:r>
          </a:p>
        </p:txBody>
      </p:sp>
      <p:sp>
        <p:nvSpPr>
          <p:cNvPr id="13" name="Text Placeholder 12">
            <a:extLst>
              <a:ext uri="{FF2B5EF4-FFF2-40B4-BE49-F238E27FC236}">
                <a16:creationId xmlns:a16="http://schemas.microsoft.com/office/drawing/2014/main" id="{84AD058E-455F-F241-852A-2FC4AFC81430}"/>
              </a:ext>
            </a:extLst>
          </p:cNvPr>
          <p:cNvSpPr>
            <a:spLocks noGrp="1"/>
          </p:cNvSpPr>
          <p:nvPr>
            <p:ph type="body" sz="quarter" idx="10" hasCustomPrompt="1"/>
          </p:nvPr>
        </p:nvSpPr>
        <p:spPr>
          <a:xfrm>
            <a:off x="580645" y="2653394"/>
            <a:ext cx="6250463" cy="1006929"/>
          </a:xfrm>
          <a:prstGeom prst="rect">
            <a:avLst/>
          </a:prstGeom>
        </p:spPr>
        <p:txBody>
          <a:bodyPr>
            <a:normAutofit/>
          </a:bodyPr>
          <a:lstStyle>
            <a:lvl1pPr marL="0" indent="0">
              <a:buNone/>
              <a:defRPr sz="2500" b="1">
                <a:solidFill>
                  <a:schemeClr val="accent1"/>
                </a:solidFill>
                <a:latin typeface="+mj-lt"/>
                <a:ea typeface="Roboto" pitchFamily="2" charset="0"/>
              </a:defRPr>
            </a:lvl1pPr>
          </a:lstStyle>
          <a:p>
            <a:pPr lvl="0"/>
            <a:r>
              <a:rPr lang="en-US"/>
              <a:t>Some detail about the section to follow this slide. Lorem ipsum</a:t>
            </a:r>
          </a:p>
        </p:txBody>
      </p:sp>
      <p:sp>
        <p:nvSpPr>
          <p:cNvPr id="15" name="Text Placeholder 14">
            <a:extLst>
              <a:ext uri="{FF2B5EF4-FFF2-40B4-BE49-F238E27FC236}">
                <a16:creationId xmlns:a16="http://schemas.microsoft.com/office/drawing/2014/main" id="{7BCAE3BB-EC9F-9244-913E-DEC271BA13FC}"/>
              </a:ext>
            </a:extLst>
          </p:cNvPr>
          <p:cNvSpPr>
            <a:spLocks noGrp="1"/>
          </p:cNvSpPr>
          <p:nvPr>
            <p:ph type="body" sz="quarter" idx="11" hasCustomPrompt="1"/>
          </p:nvPr>
        </p:nvSpPr>
        <p:spPr>
          <a:xfrm>
            <a:off x="954343" y="4408715"/>
            <a:ext cx="4871271" cy="1179286"/>
          </a:xfrm>
          <a:prstGeom prst="rect">
            <a:avLst/>
          </a:prstGeom>
        </p:spPr>
        <p:txBody>
          <a:bodyPr>
            <a:normAutofit/>
          </a:bodyPr>
          <a:lstStyle>
            <a:lvl1pPr marL="0" indent="0">
              <a:lnSpc>
                <a:spcPct val="114000"/>
              </a:lnSpc>
              <a:spcBef>
                <a:spcPts val="300"/>
              </a:spcBef>
              <a:buNone/>
              <a:defRPr sz="1400">
                <a:solidFill>
                  <a:srgbClr val="0D2344"/>
                </a:solidFill>
                <a:latin typeface="+mj-lt"/>
                <a:ea typeface="Roboto" pitchFamily="2" charset="0"/>
              </a:defRPr>
            </a:lvl1pPr>
          </a:lstStyle>
          <a:p>
            <a:pPr lvl="0"/>
            <a:r>
              <a:rPr lang="en-US"/>
              <a:t>Lorem Ipsum is simply dummy text of the printing and typesetting industry. Lorem Ipsum has been the industry's standard dummy text ever since the 1500s, when an unknown printer took a galley of type.</a:t>
            </a:r>
          </a:p>
        </p:txBody>
      </p:sp>
      <p:sp>
        <p:nvSpPr>
          <p:cNvPr id="8" name="TextBox 7">
            <a:extLst>
              <a:ext uri="{FF2B5EF4-FFF2-40B4-BE49-F238E27FC236}">
                <a16:creationId xmlns:a16="http://schemas.microsoft.com/office/drawing/2014/main" id="{41BBE58B-3A38-AE4F-A7FA-9FBF1C7D262B}"/>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9" name="Rectangle 8">
            <a:extLst>
              <a:ext uri="{FF2B5EF4-FFF2-40B4-BE49-F238E27FC236}">
                <a16:creationId xmlns:a16="http://schemas.microsoft.com/office/drawing/2014/main" id="{33E0E1BC-F2DA-4B65-9524-6AA02CB40CE7}"/>
              </a:ext>
            </a:extLst>
          </p:cNvPr>
          <p:cNvSpPr/>
          <p:nvPr userDrawn="1"/>
        </p:nvSpPr>
        <p:spPr>
          <a:xfrm>
            <a:off x="7664824" y="5878286"/>
            <a:ext cx="4527177" cy="97971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pic>
        <p:nvPicPr>
          <p:cNvPr id="12" name="Picture 11">
            <a:extLst>
              <a:ext uri="{FF2B5EF4-FFF2-40B4-BE49-F238E27FC236}">
                <a16:creationId xmlns:a16="http://schemas.microsoft.com/office/drawing/2014/main" id="{881504AA-CEC1-46D6-A993-BB5D86B38A1C}"/>
              </a:ext>
            </a:extLst>
          </p:cNvPr>
          <p:cNvPicPr>
            <a:picLocks noChangeAspect="1"/>
          </p:cNvPicPr>
          <p:nvPr userDrawn="1"/>
        </p:nvPicPr>
        <p:blipFill>
          <a:blip r:embed="rId2"/>
          <a:stretch>
            <a:fillRect/>
          </a:stretch>
        </p:blipFill>
        <p:spPr>
          <a:xfrm>
            <a:off x="9618128" y="5818496"/>
            <a:ext cx="2222338" cy="888935"/>
          </a:xfrm>
          <a:prstGeom prst="rect">
            <a:avLst/>
          </a:prstGeom>
        </p:spPr>
      </p:pic>
    </p:spTree>
    <p:extLst>
      <p:ext uri="{BB962C8B-B14F-4D97-AF65-F5344CB8AC3E}">
        <p14:creationId xmlns:p14="http://schemas.microsoft.com/office/powerpoint/2010/main" val="32202192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Section Titl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D7C7D-F8F1-0D4D-AEAA-66297F64A552}"/>
              </a:ext>
            </a:extLst>
          </p:cNvPr>
          <p:cNvSpPr/>
          <p:nvPr userDrawn="1"/>
        </p:nvSpPr>
        <p:spPr>
          <a:xfrm>
            <a:off x="0" y="321"/>
            <a:ext cx="12192000" cy="5613779"/>
          </a:xfrm>
          <a:prstGeom prst="rect">
            <a:avLst/>
          </a:prstGeom>
          <a:solidFill>
            <a:srgbClr val="0D2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11" name="Title 10">
            <a:extLst>
              <a:ext uri="{FF2B5EF4-FFF2-40B4-BE49-F238E27FC236}">
                <a16:creationId xmlns:a16="http://schemas.microsoft.com/office/drawing/2014/main" id="{E517F7E1-5F44-504D-BB37-7ABA804C5C50}"/>
              </a:ext>
            </a:extLst>
          </p:cNvPr>
          <p:cNvSpPr>
            <a:spLocks noGrp="1"/>
          </p:cNvSpPr>
          <p:nvPr>
            <p:ph type="title" hasCustomPrompt="1"/>
          </p:nvPr>
        </p:nvSpPr>
        <p:spPr>
          <a:xfrm>
            <a:off x="580644" y="1383396"/>
            <a:ext cx="9600662" cy="1011461"/>
          </a:xfrm>
          <a:prstGeom prst="rect">
            <a:avLst/>
          </a:prstGeom>
        </p:spPr>
        <p:txBody>
          <a:bodyPr anchor="b"/>
          <a:lstStyle>
            <a:lvl1pPr marL="0" marR="0" indent="0" algn="l" defTabSz="853455" rtl="0" eaLnBrk="1" fontAlgn="auto" latinLnBrk="0" hangingPunct="1">
              <a:lnSpc>
                <a:spcPct val="90000"/>
              </a:lnSpc>
              <a:spcBef>
                <a:spcPct val="0"/>
              </a:spcBef>
              <a:spcAft>
                <a:spcPts val="0"/>
              </a:spcAft>
              <a:buClrTx/>
              <a:buSzTx/>
              <a:buFontTx/>
              <a:buNone/>
              <a:tabLst/>
              <a:defRPr kumimoji="0" lang="id-ID" sz="3300" b="1" i="0" u="none" strike="noStrike" kern="1200" cap="none" spc="0" normalizeH="0" baseline="0" noProof="0" smtClean="0">
                <a:ln>
                  <a:noFill/>
                </a:ln>
                <a:solidFill>
                  <a:srgbClr val="FFFFFF"/>
                </a:solidFill>
                <a:effectLst/>
                <a:uLnTx/>
                <a:uFillTx/>
                <a:latin typeface="+mj-lt"/>
                <a:ea typeface="Roboto" pitchFamily="2" charset="0"/>
                <a:cs typeface="+mj-cs"/>
              </a:defRPr>
            </a:lvl1pPr>
          </a:lstStyle>
          <a:p>
            <a:r>
              <a:rPr lang="en-US"/>
              <a:t>Section Title Lorem Ipsum</a:t>
            </a:r>
          </a:p>
        </p:txBody>
      </p:sp>
      <p:sp>
        <p:nvSpPr>
          <p:cNvPr id="13" name="Text Placeholder 12">
            <a:extLst>
              <a:ext uri="{FF2B5EF4-FFF2-40B4-BE49-F238E27FC236}">
                <a16:creationId xmlns:a16="http://schemas.microsoft.com/office/drawing/2014/main" id="{84AD058E-455F-F241-852A-2FC4AFC81430}"/>
              </a:ext>
            </a:extLst>
          </p:cNvPr>
          <p:cNvSpPr>
            <a:spLocks noGrp="1"/>
          </p:cNvSpPr>
          <p:nvPr>
            <p:ph type="body" sz="quarter" idx="10"/>
          </p:nvPr>
        </p:nvSpPr>
        <p:spPr>
          <a:xfrm>
            <a:off x="580644" y="4890448"/>
            <a:ext cx="5886522" cy="584156"/>
          </a:xfrm>
          <a:prstGeom prst="rect">
            <a:avLst/>
          </a:prstGeom>
        </p:spPr>
        <p:txBody>
          <a:bodyPr anchor="ctr">
            <a:normAutofit/>
          </a:bodyPr>
          <a:lstStyle>
            <a:lvl1pPr marL="0" indent="0">
              <a:buNone/>
              <a:defRPr sz="2500" b="0">
                <a:solidFill>
                  <a:schemeClr val="accent1"/>
                </a:solidFill>
                <a:latin typeface="+mj-lt"/>
                <a:ea typeface="Roboto" pitchFamily="2" charset="0"/>
              </a:defRPr>
            </a:lvl1pPr>
          </a:lstStyle>
          <a:p>
            <a:pPr lvl="0"/>
            <a:endParaRPr lang="en-US"/>
          </a:p>
        </p:txBody>
      </p:sp>
      <p:sp>
        <p:nvSpPr>
          <p:cNvPr id="8" name="TextBox 7">
            <a:extLst>
              <a:ext uri="{FF2B5EF4-FFF2-40B4-BE49-F238E27FC236}">
                <a16:creationId xmlns:a16="http://schemas.microsoft.com/office/drawing/2014/main" id="{41BBE58B-3A38-AE4F-A7FA-9FBF1C7D262B}"/>
              </a:ext>
            </a:extLst>
          </p:cNvPr>
          <p:cNvSpPr txBox="1"/>
          <p:nvPr userDrawn="1"/>
        </p:nvSpPr>
        <p:spPr>
          <a:xfrm>
            <a:off x="10181306" y="258536"/>
            <a:ext cx="1713750" cy="215444"/>
          </a:xfrm>
          <a:prstGeom prst="rect">
            <a:avLst/>
          </a:prstGeom>
          <a:noFill/>
        </p:spPr>
        <p:txBody>
          <a:bodyPr wrap="square" rtlCol="0">
            <a:spAutoFit/>
          </a:bodyPr>
          <a:lstStyle/>
          <a:p>
            <a:pPr algn="r"/>
            <a:fld id="{9E614D2E-FE0F-5942-A249-8509B55036FA}" type="slidenum">
              <a:rPr lang="en-US" sz="800" smtClean="0">
                <a:solidFill>
                  <a:schemeClr val="bg1"/>
                </a:solidFill>
                <a:latin typeface="Roboto" pitchFamily="2" charset="0"/>
                <a:ea typeface="Roboto" pitchFamily="2" charset="0"/>
              </a:rPr>
              <a:pPr algn="r"/>
              <a:t>‹#›</a:t>
            </a:fld>
            <a:endParaRPr lang="en-US" sz="800">
              <a:solidFill>
                <a:schemeClr val="bg1"/>
              </a:solidFill>
              <a:latin typeface="Roboto" pitchFamily="2" charset="0"/>
              <a:ea typeface="Roboto" pitchFamily="2" charset="0"/>
            </a:endParaRPr>
          </a:p>
        </p:txBody>
      </p:sp>
      <p:sp>
        <p:nvSpPr>
          <p:cNvPr id="9" name="Rectangle 8">
            <a:extLst>
              <a:ext uri="{FF2B5EF4-FFF2-40B4-BE49-F238E27FC236}">
                <a16:creationId xmlns:a16="http://schemas.microsoft.com/office/drawing/2014/main" id="{33E0E1BC-F2DA-4B65-9524-6AA02CB40CE7}"/>
              </a:ext>
            </a:extLst>
          </p:cNvPr>
          <p:cNvSpPr/>
          <p:nvPr userDrawn="1"/>
        </p:nvSpPr>
        <p:spPr>
          <a:xfrm>
            <a:off x="7664824" y="5878286"/>
            <a:ext cx="4527177" cy="97971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grpSp>
        <p:nvGrpSpPr>
          <p:cNvPr id="14" name="Group 13">
            <a:extLst>
              <a:ext uri="{FF2B5EF4-FFF2-40B4-BE49-F238E27FC236}">
                <a16:creationId xmlns:a16="http://schemas.microsoft.com/office/drawing/2014/main" id="{4C1BAAF3-55F4-4811-8EE4-AB3B32076213}"/>
              </a:ext>
            </a:extLst>
          </p:cNvPr>
          <p:cNvGrpSpPr/>
          <p:nvPr userDrawn="1"/>
        </p:nvGrpSpPr>
        <p:grpSpPr>
          <a:xfrm>
            <a:off x="10011833" y="6534450"/>
            <a:ext cx="1988634" cy="221118"/>
            <a:chOff x="15614087" y="12384593"/>
            <a:chExt cx="8319114" cy="1003175"/>
          </a:xfrm>
        </p:grpSpPr>
        <p:pic>
          <p:nvPicPr>
            <p:cNvPr id="16" name="Picture 15">
              <a:extLst>
                <a:ext uri="{FF2B5EF4-FFF2-40B4-BE49-F238E27FC236}">
                  <a16:creationId xmlns:a16="http://schemas.microsoft.com/office/drawing/2014/main" id="{55FC53CF-41EB-47D6-A48D-0ECF5FE472DC}"/>
                </a:ext>
              </a:extLst>
            </p:cNvPr>
            <p:cNvPicPr>
              <a:picLocks noChangeAspect="1"/>
            </p:cNvPicPr>
            <p:nvPr userDrawn="1"/>
          </p:nvPicPr>
          <p:blipFill>
            <a:blip r:embed="rId2"/>
            <a:stretch>
              <a:fillRect/>
            </a:stretch>
          </p:blipFill>
          <p:spPr>
            <a:xfrm>
              <a:off x="19008573" y="12420334"/>
              <a:ext cx="2400301" cy="960120"/>
            </a:xfrm>
            <a:prstGeom prst="rect">
              <a:avLst/>
            </a:prstGeom>
          </p:spPr>
        </p:pic>
        <p:sp>
          <p:nvSpPr>
            <p:cNvPr id="17" name="Rounded Rectangle 9">
              <a:extLst>
                <a:ext uri="{FF2B5EF4-FFF2-40B4-BE49-F238E27FC236}">
                  <a16:creationId xmlns:a16="http://schemas.microsoft.com/office/drawing/2014/main" id="{81E86345-12AB-4356-B23D-4B1CB564FBCE}"/>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10">
              <a:extLst>
                <a:ext uri="{FF2B5EF4-FFF2-40B4-BE49-F238E27FC236}">
                  <a16:creationId xmlns:a16="http://schemas.microsoft.com/office/drawing/2014/main" id="{39AAFCB1-8FE5-49ED-8C03-C825D99AD5BE}"/>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1">
              <a:extLst>
                <a:ext uri="{FF2B5EF4-FFF2-40B4-BE49-F238E27FC236}">
                  <a16:creationId xmlns:a16="http://schemas.microsoft.com/office/drawing/2014/main" id="{64ACA52B-CC0B-4B8E-B8F9-C5437AC73165}"/>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2">
              <a:extLst>
                <a:ext uri="{FF2B5EF4-FFF2-40B4-BE49-F238E27FC236}">
                  <a16:creationId xmlns:a16="http://schemas.microsoft.com/office/drawing/2014/main" id="{106CBD7C-4AEA-4CC1-AD4B-641029FAE568}"/>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13">
              <a:extLst>
                <a:ext uri="{FF2B5EF4-FFF2-40B4-BE49-F238E27FC236}">
                  <a16:creationId xmlns:a16="http://schemas.microsoft.com/office/drawing/2014/main" id="{65664319-BE0E-41E7-AA75-D69DFBF5B481}"/>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14">
              <a:extLst>
                <a:ext uri="{FF2B5EF4-FFF2-40B4-BE49-F238E27FC236}">
                  <a16:creationId xmlns:a16="http://schemas.microsoft.com/office/drawing/2014/main" id="{F620ECEF-E276-46C0-8E43-1B97111A2F32}"/>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ounded Rectangle 15">
              <a:extLst>
                <a:ext uri="{FF2B5EF4-FFF2-40B4-BE49-F238E27FC236}">
                  <a16:creationId xmlns:a16="http://schemas.microsoft.com/office/drawing/2014/main" id="{E3FB33AE-BB1B-41F0-A1C0-A075633B3232}"/>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16">
              <a:extLst>
                <a:ext uri="{FF2B5EF4-FFF2-40B4-BE49-F238E27FC236}">
                  <a16:creationId xmlns:a16="http://schemas.microsoft.com/office/drawing/2014/main" id="{8CA45990-7673-4983-9D58-7B2A396A3CB0}"/>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17">
              <a:extLst>
                <a:ext uri="{FF2B5EF4-FFF2-40B4-BE49-F238E27FC236}">
                  <a16:creationId xmlns:a16="http://schemas.microsoft.com/office/drawing/2014/main" id="{555C7AA1-9703-4F93-B901-B97AE6778E6A}"/>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8">
              <a:extLst>
                <a:ext uri="{FF2B5EF4-FFF2-40B4-BE49-F238E27FC236}">
                  <a16:creationId xmlns:a16="http://schemas.microsoft.com/office/drawing/2014/main" id="{8CEEAA07-C2CE-47B2-9027-A4D8E959CEB8}"/>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9">
              <a:extLst>
                <a:ext uri="{FF2B5EF4-FFF2-40B4-BE49-F238E27FC236}">
                  <a16:creationId xmlns:a16="http://schemas.microsoft.com/office/drawing/2014/main" id="{8FCC167F-F205-4D2A-8A24-0C410490B669}"/>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5002842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Title 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F865BE-876E-E64A-BE6A-CEC390575C3D}"/>
              </a:ext>
            </a:extLst>
          </p:cNvPr>
          <p:cNvSpPr/>
          <p:nvPr userDrawn="1"/>
        </p:nvSpPr>
        <p:spPr>
          <a:xfrm>
            <a:off x="0" y="0"/>
            <a:ext cx="12192000" cy="6858000"/>
          </a:xfrm>
          <a:prstGeom prst="rect">
            <a:avLst/>
          </a:prstGeom>
          <a:solidFill>
            <a:srgbClr val="0D2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cxnSp>
        <p:nvCxnSpPr>
          <p:cNvPr id="10" name="Straight Connector 9">
            <a:extLst>
              <a:ext uri="{FF2B5EF4-FFF2-40B4-BE49-F238E27FC236}">
                <a16:creationId xmlns:a16="http://schemas.microsoft.com/office/drawing/2014/main" id="{10932BC1-9861-E24D-B703-FD05F5A906F3}"/>
              </a:ext>
            </a:extLst>
          </p:cNvPr>
          <p:cNvCxnSpPr>
            <a:cxnSpLocks/>
          </p:cNvCxnSpPr>
          <p:nvPr userDrawn="1"/>
        </p:nvCxnSpPr>
        <p:spPr>
          <a:xfrm>
            <a:off x="6539347" y="3740727"/>
            <a:ext cx="5652655" cy="0"/>
          </a:xfrm>
          <a:prstGeom prst="line">
            <a:avLst/>
          </a:prstGeom>
          <a:ln w="38100">
            <a:solidFill>
              <a:schemeClr val="accent1"/>
            </a:solidFill>
            <a:headEnd type="oval"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7A62B4-5094-094D-B550-45405E518EA6}"/>
              </a:ext>
            </a:extLst>
          </p:cNvPr>
          <p:cNvSpPr>
            <a:spLocks noGrp="1"/>
          </p:cNvSpPr>
          <p:nvPr>
            <p:ph type="title" hasCustomPrompt="1"/>
          </p:nvPr>
        </p:nvSpPr>
        <p:spPr>
          <a:xfrm>
            <a:off x="6776314" y="2514601"/>
            <a:ext cx="4791456" cy="1119783"/>
          </a:xfrm>
          <a:prstGeom prst="rect">
            <a:avLst/>
          </a:prstGeom>
        </p:spPr>
        <p:txBody>
          <a:bodyPr anchor="b">
            <a:noAutofit/>
          </a:bodyPr>
          <a:lstStyle>
            <a:lvl1pPr>
              <a:lnSpc>
                <a:spcPct val="100000"/>
              </a:lnSpc>
              <a:defRPr sz="3300" b="1" i="0">
                <a:solidFill>
                  <a:schemeClr val="bg1"/>
                </a:solidFill>
                <a:latin typeface="+mj-lt"/>
                <a:ea typeface="Roboto Medium" pitchFamily="2" charset="0"/>
              </a:defRPr>
            </a:lvl1pPr>
          </a:lstStyle>
          <a:p>
            <a:r>
              <a:rPr lang="en-US"/>
              <a:t>Section Title Lorem Ipsum</a:t>
            </a:r>
          </a:p>
        </p:txBody>
      </p:sp>
      <p:sp>
        <p:nvSpPr>
          <p:cNvPr id="14" name="Text Placeholder 12">
            <a:extLst>
              <a:ext uri="{FF2B5EF4-FFF2-40B4-BE49-F238E27FC236}">
                <a16:creationId xmlns:a16="http://schemas.microsoft.com/office/drawing/2014/main" id="{D66506BC-A56E-0D42-9C19-4B462635D0C5}"/>
              </a:ext>
            </a:extLst>
          </p:cNvPr>
          <p:cNvSpPr>
            <a:spLocks noGrp="1"/>
          </p:cNvSpPr>
          <p:nvPr>
            <p:ph type="body" sz="quarter" idx="10" hasCustomPrompt="1"/>
          </p:nvPr>
        </p:nvSpPr>
        <p:spPr>
          <a:xfrm>
            <a:off x="6776314" y="3891644"/>
            <a:ext cx="4791456" cy="882063"/>
          </a:xfrm>
          <a:prstGeom prst="rect">
            <a:avLst/>
          </a:prstGeom>
        </p:spPr>
        <p:txBody>
          <a:bodyPr>
            <a:normAutofit/>
          </a:bodyPr>
          <a:lstStyle>
            <a:lvl1pPr marL="0" indent="0">
              <a:lnSpc>
                <a:spcPct val="100000"/>
              </a:lnSpc>
              <a:spcBef>
                <a:spcPts val="0"/>
              </a:spcBef>
              <a:buNone/>
              <a:defRPr sz="2500" b="0">
                <a:solidFill>
                  <a:schemeClr val="accent1"/>
                </a:solidFill>
                <a:latin typeface="+mj-lt"/>
                <a:ea typeface="Roboto" pitchFamily="2" charset="0"/>
              </a:defRPr>
            </a:lvl1pPr>
          </a:lstStyle>
          <a:p>
            <a:pPr lvl="0"/>
            <a:r>
              <a:rPr lang="en-US"/>
              <a:t>Some detail about the section to follow this slide. Lorem ipsum</a:t>
            </a:r>
          </a:p>
        </p:txBody>
      </p:sp>
      <p:sp>
        <p:nvSpPr>
          <p:cNvPr id="16" name="TextBox 15">
            <a:extLst>
              <a:ext uri="{FF2B5EF4-FFF2-40B4-BE49-F238E27FC236}">
                <a16:creationId xmlns:a16="http://schemas.microsoft.com/office/drawing/2014/main" id="{4F5501CB-008A-2843-AD51-FB32AD36FDD3}"/>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17" name="TextBox 16">
            <a:extLst>
              <a:ext uri="{FF2B5EF4-FFF2-40B4-BE49-F238E27FC236}">
                <a16:creationId xmlns:a16="http://schemas.microsoft.com/office/drawing/2014/main" id="{46F1E770-63D6-9B4F-A610-0C5671F989A2}"/>
              </a:ext>
            </a:extLst>
          </p:cNvPr>
          <p:cNvSpPr txBox="1"/>
          <p:nvPr userDrawn="1"/>
        </p:nvSpPr>
        <p:spPr>
          <a:xfrm>
            <a:off x="344655" y="6428942"/>
            <a:ext cx="2199641" cy="246221"/>
          </a:xfrm>
          <a:prstGeom prst="rect">
            <a:avLst/>
          </a:prstGeom>
          <a:noFill/>
        </p:spPr>
        <p:txBody>
          <a:bodyPr wrap="none" rtlCol="0">
            <a:spAutoFit/>
          </a:bodyPr>
          <a:lstStyle/>
          <a:p>
            <a:r>
              <a:rPr lang="en-US" sz="1000" dirty="0">
                <a:solidFill>
                  <a:schemeClr val="tx1">
                    <a:lumMod val="50000"/>
                    <a:lumOff val="50000"/>
                  </a:schemeClr>
                </a:solidFill>
                <a:latin typeface="Roboto" pitchFamily="2" charset="0"/>
                <a:ea typeface="Roboto" pitchFamily="2" charset="0"/>
              </a:rPr>
              <a:t>© 2024 Resilinc. All rights reserved.</a:t>
            </a:r>
          </a:p>
        </p:txBody>
      </p:sp>
      <p:grpSp>
        <p:nvGrpSpPr>
          <p:cNvPr id="3" name="Group 2">
            <a:extLst>
              <a:ext uri="{FF2B5EF4-FFF2-40B4-BE49-F238E27FC236}">
                <a16:creationId xmlns:a16="http://schemas.microsoft.com/office/drawing/2014/main" id="{1595708E-898C-49CE-80DC-D6E816769B61}"/>
              </a:ext>
            </a:extLst>
          </p:cNvPr>
          <p:cNvGrpSpPr/>
          <p:nvPr userDrawn="1"/>
        </p:nvGrpSpPr>
        <p:grpSpPr>
          <a:xfrm>
            <a:off x="7807045" y="6192297"/>
            <a:ext cx="4159557" cy="501588"/>
            <a:chOff x="15614087" y="12384593"/>
            <a:chExt cx="8319114" cy="1003175"/>
          </a:xfrm>
        </p:grpSpPr>
        <p:pic>
          <p:nvPicPr>
            <p:cNvPr id="28" name="Picture 27">
              <a:extLst>
                <a:ext uri="{FF2B5EF4-FFF2-40B4-BE49-F238E27FC236}">
                  <a16:creationId xmlns:a16="http://schemas.microsoft.com/office/drawing/2014/main" id="{23E07392-B1EC-44F0-B491-EED960AB9E1B}"/>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11" name="Rounded Rectangle 9">
              <a:extLst>
                <a:ext uri="{FF2B5EF4-FFF2-40B4-BE49-F238E27FC236}">
                  <a16:creationId xmlns:a16="http://schemas.microsoft.com/office/drawing/2014/main" id="{2C0BFD96-B8F4-4D08-84B6-FECB0CFBB137}"/>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0">
              <a:extLst>
                <a:ext uri="{FF2B5EF4-FFF2-40B4-BE49-F238E27FC236}">
                  <a16:creationId xmlns:a16="http://schemas.microsoft.com/office/drawing/2014/main" id="{DDB5BF1E-6DCE-4F79-950C-919B06E7822B}"/>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1">
              <a:extLst>
                <a:ext uri="{FF2B5EF4-FFF2-40B4-BE49-F238E27FC236}">
                  <a16:creationId xmlns:a16="http://schemas.microsoft.com/office/drawing/2014/main" id="{D32532A6-52F7-4A98-978D-87713977B603}"/>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ounded Rectangle 12">
              <a:extLst>
                <a:ext uri="{FF2B5EF4-FFF2-40B4-BE49-F238E27FC236}">
                  <a16:creationId xmlns:a16="http://schemas.microsoft.com/office/drawing/2014/main" id="{B8404A56-7D21-4376-9E77-BF53EDD8CED8}"/>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13">
              <a:extLst>
                <a:ext uri="{FF2B5EF4-FFF2-40B4-BE49-F238E27FC236}">
                  <a16:creationId xmlns:a16="http://schemas.microsoft.com/office/drawing/2014/main" id="{EAF8EDB3-B863-43C0-894F-285080D2E285}"/>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4">
              <a:extLst>
                <a:ext uri="{FF2B5EF4-FFF2-40B4-BE49-F238E27FC236}">
                  <a16:creationId xmlns:a16="http://schemas.microsoft.com/office/drawing/2014/main" id="{E3E051BC-3FB7-4FDD-A46A-7EF34EBEE51A}"/>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5">
              <a:extLst>
                <a:ext uri="{FF2B5EF4-FFF2-40B4-BE49-F238E27FC236}">
                  <a16:creationId xmlns:a16="http://schemas.microsoft.com/office/drawing/2014/main" id="{DB05CB51-0FE0-46DD-B738-6E8812A2A614}"/>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16">
              <a:extLst>
                <a:ext uri="{FF2B5EF4-FFF2-40B4-BE49-F238E27FC236}">
                  <a16:creationId xmlns:a16="http://schemas.microsoft.com/office/drawing/2014/main" id="{8F0EB324-B3A6-4489-83B3-8D335C373D13}"/>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17">
              <a:extLst>
                <a:ext uri="{FF2B5EF4-FFF2-40B4-BE49-F238E27FC236}">
                  <a16:creationId xmlns:a16="http://schemas.microsoft.com/office/drawing/2014/main" id="{245E5933-DF16-469F-9154-AEB6860ED0C4}"/>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ounded Rectangle 18">
              <a:extLst>
                <a:ext uri="{FF2B5EF4-FFF2-40B4-BE49-F238E27FC236}">
                  <a16:creationId xmlns:a16="http://schemas.microsoft.com/office/drawing/2014/main" id="{4F909F58-21A6-4664-ADBE-AC3B5C64A6A3}"/>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19">
              <a:extLst>
                <a:ext uri="{FF2B5EF4-FFF2-40B4-BE49-F238E27FC236}">
                  <a16:creationId xmlns:a16="http://schemas.microsoft.com/office/drawing/2014/main" id="{B0575E4D-3EE1-4B39-BF7C-ABAABD2B9D68}"/>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4141728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Title 03">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0932BC1-9861-E24D-B703-FD05F5A906F3}"/>
              </a:ext>
            </a:extLst>
          </p:cNvPr>
          <p:cNvCxnSpPr>
            <a:cxnSpLocks/>
          </p:cNvCxnSpPr>
          <p:nvPr userDrawn="1"/>
        </p:nvCxnSpPr>
        <p:spPr>
          <a:xfrm>
            <a:off x="6539347" y="3740727"/>
            <a:ext cx="5652655" cy="0"/>
          </a:xfrm>
          <a:prstGeom prst="line">
            <a:avLst/>
          </a:prstGeom>
          <a:ln w="38100">
            <a:solidFill>
              <a:schemeClr val="accent1">
                <a:lumMod val="75000"/>
              </a:schemeClr>
            </a:solidFill>
            <a:headEnd type="oval"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7A62B4-5094-094D-B550-45405E518EA6}"/>
              </a:ext>
            </a:extLst>
          </p:cNvPr>
          <p:cNvSpPr>
            <a:spLocks noGrp="1"/>
          </p:cNvSpPr>
          <p:nvPr>
            <p:ph type="title" hasCustomPrompt="1"/>
          </p:nvPr>
        </p:nvSpPr>
        <p:spPr>
          <a:xfrm>
            <a:off x="6777318" y="2514601"/>
            <a:ext cx="4790452" cy="1119783"/>
          </a:xfrm>
          <a:prstGeom prst="rect">
            <a:avLst/>
          </a:prstGeom>
        </p:spPr>
        <p:txBody>
          <a:bodyPr anchor="b">
            <a:noAutofit/>
          </a:bodyPr>
          <a:lstStyle>
            <a:lvl1pPr>
              <a:lnSpc>
                <a:spcPct val="100000"/>
              </a:lnSpc>
              <a:defRPr sz="3300" b="1" i="0">
                <a:solidFill>
                  <a:srgbClr val="0D2344"/>
                </a:solidFill>
                <a:latin typeface="+mj-lt"/>
                <a:ea typeface="Roboto Medium" pitchFamily="2" charset="0"/>
              </a:defRPr>
            </a:lvl1pPr>
          </a:lstStyle>
          <a:p>
            <a:r>
              <a:rPr lang="en-US"/>
              <a:t>Section Title Lorem Ipsum</a:t>
            </a:r>
          </a:p>
        </p:txBody>
      </p:sp>
      <p:sp>
        <p:nvSpPr>
          <p:cNvPr id="14" name="Text Placeholder 12">
            <a:extLst>
              <a:ext uri="{FF2B5EF4-FFF2-40B4-BE49-F238E27FC236}">
                <a16:creationId xmlns:a16="http://schemas.microsoft.com/office/drawing/2014/main" id="{D66506BC-A56E-0D42-9C19-4B462635D0C5}"/>
              </a:ext>
            </a:extLst>
          </p:cNvPr>
          <p:cNvSpPr>
            <a:spLocks noGrp="1"/>
          </p:cNvSpPr>
          <p:nvPr>
            <p:ph type="body" sz="quarter" idx="10" hasCustomPrompt="1"/>
          </p:nvPr>
        </p:nvSpPr>
        <p:spPr>
          <a:xfrm>
            <a:off x="6777318" y="3891644"/>
            <a:ext cx="4790452" cy="882063"/>
          </a:xfrm>
          <a:prstGeom prst="rect">
            <a:avLst/>
          </a:prstGeom>
        </p:spPr>
        <p:txBody>
          <a:bodyPr>
            <a:normAutofit/>
          </a:bodyPr>
          <a:lstStyle>
            <a:lvl1pPr marL="0" indent="0">
              <a:lnSpc>
                <a:spcPct val="100000"/>
              </a:lnSpc>
              <a:spcBef>
                <a:spcPts val="0"/>
              </a:spcBef>
              <a:buNone/>
              <a:defRPr sz="2500">
                <a:solidFill>
                  <a:schemeClr val="accent1"/>
                </a:solidFill>
                <a:latin typeface="+mj-lt"/>
                <a:ea typeface="Roboto" pitchFamily="2" charset="0"/>
              </a:defRPr>
            </a:lvl1pPr>
          </a:lstStyle>
          <a:p>
            <a:pPr lvl="0"/>
            <a:r>
              <a:rPr lang="en-US"/>
              <a:t>Some detail about the section to follow this slide. Lorem ipsum</a:t>
            </a:r>
          </a:p>
        </p:txBody>
      </p:sp>
    </p:spTree>
    <p:extLst>
      <p:ext uri="{BB962C8B-B14F-4D97-AF65-F5344CB8AC3E}">
        <p14:creationId xmlns:p14="http://schemas.microsoft.com/office/powerpoint/2010/main" val="8063330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7B258-9A51-4539-895F-45DF1C47DE00}"/>
              </a:ext>
            </a:extLst>
          </p:cNvPr>
          <p:cNvSpPr>
            <a:spLocks noGrp="1"/>
          </p:cNvSpPr>
          <p:nvPr>
            <p:ph idx="1"/>
          </p:nvPr>
        </p:nvSpPr>
        <p:spPr>
          <a:xfrm>
            <a:off x="580340" y="1876153"/>
            <a:ext cx="10987431" cy="4109902"/>
          </a:xfrm>
          <a:prstGeom prst="rect">
            <a:avLst/>
          </a:prstGeom>
        </p:spPr>
        <p:txBody>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itle 6">
            <a:extLst>
              <a:ext uri="{FF2B5EF4-FFF2-40B4-BE49-F238E27FC236}">
                <a16:creationId xmlns:a16="http://schemas.microsoft.com/office/drawing/2014/main" id="{FCDB4642-7343-4FE7-A56C-A51EFC71834B}"/>
              </a:ext>
            </a:extLst>
          </p:cNvPr>
          <p:cNvSpPr>
            <a:spLocks noGrp="1"/>
          </p:cNvSpPr>
          <p:nvPr>
            <p:ph type="title"/>
          </p:nvPr>
        </p:nvSpPr>
        <p:spPr>
          <a:xfrm>
            <a:off x="580340" y="587830"/>
            <a:ext cx="10987431" cy="979715"/>
          </a:xfrm>
          <a:prstGeom prst="rect">
            <a:avLst/>
          </a:prstGeom>
        </p:spPr>
        <p:txBody>
          <a:bodyPr/>
          <a:lstStyle>
            <a:lvl1pPr>
              <a:defRPr sz="3300" b="1">
                <a:solidFill>
                  <a:srgbClr val="0D2344"/>
                </a:solidFill>
              </a:defRPr>
            </a:lvl1pPr>
          </a:lstStyle>
          <a:p>
            <a:r>
              <a:rPr lang="en-US"/>
              <a:t>Click to edit Master title style</a:t>
            </a:r>
            <a:endParaRPr lang="en-IN"/>
          </a:p>
        </p:txBody>
      </p:sp>
    </p:spTree>
    <p:extLst>
      <p:ext uri="{BB962C8B-B14F-4D97-AF65-F5344CB8AC3E}">
        <p14:creationId xmlns:p14="http://schemas.microsoft.com/office/powerpoint/2010/main" val="39379516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51903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CFFBF-F17C-4E72-8314-940C83AF3776}"/>
              </a:ext>
            </a:extLst>
          </p:cNvPr>
          <p:cNvSpPr>
            <a:spLocks noGrp="1"/>
          </p:cNvSpPr>
          <p:nvPr>
            <p:ph type="title"/>
          </p:nvPr>
        </p:nvSpPr>
        <p:spPr>
          <a:xfrm>
            <a:off x="580340" y="587830"/>
            <a:ext cx="10987431" cy="979715"/>
          </a:xfrm>
        </p:spPr>
        <p:txBody>
          <a:bodyPr>
            <a:normAutofit/>
          </a:bodyPr>
          <a:lstStyle>
            <a:lvl1pPr>
              <a:defRPr sz="3300" b="1">
                <a:solidFill>
                  <a:srgbClr val="0D2344"/>
                </a:solidFill>
              </a:defRPr>
            </a:lvl1pPr>
          </a:lstStyle>
          <a:p>
            <a:r>
              <a:rPr lang="en-US"/>
              <a:t>Click to edit Master title style</a:t>
            </a:r>
            <a:endParaRPr lang="en-IN"/>
          </a:p>
        </p:txBody>
      </p:sp>
    </p:spTree>
    <p:extLst>
      <p:ext uri="{BB962C8B-B14F-4D97-AF65-F5344CB8AC3E}">
        <p14:creationId xmlns:p14="http://schemas.microsoft.com/office/powerpoint/2010/main" val="35595951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6516"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rgbClr val="0D234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6516"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Tree>
    <p:extLst>
      <p:ext uri="{BB962C8B-B14F-4D97-AF65-F5344CB8AC3E}">
        <p14:creationId xmlns:p14="http://schemas.microsoft.com/office/powerpoint/2010/main" val="189496757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ubtitle and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1DB7F4-15D9-4DA0-9FB9-ABFC4D35809E}"/>
              </a:ext>
            </a:extLst>
          </p:cNvPr>
          <p:cNvPicPr>
            <a:picLocks noChangeAspect="1"/>
          </p:cNvPicPr>
          <p:nvPr userDrawn="1"/>
        </p:nvPicPr>
        <p:blipFill>
          <a:blip r:embed="rId2"/>
          <a:stretch>
            <a:fillRect/>
          </a:stretch>
        </p:blipFill>
        <p:spPr>
          <a:xfrm>
            <a:off x="7129" y="1727128"/>
            <a:ext cx="12192000" cy="4918166"/>
          </a:xfrm>
          <a:prstGeom prst="rect">
            <a:avLst/>
          </a:prstGeom>
        </p:spPr>
      </p:pic>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6516"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7"/>
            <a:ext cx="10986516" cy="570142"/>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Text Placeholder 6">
            <a:extLst>
              <a:ext uri="{FF2B5EF4-FFF2-40B4-BE49-F238E27FC236}">
                <a16:creationId xmlns:a16="http://schemas.microsoft.com/office/drawing/2014/main" id="{59F4D007-130F-4B19-8EA8-DA5A540BEA79}"/>
              </a:ext>
            </a:extLst>
          </p:cNvPr>
          <p:cNvSpPr>
            <a:spLocks noGrp="1"/>
          </p:cNvSpPr>
          <p:nvPr>
            <p:ph type="body" sz="quarter" idx="11"/>
          </p:nvPr>
        </p:nvSpPr>
        <p:spPr>
          <a:xfrm>
            <a:off x="580813" y="2135309"/>
            <a:ext cx="3521050" cy="1234440"/>
          </a:xfrm>
        </p:spPr>
        <p:txBody>
          <a:bodyPr>
            <a:normAutofit/>
          </a:bodyPr>
          <a:lstStyle>
            <a:lvl1pPr marL="0" indent="0">
              <a:lnSpc>
                <a:spcPct val="100000"/>
              </a:lnSpc>
              <a:spcBef>
                <a:spcPts val="0"/>
              </a:spcBef>
              <a:buNone/>
              <a:defRPr sz="1800"/>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1" name="TextBox 20">
            <a:extLst>
              <a:ext uri="{FF2B5EF4-FFF2-40B4-BE49-F238E27FC236}">
                <a16:creationId xmlns:a16="http://schemas.microsoft.com/office/drawing/2014/main" id="{CD706885-CE85-4758-8E8F-34A916E0ADA8}"/>
              </a:ext>
            </a:extLst>
          </p:cNvPr>
          <p:cNvSpPr txBox="1"/>
          <p:nvPr userDrawn="1"/>
        </p:nvSpPr>
        <p:spPr>
          <a:xfrm>
            <a:off x="390144" y="6342505"/>
            <a:ext cx="2199641" cy="246221"/>
          </a:xfrm>
          <a:prstGeom prst="rect">
            <a:avLst/>
          </a:prstGeom>
          <a:noFill/>
        </p:spPr>
        <p:txBody>
          <a:bodyPr wrap="none" rtlCol="0">
            <a:spAutoFit/>
          </a:bodyPr>
          <a:lstStyle/>
          <a:p>
            <a:r>
              <a:rPr lang="en-US" sz="1000">
                <a:latin typeface="+mn-lt"/>
                <a:ea typeface="Roboto" pitchFamily="2" charset="0"/>
              </a:rPr>
              <a:t>© 2022 Resilinc. All rights reserved.</a:t>
            </a:r>
          </a:p>
        </p:txBody>
      </p:sp>
      <p:grpSp>
        <p:nvGrpSpPr>
          <p:cNvPr id="22" name="Group 21">
            <a:extLst>
              <a:ext uri="{FF2B5EF4-FFF2-40B4-BE49-F238E27FC236}">
                <a16:creationId xmlns:a16="http://schemas.microsoft.com/office/drawing/2014/main" id="{9BC19FE4-2DC6-4E9A-B6A8-75049FEB530F}"/>
              </a:ext>
            </a:extLst>
          </p:cNvPr>
          <p:cNvGrpSpPr/>
          <p:nvPr userDrawn="1"/>
        </p:nvGrpSpPr>
        <p:grpSpPr>
          <a:xfrm>
            <a:off x="7807045" y="6192297"/>
            <a:ext cx="4159557" cy="501588"/>
            <a:chOff x="15614087" y="12384593"/>
            <a:chExt cx="8319114" cy="1003175"/>
          </a:xfrm>
        </p:grpSpPr>
        <p:pic>
          <p:nvPicPr>
            <p:cNvPr id="23" name="Picture 22">
              <a:extLst>
                <a:ext uri="{FF2B5EF4-FFF2-40B4-BE49-F238E27FC236}">
                  <a16:creationId xmlns:a16="http://schemas.microsoft.com/office/drawing/2014/main" id="{84F95031-FDC8-4DCE-AE0C-88756BCCE5C1}"/>
                </a:ext>
              </a:extLst>
            </p:cNvPr>
            <p:cNvPicPr>
              <a:picLocks noChangeAspect="1"/>
            </p:cNvPicPr>
            <p:nvPr userDrawn="1"/>
          </p:nvPicPr>
          <p:blipFill>
            <a:blip r:embed="rId3"/>
            <a:stretch>
              <a:fillRect/>
            </a:stretch>
          </p:blipFill>
          <p:spPr>
            <a:xfrm>
              <a:off x="19008573" y="12420334"/>
              <a:ext cx="2400301" cy="960120"/>
            </a:xfrm>
            <a:prstGeom prst="rect">
              <a:avLst/>
            </a:prstGeom>
          </p:spPr>
        </p:pic>
        <p:sp>
          <p:nvSpPr>
            <p:cNvPr id="24" name="Rounded Rectangle 9">
              <a:extLst>
                <a:ext uri="{FF2B5EF4-FFF2-40B4-BE49-F238E27FC236}">
                  <a16:creationId xmlns:a16="http://schemas.microsoft.com/office/drawing/2014/main" id="{3A57B923-26D2-4AD4-B0FF-6C8EAE3C0971}"/>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10">
              <a:extLst>
                <a:ext uri="{FF2B5EF4-FFF2-40B4-BE49-F238E27FC236}">
                  <a16:creationId xmlns:a16="http://schemas.microsoft.com/office/drawing/2014/main" id="{BBE0CFA1-C1D3-46C5-BA00-57D232981AC1}"/>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11">
              <a:extLst>
                <a:ext uri="{FF2B5EF4-FFF2-40B4-BE49-F238E27FC236}">
                  <a16:creationId xmlns:a16="http://schemas.microsoft.com/office/drawing/2014/main" id="{524BCD11-7995-455B-B880-44A41FFDA0B1}"/>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12">
              <a:extLst>
                <a:ext uri="{FF2B5EF4-FFF2-40B4-BE49-F238E27FC236}">
                  <a16:creationId xmlns:a16="http://schemas.microsoft.com/office/drawing/2014/main" id="{8600BC3B-64C0-4A3B-995B-4C10E3469905}"/>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ounded Rectangle 13">
              <a:extLst>
                <a:ext uri="{FF2B5EF4-FFF2-40B4-BE49-F238E27FC236}">
                  <a16:creationId xmlns:a16="http://schemas.microsoft.com/office/drawing/2014/main" id="{6B992626-8CCA-473F-ACDE-A353B8479E2D}"/>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ounded Rectangle 14">
              <a:extLst>
                <a:ext uri="{FF2B5EF4-FFF2-40B4-BE49-F238E27FC236}">
                  <a16:creationId xmlns:a16="http://schemas.microsoft.com/office/drawing/2014/main" id="{595EC7D1-19EE-420F-BD6D-7AF7F5EEA977}"/>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15">
              <a:extLst>
                <a:ext uri="{FF2B5EF4-FFF2-40B4-BE49-F238E27FC236}">
                  <a16:creationId xmlns:a16="http://schemas.microsoft.com/office/drawing/2014/main" id="{CE44081E-E366-48BD-90A1-0BBA995CC105}"/>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16">
              <a:extLst>
                <a:ext uri="{FF2B5EF4-FFF2-40B4-BE49-F238E27FC236}">
                  <a16:creationId xmlns:a16="http://schemas.microsoft.com/office/drawing/2014/main" id="{F3463F68-5C61-4C1D-B25D-25B1F0D366C7}"/>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ounded Rectangle 17">
              <a:extLst>
                <a:ext uri="{FF2B5EF4-FFF2-40B4-BE49-F238E27FC236}">
                  <a16:creationId xmlns:a16="http://schemas.microsoft.com/office/drawing/2014/main" id="{F326F07C-292C-4976-BA4C-62166EE81F45}"/>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ounded Rectangle 18">
              <a:extLst>
                <a:ext uri="{FF2B5EF4-FFF2-40B4-BE49-F238E27FC236}">
                  <a16:creationId xmlns:a16="http://schemas.microsoft.com/office/drawing/2014/main" id="{3DF63AEF-C392-44A7-8BA2-D13F12EA7296}"/>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ounded Rectangle 19">
              <a:extLst>
                <a:ext uri="{FF2B5EF4-FFF2-40B4-BE49-F238E27FC236}">
                  <a16:creationId xmlns:a16="http://schemas.microsoft.com/office/drawing/2014/main" id="{0869D13F-C566-4A4D-AC53-0E0864FE6D00}"/>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93908488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6155FCDE-91AB-D44B-9E1E-C16454584ED4}"/>
              </a:ext>
            </a:extLst>
          </p:cNvPr>
          <p:cNvSpPr>
            <a:spLocks noGrp="1"/>
          </p:cNvSpPr>
          <p:nvPr>
            <p:ph sz="quarter" idx="11"/>
          </p:nvPr>
        </p:nvSpPr>
        <p:spPr>
          <a:xfrm>
            <a:off x="580814" y="1876153"/>
            <a:ext cx="10988040" cy="4109902"/>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95347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Body and 2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6155FCDE-91AB-D44B-9E1E-C16454584ED4}"/>
              </a:ext>
            </a:extLst>
          </p:cNvPr>
          <p:cNvSpPr>
            <a:spLocks noGrp="1"/>
          </p:cNvSpPr>
          <p:nvPr>
            <p:ph sz="quarter" idx="11"/>
          </p:nvPr>
        </p:nvSpPr>
        <p:spPr>
          <a:xfrm>
            <a:off x="3657600" y="1994140"/>
            <a:ext cx="4876800" cy="4109902"/>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A92BAA56-689A-4DFD-B8F1-9EB3509420E4}"/>
              </a:ext>
            </a:extLst>
          </p:cNvPr>
          <p:cNvSpPr>
            <a:spLocks noGrp="1"/>
          </p:cNvSpPr>
          <p:nvPr>
            <p:ph type="body" sz="quarter" idx="14"/>
          </p:nvPr>
        </p:nvSpPr>
        <p:spPr>
          <a:xfrm>
            <a:off x="580813" y="31779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8" name="Text Placeholder 3">
            <a:extLst>
              <a:ext uri="{FF2B5EF4-FFF2-40B4-BE49-F238E27FC236}">
                <a16:creationId xmlns:a16="http://schemas.microsoft.com/office/drawing/2014/main" id="{9B68362E-59F4-480A-B446-F7CA092562E6}"/>
              </a:ext>
            </a:extLst>
          </p:cNvPr>
          <p:cNvSpPr>
            <a:spLocks noGrp="1"/>
          </p:cNvSpPr>
          <p:nvPr>
            <p:ph type="body" sz="quarter" idx="13"/>
          </p:nvPr>
        </p:nvSpPr>
        <p:spPr>
          <a:xfrm>
            <a:off x="9130453" y="3177941"/>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Tree>
    <p:extLst>
      <p:ext uri="{BB962C8B-B14F-4D97-AF65-F5344CB8AC3E}">
        <p14:creationId xmlns:p14="http://schemas.microsoft.com/office/powerpoint/2010/main" val="29503539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Graph and 2 Textbox">
    <p:spTree>
      <p:nvGrpSpPr>
        <p:cNvPr id="1" name=""/>
        <p:cNvGrpSpPr/>
        <p:nvPr/>
      </p:nvGrpSpPr>
      <p:grpSpPr>
        <a:xfrm>
          <a:off x="0" y="0"/>
          <a:ext cx="0" cy="0"/>
          <a:chOff x="0" y="0"/>
          <a:chExt cx="0" cy="0"/>
        </a:xfrm>
      </p:grpSpPr>
      <p:sp>
        <p:nvSpPr>
          <p:cNvPr id="24" name="Text Placeholder 3">
            <a:extLst>
              <a:ext uri="{FF2B5EF4-FFF2-40B4-BE49-F238E27FC236}">
                <a16:creationId xmlns:a16="http://schemas.microsoft.com/office/drawing/2014/main" id="{C9A853D3-3510-4968-899F-BAFF4A829795}"/>
              </a:ext>
            </a:extLst>
          </p:cNvPr>
          <p:cNvSpPr>
            <a:spLocks noGrp="1"/>
          </p:cNvSpPr>
          <p:nvPr>
            <p:ph type="body" sz="quarter" idx="14"/>
          </p:nvPr>
        </p:nvSpPr>
        <p:spPr>
          <a:xfrm>
            <a:off x="580813" y="2927042"/>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23" name="Text Placeholder 3">
            <a:extLst>
              <a:ext uri="{FF2B5EF4-FFF2-40B4-BE49-F238E27FC236}">
                <a16:creationId xmlns:a16="http://schemas.microsoft.com/office/drawing/2014/main" id="{C76121FB-1414-4FC7-8C6C-232A9917F371}"/>
              </a:ext>
            </a:extLst>
          </p:cNvPr>
          <p:cNvSpPr>
            <a:spLocks noGrp="1"/>
          </p:cNvSpPr>
          <p:nvPr>
            <p:ph type="body" sz="quarter" idx="13"/>
          </p:nvPr>
        </p:nvSpPr>
        <p:spPr>
          <a:xfrm>
            <a:off x="9130453" y="2927042"/>
            <a:ext cx="2438400" cy="1518557"/>
          </a:xfrm>
        </p:spPr>
        <p:txBody>
          <a:bodyPr>
            <a:normAutofit/>
          </a:bodyPr>
          <a:lstStyle>
            <a:lvl1pPr marL="0" indent="0">
              <a:lnSpc>
                <a:spcPct val="100000"/>
              </a:lnSpc>
              <a:spcBef>
                <a:spcPts val="0"/>
              </a:spcBef>
              <a:buNone/>
              <a:defRPr sz="1800"/>
            </a:lvl1pPr>
          </a:lstStyle>
          <a:p>
            <a:pPr lvl="0"/>
            <a:r>
              <a:rPr lang="en-US"/>
              <a:t>Edit Master text styles</a:t>
            </a:r>
          </a:p>
        </p:txBody>
      </p:sp>
      <p:sp>
        <p:nvSpPr>
          <p:cNvPr id="31" name="AutoShape 291">
            <a:extLst>
              <a:ext uri="{FF2B5EF4-FFF2-40B4-BE49-F238E27FC236}">
                <a16:creationId xmlns:a16="http://schemas.microsoft.com/office/drawing/2014/main" id="{ADA1F60F-EF7A-4A89-BA24-54D7D798819F}"/>
              </a:ext>
            </a:extLst>
          </p:cNvPr>
          <p:cNvSpPr>
            <a:spLocks/>
          </p:cNvSpPr>
          <p:nvPr/>
        </p:nvSpPr>
        <p:spPr bwMode="auto">
          <a:xfrm>
            <a:off x="4272547" y="1930985"/>
            <a:ext cx="1740987" cy="1487980"/>
          </a:xfrm>
          <a:custGeom>
            <a:avLst/>
            <a:gdLst/>
            <a:ahLst/>
            <a:cxnLst/>
            <a:rect l="0" t="0" r="r" b="b"/>
            <a:pathLst>
              <a:path w="21458" h="21246">
                <a:moveTo>
                  <a:pt x="21458" y="12411"/>
                </a:moveTo>
                <a:lnTo>
                  <a:pt x="21458" y="1072"/>
                </a:lnTo>
                <a:cubicBezTo>
                  <a:pt x="21458" y="447"/>
                  <a:pt x="21000" y="-44"/>
                  <a:pt x="20464" y="3"/>
                </a:cubicBezTo>
                <a:cubicBezTo>
                  <a:pt x="12032" y="742"/>
                  <a:pt x="4677" y="5972"/>
                  <a:pt x="161" y="13646"/>
                </a:cubicBezTo>
                <a:cubicBezTo>
                  <a:pt x="-142" y="14162"/>
                  <a:pt x="-5" y="14870"/>
                  <a:pt x="460" y="15182"/>
                </a:cubicBezTo>
                <a:lnTo>
                  <a:pt x="8896" y="20852"/>
                </a:lnTo>
                <a:cubicBezTo>
                  <a:pt x="9944" y="21556"/>
                  <a:pt x="11258" y="21292"/>
                  <a:pt x="12078" y="20256"/>
                </a:cubicBezTo>
                <a:cubicBezTo>
                  <a:pt x="14006" y="17818"/>
                  <a:pt x="16556" y="16059"/>
                  <a:pt x="19435" y="15315"/>
                </a:cubicBezTo>
                <a:cubicBezTo>
                  <a:pt x="20612" y="15011"/>
                  <a:pt x="21458" y="13814"/>
                  <a:pt x="21458" y="12411"/>
                </a:cubicBezTo>
                <a:close/>
                <a:moveTo>
                  <a:pt x="21458" y="12411"/>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26" name="AutoShape 286">
            <a:extLst>
              <a:ext uri="{FF2B5EF4-FFF2-40B4-BE49-F238E27FC236}">
                <a16:creationId xmlns:a16="http://schemas.microsoft.com/office/drawing/2014/main" id="{4DCC6B99-EF46-4F1C-9036-BEB663950321}"/>
              </a:ext>
            </a:extLst>
          </p:cNvPr>
          <p:cNvSpPr>
            <a:spLocks/>
          </p:cNvSpPr>
          <p:nvPr/>
        </p:nvSpPr>
        <p:spPr bwMode="auto">
          <a:xfrm>
            <a:off x="6175415" y="1930985"/>
            <a:ext cx="1744041" cy="1487980"/>
          </a:xfrm>
          <a:custGeom>
            <a:avLst/>
            <a:gdLst/>
            <a:ahLst/>
            <a:cxnLst/>
            <a:rect l="0" t="0" r="r" b="b"/>
            <a:pathLst>
              <a:path w="21458" h="21246">
                <a:moveTo>
                  <a:pt x="12562" y="20852"/>
                </a:moveTo>
                <a:lnTo>
                  <a:pt x="20998" y="15182"/>
                </a:lnTo>
                <a:cubicBezTo>
                  <a:pt x="21463" y="14870"/>
                  <a:pt x="21600" y="14162"/>
                  <a:pt x="21297" y="13646"/>
                </a:cubicBezTo>
                <a:cubicBezTo>
                  <a:pt x="16781" y="5972"/>
                  <a:pt x="9426" y="742"/>
                  <a:pt x="994" y="3"/>
                </a:cubicBezTo>
                <a:cubicBezTo>
                  <a:pt x="458" y="-44"/>
                  <a:pt x="0" y="447"/>
                  <a:pt x="0" y="1072"/>
                </a:cubicBezTo>
                <a:lnTo>
                  <a:pt x="0" y="12411"/>
                </a:lnTo>
                <a:cubicBezTo>
                  <a:pt x="0" y="13814"/>
                  <a:pt x="846" y="15011"/>
                  <a:pt x="2023" y="15315"/>
                </a:cubicBezTo>
                <a:cubicBezTo>
                  <a:pt x="4902" y="16059"/>
                  <a:pt x="7451" y="17818"/>
                  <a:pt x="9380" y="20255"/>
                </a:cubicBezTo>
                <a:cubicBezTo>
                  <a:pt x="10200" y="21292"/>
                  <a:pt x="11514" y="21556"/>
                  <a:pt x="12562" y="20852"/>
                </a:cubicBezTo>
                <a:close/>
                <a:moveTo>
                  <a:pt x="12562" y="20852"/>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7" name="AutoShape 287">
            <a:extLst>
              <a:ext uri="{FF2B5EF4-FFF2-40B4-BE49-F238E27FC236}">
                <a16:creationId xmlns:a16="http://schemas.microsoft.com/office/drawing/2014/main" id="{C7CD91F4-2A54-4103-9020-7BED1D380DF9}"/>
              </a:ext>
            </a:extLst>
          </p:cNvPr>
          <p:cNvSpPr>
            <a:spLocks/>
          </p:cNvSpPr>
          <p:nvPr/>
        </p:nvSpPr>
        <p:spPr bwMode="auto">
          <a:xfrm>
            <a:off x="6178469" y="4851719"/>
            <a:ext cx="1740987" cy="1487980"/>
          </a:xfrm>
          <a:custGeom>
            <a:avLst/>
            <a:gdLst/>
            <a:ahLst/>
            <a:cxnLst/>
            <a:rect l="0" t="0" r="r" b="b"/>
            <a:pathLst>
              <a:path w="21458" h="21246">
                <a:moveTo>
                  <a:pt x="0" y="8835"/>
                </a:moveTo>
                <a:lnTo>
                  <a:pt x="0" y="20174"/>
                </a:lnTo>
                <a:cubicBezTo>
                  <a:pt x="0" y="20799"/>
                  <a:pt x="458" y="21290"/>
                  <a:pt x="994" y="21243"/>
                </a:cubicBezTo>
                <a:cubicBezTo>
                  <a:pt x="9426" y="20504"/>
                  <a:pt x="16780" y="15274"/>
                  <a:pt x="21297" y="7600"/>
                </a:cubicBezTo>
                <a:cubicBezTo>
                  <a:pt x="21600" y="7084"/>
                  <a:pt x="21462" y="6377"/>
                  <a:pt x="20998" y="6064"/>
                </a:cubicBezTo>
                <a:lnTo>
                  <a:pt x="12562" y="394"/>
                </a:lnTo>
                <a:cubicBezTo>
                  <a:pt x="11514" y="-310"/>
                  <a:pt x="10199" y="-46"/>
                  <a:pt x="9379" y="990"/>
                </a:cubicBezTo>
                <a:cubicBezTo>
                  <a:pt x="7451" y="3428"/>
                  <a:pt x="4901" y="5187"/>
                  <a:pt x="2023" y="5931"/>
                </a:cubicBezTo>
                <a:cubicBezTo>
                  <a:pt x="846" y="6235"/>
                  <a:pt x="0" y="7432"/>
                  <a:pt x="0" y="8835"/>
                </a:cubicBezTo>
                <a:close/>
                <a:moveTo>
                  <a:pt x="0" y="8835"/>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8" name="AutoShape 288">
            <a:extLst>
              <a:ext uri="{FF2B5EF4-FFF2-40B4-BE49-F238E27FC236}">
                <a16:creationId xmlns:a16="http://schemas.microsoft.com/office/drawing/2014/main" id="{D1B5FD3E-E370-4A51-ACEA-29F8EB92E6FE}"/>
              </a:ext>
            </a:extLst>
          </p:cNvPr>
          <p:cNvSpPr>
            <a:spLocks/>
          </p:cNvSpPr>
          <p:nvPr/>
        </p:nvSpPr>
        <p:spPr bwMode="auto">
          <a:xfrm>
            <a:off x="3906022" y="3133641"/>
            <a:ext cx="1105680" cy="1997267"/>
          </a:xfrm>
          <a:custGeom>
            <a:avLst/>
            <a:gdLst/>
            <a:ahLst/>
            <a:cxnLst/>
            <a:rect l="0" t="0" r="r" b="b"/>
            <a:pathLst>
              <a:path w="21228" h="21348">
                <a:moveTo>
                  <a:pt x="20038" y="10674"/>
                </a:moveTo>
                <a:cubicBezTo>
                  <a:pt x="20038" y="9387"/>
                  <a:pt x="20388" y="8146"/>
                  <a:pt x="21039" y="6979"/>
                </a:cubicBezTo>
                <a:cubicBezTo>
                  <a:pt x="21600" y="5971"/>
                  <a:pt x="20886" y="4879"/>
                  <a:pt x="19256" y="4351"/>
                </a:cubicBezTo>
                <a:lnTo>
                  <a:pt x="6147" y="107"/>
                </a:lnTo>
                <a:cubicBezTo>
                  <a:pt x="5426" y="-126"/>
                  <a:pt x="4502" y="34"/>
                  <a:pt x="4141" y="455"/>
                </a:cubicBezTo>
                <a:cubicBezTo>
                  <a:pt x="1488" y="3547"/>
                  <a:pt x="0" y="7013"/>
                  <a:pt x="0" y="10674"/>
                </a:cubicBezTo>
                <a:cubicBezTo>
                  <a:pt x="0" y="14335"/>
                  <a:pt x="1488" y="17801"/>
                  <a:pt x="4141" y="20893"/>
                </a:cubicBezTo>
                <a:cubicBezTo>
                  <a:pt x="4502" y="21314"/>
                  <a:pt x="5426" y="21474"/>
                  <a:pt x="6147" y="21241"/>
                </a:cubicBezTo>
                <a:lnTo>
                  <a:pt x="19255" y="16997"/>
                </a:lnTo>
                <a:cubicBezTo>
                  <a:pt x="20886" y="16469"/>
                  <a:pt x="21600" y="15377"/>
                  <a:pt x="21038" y="14369"/>
                </a:cubicBezTo>
                <a:cubicBezTo>
                  <a:pt x="20388" y="13202"/>
                  <a:pt x="20038" y="11961"/>
                  <a:pt x="20038" y="10674"/>
                </a:cubicBezTo>
                <a:close/>
                <a:moveTo>
                  <a:pt x="20038" y="10674"/>
                </a:moveTo>
              </a:path>
            </a:pathLst>
          </a:custGeom>
          <a:solidFill>
            <a:schemeClr val="accent1"/>
          </a:solidFill>
          <a:ln>
            <a:noFill/>
          </a:ln>
          <a:effectLst/>
        </p:spPr>
        <p:txBody>
          <a:bodyPr lIns="0" tIns="0" rIns="0" bIns="0"/>
          <a:lstStyle/>
          <a:p>
            <a:endParaRPr lang="en-US" sz="1857">
              <a:latin typeface="Roboto Thin" charset="0"/>
              <a:ea typeface="Roboto Thin" charset="0"/>
              <a:cs typeface="Roboto Thin" charset="0"/>
            </a:endParaRPr>
          </a:p>
        </p:txBody>
      </p:sp>
      <p:sp>
        <p:nvSpPr>
          <p:cNvPr id="29" name="AutoShape 289">
            <a:extLst>
              <a:ext uri="{FF2B5EF4-FFF2-40B4-BE49-F238E27FC236}">
                <a16:creationId xmlns:a16="http://schemas.microsoft.com/office/drawing/2014/main" id="{3DDC26D3-0968-4C72-821D-CD41B9B9F0D7}"/>
              </a:ext>
            </a:extLst>
          </p:cNvPr>
          <p:cNvSpPr>
            <a:spLocks/>
          </p:cNvSpPr>
          <p:nvPr/>
        </p:nvSpPr>
        <p:spPr bwMode="auto">
          <a:xfrm>
            <a:off x="4272547" y="4851719"/>
            <a:ext cx="1740987" cy="1487980"/>
          </a:xfrm>
          <a:custGeom>
            <a:avLst/>
            <a:gdLst/>
            <a:ahLst/>
            <a:cxnLst/>
            <a:rect l="0" t="0" r="r" b="b"/>
            <a:pathLst>
              <a:path w="21458" h="21246">
                <a:moveTo>
                  <a:pt x="8896" y="394"/>
                </a:moveTo>
                <a:lnTo>
                  <a:pt x="460" y="6064"/>
                </a:lnTo>
                <a:cubicBezTo>
                  <a:pt x="-5" y="6376"/>
                  <a:pt x="-142" y="7084"/>
                  <a:pt x="161" y="7600"/>
                </a:cubicBezTo>
                <a:cubicBezTo>
                  <a:pt x="4677" y="15274"/>
                  <a:pt x="12032" y="20504"/>
                  <a:pt x="20464" y="21243"/>
                </a:cubicBezTo>
                <a:cubicBezTo>
                  <a:pt x="21000" y="21290"/>
                  <a:pt x="21458" y="20799"/>
                  <a:pt x="21458" y="20174"/>
                </a:cubicBezTo>
                <a:lnTo>
                  <a:pt x="21458" y="8834"/>
                </a:lnTo>
                <a:cubicBezTo>
                  <a:pt x="21458" y="7431"/>
                  <a:pt x="20612" y="6234"/>
                  <a:pt x="19435" y="5931"/>
                </a:cubicBezTo>
                <a:cubicBezTo>
                  <a:pt x="16556" y="5187"/>
                  <a:pt x="14007" y="3428"/>
                  <a:pt x="12078" y="990"/>
                </a:cubicBezTo>
                <a:cubicBezTo>
                  <a:pt x="11258" y="-46"/>
                  <a:pt x="9944" y="-310"/>
                  <a:pt x="8896" y="394"/>
                </a:cubicBezTo>
                <a:close/>
                <a:moveTo>
                  <a:pt x="8896" y="394"/>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30" name="AutoShape 290">
            <a:extLst>
              <a:ext uri="{FF2B5EF4-FFF2-40B4-BE49-F238E27FC236}">
                <a16:creationId xmlns:a16="http://schemas.microsoft.com/office/drawing/2014/main" id="{E4F960E2-65AD-4458-9B0B-CBEC1B1D5A31}"/>
              </a:ext>
            </a:extLst>
          </p:cNvPr>
          <p:cNvSpPr>
            <a:spLocks/>
          </p:cNvSpPr>
          <p:nvPr/>
        </p:nvSpPr>
        <p:spPr bwMode="auto">
          <a:xfrm>
            <a:off x="7180299" y="3133641"/>
            <a:ext cx="1105680" cy="1997267"/>
          </a:xfrm>
          <a:custGeom>
            <a:avLst/>
            <a:gdLst/>
            <a:ahLst/>
            <a:cxnLst/>
            <a:rect l="0" t="0" r="r" b="b"/>
            <a:pathLst>
              <a:path w="21228" h="21348">
                <a:moveTo>
                  <a:pt x="1191" y="10674"/>
                </a:moveTo>
                <a:cubicBezTo>
                  <a:pt x="1191" y="11961"/>
                  <a:pt x="840" y="13202"/>
                  <a:pt x="190" y="14369"/>
                </a:cubicBezTo>
                <a:cubicBezTo>
                  <a:pt x="-372" y="15377"/>
                  <a:pt x="342" y="16469"/>
                  <a:pt x="1973" y="16997"/>
                </a:cubicBezTo>
                <a:lnTo>
                  <a:pt x="15081" y="21241"/>
                </a:lnTo>
                <a:cubicBezTo>
                  <a:pt x="15802" y="21474"/>
                  <a:pt x="16726" y="21314"/>
                  <a:pt x="17087" y="20893"/>
                </a:cubicBezTo>
                <a:cubicBezTo>
                  <a:pt x="19740" y="17801"/>
                  <a:pt x="21228" y="14335"/>
                  <a:pt x="21228" y="10674"/>
                </a:cubicBezTo>
                <a:cubicBezTo>
                  <a:pt x="21228" y="7013"/>
                  <a:pt x="19740" y="3547"/>
                  <a:pt x="17087" y="455"/>
                </a:cubicBezTo>
                <a:cubicBezTo>
                  <a:pt x="16726" y="34"/>
                  <a:pt x="15802" y="-126"/>
                  <a:pt x="15081" y="107"/>
                </a:cubicBezTo>
                <a:lnTo>
                  <a:pt x="1972" y="4351"/>
                </a:lnTo>
                <a:cubicBezTo>
                  <a:pt x="341" y="4878"/>
                  <a:pt x="-372" y="5971"/>
                  <a:pt x="189" y="6978"/>
                </a:cubicBezTo>
                <a:cubicBezTo>
                  <a:pt x="840" y="8145"/>
                  <a:pt x="1191" y="9386"/>
                  <a:pt x="1191" y="10674"/>
                </a:cubicBezTo>
                <a:close/>
                <a:moveTo>
                  <a:pt x="1191" y="10674"/>
                </a:moveTo>
              </a:path>
            </a:pathLst>
          </a:custGeom>
          <a:solidFill>
            <a:schemeClr val="accent4"/>
          </a:solidFill>
          <a:ln>
            <a:noFill/>
          </a:ln>
          <a:effectLst/>
        </p:spPr>
        <p:txBody>
          <a:bodyPr lIns="0" tIns="0" rIns="0" bIns="0"/>
          <a:lstStyle/>
          <a:p>
            <a:endParaRPr lang="en-US" sz="1857">
              <a:latin typeface="Roboto Thin" charset="0"/>
              <a:ea typeface="Roboto Thin" charset="0"/>
              <a:cs typeface="Roboto Thin" charset="0"/>
            </a:endParaRPr>
          </a:p>
        </p:txBody>
      </p:sp>
      <p:sp>
        <p:nvSpPr>
          <p:cNvPr id="32" name="Oval 31">
            <a:extLst>
              <a:ext uri="{FF2B5EF4-FFF2-40B4-BE49-F238E27FC236}">
                <a16:creationId xmlns:a16="http://schemas.microsoft.com/office/drawing/2014/main" id="{F69067E5-8828-4C1F-9E27-DB0E70F1BC41}"/>
              </a:ext>
            </a:extLst>
          </p:cNvPr>
          <p:cNvSpPr/>
          <p:nvPr/>
        </p:nvSpPr>
        <p:spPr>
          <a:xfrm>
            <a:off x="4583944" y="2616536"/>
            <a:ext cx="3024112" cy="3037613"/>
          </a:xfrm>
          <a:prstGeom prst="ellipse">
            <a:avLst/>
          </a:prstGeom>
          <a:solidFill>
            <a:schemeClr val="bg2">
              <a:alpha val="24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57"/>
          </a:p>
        </p:txBody>
      </p:sp>
      <p:sp>
        <p:nvSpPr>
          <p:cNvPr id="41" name="Picture Placeholder 2">
            <a:extLst>
              <a:ext uri="{FF2B5EF4-FFF2-40B4-BE49-F238E27FC236}">
                <a16:creationId xmlns:a16="http://schemas.microsoft.com/office/drawing/2014/main" id="{183D46A7-A9F8-4CFB-BD31-C79E4EEFB731}"/>
              </a:ext>
            </a:extLst>
          </p:cNvPr>
          <p:cNvSpPr>
            <a:spLocks noGrp="1"/>
          </p:cNvSpPr>
          <p:nvPr>
            <p:ph type="pic" sz="quarter" idx="11"/>
          </p:nvPr>
        </p:nvSpPr>
        <p:spPr>
          <a:xfrm>
            <a:off x="7755401" y="3970788"/>
            <a:ext cx="342900" cy="342900"/>
          </a:xfrm>
        </p:spPr>
        <p:txBody>
          <a:bodyPr anchor="t">
            <a:normAutofit/>
          </a:bodyPr>
          <a:lstStyle>
            <a:lvl1pPr marL="0" indent="0" algn="ctr">
              <a:buNone/>
              <a:defRPr sz="700"/>
            </a:lvl1pPr>
          </a:lstStyle>
          <a:p>
            <a:endParaRPr lang="en-IN"/>
          </a:p>
        </p:txBody>
      </p:sp>
      <p:sp>
        <p:nvSpPr>
          <p:cNvPr id="42" name="Picture Placeholder 2">
            <a:extLst>
              <a:ext uri="{FF2B5EF4-FFF2-40B4-BE49-F238E27FC236}">
                <a16:creationId xmlns:a16="http://schemas.microsoft.com/office/drawing/2014/main" id="{A4634416-0203-4F0B-BCED-FC384FFFB77E}"/>
              </a:ext>
            </a:extLst>
          </p:cNvPr>
          <p:cNvSpPr>
            <a:spLocks noGrp="1"/>
          </p:cNvSpPr>
          <p:nvPr>
            <p:ph type="pic" sz="quarter" idx="15"/>
          </p:nvPr>
        </p:nvSpPr>
        <p:spPr>
          <a:xfrm>
            <a:off x="4131504" y="3970788"/>
            <a:ext cx="342900" cy="342900"/>
          </a:xfrm>
        </p:spPr>
        <p:txBody>
          <a:bodyPr anchor="t">
            <a:normAutofit/>
          </a:bodyPr>
          <a:lstStyle>
            <a:lvl1pPr marL="0" indent="0" algn="ctr">
              <a:buNone/>
              <a:defRPr sz="700"/>
            </a:lvl1pPr>
          </a:lstStyle>
          <a:p>
            <a:endParaRPr lang="en-IN"/>
          </a:p>
        </p:txBody>
      </p:sp>
      <p:sp>
        <p:nvSpPr>
          <p:cNvPr id="43" name="Picture Placeholder 2">
            <a:extLst>
              <a:ext uri="{FF2B5EF4-FFF2-40B4-BE49-F238E27FC236}">
                <a16:creationId xmlns:a16="http://schemas.microsoft.com/office/drawing/2014/main" id="{05274FD8-9149-4286-AA0F-0695A8EFCC6D}"/>
              </a:ext>
            </a:extLst>
          </p:cNvPr>
          <p:cNvSpPr>
            <a:spLocks noGrp="1"/>
          </p:cNvSpPr>
          <p:nvPr>
            <p:ph type="pic" sz="quarter" idx="16"/>
          </p:nvPr>
        </p:nvSpPr>
        <p:spPr>
          <a:xfrm>
            <a:off x="6869626" y="2375359"/>
            <a:ext cx="342900" cy="342900"/>
          </a:xfrm>
        </p:spPr>
        <p:txBody>
          <a:bodyPr anchor="t">
            <a:normAutofit/>
          </a:bodyPr>
          <a:lstStyle>
            <a:lvl1pPr marL="0" indent="0" algn="ctr">
              <a:buNone/>
              <a:defRPr sz="700"/>
            </a:lvl1pPr>
          </a:lstStyle>
          <a:p>
            <a:endParaRPr lang="en-IN"/>
          </a:p>
        </p:txBody>
      </p:sp>
      <p:sp>
        <p:nvSpPr>
          <p:cNvPr id="44" name="Picture Placeholder 2">
            <a:extLst>
              <a:ext uri="{FF2B5EF4-FFF2-40B4-BE49-F238E27FC236}">
                <a16:creationId xmlns:a16="http://schemas.microsoft.com/office/drawing/2014/main" id="{C3A6DFAC-6BAB-4D6C-960C-1668F79C4BE2}"/>
              </a:ext>
            </a:extLst>
          </p:cNvPr>
          <p:cNvSpPr>
            <a:spLocks noGrp="1"/>
          </p:cNvSpPr>
          <p:nvPr>
            <p:ph type="pic" sz="quarter" idx="17"/>
          </p:nvPr>
        </p:nvSpPr>
        <p:spPr>
          <a:xfrm>
            <a:off x="5017279" y="2375359"/>
            <a:ext cx="342900" cy="342900"/>
          </a:xfrm>
        </p:spPr>
        <p:txBody>
          <a:bodyPr anchor="t">
            <a:normAutofit/>
          </a:bodyPr>
          <a:lstStyle>
            <a:lvl1pPr marL="0" indent="0" algn="ctr">
              <a:buNone/>
              <a:defRPr sz="700"/>
            </a:lvl1pPr>
          </a:lstStyle>
          <a:p>
            <a:endParaRPr lang="en-IN"/>
          </a:p>
        </p:txBody>
      </p:sp>
      <p:sp>
        <p:nvSpPr>
          <p:cNvPr id="45" name="Picture Placeholder 2">
            <a:extLst>
              <a:ext uri="{FF2B5EF4-FFF2-40B4-BE49-F238E27FC236}">
                <a16:creationId xmlns:a16="http://schemas.microsoft.com/office/drawing/2014/main" id="{06D34FD0-1F45-4AC9-AC71-A3B40C0826C6}"/>
              </a:ext>
            </a:extLst>
          </p:cNvPr>
          <p:cNvSpPr>
            <a:spLocks noGrp="1"/>
          </p:cNvSpPr>
          <p:nvPr>
            <p:ph type="pic" sz="quarter" idx="18"/>
          </p:nvPr>
        </p:nvSpPr>
        <p:spPr>
          <a:xfrm>
            <a:off x="6869626" y="5617028"/>
            <a:ext cx="342900" cy="342900"/>
          </a:xfrm>
        </p:spPr>
        <p:txBody>
          <a:bodyPr anchor="t">
            <a:normAutofit/>
          </a:bodyPr>
          <a:lstStyle>
            <a:lvl1pPr marL="0" indent="0" algn="ctr">
              <a:buNone/>
              <a:defRPr sz="700"/>
            </a:lvl1pPr>
          </a:lstStyle>
          <a:p>
            <a:endParaRPr lang="en-IN"/>
          </a:p>
        </p:txBody>
      </p:sp>
      <p:sp>
        <p:nvSpPr>
          <p:cNvPr id="46" name="Picture Placeholder 2">
            <a:extLst>
              <a:ext uri="{FF2B5EF4-FFF2-40B4-BE49-F238E27FC236}">
                <a16:creationId xmlns:a16="http://schemas.microsoft.com/office/drawing/2014/main" id="{DDD55799-5890-4290-9F50-9441239ED8FC}"/>
              </a:ext>
            </a:extLst>
          </p:cNvPr>
          <p:cNvSpPr>
            <a:spLocks noGrp="1"/>
          </p:cNvSpPr>
          <p:nvPr>
            <p:ph type="pic" sz="quarter" idx="19"/>
          </p:nvPr>
        </p:nvSpPr>
        <p:spPr>
          <a:xfrm>
            <a:off x="5017279" y="5617028"/>
            <a:ext cx="342900" cy="342900"/>
          </a:xfrm>
        </p:spPr>
        <p:txBody>
          <a:bodyPr anchor="t">
            <a:normAutofit/>
          </a:bodyPr>
          <a:lstStyle>
            <a:lvl1pPr marL="0" indent="0" algn="ctr">
              <a:buNone/>
              <a:defRPr sz="700"/>
            </a:lvl1pPr>
          </a:lstStyle>
          <a:p>
            <a:endParaRPr lang="en-IN"/>
          </a:p>
        </p:txBody>
      </p:sp>
    </p:spTree>
    <p:extLst>
      <p:ext uri="{BB962C8B-B14F-4D97-AF65-F5344CB8AC3E}">
        <p14:creationId xmlns:p14="http://schemas.microsoft.com/office/powerpoint/2010/main" val="181941342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72F1-98C4-4A0C-8A18-34EBB375A8BC}"/>
              </a:ext>
            </a:extLst>
          </p:cNvPr>
          <p:cNvSpPr>
            <a:spLocks noGrp="1"/>
          </p:cNvSpPr>
          <p:nvPr>
            <p:ph type="title"/>
          </p:nvPr>
        </p:nvSpPr>
        <p:spPr>
          <a:xfrm>
            <a:off x="580340" y="587830"/>
            <a:ext cx="10987431" cy="979715"/>
          </a:xfrm>
        </p:spPr>
        <p:txBody>
          <a:bodyPr>
            <a:normAutofit/>
          </a:bodyPr>
          <a:lstStyle>
            <a:lvl1pPr>
              <a:defRPr sz="3300" b="1">
                <a:solidFill>
                  <a:schemeClr val="accent4"/>
                </a:solidFill>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8F1F1F-8AE8-4101-871F-330193E381D7}"/>
              </a:ext>
            </a:extLst>
          </p:cNvPr>
          <p:cNvSpPr>
            <a:spLocks noGrp="1"/>
          </p:cNvSpPr>
          <p:nvPr>
            <p:ph sz="half" idx="1"/>
          </p:nvPr>
        </p:nvSpPr>
        <p:spPr>
          <a:xfrm>
            <a:off x="580341" y="1876153"/>
            <a:ext cx="5475021" cy="4109902"/>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FD51D4-6DEF-45D5-A6E3-15AD39381400}"/>
              </a:ext>
            </a:extLst>
          </p:cNvPr>
          <p:cNvSpPr>
            <a:spLocks noGrp="1"/>
          </p:cNvSpPr>
          <p:nvPr>
            <p:ph sz="half" idx="2"/>
          </p:nvPr>
        </p:nvSpPr>
        <p:spPr>
          <a:xfrm>
            <a:off x="6136640" y="1876153"/>
            <a:ext cx="5431130" cy="4109902"/>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9217978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5268-D4BE-40B4-BA22-23E231E174CE}"/>
              </a:ext>
            </a:extLst>
          </p:cNvPr>
          <p:cNvSpPr>
            <a:spLocks noGrp="1"/>
          </p:cNvSpPr>
          <p:nvPr>
            <p:ph type="title"/>
          </p:nvPr>
        </p:nvSpPr>
        <p:spPr>
          <a:xfrm>
            <a:off x="580340" y="587830"/>
            <a:ext cx="10987431" cy="979715"/>
          </a:xfrm>
        </p:spPr>
        <p:txBody>
          <a:bodyPr>
            <a:normAutofit/>
          </a:bodyPr>
          <a:lstStyle>
            <a:lvl1pPr>
              <a:defRPr sz="33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052A09-5880-43A2-9ED3-AB4AAFB50EE8}"/>
              </a:ext>
            </a:extLst>
          </p:cNvPr>
          <p:cNvSpPr>
            <a:spLocks noGrp="1"/>
          </p:cNvSpPr>
          <p:nvPr>
            <p:ph type="body" idx="1"/>
          </p:nvPr>
        </p:nvSpPr>
        <p:spPr>
          <a:xfrm>
            <a:off x="580339" y="1763487"/>
            <a:ext cx="5417448" cy="636815"/>
          </a:xfrm>
        </p:spPr>
        <p:txBody>
          <a:bodyPr anchor="ctr">
            <a:normAutofit/>
          </a:bodyPr>
          <a:lstStyle>
            <a:lvl1pPr marL="0" indent="0">
              <a:buNone/>
              <a:defRPr sz="2000" b="1">
                <a:solidFill>
                  <a:schemeClr val="accent1"/>
                </a:solidFill>
                <a:latin typeface="+mj-lt"/>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a:extLst>
              <a:ext uri="{FF2B5EF4-FFF2-40B4-BE49-F238E27FC236}">
                <a16:creationId xmlns:a16="http://schemas.microsoft.com/office/drawing/2014/main" id="{85C97AA1-8D02-4386-8A63-31F1034A3682}"/>
              </a:ext>
            </a:extLst>
          </p:cNvPr>
          <p:cNvSpPr>
            <a:spLocks noGrp="1"/>
          </p:cNvSpPr>
          <p:nvPr>
            <p:ph sz="half" idx="2"/>
          </p:nvPr>
        </p:nvSpPr>
        <p:spPr>
          <a:xfrm>
            <a:off x="580339" y="2505415"/>
            <a:ext cx="5417448" cy="3491624"/>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2AB6C3-A810-4CCC-A5F0-C7246CB2D22E}"/>
              </a:ext>
            </a:extLst>
          </p:cNvPr>
          <p:cNvSpPr>
            <a:spLocks noGrp="1"/>
          </p:cNvSpPr>
          <p:nvPr>
            <p:ph type="body" sz="quarter" idx="3"/>
          </p:nvPr>
        </p:nvSpPr>
        <p:spPr>
          <a:xfrm>
            <a:off x="6172201" y="1763487"/>
            <a:ext cx="5395570" cy="636815"/>
          </a:xfrm>
        </p:spPr>
        <p:txBody>
          <a:bodyPr anchor="ctr">
            <a:normAutofit/>
          </a:bodyPr>
          <a:lstStyle>
            <a:lvl1pPr marL="0" indent="0">
              <a:buNone/>
              <a:defRPr sz="2000" b="1">
                <a:solidFill>
                  <a:schemeClr val="accent1"/>
                </a:solidFill>
                <a:latin typeface="+mj-lt"/>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a:extLst>
              <a:ext uri="{FF2B5EF4-FFF2-40B4-BE49-F238E27FC236}">
                <a16:creationId xmlns:a16="http://schemas.microsoft.com/office/drawing/2014/main" id="{252B914C-4C51-4482-B89D-8B0C987883C7}"/>
              </a:ext>
            </a:extLst>
          </p:cNvPr>
          <p:cNvSpPr>
            <a:spLocks noGrp="1"/>
          </p:cNvSpPr>
          <p:nvPr>
            <p:ph sz="quarter" idx="4"/>
          </p:nvPr>
        </p:nvSpPr>
        <p:spPr>
          <a:xfrm>
            <a:off x="6172201" y="2505415"/>
            <a:ext cx="5395570" cy="3491624"/>
          </a:xfrm>
        </p:spPr>
        <p:txBody>
          <a:bodyPr>
            <a:normAutofit/>
          </a:bodyPr>
          <a:lstStyle>
            <a:lvl1pPr>
              <a:buClr>
                <a:schemeClr val="accent4"/>
              </a:buClr>
              <a:defRPr sz="2000"/>
            </a:lvl1pPr>
            <a:lvl2pPr>
              <a:buClr>
                <a:schemeClr val="accent1">
                  <a:lumMod val="50000"/>
                </a:schemeClr>
              </a:buClr>
              <a:defRPr sz="1800"/>
            </a:lvl2pPr>
            <a:lvl3pPr>
              <a:buClr>
                <a:schemeClr val="accent4"/>
              </a:buClr>
              <a:defRPr sz="1400"/>
            </a:lvl3pPr>
            <a:lvl4pPr>
              <a:buClr>
                <a:schemeClr val="accent4"/>
              </a:buClr>
              <a:defRPr sz="1200"/>
            </a:lvl4pPr>
            <a:lvl5pPr>
              <a:buClr>
                <a:schemeClr val="accent4"/>
              </a:buCl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342408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mparison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7" name="Content Placeholder 6">
            <a:extLst>
              <a:ext uri="{FF2B5EF4-FFF2-40B4-BE49-F238E27FC236}">
                <a16:creationId xmlns:a16="http://schemas.microsoft.com/office/drawing/2014/main" id="{27F661F8-EAA2-1042-89C8-6A22F809408B}"/>
              </a:ext>
            </a:extLst>
          </p:cNvPr>
          <p:cNvSpPr>
            <a:spLocks noGrp="1"/>
          </p:cNvSpPr>
          <p:nvPr>
            <p:ph sz="quarter" idx="11"/>
          </p:nvPr>
        </p:nvSpPr>
        <p:spPr>
          <a:xfrm>
            <a:off x="580815" y="1877787"/>
            <a:ext cx="5352627" cy="4109357"/>
          </a:xfrm>
          <a:prstGeom prst="rect">
            <a:avLst/>
          </a:prstGeom>
        </p:spPr>
        <p:txBody>
          <a:bodyPr/>
          <a:lstStyle>
            <a:lvl1pPr>
              <a:buClr>
                <a:schemeClr val="accent4"/>
              </a:buClr>
              <a:defRPr sz="2000">
                <a:solidFill>
                  <a:schemeClr val="tx2"/>
                </a:solidFill>
                <a:latin typeface="+mn-lt"/>
                <a:ea typeface="Roboto" pitchFamily="2" charset="0"/>
                <a:cs typeface="+mn-cs"/>
              </a:defRPr>
            </a:lvl1pPr>
            <a:lvl2pPr>
              <a:buClr>
                <a:schemeClr val="accent1">
                  <a:lumMod val="50000"/>
                </a:schemeClr>
              </a:buClr>
              <a:defRPr sz="1800">
                <a:solidFill>
                  <a:schemeClr val="tx2"/>
                </a:solidFill>
                <a:latin typeface="+mn-lt"/>
                <a:ea typeface="Roboto" pitchFamily="2" charset="0"/>
                <a:cs typeface="+mn-cs"/>
              </a:defRPr>
            </a:lvl2pPr>
            <a:lvl3pPr>
              <a:buClr>
                <a:schemeClr val="accent4"/>
              </a:buClr>
              <a:defRPr sz="1400">
                <a:solidFill>
                  <a:schemeClr val="tx2"/>
                </a:solidFill>
                <a:latin typeface="+mn-lt"/>
                <a:ea typeface="Roboto" pitchFamily="2" charset="0"/>
                <a:cs typeface="+mn-cs"/>
              </a:defRPr>
            </a:lvl3pPr>
            <a:lvl4pPr>
              <a:buClr>
                <a:schemeClr val="accent4"/>
              </a:buClr>
              <a:defRPr sz="1200">
                <a:solidFill>
                  <a:schemeClr val="tx2"/>
                </a:solidFill>
                <a:latin typeface="+mn-lt"/>
                <a:ea typeface="Roboto" pitchFamily="2" charset="0"/>
                <a:cs typeface="+mn-cs"/>
              </a:defRPr>
            </a:lvl4pPr>
            <a:lvl5pPr>
              <a:buClr>
                <a:schemeClr val="accent4"/>
              </a:buClr>
              <a:defRPr sz="1200">
                <a:solidFill>
                  <a:schemeClr val="tx2"/>
                </a:solidFill>
                <a:latin typeface="+mn-lt"/>
                <a:ea typeface="Roboto" pitchFamily="2" charset="0"/>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5659244B-9381-4242-A74E-3B7E2E2CE445}"/>
              </a:ext>
            </a:extLst>
          </p:cNvPr>
          <p:cNvSpPr>
            <a:spLocks noGrp="1"/>
          </p:cNvSpPr>
          <p:nvPr>
            <p:ph sz="quarter" idx="12"/>
          </p:nvPr>
        </p:nvSpPr>
        <p:spPr>
          <a:xfrm>
            <a:off x="6109548" y="1877787"/>
            <a:ext cx="5459307" cy="4109357"/>
          </a:xfrm>
          <a:prstGeom prst="rect">
            <a:avLst/>
          </a:prstGeom>
        </p:spPr>
        <p:txBody>
          <a:bodyPr/>
          <a:lstStyle>
            <a:lvl1pPr>
              <a:buClr>
                <a:schemeClr val="accent4"/>
              </a:buClr>
              <a:defRPr sz="2000">
                <a:solidFill>
                  <a:schemeClr val="tx2"/>
                </a:solidFill>
                <a:latin typeface="+mn-lt"/>
                <a:ea typeface="Roboto" pitchFamily="2" charset="0"/>
                <a:cs typeface="+mn-cs"/>
              </a:defRPr>
            </a:lvl1pPr>
            <a:lvl2pPr>
              <a:buClr>
                <a:schemeClr val="accent1">
                  <a:lumMod val="50000"/>
                </a:schemeClr>
              </a:buClr>
              <a:defRPr sz="1800">
                <a:solidFill>
                  <a:schemeClr val="tx2"/>
                </a:solidFill>
                <a:latin typeface="+mn-lt"/>
                <a:ea typeface="Roboto" pitchFamily="2" charset="0"/>
                <a:cs typeface="+mn-cs"/>
              </a:defRPr>
            </a:lvl2pPr>
            <a:lvl3pPr>
              <a:buClr>
                <a:schemeClr val="accent4"/>
              </a:buClr>
              <a:defRPr sz="1400">
                <a:solidFill>
                  <a:schemeClr val="tx2"/>
                </a:solidFill>
                <a:latin typeface="+mn-lt"/>
                <a:ea typeface="Roboto" pitchFamily="2" charset="0"/>
                <a:cs typeface="+mn-cs"/>
              </a:defRPr>
            </a:lvl3pPr>
            <a:lvl4pPr>
              <a:buClr>
                <a:schemeClr val="accent4"/>
              </a:buClr>
              <a:defRPr sz="1200">
                <a:solidFill>
                  <a:schemeClr val="tx2"/>
                </a:solidFill>
                <a:latin typeface="+mn-lt"/>
                <a:ea typeface="Roboto" pitchFamily="2" charset="0"/>
                <a:cs typeface="+mn-cs"/>
              </a:defRPr>
            </a:lvl4pPr>
            <a:lvl5pPr>
              <a:buClr>
                <a:schemeClr val="accent4"/>
              </a:buClr>
              <a:defRPr sz="1200">
                <a:solidFill>
                  <a:schemeClr val="tx2"/>
                </a:solidFill>
                <a:latin typeface="+mn-lt"/>
                <a:ea typeface="Roboto" pitchFamily="2" charset="0"/>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9053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Highlight 1">
    <p:spTree>
      <p:nvGrpSpPr>
        <p:cNvPr id="1" name=""/>
        <p:cNvGrpSpPr/>
        <p:nvPr/>
      </p:nvGrpSpPr>
      <p:grpSpPr>
        <a:xfrm>
          <a:off x="0" y="0"/>
          <a:ext cx="0" cy="0"/>
          <a:chOff x="0" y="0"/>
          <a:chExt cx="0" cy="0"/>
        </a:xfrm>
      </p:grpSpPr>
      <p:sp>
        <p:nvSpPr>
          <p:cNvPr id="8" name="Shape 665">
            <a:extLst>
              <a:ext uri="{FF2B5EF4-FFF2-40B4-BE49-F238E27FC236}">
                <a16:creationId xmlns:a16="http://schemas.microsoft.com/office/drawing/2014/main" id="{2DEC90FF-AE90-AF41-B738-ACFE38A8171B}"/>
              </a:ext>
            </a:extLst>
          </p:cNvPr>
          <p:cNvSpPr/>
          <p:nvPr userDrawn="1"/>
        </p:nvSpPr>
        <p:spPr>
          <a:xfrm>
            <a:off x="0" y="0"/>
            <a:ext cx="12192000" cy="2639786"/>
          </a:xfrm>
          <a:prstGeom prst="rect">
            <a:avLst/>
          </a:prstGeom>
          <a:solidFill>
            <a:srgbClr val="0D234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2" y="589789"/>
            <a:ext cx="10986516" cy="992309"/>
          </a:xfrm>
          <a:prstGeom prst="rect">
            <a:avLst/>
          </a:prstGeom>
        </p:spPr>
        <p:txBody>
          <a:bodyPr/>
          <a:lstStyle>
            <a:lvl1pPr>
              <a:defRPr sz="3300" b="1">
                <a:solidFill>
                  <a:schemeClr val="bg1"/>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2" y="1728108"/>
            <a:ext cx="10986516" cy="680357"/>
          </a:xfrm>
          <a:prstGeom prst="rect">
            <a:avLst/>
          </a:prstGeom>
        </p:spPr>
        <p:txBody>
          <a:bodyPr>
            <a:norm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5" name="TextBox 4">
            <a:extLst>
              <a:ext uri="{FF2B5EF4-FFF2-40B4-BE49-F238E27FC236}">
                <a16:creationId xmlns:a16="http://schemas.microsoft.com/office/drawing/2014/main" id="{C2F15064-9687-2744-BEB4-CA21A744BBE7}"/>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7" name="Content Placeholder 6">
            <a:extLst>
              <a:ext uri="{FF2B5EF4-FFF2-40B4-BE49-F238E27FC236}">
                <a16:creationId xmlns:a16="http://schemas.microsoft.com/office/drawing/2014/main" id="{94FAB905-711F-4EAC-9B21-675C72A11984}"/>
              </a:ext>
            </a:extLst>
          </p:cNvPr>
          <p:cNvSpPr>
            <a:spLocks noGrp="1"/>
          </p:cNvSpPr>
          <p:nvPr>
            <p:ph sz="quarter" idx="11"/>
          </p:nvPr>
        </p:nvSpPr>
        <p:spPr>
          <a:xfrm>
            <a:off x="580814" y="2898323"/>
            <a:ext cx="10988040" cy="3087733"/>
          </a:xfrm>
          <a:prstGeom prst="rect">
            <a:avLst/>
          </a:prstGeom>
        </p:spPr>
        <p:txBody>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50717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Highlight 2">
    <p:spTree>
      <p:nvGrpSpPr>
        <p:cNvPr id="1" name=""/>
        <p:cNvGrpSpPr/>
        <p:nvPr/>
      </p:nvGrpSpPr>
      <p:grpSpPr>
        <a:xfrm>
          <a:off x="0" y="0"/>
          <a:ext cx="0" cy="0"/>
          <a:chOff x="0" y="0"/>
          <a:chExt cx="0" cy="0"/>
        </a:xfrm>
      </p:grpSpPr>
      <p:sp>
        <p:nvSpPr>
          <p:cNvPr id="26" name="Text Placeholder 5">
            <a:extLst>
              <a:ext uri="{FF2B5EF4-FFF2-40B4-BE49-F238E27FC236}">
                <a16:creationId xmlns:a16="http://schemas.microsoft.com/office/drawing/2014/main" id="{D248AFF4-4CB0-4A47-B958-913B3FD109C3}"/>
              </a:ext>
            </a:extLst>
          </p:cNvPr>
          <p:cNvSpPr>
            <a:spLocks noGrp="1"/>
          </p:cNvSpPr>
          <p:nvPr>
            <p:ph type="body" sz="quarter" idx="23"/>
          </p:nvPr>
        </p:nvSpPr>
        <p:spPr>
          <a:xfrm>
            <a:off x="9325781" y="556991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7" name="Text Placeholder 5">
            <a:extLst>
              <a:ext uri="{FF2B5EF4-FFF2-40B4-BE49-F238E27FC236}">
                <a16:creationId xmlns:a16="http://schemas.microsoft.com/office/drawing/2014/main" id="{AD6AE61A-848D-46C6-AACF-3F823F6EB695}"/>
              </a:ext>
            </a:extLst>
          </p:cNvPr>
          <p:cNvSpPr>
            <a:spLocks noGrp="1"/>
          </p:cNvSpPr>
          <p:nvPr>
            <p:ph type="body" sz="quarter" idx="24"/>
          </p:nvPr>
        </p:nvSpPr>
        <p:spPr>
          <a:xfrm>
            <a:off x="9325782" y="4829282"/>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24" name="Text Placeholder 5">
            <a:extLst>
              <a:ext uri="{FF2B5EF4-FFF2-40B4-BE49-F238E27FC236}">
                <a16:creationId xmlns:a16="http://schemas.microsoft.com/office/drawing/2014/main" id="{6ACF6803-FE2D-4EBB-B25D-7C251FCD0426}"/>
              </a:ext>
            </a:extLst>
          </p:cNvPr>
          <p:cNvSpPr>
            <a:spLocks noGrp="1"/>
          </p:cNvSpPr>
          <p:nvPr>
            <p:ph type="body" sz="quarter" idx="21"/>
          </p:nvPr>
        </p:nvSpPr>
        <p:spPr>
          <a:xfrm>
            <a:off x="6960745" y="555673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5" name="Text Placeholder 5">
            <a:extLst>
              <a:ext uri="{FF2B5EF4-FFF2-40B4-BE49-F238E27FC236}">
                <a16:creationId xmlns:a16="http://schemas.microsoft.com/office/drawing/2014/main" id="{4968CEF2-1F13-4A44-BF00-5C222F3470EA}"/>
              </a:ext>
            </a:extLst>
          </p:cNvPr>
          <p:cNvSpPr>
            <a:spLocks noGrp="1"/>
          </p:cNvSpPr>
          <p:nvPr>
            <p:ph type="body" sz="quarter" idx="22"/>
          </p:nvPr>
        </p:nvSpPr>
        <p:spPr>
          <a:xfrm>
            <a:off x="6960746" y="4829282"/>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
        <p:nvSpPr>
          <p:cNvPr id="8" name="Shape 665">
            <a:extLst>
              <a:ext uri="{FF2B5EF4-FFF2-40B4-BE49-F238E27FC236}">
                <a16:creationId xmlns:a16="http://schemas.microsoft.com/office/drawing/2014/main" id="{2DEC90FF-AE90-AF41-B738-ACFE38A8171B}"/>
              </a:ext>
            </a:extLst>
          </p:cNvPr>
          <p:cNvSpPr/>
          <p:nvPr userDrawn="1"/>
        </p:nvSpPr>
        <p:spPr>
          <a:xfrm>
            <a:off x="0" y="1"/>
            <a:ext cx="12192000" cy="4829281"/>
          </a:xfrm>
          <a:prstGeom prst="rect">
            <a:avLst/>
          </a:prstGeom>
          <a:solidFill>
            <a:srgbClr val="0D2344"/>
          </a:solidFill>
          <a:ln>
            <a:noFill/>
          </a:ln>
        </p:spPr>
        <p:txBody>
          <a:bodyPr spcFirstLastPara="1" wrap="square" lIns="45570" tIns="22774" rIns="45570" bIns="22774" anchor="ctr" anchorCtr="0">
            <a:noAutofit/>
          </a:bodyPr>
          <a:lstStyle/>
          <a:p>
            <a:pPr lvl="0"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4" y="586122"/>
            <a:ext cx="3902697" cy="992309"/>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bg1"/>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4" y="1728108"/>
            <a:ext cx="3902696" cy="1147829"/>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5" name="TextBox 4">
            <a:extLst>
              <a:ext uri="{FF2B5EF4-FFF2-40B4-BE49-F238E27FC236}">
                <a16:creationId xmlns:a16="http://schemas.microsoft.com/office/drawing/2014/main" id="{45CCF68B-C052-7C42-A474-EA9B7FC89D3F}"/>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sp>
        <p:nvSpPr>
          <p:cNvPr id="4" name="Text Placeholder 3">
            <a:extLst>
              <a:ext uri="{FF2B5EF4-FFF2-40B4-BE49-F238E27FC236}">
                <a16:creationId xmlns:a16="http://schemas.microsoft.com/office/drawing/2014/main" id="{C48249EC-5DC9-4EF6-942A-51D94FD79CE6}"/>
              </a:ext>
            </a:extLst>
          </p:cNvPr>
          <p:cNvSpPr>
            <a:spLocks noGrp="1"/>
          </p:cNvSpPr>
          <p:nvPr>
            <p:ph type="body" sz="quarter" idx="11"/>
          </p:nvPr>
        </p:nvSpPr>
        <p:spPr>
          <a:xfrm>
            <a:off x="4632202"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7" name="Text Placeholder 3">
            <a:extLst>
              <a:ext uri="{FF2B5EF4-FFF2-40B4-BE49-F238E27FC236}">
                <a16:creationId xmlns:a16="http://schemas.microsoft.com/office/drawing/2014/main" id="{1265D542-09A6-4186-BB98-1D092A612485}"/>
              </a:ext>
            </a:extLst>
          </p:cNvPr>
          <p:cNvSpPr>
            <a:spLocks noGrp="1"/>
          </p:cNvSpPr>
          <p:nvPr>
            <p:ph type="body" sz="quarter" idx="12"/>
          </p:nvPr>
        </p:nvSpPr>
        <p:spPr>
          <a:xfrm>
            <a:off x="5834265"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8" name="Text Placeholder 3">
            <a:extLst>
              <a:ext uri="{FF2B5EF4-FFF2-40B4-BE49-F238E27FC236}">
                <a16:creationId xmlns:a16="http://schemas.microsoft.com/office/drawing/2014/main" id="{63E0831D-41CC-475E-BDE7-8ACEE573333D}"/>
              </a:ext>
            </a:extLst>
          </p:cNvPr>
          <p:cNvSpPr>
            <a:spLocks noGrp="1"/>
          </p:cNvSpPr>
          <p:nvPr>
            <p:ph type="body" sz="quarter" idx="13"/>
          </p:nvPr>
        </p:nvSpPr>
        <p:spPr>
          <a:xfrm>
            <a:off x="7036328"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19" name="Text Placeholder 3">
            <a:extLst>
              <a:ext uri="{FF2B5EF4-FFF2-40B4-BE49-F238E27FC236}">
                <a16:creationId xmlns:a16="http://schemas.microsoft.com/office/drawing/2014/main" id="{4CACA51A-B659-4658-89E7-CE51550AE511}"/>
              </a:ext>
            </a:extLst>
          </p:cNvPr>
          <p:cNvSpPr>
            <a:spLocks noGrp="1"/>
          </p:cNvSpPr>
          <p:nvPr>
            <p:ph type="body" sz="quarter" idx="14"/>
          </p:nvPr>
        </p:nvSpPr>
        <p:spPr>
          <a:xfrm>
            <a:off x="8238391"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0" name="Text Placeholder 3">
            <a:extLst>
              <a:ext uri="{FF2B5EF4-FFF2-40B4-BE49-F238E27FC236}">
                <a16:creationId xmlns:a16="http://schemas.microsoft.com/office/drawing/2014/main" id="{10B88B77-72E8-43F3-8139-DDCEECE32AD1}"/>
              </a:ext>
            </a:extLst>
          </p:cNvPr>
          <p:cNvSpPr>
            <a:spLocks noGrp="1"/>
          </p:cNvSpPr>
          <p:nvPr>
            <p:ph type="body" sz="quarter" idx="15"/>
          </p:nvPr>
        </p:nvSpPr>
        <p:spPr>
          <a:xfrm>
            <a:off x="9440454"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1" name="Text Placeholder 3">
            <a:extLst>
              <a:ext uri="{FF2B5EF4-FFF2-40B4-BE49-F238E27FC236}">
                <a16:creationId xmlns:a16="http://schemas.microsoft.com/office/drawing/2014/main" id="{D45846BA-D0E4-4356-85DC-BD7EB942DD5B}"/>
              </a:ext>
            </a:extLst>
          </p:cNvPr>
          <p:cNvSpPr>
            <a:spLocks noGrp="1"/>
          </p:cNvSpPr>
          <p:nvPr>
            <p:ph type="body" sz="quarter" idx="16"/>
          </p:nvPr>
        </p:nvSpPr>
        <p:spPr>
          <a:xfrm>
            <a:off x="10642517" y="2723576"/>
            <a:ext cx="863194" cy="2105706"/>
          </a:xfrm>
          <a:prstGeom prst="roundRect">
            <a:avLst>
              <a:gd name="adj" fmla="val 2971"/>
            </a:avLst>
          </a:prstGeom>
          <a:solidFill>
            <a:schemeClr val="accent4">
              <a:lumMod val="50000"/>
              <a:alpha val="80000"/>
            </a:schemeClr>
          </a:solidFill>
        </p:spPr>
        <p:txBody>
          <a:bodyPr tIns="274320">
            <a:normAutofit/>
          </a:bodyPr>
          <a:lstStyle>
            <a:lvl1pPr marL="0" indent="0" algn="ctr">
              <a:buNone/>
              <a:defRPr sz="1200">
                <a:solidFill>
                  <a:schemeClr val="bg1"/>
                </a:solidFill>
              </a:defRPr>
            </a:lvl1pPr>
            <a:lvl2pPr marL="426728" indent="0">
              <a:buNone/>
              <a:defRPr/>
            </a:lvl2pPr>
            <a:lvl3pPr marL="853455" indent="0">
              <a:buNone/>
              <a:defRPr/>
            </a:lvl3pPr>
            <a:lvl4pPr marL="1280183" indent="0">
              <a:buNone/>
              <a:defRPr/>
            </a:lvl4pPr>
            <a:lvl5pPr marL="1706911" indent="0">
              <a:buNone/>
              <a:defRPr/>
            </a:lvl5pPr>
          </a:lstStyle>
          <a:p>
            <a:pPr lvl="0"/>
            <a:r>
              <a:rPr lang="en-US"/>
              <a:t>Edit Master text styles</a:t>
            </a:r>
          </a:p>
        </p:txBody>
      </p:sp>
      <p:sp>
        <p:nvSpPr>
          <p:cNvPr id="22" name="Text Placeholder 5">
            <a:extLst>
              <a:ext uri="{FF2B5EF4-FFF2-40B4-BE49-F238E27FC236}">
                <a16:creationId xmlns:a16="http://schemas.microsoft.com/office/drawing/2014/main" id="{E92F910C-3F07-4CF0-9787-9D545851F155}"/>
              </a:ext>
            </a:extLst>
          </p:cNvPr>
          <p:cNvSpPr>
            <a:spLocks noGrp="1"/>
          </p:cNvSpPr>
          <p:nvPr>
            <p:ph type="body" sz="quarter" idx="20"/>
          </p:nvPr>
        </p:nvSpPr>
        <p:spPr>
          <a:xfrm>
            <a:off x="4595709" y="5556730"/>
            <a:ext cx="2179930" cy="355136"/>
          </a:xfrm>
        </p:spPr>
        <p:txBody>
          <a:bodyPr anchor="b">
            <a:normAutofit/>
          </a:bodyPr>
          <a:lstStyle>
            <a:lvl1pPr marL="0" indent="0" algn="l">
              <a:lnSpc>
                <a:spcPct val="100000"/>
              </a:lnSpc>
              <a:spcBef>
                <a:spcPts val="0"/>
              </a:spcBef>
              <a:buNone/>
              <a:defRPr sz="2000" b="0">
                <a:solidFill>
                  <a:schemeClr val="tx1">
                    <a:lumMod val="65000"/>
                    <a:lumOff val="35000"/>
                  </a:schemeClr>
                </a:solidFill>
                <a:latin typeface="+mn-lt"/>
              </a:defRPr>
            </a:lvl1pPr>
          </a:lstStyle>
          <a:p>
            <a:pPr lvl="0"/>
            <a:r>
              <a:rPr lang="en-US"/>
              <a:t>Edit Master text</a:t>
            </a:r>
          </a:p>
        </p:txBody>
      </p:sp>
      <p:sp>
        <p:nvSpPr>
          <p:cNvPr id="23" name="Text Placeholder 5">
            <a:extLst>
              <a:ext uri="{FF2B5EF4-FFF2-40B4-BE49-F238E27FC236}">
                <a16:creationId xmlns:a16="http://schemas.microsoft.com/office/drawing/2014/main" id="{82A301D0-0B60-46C4-8A6F-C7F590A3D4DD}"/>
              </a:ext>
            </a:extLst>
          </p:cNvPr>
          <p:cNvSpPr>
            <a:spLocks noGrp="1"/>
          </p:cNvSpPr>
          <p:nvPr>
            <p:ph type="body" sz="quarter" idx="19"/>
          </p:nvPr>
        </p:nvSpPr>
        <p:spPr>
          <a:xfrm>
            <a:off x="4595710" y="4829282"/>
            <a:ext cx="2179930" cy="727449"/>
          </a:xfrm>
        </p:spPr>
        <p:txBody>
          <a:bodyPr tIns="91440">
            <a:normAutofit/>
          </a:bodyPr>
          <a:lstStyle>
            <a:lvl1pPr marL="0" indent="0" algn="l">
              <a:lnSpc>
                <a:spcPct val="120000"/>
              </a:lnSpc>
              <a:spcBef>
                <a:spcPts val="0"/>
              </a:spcBef>
              <a:buNone/>
              <a:defRPr sz="1200" b="0">
                <a:solidFill>
                  <a:schemeClr val="tx1">
                    <a:lumMod val="65000"/>
                    <a:lumOff val="35000"/>
                  </a:schemeClr>
                </a:solidFill>
                <a:latin typeface="+mn-lt"/>
              </a:defRPr>
            </a:lvl1pPr>
          </a:lstStyle>
          <a:p>
            <a:pPr lvl="0"/>
            <a:r>
              <a:rPr lang="en-US"/>
              <a:t>Edit Master text styles</a:t>
            </a:r>
          </a:p>
        </p:txBody>
      </p:sp>
    </p:spTree>
    <p:extLst>
      <p:ext uri="{BB962C8B-B14F-4D97-AF65-F5344CB8AC3E}">
        <p14:creationId xmlns:p14="http://schemas.microsoft.com/office/powerpoint/2010/main" val="17620797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Highlight 2">
    <p:spTree>
      <p:nvGrpSpPr>
        <p:cNvPr id="1" name=""/>
        <p:cNvGrpSpPr/>
        <p:nvPr/>
      </p:nvGrpSpPr>
      <p:grpSpPr>
        <a:xfrm>
          <a:off x="0" y="0"/>
          <a:ext cx="0" cy="0"/>
          <a:chOff x="0" y="0"/>
          <a:chExt cx="0" cy="0"/>
        </a:xfrm>
      </p:grpSpPr>
      <p:sp>
        <p:nvSpPr>
          <p:cNvPr id="8" name="Shape 665">
            <a:extLst>
              <a:ext uri="{FF2B5EF4-FFF2-40B4-BE49-F238E27FC236}">
                <a16:creationId xmlns:a16="http://schemas.microsoft.com/office/drawing/2014/main" id="{2DEC90FF-AE90-AF41-B738-ACFE38A8171B}"/>
              </a:ext>
            </a:extLst>
          </p:cNvPr>
          <p:cNvSpPr/>
          <p:nvPr userDrawn="1"/>
        </p:nvSpPr>
        <p:spPr>
          <a:xfrm>
            <a:off x="0" y="0"/>
            <a:ext cx="12192000" cy="6858000"/>
          </a:xfrm>
          <a:prstGeom prst="rect">
            <a:avLst/>
          </a:prstGeom>
          <a:solidFill>
            <a:srgbClr val="0D2344"/>
          </a:solidFill>
          <a:ln>
            <a:noFill/>
          </a:ln>
        </p:spPr>
        <p:txBody>
          <a:bodyPr spcFirstLastPara="1" wrap="square" lIns="45570" tIns="22774" rIns="45570" bIns="22774" anchor="ctr" anchorCtr="0">
            <a:noAutofit/>
          </a:bodyPr>
          <a:lstStyle/>
          <a:p>
            <a:pPr lvl="0"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4" y="586122"/>
            <a:ext cx="3902697" cy="992309"/>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bg1"/>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4" y="1728108"/>
            <a:ext cx="3902696" cy="1147829"/>
          </a:xfrm>
          <a:prstGeom prst="rect">
            <a:avLst/>
          </a:prstGeom>
        </p:spPr>
        <p:txBody>
          <a:bodyPr>
            <a:noAutofit/>
          </a:bodyPr>
          <a:lstStyle>
            <a:lvl1pPr marL="0" indent="0">
              <a:buNone/>
              <a:defRPr sz="2500" b="1">
                <a:solidFill>
                  <a:schemeClr val="accent1"/>
                </a:solidFill>
                <a:latin typeface="+mj-lt"/>
                <a:ea typeface="Roboto" pitchFamily="2" charset="0"/>
              </a:defRPr>
            </a:lvl1pPr>
          </a:lstStyle>
          <a:p>
            <a:pPr lvl="0"/>
            <a:r>
              <a:rPr lang="en-US"/>
              <a:t>Subtitle of the slide as a second line lorem ipsum lorem ipsum</a:t>
            </a:r>
          </a:p>
        </p:txBody>
      </p:sp>
      <p:sp>
        <p:nvSpPr>
          <p:cNvPr id="5" name="TextBox 4">
            <a:extLst>
              <a:ext uri="{FF2B5EF4-FFF2-40B4-BE49-F238E27FC236}">
                <a16:creationId xmlns:a16="http://schemas.microsoft.com/office/drawing/2014/main" id="{45CCF68B-C052-7C42-A474-EA9B7FC89D3F}"/>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bg1"/>
                </a:solidFill>
                <a:latin typeface="Roboto" pitchFamily="2" charset="0"/>
                <a:ea typeface="Roboto" pitchFamily="2" charset="0"/>
              </a:rPr>
              <a:pPr algn="r"/>
              <a:t>‹#›</a:t>
            </a:fld>
            <a:endParaRPr lang="en-US" sz="1200">
              <a:solidFill>
                <a:schemeClr val="bg1"/>
              </a:solidFill>
              <a:latin typeface="Roboto" pitchFamily="2" charset="0"/>
              <a:ea typeface="Roboto" pitchFamily="2" charset="0"/>
            </a:endParaRPr>
          </a:p>
        </p:txBody>
      </p:sp>
      <p:cxnSp>
        <p:nvCxnSpPr>
          <p:cNvPr id="7" name="Straight Connector 6">
            <a:extLst>
              <a:ext uri="{FF2B5EF4-FFF2-40B4-BE49-F238E27FC236}">
                <a16:creationId xmlns:a16="http://schemas.microsoft.com/office/drawing/2014/main" id="{7A4C9649-15C9-4AA3-9CFB-A9AA46E97C04}"/>
              </a:ext>
            </a:extLst>
          </p:cNvPr>
          <p:cNvCxnSpPr>
            <a:cxnSpLocks/>
          </p:cNvCxnSpPr>
          <p:nvPr userDrawn="1"/>
        </p:nvCxnSpPr>
        <p:spPr>
          <a:xfrm>
            <a:off x="536812" y="1687773"/>
            <a:ext cx="8898340" cy="0"/>
          </a:xfrm>
          <a:prstGeom prst="line">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FCEFF76-1F25-47DD-B94C-86552ABF73DC}"/>
              </a:ext>
            </a:extLst>
          </p:cNvPr>
          <p:cNvSpPr txBox="1"/>
          <p:nvPr userDrawn="1"/>
        </p:nvSpPr>
        <p:spPr>
          <a:xfrm>
            <a:off x="740439" y="6492630"/>
            <a:ext cx="1606530" cy="200055"/>
          </a:xfrm>
          <a:prstGeom prst="rect">
            <a:avLst/>
          </a:prstGeom>
          <a:noFill/>
        </p:spPr>
        <p:txBody>
          <a:bodyPr wrap="none" rtlCol="0">
            <a:spAutoFit/>
          </a:bodyPr>
          <a:lstStyle/>
          <a:p>
            <a:r>
              <a:rPr lang="en-US" sz="700" dirty="0">
                <a:solidFill>
                  <a:schemeClr val="bg1">
                    <a:lumMod val="75000"/>
                  </a:schemeClr>
                </a:solidFill>
                <a:latin typeface="+mn-lt"/>
                <a:ea typeface="Roboto" pitchFamily="2" charset="0"/>
              </a:rPr>
              <a:t>© 2024 Resilinc. All rights reserved.</a:t>
            </a:r>
          </a:p>
        </p:txBody>
      </p:sp>
    </p:spTree>
    <p:extLst>
      <p:ext uri="{BB962C8B-B14F-4D97-AF65-F5344CB8AC3E}">
        <p14:creationId xmlns:p14="http://schemas.microsoft.com/office/powerpoint/2010/main" val="25417786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Highlight 2">
    <p:spTree>
      <p:nvGrpSpPr>
        <p:cNvPr id="1" name=""/>
        <p:cNvGrpSpPr/>
        <p:nvPr/>
      </p:nvGrpSpPr>
      <p:grpSpPr>
        <a:xfrm>
          <a:off x="0" y="0"/>
          <a:ext cx="0" cy="0"/>
          <a:chOff x="0" y="0"/>
          <a:chExt cx="0" cy="0"/>
        </a:xfrm>
      </p:grpSpPr>
      <p:sp>
        <p:nvSpPr>
          <p:cNvPr id="8" name="Shape 665">
            <a:extLst>
              <a:ext uri="{FF2B5EF4-FFF2-40B4-BE49-F238E27FC236}">
                <a16:creationId xmlns:a16="http://schemas.microsoft.com/office/drawing/2014/main" id="{2DEC90FF-AE90-AF41-B738-ACFE38A8171B}"/>
              </a:ext>
            </a:extLst>
          </p:cNvPr>
          <p:cNvSpPr/>
          <p:nvPr userDrawn="1"/>
        </p:nvSpPr>
        <p:spPr>
          <a:xfrm>
            <a:off x="0" y="0"/>
            <a:ext cx="12192000" cy="6858000"/>
          </a:xfrm>
          <a:prstGeom prst="rect">
            <a:avLst/>
          </a:prstGeom>
          <a:solidFill>
            <a:srgbClr val="0D2344"/>
          </a:solidFill>
          <a:ln>
            <a:noFill/>
          </a:ln>
        </p:spPr>
        <p:txBody>
          <a:bodyPr spcFirstLastPara="1" wrap="square" lIns="45570" tIns="22774" rIns="45570" bIns="22774" anchor="ctr" anchorCtr="0">
            <a:noAutofit/>
          </a:bodyPr>
          <a:lstStyle/>
          <a:p>
            <a:pPr lvl="0" algn="ctr"/>
            <a:endParaRPr sz="1600">
              <a:solidFill>
                <a:schemeClr val="lt1"/>
              </a:solidFill>
              <a:latin typeface="Roboto" pitchFamily="2" charset="0"/>
              <a:ea typeface="Roboto" pitchFamily="2" charset="0"/>
              <a:cs typeface="Calibri"/>
              <a:sym typeface="Calibri"/>
            </a:endParaRPr>
          </a:p>
        </p:txBody>
      </p:sp>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1608945" y="2182910"/>
            <a:ext cx="7221157" cy="992309"/>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bg1"/>
                </a:solidFill>
                <a:latin typeface="+mj-lt"/>
                <a:ea typeface="Roboto" pitchFamily="2" charset="0"/>
              </a:defRPr>
            </a:lvl1pPr>
          </a:lstStyle>
          <a:p>
            <a:r>
              <a:rPr lang="en-US"/>
              <a:t>Slide Title Lorem Ipsum Lorem</a:t>
            </a:r>
          </a:p>
        </p:txBody>
      </p:sp>
    </p:spTree>
    <p:extLst>
      <p:ext uri="{BB962C8B-B14F-4D97-AF65-F5344CB8AC3E}">
        <p14:creationId xmlns:p14="http://schemas.microsoft.com/office/powerpoint/2010/main" val="158470618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Highligh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A91F-9417-C94F-9B9E-74766654FBCE}"/>
              </a:ext>
            </a:extLst>
          </p:cNvPr>
          <p:cNvSpPr>
            <a:spLocks noGrp="1"/>
          </p:cNvSpPr>
          <p:nvPr>
            <p:ph type="title" hasCustomPrompt="1"/>
          </p:nvPr>
        </p:nvSpPr>
        <p:spPr>
          <a:xfrm>
            <a:off x="580813" y="586122"/>
            <a:ext cx="10988040" cy="570487"/>
          </a:xfrm>
          <a:prstGeom prst="rect">
            <a:avLst/>
          </a:prstGeom>
        </p:spPr>
        <p:txBody>
          <a:bodyPr/>
          <a:lstStyle>
            <a:lvl1pPr marL="0" marR="0" indent="0" algn="l" defTabSz="853455" rtl="0" eaLnBrk="1" fontAlgn="auto" latinLnBrk="0" hangingPunct="1">
              <a:lnSpc>
                <a:spcPct val="90000"/>
              </a:lnSpc>
              <a:spcBef>
                <a:spcPct val="0"/>
              </a:spcBef>
              <a:spcAft>
                <a:spcPts val="0"/>
              </a:spcAft>
              <a:buClrTx/>
              <a:buSzTx/>
              <a:buFontTx/>
              <a:buNone/>
              <a:tabLst/>
              <a:defRPr sz="3300" b="1">
                <a:solidFill>
                  <a:schemeClr val="accent4"/>
                </a:solidFill>
                <a:latin typeface="+mj-lt"/>
                <a:ea typeface="Roboto" pitchFamily="2" charset="0"/>
              </a:defRPr>
            </a:lvl1pPr>
          </a:lstStyle>
          <a:p>
            <a:r>
              <a:rPr lang="en-US"/>
              <a:t>Slide Title Lorem Ipsum Lorem</a:t>
            </a:r>
          </a:p>
        </p:txBody>
      </p:sp>
      <p:sp>
        <p:nvSpPr>
          <p:cNvPr id="6" name="Text Placeholder 5">
            <a:extLst>
              <a:ext uri="{FF2B5EF4-FFF2-40B4-BE49-F238E27FC236}">
                <a16:creationId xmlns:a16="http://schemas.microsoft.com/office/drawing/2014/main" id="{98426CDF-58D9-1346-A3EE-66EC2A0EBD22}"/>
              </a:ext>
            </a:extLst>
          </p:cNvPr>
          <p:cNvSpPr>
            <a:spLocks noGrp="1"/>
          </p:cNvSpPr>
          <p:nvPr>
            <p:ph type="body" sz="quarter" idx="10" hasCustomPrompt="1"/>
          </p:nvPr>
        </p:nvSpPr>
        <p:spPr>
          <a:xfrm>
            <a:off x="580813" y="1156608"/>
            <a:ext cx="10988040" cy="570487"/>
          </a:xfrm>
          <a:prstGeom prst="rect">
            <a:avLst/>
          </a:prstGeom>
        </p:spPr>
        <p:txBody>
          <a:bodyPr anchor="ctr">
            <a:normAutofit/>
          </a:bodyPr>
          <a:lstStyle>
            <a:lvl1pPr marL="0" indent="0">
              <a:buNone/>
              <a:defRPr sz="2500">
                <a:solidFill>
                  <a:schemeClr val="accent1"/>
                </a:solidFill>
                <a:latin typeface="+mj-lt"/>
                <a:ea typeface="Roboto" pitchFamily="2" charset="0"/>
              </a:defRPr>
            </a:lvl1pPr>
          </a:lstStyle>
          <a:p>
            <a:pPr lvl="0"/>
            <a:r>
              <a:rPr lang="en-US"/>
              <a:t>Subtitle of the slide as a second line lorem ipsum lorem ipsum</a:t>
            </a:r>
          </a:p>
        </p:txBody>
      </p:sp>
      <p:sp>
        <p:nvSpPr>
          <p:cNvPr id="5" name="Shape 665">
            <a:extLst>
              <a:ext uri="{FF2B5EF4-FFF2-40B4-BE49-F238E27FC236}">
                <a16:creationId xmlns:a16="http://schemas.microsoft.com/office/drawing/2014/main" id="{5809F598-B180-BF43-B4A7-44075B4C8A09}"/>
              </a:ext>
            </a:extLst>
          </p:cNvPr>
          <p:cNvSpPr/>
          <p:nvPr userDrawn="1"/>
        </p:nvSpPr>
        <p:spPr>
          <a:xfrm>
            <a:off x="0" y="5252358"/>
            <a:ext cx="12192000" cy="1605643"/>
          </a:xfrm>
          <a:prstGeom prst="rect">
            <a:avLst/>
          </a:prstGeom>
          <a:solidFill>
            <a:srgbClr val="0D2344"/>
          </a:solidFill>
          <a:ln>
            <a:noFill/>
          </a:ln>
        </p:spPr>
        <p:txBody>
          <a:bodyPr spcFirstLastPara="1" wrap="square" lIns="45570" tIns="22774" rIns="45570" bIns="22774" anchor="ctr" anchorCtr="0">
            <a:noAutofit/>
          </a:bodyPr>
          <a:lstStyle/>
          <a:p>
            <a:pPr algn="ctr"/>
            <a:endParaRPr sz="1600">
              <a:solidFill>
                <a:schemeClr val="lt1"/>
              </a:solidFill>
              <a:latin typeface="Roboto" pitchFamily="2" charset="0"/>
              <a:ea typeface="Roboto" pitchFamily="2" charset="0"/>
              <a:cs typeface="Calibri"/>
              <a:sym typeface="Calibri"/>
            </a:endParaRPr>
          </a:p>
        </p:txBody>
      </p:sp>
      <p:sp>
        <p:nvSpPr>
          <p:cNvPr id="7" name="Text Placeholder 6">
            <a:extLst>
              <a:ext uri="{FF2B5EF4-FFF2-40B4-BE49-F238E27FC236}">
                <a16:creationId xmlns:a16="http://schemas.microsoft.com/office/drawing/2014/main" id="{ECDD7CF0-D4B0-B64C-BA5A-901E0C0E07B9}"/>
              </a:ext>
            </a:extLst>
          </p:cNvPr>
          <p:cNvSpPr>
            <a:spLocks noGrp="1"/>
          </p:cNvSpPr>
          <p:nvPr>
            <p:ph type="body" sz="quarter" idx="12" hasCustomPrompt="1"/>
          </p:nvPr>
        </p:nvSpPr>
        <p:spPr>
          <a:xfrm>
            <a:off x="580814" y="5483680"/>
            <a:ext cx="10988041" cy="555269"/>
          </a:xfrm>
          <a:prstGeom prst="rect">
            <a:avLst/>
          </a:prstGeom>
        </p:spPr>
        <p:txBody>
          <a:bodyPr anchor="ctr">
            <a:normAutofit/>
          </a:bodyPr>
          <a:lstStyle>
            <a:lvl1pPr marL="0" indent="0" algn="ctr">
              <a:buNone/>
              <a:defRPr sz="2500">
                <a:solidFill>
                  <a:schemeClr val="bg1"/>
                </a:solidFill>
                <a:latin typeface="+mj-lt"/>
                <a:ea typeface="Roboto" pitchFamily="2" charset="0"/>
              </a:defRPr>
            </a:lvl1pPr>
          </a:lstStyle>
          <a:p>
            <a:pPr lvl="0"/>
            <a:r>
              <a:rPr lang="en-US"/>
              <a:t>Conclusion or highlight</a:t>
            </a:r>
          </a:p>
        </p:txBody>
      </p:sp>
      <p:sp>
        <p:nvSpPr>
          <p:cNvPr id="9" name="Content Placeholder 8">
            <a:extLst>
              <a:ext uri="{FF2B5EF4-FFF2-40B4-BE49-F238E27FC236}">
                <a16:creationId xmlns:a16="http://schemas.microsoft.com/office/drawing/2014/main" id="{335744AB-A402-6B46-BF87-84794D8A4AA5}"/>
              </a:ext>
            </a:extLst>
          </p:cNvPr>
          <p:cNvSpPr>
            <a:spLocks noGrp="1"/>
          </p:cNvSpPr>
          <p:nvPr>
            <p:ph sz="quarter" idx="13"/>
          </p:nvPr>
        </p:nvSpPr>
        <p:spPr>
          <a:xfrm>
            <a:off x="580814" y="1876153"/>
            <a:ext cx="10988040" cy="3282693"/>
          </a:xfrm>
          <a:prstGeom prst="rect">
            <a:avLst/>
          </a:prstGeom>
        </p:spPr>
        <p:txBody>
          <a:bodyPr>
            <a:normAutofit/>
          </a:bodyPr>
          <a:lstStyle>
            <a:lvl1pPr>
              <a:buClr>
                <a:schemeClr val="accent4"/>
              </a:buClr>
              <a:defRPr sz="2000">
                <a:solidFill>
                  <a:schemeClr val="tx2"/>
                </a:solidFill>
                <a:latin typeface="+mn-lt"/>
                <a:ea typeface="Roboto" pitchFamily="2" charset="0"/>
              </a:defRPr>
            </a:lvl1pPr>
            <a:lvl2pPr>
              <a:buClr>
                <a:schemeClr val="accent1">
                  <a:lumMod val="50000"/>
                </a:schemeClr>
              </a:buClr>
              <a:defRPr sz="1800">
                <a:solidFill>
                  <a:schemeClr val="tx2"/>
                </a:solidFill>
                <a:latin typeface="+mn-lt"/>
                <a:ea typeface="Roboto" pitchFamily="2" charset="0"/>
              </a:defRPr>
            </a:lvl2pPr>
            <a:lvl3pPr>
              <a:buClr>
                <a:schemeClr val="accent4"/>
              </a:buClr>
              <a:defRPr sz="1400">
                <a:solidFill>
                  <a:schemeClr val="tx2"/>
                </a:solidFill>
                <a:latin typeface="+mn-lt"/>
                <a:ea typeface="Roboto" pitchFamily="2" charset="0"/>
              </a:defRPr>
            </a:lvl3pPr>
            <a:lvl4pPr>
              <a:buClr>
                <a:schemeClr val="accent4"/>
              </a:buClr>
              <a:defRPr sz="1200">
                <a:solidFill>
                  <a:schemeClr val="tx2"/>
                </a:solidFill>
                <a:latin typeface="+mn-lt"/>
                <a:ea typeface="Roboto" pitchFamily="2" charset="0"/>
              </a:defRPr>
            </a:lvl4pPr>
            <a:lvl5pPr>
              <a:buClr>
                <a:schemeClr val="accent4"/>
              </a:buClr>
              <a:defRPr sz="1200">
                <a:solidFill>
                  <a:schemeClr val="tx2"/>
                </a:solidFill>
                <a:latin typeface="+mn-lt"/>
                <a:ea typeface="Roboto"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D2B59855-57CD-194B-8048-1268FC0AF86A}"/>
              </a:ext>
            </a:extLst>
          </p:cNvPr>
          <p:cNvSpPr txBox="1"/>
          <p:nvPr userDrawn="1"/>
        </p:nvSpPr>
        <p:spPr>
          <a:xfrm>
            <a:off x="390144" y="6342505"/>
            <a:ext cx="2199641" cy="246221"/>
          </a:xfrm>
          <a:prstGeom prst="rect">
            <a:avLst/>
          </a:prstGeom>
          <a:noFill/>
        </p:spPr>
        <p:txBody>
          <a:bodyPr wrap="none" rtlCol="0">
            <a:spAutoFit/>
          </a:bodyPr>
          <a:lstStyle/>
          <a:p>
            <a:r>
              <a:rPr lang="en-US" sz="1000" dirty="0">
                <a:solidFill>
                  <a:schemeClr val="bg1"/>
                </a:solidFill>
                <a:latin typeface="Roboto" pitchFamily="2" charset="0"/>
                <a:ea typeface="Roboto" pitchFamily="2" charset="0"/>
              </a:rPr>
              <a:t>© 2024 Resilinc. All rights reserved.</a:t>
            </a:r>
          </a:p>
        </p:txBody>
      </p:sp>
      <p:grpSp>
        <p:nvGrpSpPr>
          <p:cNvPr id="21" name="Group 20">
            <a:extLst>
              <a:ext uri="{FF2B5EF4-FFF2-40B4-BE49-F238E27FC236}">
                <a16:creationId xmlns:a16="http://schemas.microsoft.com/office/drawing/2014/main" id="{BC6E0981-07ED-4D72-8199-4D42D3350F75}"/>
              </a:ext>
            </a:extLst>
          </p:cNvPr>
          <p:cNvGrpSpPr/>
          <p:nvPr userDrawn="1"/>
        </p:nvGrpSpPr>
        <p:grpSpPr>
          <a:xfrm>
            <a:off x="7807045" y="6192297"/>
            <a:ext cx="4159557" cy="501588"/>
            <a:chOff x="15614087" y="12384593"/>
            <a:chExt cx="8319114" cy="1003175"/>
          </a:xfrm>
        </p:grpSpPr>
        <p:pic>
          <p:nvPicPr>
            <p:cNvPr id="22" name="Picture 21">
              <a:extLst>
                <a:ext uri="{FF2B5EF4-FFF2-40B4-BE49-F238E27FC236}">
                  <a16:creationId xmlns:a16="http://schemas.microsoft.com/office/drawing/2014/main" id="{5FFB62FA-B397-4EB8-9EBC-BF48E19863A2}"/>
                </a:ext>
              </a:extLst>
            </p:cNvPr>
            <p:cNvPicPr>
              <a:picLocks noChangeAspect="1"/>
            </p:cNvPicPr>
            <p:nvPr userDrawn="1"/>
          </p:nvPicPr>
          <p:blipFill>
            <a:blip r:embed="rId2"/>
            <a:stretch>
              <a:fillRect/>
            </a:stretch>
          </p:blipFill>
          <p:spPr>
            <a:xfrm>
              <a:off x="19098811" y="12425036"/>
              <a:ext cx="2231136" cy="936384"/>
            </a:xfrm>
            <a:prstGeom prst="rect">
              <a:avLst/>
            </a:prstGeom>
          </p:spPr>
        </p:pic>
        <p:sp>
          <p:nvSpPr>
            <p:cNvPr id="23" name="Rounded Rectangle 9">
              <a:extLst>
                <a:ext uri="{FF2B5EF4-FFF2-40B4-BE49-F238E27FC236}">
                  <a16:creationId xmlns:a16="http://schemas.microsoft.com/office/drawing/2014/main" id="{09F71130-3C5F-4DEC-BD7D-C98DE04432EC}"/>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10">
              <a:extLst>
                <a:ext uri="{FF2B5EF4-FFF2-40B4-BE49-F238E27FC236}">
                  <a16:creationId xmlns:a16="http://schemas.microsoft.com/office/drawing/2014/main" id="{FEE486B9-6404-4FB0-820F-24E45278F3F1}"/>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ounded Rectangle 11">
              <a:extLst>
                <a:ext uri="{FF2B5EF4-FFF2-40B4-BE49-F238E27FC236}">
                  <a16:creationId xmlns:a16="http://schemas.microsoft.com/office/drawing/2014/main" id="{4512AF96-F939-436D-88E8-522ADAFD2CE2}"/>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12">
              <a:extLst>
                <a:ext uri="{FF2B5EF4-FFF2-40B4-BE49-F238E27FC236}">
                  <a16:creationId xmlns:a16="http://schemas.microsoft.com/office/drawing/2014/main" id="{B4257F70-1423-497E-8D24-0D5A761C6418}"/>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13">
              <a:extLst>
                <a:ext uri="{FF2B5EF4-FFF2-40B4-BE49-F238E27FC236}">
                  <a16:creationId xmlns:a16="http://schemas.microsoft.com/office/drawing/2014/main" id="{12A0409B-A62C-41B8-A6DC-9AD8766351E6}"/>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14">
              <a:extLst>
                <a:ext uri="{FF2B5EF4-FFF2-40B4-BE49-F238E27FC236}">
                  <a16:creationId xmlns:a16="http://schemas.microsoft.com/office/drawing/2014/main" id="{A538D689-3E83-4A39-B604-EDC90AABB2DD}"/>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15">
              <a:extLst>
                <a:ext uri="{FF2B5EF4-FFF2-40B4-BE49-F238E27FC236}">
                  <a16:creationId xmlns:a16="http://schemas.microsoft.com/office/drawing/2014/main" id="{4FD45C1A-51B5-485E-9DBE-B8451007479D}"/>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Rounded Rectangle 16">
              <a:extLst>
                <a:ext uri="{FF2B5EF4-FFF2-40B4-BE49-F238E27FC236}">
                  <a16:creationId xmlns:a16="http://schemas.microsoft.com/office/drawing/2014/main" id="{7EEA7C51-9CA2-49EA-8901-96D2F938526A}"/>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4" name="Rounded Rectangle 17">
              <a:extLst>
                <a:ext uri="{FF2B5EF4-FFF2-40B4-BE49-F238E27FC236}">
                  <a16:creationId xmlns:a16="http://schemas.microsoft.com/office/drawing/2014/main" id="{9B634CF0-0E0E-4BC8-8991-0EEA6485A581}"/>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ounded Rectangle 18">
              <a:extLst>
                <a:ext uri="{FF2B5EF4-FFF2-40B4-BE49-F238E27FC236}">
                  <a16:creationId xmlns:a16="http://schemas.microsoft.com/office/drawing/2014/main" id="{2EC98E66-8493-4C03-AB10-63413F85CC3B}"/>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Rounded Rectangle 19">
              <a:extLst>
                <a:ext uri="{FF2B5EF4-FFF2-40B4-BE49-F238E27FC236}">
                  <a16:creationId xmlns:a16="http://schemas.microsoft.com/office/drawing/2014/main" id="{21E3C14C-9DD1-4383-B049-463CAE16287C}"/>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41344877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C1C-92B3-4334-8C52-FE810DA9CA6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293363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575F-CE84-A21E-9B5F-F010B2D720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CB18C1-0911-1745-74D0-B9EC355BDC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06B430-A376-FDB9-0BA4-5C6DD28E18BA}"/>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DF9188E1-9A0D-FA33-E5E7-4187017E05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7D1620-5249-F046-21C8-CD9C922AB6D9}"/>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166294014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1499-2C69-3B2F-610E-11B3C6493C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307937-7686-57B7-04C8-AAF9867473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01BE65-DC76-65D4-6EE5-1AFB4A2EC5F9}"/>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8178FAEA-F73B-81B3-A123-88401C52B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719D19-821E-9595-0E75-F20232891956}"/>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37321230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00E16-B7BA-C99D-849B-15ED12B0F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B33735-3DA3-A4F0-1718-DDC6ADA85D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792FDA-75BD-0CEE-8A1B-CF1924CA9765}"/>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6E4E4B46-3A30-814D-4D2E-2BBD50D2F2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984EB9-5ADB-ED74-418C-BA0DF7EAEAC0}"/>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220931407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A4AF-8ED9-B1C2-09EC-F0B5C2516C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A167DE-F8DB-F249-D0C0-E051047AD4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AAF8C5-9E94-7B5E-EC77-84AFF386E2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2AC315-F8B4-7ADB-990D-3BE112A1089A}"/>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6" name="Footer Placeholder 5">
            <a:extLst>
              <a:ext uri="{FF2B5EF4-FFF2-40B4-BE49-F238E27FC236}">
                <a16:creationId xmlns:a16="http://schemas.microsoft.com/office/drawing/2014/main" id="{20D11621-5B91-A96A-2820-7DA11140A0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133E36-8FFE-4A8D-2C4E-97118C24E7AB}"/>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161663538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F6CF-EA8B-717A-84DB-1C9C72ADC0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9232BB-5D5A-C7FE-13DF-C5C7C388D0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A61145-D213-5BBF-C33A-0D0EDBB24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9E6C0B-FB4D-F4FC-6287-A7A35366AC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75BA8A-B622-E1BF-5EE8-1B686F2A68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113809-E6D3-2CB6-4ED6-25F554A531D7}"/>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8" name="Footer Placeholder 7">
            <a:extLst>
              <a:ext uri="{FF2B5EF4-FFF2-40B4-BE49-F238E27FC236}">
                <a16:creationId xmlns:a16="http://schemas.microsoft.com/office/drawing/2014/main" id="{FC1D8304-D0A9-F250-B4B0-D825899D93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56DB54-6290-37A2-7486-76CF703BF370}"/>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2524902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C94BB-7FA2-539E-2D64-6953FBCDA9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0D51F9-E7C4-E3F8-FFCF-F1130D902C11}"/>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4" name="Footer Placeholder 3">
            <a:extLst>
              <a:ext uri="{FF2B5EF4-FFF2-40B4-BE49-F238E27FC236}">
                <a16:creationId xmlns:a16="http://schemas.microsoft.com/office/drawing/2014/main" id="{345F63C0-F80D-CB7F-ACD9-826D1FA249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14EA9D-0A99-C5D3-094C-7359DD0DF94E}"/>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7204888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6BFF9C-D297-5FC0-98E3-1A51DA01E2F6}"/>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3" name="Footer Placeholder 2">
            <a:extLst>
              <a:ext uri="{FF2B5EF4-FFF2-40B4-BE49-F238E27FC236}">
                <a16:creationId xmlns:a16="http://schemas.microsoft.com/office/drawing/2014/main" id="{BE15C59B-54FA-E775-BA38-555177E3CD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5CB452-ABE1-3D77-2B4D-DC55EFC489DD}"/>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85917566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25413-0A0A-D1E0-3346-C97E33D02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BFE777-3D59-D12C-3B5F-C468B4516F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97E1F4-E049-FC76-36FE-5166FDF0A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C512C-C024-DFA9-EB98-E004419ACF49}"/>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6" name="Footer Placeholder 5">
            <a:extLst>
              <a:ext uri="{FF2B5EF4-FFF2-40B4-BE49-F238E27FC236}">
                <a16:creationId xmlns:a16="http://schemas.microsoft.com/office/drawing/2014/main" id="{BCA748A1-BC02-6176-6C6D-864FC3B364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90B9E0-83DE-6D3D-26DB-9F22C5623C4A}"/>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1260817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4C3C3-0665-695E-54A1-F89B98969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695AC1-70CA-FE01-3AA2-441C3F337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3A05EB-65DE-75E9-2CAC-8B9BAD9DB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64667-E23B-DD2B-BCBB-090F86F98D02}"/>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6" name="Footer Placeholder 5">
            <a:extLst>
              <a:ext uri="{FF2B5EF4-FFF2-40B4-BE49-F238E27FC236}">
                <a16:creationId xmlns:a16="http://schemas.microsoft.com/office/drawing/2014/main" id="{D8B8BD99-3B19-1152-D1C3-5BBE0AE8C3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F05C5A-F771-D034-CB51-1BC20E786699}"/>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97209348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0CA0F-2630-4998-84FF-EF96AEF38A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1FEE3F-EF3D-6761-4ADB-FE59613187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FD87B-CF5C-E717-9062-C37C7C6B20B7}"/>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056E0541-361B-A5ED-3BAB-183B9A3F5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755CCD-462F-57DA-4087-2F3BDC2D2280}"/>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153896862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DF0D3-ED6F-7A11-B625-551E30D594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DCC85C-AE3D-FD7F-044B-47B8528CE2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09F798-6E06-1850-45E4-DF0D0222F94A}"/>
              </a:ext>
            </a:extLst>
          </p:cNvPr>
          <p:cNvSpPr>
            <a:spLocks noGrp="1"/>
          </p:cNvSpPr>
          <p:nvPr>
            <p:ph type="dt" sz="half" idx="10"/>
          </p:nvPr>
        </p:nvSpPr>
        <p:spPr/>
        <p:txBody>
          <a:body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E7C0BB87-A8AB-DEB5-DEF3-295BEE9684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704CF0-D851-09CA-3306-910404CAD7C3}"/>
              </a:ext>
            </a:extLst>
          </p:cNvPr>
          <p:cNvSpPr>
            <a:spLocks noGrp="1"/>
          </p:cNvSpPr>
          <p:nvPr>
            <p:ph type="sldNum" sz="quarter" idx="12"/>
          </p:nvPr>
        </p:nvSpPr>
        <p:spPr/>
        <p:txBody>
          <a:bodyPr/>
          <a:lstStyle/>
          <a:p>
            <a:fld id="{6C0AC8B5-06AF-477F-B0F4-3F2BF5C8F390}" type="slidenum">
              <a:rPr lang="en-IN" smtClean="0"/>
              <a:t>‹#›</a:t>
            </a:fld>
            <a:endParaRPr lang="en-IN"/>
          </a:p>
        </p:txBody>
      </p:sp>
    </p:spTree>
    <p:extLst>
      <p:ext uri="{BB962C8B-B14F-4D97-AF65-F5344CB8AC3E}">
        <p14:creationId xmlns:p14="http://schemas.microsoft.com/office/powerpoint/2010/main" val="371745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image" Target="../media/image2.png"/><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2.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3.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theme" Target="../theme/theme4.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A905DFE-3F5A-4C5F-BB64-8DA9BCCF4E55}" type="datetime4">
              <a:rPr lang="en-US" smtClean="0"/>
              <a:t>August 31, 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 2024 Resilinc. All rights reserved.</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8E28480-1C08-4458-AD97-0283E6FFD09D}" type="slidenum">
              <a:rPr lang="en-US" smtClean="0"/>
              <a:pPr/>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293256"/>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C190B7C-9AAB-4F60-9BEA-3A5FD965F4D6}"/>
              </a:ext>
            </a:extLst>
          </p:cNvPr>
          <p:cNvGrpSpPr/>
          <p:nvPr userDrawn="1"/>
        </p:nvGrpSpPr>
        <p:grpSpPr>
          <a:xfrm>
            <a:off x="7807044" y="6192297"/>
            <a:ext cx="4159557" cy="501588"/>
            <a:chOff x="15614087" y="12384593"/>
            <a:chExt cx="8319114" cy="1003175"/>
          </a:xfrm>
        </p:grpSpPr>
        <p:pic>
          <p:nvPicPr>
            <p:cNvPr id="5" name="Picture 4">
              <a:extLst>
                <a:ext uri="{FF2B5EF4-FFF2-40B4-BE49-F238E27FC236}">
                  <a16:creationId xmlns:a16="http://schemas.microsoft.com/office/drawing/2014/main" id="{1176FF83-6B81-4BF6-A536-C14886D7D1EE}"/>
                </a:ext>
              </a:extLst>
            </p:cNvPr>
            <p:cNvPicPr>
              <a:picLocks noChangeAspect="1"/>
            </p:cNvPicPr>
            <p:nvPr userDrawn="1"/>
          </p:nvPicPr>
          <p:blipFill>
            <a:blip r:embed="rId50"/>
            <a:stretch>
              <a:fillRect/>
            </a:stretch>
          </p:blipFill>
          <p:spPr>
            <a:xfrm>
              <a:off x="19008573" y="12420334"/>
              <a:ext cx="2400301" cy="960120"/>
            </a:xfrm>
            <a:prstGeom prst="rect">
              <a:avLst/>
            </a:prstGeom>
          </p:spPr>
        </p:pic>
        <p:sp>
          <p:nvSpPr>
            <p:cNvPr id="10" name="Rounded Rectangle 9">
              <a:extLst>
                <a:ext uri="{FF2B5EF4-FFF2-40B4-BE49-F238E27FC236}">
                  <a16:creationId xmlns:a16="http://schemas.microsoft.com/office/drawing/2014/main" id="{5BAA6CD8-44BE-D64E-A767-43DC0E2596F6}"/>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a:extLst>
                <a:ext uri="{FF2B5EF4-FFF2-40B4-BE49-F238E27FC236}">
                  <a16:creationId xmlns:a16="http://schemas.microsoft.com/office/drawing/2014/main" id="{D976DD27-F133-4C4A-B0AF-949E4C22E4FD}"/>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1">
              <a:extLst>
                <a:ext uri="{FF2B5EF4-FFF2-40B4-BE49-F238E27FC236}">
                  <a16:creationId xmlns:a16="http://schemas.microsoft.com/office/drawing/2014/main" id="{07F4F2E5-38BA-E645-9A08-0DA165E30812}"/>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2">
              <a:extLst>
                <a:ext uri="{FF2B5EF4-FFF2-40B4-BE49-F238E27FC236}">
                  <a16:creationId xmlns:a16="http://schemas.microsoft.com/office/drawing/2014/main" id="{94EDE8D6-76CC-784D-B2FA-8CB2BF03515B}"/>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Rounded Rectangle 13">
              <a:extLst>
                <a:ext uri="{FF2B5EF4-FFF2-40B4-BE49-F238E27FC236}">
                  <a16:creationId xmlns:a16="http://schemas.microsoft.com/office/drawing/2014/main" id="{4B311A0F-65CF-114E-966C-715211568844}"/>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ounded Rectangle 14">
              <a:extLst>
                <a:ext uri="{FF2B5EF4-FFF2-40B4-BE49-F238E27FC236}">
                  <a16:creationId xmlns:a16="http://schemas.microsoft.com/office/drawing/2014/main" id="{A8813029-5F37-8340-8CEB-F90F1D0C55E6}"/>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ounded Rectangle 15">
              <a:extLst>
                <a:ext uri="{FF2B5EF4-FFF2-40B4-BE49-F238E27FC236}">
                  <a16:creationId xmlns:a16="http://schemas.microsoft.com/office/drawing/2014/main" id="{D23F6C78-48CF-4F49-9D3F-7BFC2EA2D704}"/>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Rounded Rectangle 16">
              <a:extLst>
                <a:ext uri="{FF2B5EF4-FFF2-40B4-BE49-F238E27FC236}">
                  <a16:creationId xmlns:a16="http://schemas.microsoft.com/office/drawing/2014/main" id="{D5B3466E-5259-624A-9432-A32C34E1F298}"/>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17">
              <a:extLst>
                <a:ext uri="{FF2B5EF4-FFF2-40B4-BE49-F238E27FC236}">
                  <a16:creationId xmlns:a16="http://schemas.microsoft.com/office/drawing/2014/main" id="{93644CD0-A11C-474A-B004-2345324C9109}"/>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8">
              <a:extLst>
                <a:ext uri="{FF2B5EF4-FFF2-40B4-BE49-F238E27FC236}">
                  <a16:creationId xmlns:a16="http://schemas.microsoft.com/office/drawing/2014/main" id="{272AC676-6A39-954F-AD7C-EE5E5DC46E58}"/>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a:extLst>
                <a:ext uri="{FF2B5EF4-FFF2-40B4-BE49-F238E27FC236}">
                  <a16:creationId xmlns:a16="http://schemas.microsoft.com/office/drawing/2014/main" id="{9230C04D-CF0C-1444-806D-0B61EE91E845}"/>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 name="TextBox 1">
            <a:extLst>
              <a:ext uri="{FF2B5EF4-FFF2-40B4-BE49-F238E27FC236}">
                <a16:creationId xmlns:a16="http://schemas.microsoft.com/office/drawing/2014/main" id="{068FD33F-5347-B746-9903-25102816E414}"/>
              </a:ext>
            </a:extLst>
          </p:cNvPr>
          <p:cNvSpPr txBox="1"/>
          <p:nvPr userDrawn="1"/>
        </p:nvSpPr>
        <p:spPr>
          <a:xfrm>
            <a:off x="390144" y="6342505"/>
            <a:ext cx="2908168" cy="246221"/>
          </a:xfrm>
          <a:prstGeom prst="rect">
            <a:avLst/>
          </a:prstGeom>
          <a:noFill/>
        </p:spPr>
        <p:txBody>
          <a:bodyPr wrap="none" rtlCol="0">
            <a:spAutoFit/>
          </a:bodyPr>
          <a:lstStyle/>
          <a:p>
            <a:r>
              <a:rPr lang="en-US" sz="1000" dirty="0">
                <a:latin typeface="+mn-lt"/>
                <a:ea typeface="Roboto" pitchFamily="2" charset="0"/>
              </a:rPr>
              <a:t>© 2024 Resilinc Corporation. All rights reserved.</a:t>
            </a:r>
          </a:p>
        </p:txBody>
      </p:sp>
      <p:sp>
        <p:nvSpPr>
          <p:cNvPr id="3" name="TextBox 2">
            <a:extLst>
              <a:ext uri="{FF2B5EF4-FFF2-40B4-BE49-F238E27FC236}">
                <a16:creationId xmlns:a16="http://schemas.microsoft.com/office/drawing/2014/main" id="{5D755972-A0A8-F44B-B29B-E80BEB8CE29B}"/>
              </a:ext>
            </a:extLst>
          </p:cNvPr>
          <p:cNvSpPr txBox="1"/>
          <p:nvPr userDrawn="1"/>
        </p:nvSpPr>
        <p:spPr>
          <a:xfrm>
            <a:off x="10181306" y="258536"/>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
        <p:nvSpPr>
          <p:cNvPr id="6" name="Title Placeholder 5">
            <a:extLst>
              <a:ext uri="{FF2B5EF4-FFF2-40B4-BE49-F238E27FC236}">
                <a16:creationId xmlns:a16="http://schemas.microsoft.com/office/drawing/2014/main" id="{DDBF21BE-C6EB-49BC-A38B-E1A2F7F0A45F}"/>
              </a:ext>
            </a:extLst>
          </p:cNvPr>
          <p:cNvSpPr>
            <a:spLocks noGrp="1"/>
          </p:cNvSpPr>
          <p:nvPr userDrawn="1">
            <p:ph type="title"/>
          </p:nvPr>
        </p:nvSpPr>
        <p:spPr>
          <a:xfrm>
            <a:off x="580339" y="587829"/>
            <a:ext cx="10987431" cy="97971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7" name="Text Placeholder 6">
            <a:extLst>
              <a:ext uri="{FF2B5EF4-FFF2-40B4-BE49-F238E27FC236}">
                <a16:creationId xmlns:a16="http://schemas.microsoft.com/office/drawing/2014/main" id="{C986CCD4-7378-4A24-AEFA-0CEABD9D9EDD}"/>
              </a:ext>
            </a:extLst>
          </p:cNvPr>
          <p:cNvSpPr>
            <a:spLocks noGrp="1"/>
          </p:cNvSpPr>
          <p:nvPr userDrawn="1">
            <p:ph type="body" idx="1"/>
          </p:nvPr>
        </p:nvSpPr>
        <p:spPr>
          <a:xfrm>
            <a:off x="580339" y="1876153"/>
            <a:ext cx="10987431" cy="410990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63679443"/>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 id="2147483824" r:id="rId35"/>
    <p:sldLayoutId id="2147483825" r:id="rId36"/>
    <p:sldLayoutId id="2147483826" r:id="rId37"/>
    <p:sldLayoutId id="2147483827" r:id="rId38"/>
    <p:sldLayoutId id="2147483828" r:id="rId39"/>
    <p:sldLayoutId id="2147483829" r:id="rId40"/>
    <p:sldLayoutId id="2147483830" r:id="rId41"/>
    <p:sldLayoutId id="2147483831" r:id="rId42"/>
    <p:sldLayoutId id="2147483832" r:id="rId43"/>
    <p:sldLayoutId id="2147483833" r:id="rId44"/>
    <p:sldLayoutId id="2147483834" r:id="rId45"/>
    <p:sldLayoutId id="2147483835" r:id="rId46"/>
    <p:sldLayoutId id="2147483836" r:id="rId47"/>
    <p:sldLayoutId id="2147483837" r:id="rId48"/>
  </p:sldLayoutIdLst>
  <p:hf sldNum="0" hdr="0" ftr="0" dt="0"/>
  <p:txStyles>
    <p:titleStyle>
      <a:lvl1pPr algn="l" defTabSz="853455" rtl="0" eaLnBrk="1" latinLnBrk="0" hangingPunct="1">
        <a:lnSpc>
          <a:spcPct val="90000"/>
        </a:lnSpc>
        <a:spcBef>
          <a:spcPct val="0"/>
        </a:spcBef>
        <a:buNone/>
        <a:defRPr sz="3300" b="1" kern="1200">
          <a:solidFill>
            <a:schemeClr val="accent4"/>
          </a:solidFill>
          <a:latin typeface="+mj-lt"/>
          <a:ea typeface="+mj-ea"/>
          <a:cs typeface="+mj-cs"/>
        </a:defRPr>
      </a:lvl1pPr>
    </p:titleStyle>
    <p:bodyStyle>
      <a:lvl1pPr marL="213364" indent="-213364" algn="l" defTabSz="853455" rtl="0" eaLnBrk="1" latinLnBrk="0" hangingPunct="1">
        <a:lnSpc>
          <a:spcPct val="90000"/>
        </a:lnSpc>
        <a:spcBef>
          <a:spcPts val="934"/>
        </a:spcBef>
        <a:buClr>
          <a:schemeClr val="accent4"/>
        </a:buClr>
        <a:buFont typeface="Arial" panose="020B0604020202020204" pitchFamily="34" charset="0"/>
        <a:buChar char="•"/>
        <a:defRPr sz="2000" kern="1200">
          <a:solidFill>
            <a:schemeClr val="tx1"/>
          </a:solidFill>
          <a:latin typeface="+mn-lt"/>
          <a:ea typeface="+mn-ea"/>
          <a:cs typeface="+mn-cs"/>
        </a:defRPr>
      </a:lvl1pPr>
      <a:lvl2pPr marL="640092" indent="-213364" algn="l" defTabSz="853455" rtl="0" eaLnBrk="1" latinLnBrk="0" hangingPunct="1">
        <a:lnSpc>
          <a:spcPct val="90000"/>
        </a:lnSpc>
        <a:spcBef>
          <a:spcPts val="467"/>
        </a:spcBef>
        <a:buClr>
          <a:schemeClr val="accent1">
            <a:lumMod val="50000"/>
          </a:schemeClr>
        </a:buClr>
        <a:buFont typeface="Arial" panose="020B0604020202020204" pitchFamily="34" charset="0"/>
        <a:buChar char="•"/>
        <a:defRPr sz="1800" kern="1200">
          <a:solidFill>
            <a:schemeClr val="tx1"/>
          </a:solidFill>
          <a:latin typeface="+mn-lt"/>
          <a:ea typeface="+mn-ea"/>
          <a:cs typeface="+mn-cs"/>
        </a:defRPr>
      </a:lvl2pPr>
      <a:lvl3pPr marL="1066819" indent="-213364" algn="l" defTabSz="853455" rtl="0" eaLnBrk="1" latinLnBrk="0" hangingPunct="1">
        <a:lnSpc>
          <a:spcPct val="90000"/>
        </a:lnSpc>
        <a:spcBef>
          <a:spcPts val="467"/>
        </a:spcBef>
        <a:buClr>
          <a:schemeClr val="accent4"/>
        </a:buClr>
        <a:buFont typeface="Arial" panose="020B0604020202020204" pitchFamily="34" charset="0"/>
        <a:buChar char="•"/>
        <a:defRPr sz="1400" kern="1200">
          <a:solidFill>
            <a:schemeClr val="tx1"/>
          </a:solidFill>
          <a:latin typeface="+mn-lt"/>
          <a:ea typeface="+mn-ea"/>
          <a:cs typeface="+mn-cs"/>
        </a:defRPr>
      </a:lvl3pPr>
      <a:lvl4pPr marL="1493547" indent="-213364" algn="l" defTabSz="853455" rtl="0" eaLnBrk="1" latinLnBrk="0" hangingPunct="1">
        <a:lnSpc>
          <a:spcPct val="90000"/>
        </a:lnSpc>
        <a:spcBef>
          <a:spcPts val="467"/>
        </a:spcBef>
        <a:buClr>
          <a:schemeClr val="accent4"/>
        </a:buClr>
        <a:buFont typeface="Arial" panose="020B0604020202020204" pitchFamily="34" charset="0"/>
        <a:buChar char="•"/>
        <a:defRPr sz="1200" kern="1200">
          <a:solidFill>
            <a:schemeClr val="tx1"/>
          </a:solidFill>
          <a:latin typeface="+mn-lt"/>
          <a:ea typeface="+mn-ea"/>
          <a:cs typeface="+mn-cs"/>
        </a:defRPr>
      </a:lvl4pPr>
      <a:lvl5pPr marL="1920275" indent="-213364" algn="l" defTabSz="853455" rtl="0" eaLnBrk="1" latinLnBrk="0" hangingPunct="1">
        <a:lnSpc>
          <a:spcPct val="90000"/>
        </a:lnSpc>
        <a:spcBef>
          <a:spcPts val="467"/>
        </a:spcBef>
        <a:buClr>
          <a:schemeClr val="accent4"/>
        </a:buClr>
        <a:buFont typeface="Arial" panose="020B0604020202020204" pitchFamily="34" charset="0"/>
        <a:buChar char="•"/>
        <a:defRPr sz="1200" kern="1200">
          <a:solidFill>
            <a:schemeClr val="tx1"/>
          </a:solidFill>
          <a:latin typeface="+mn-lt"/>
          <a:ea typeface="+mn-ea"/>
          <a:cs typeface="+mn-cs"/>
        </a:defRPr>
      </a:lvl5pPr>
      <a:lvl6pPr marL="2347002"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6pPr>
      <a:lvl7pPr marL="2773730"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7pPr>
      <a:lvl8pPr marL="3200457"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8pPr>
      <a:lvl9pPr marL="3627185"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9pPr>
    </p:bodyStyle>
    <p:otherStyle>
      <a:defPPr>
        <a:defRPr lang="en-US"/>
      </a:defPPr>
      <a:lvl1pPr marL="0" algn="l" defTabSz="853455" rtl="0" eaLnBrk="1" latinLnBrk="0" hangingPunct="1">
        <a:defRPr sz="1680" kern="1200">
          <a:solidFill>
            <a:schemeClr val="tx1"/>
          </a:solidFill>
          <a:latin typeface="+mn-lt"/>
          <a:ea typeface="+mn-ea"/>
          <a:cs typeface="+mn-cs"/>
        </a:defRPr>
      </a:lvl1pPr>
      <a:lvl2pPr marL="426728" algn="l" defTabSz="853455" rtl="0" eaLnBrk="1" latinLnBrk="0" hangingPunct="1">
        <a:defRPr sz="1680" kern="1200">
          <a:solidFill>
            <a:schemeClr val="tx1"/>
          </a:solidFill>
          <a:latin typeface="+mn-lt"/>
          <a:ea typeface="+mn-ea"/>
          <a:cs typeface="+mn-cs"/>
        </a:defRPr>
      </a:lvl2pPr>
      <a:lvl3pPr marL="853455" algn="l" defTabSz="853455" rtl="0" eaLnBrk="1" latinLnBrk="0" hangingPunct="1">
        <a:defRPr sz="1680" kern="1200">
          <a:solidFill>
            <a:schemeClr val="tx1"/>
          </a:solidFill>
          <a:latin typeface="+mn-lt"/>
          <a:ea typeface="+mn-ea"/>
          <a:cs typeface="+mn-cs"/>
        </a:defRPr>
      </a:lvl3pPr>
      <a:lvl4pPr marL="1280183" algn="l" defTabSz="853455" rtl="0" eaLnBrk="1" latinLnBrk="0" hangingPunct="1">
        <a:defRPr sz="1680" kern="1200">
          <a:solidFill>
            <a:schemeClr val="tx1"/>
          </a:solidFill>
          <a:latin typeface="+mn-lt"/>
          <a:ea typeface="+mn-ea"/>
          <a:cs typeface="+mn-cs"/>
        </a:defRPr>
      </a:lvl4pPr>
      <a:lvl5pPr marL="1706911" algn="l" defTabSz="853455" rtl="0" eaLnBrk="1" latinLnBrk="0" hangingPunct="1">
        <a:defRPr sz="1680" kern="1200">
          <a:solidFill>
            <a:schemeClr val="tx1"/>
          </a:solidFill>
          <a:latin typeface="+mn-lt"/>
          <a:ea typeface="+mn-ea"/>
          <a:cs typeface="+mn-cs"/>
        </a:defRPr>
      </a:lvl5pPr>
      <a:lvl6pPr marL="2133638" algn="l" defTabSz="853455" rtl="0" eaLnBrk="1" latinLnBrk="0" hangingPunct="1">
        <a:defRPr sz="1680" kern="1200">
          <a:solidFill>
            <a:schemeClr val="tx1"/>
          </a:solidFill>
          <a:latin typeface="+mn-lt"/>
          <a:ea typeface="+mn-ea"/>
          <a:cs typeface="+mn-cs"/>
        </a:defRPr>
      </a:lvl6pPr>
      <a:lvl7pPr marL="2560366" algn="l" defTabSz="853455" rtl="0" eaLnBrk="1" latinLnBrk="0" hangingPunct="1">
        <a:defRPr sz="1680" kern="1200">
          <a:solidFill>
            <a:schemeClr val="tx1"/>
          </a:solidFill>
          <a:latin typeface="+mn-lt"/>
          <a:ea typeface="+mn-ea"/>
          <a:cs typeface="+mn-cs"/>
        </a:defRPr>
      </a:lvl7pPr>
      <a:lvl8pPr marL="2987094" algn="l" defTabSz="853455" rtl="0" eaLnBrk="1" latinLnBrk="0" hangingPunct="1">
        <a:defRPr sz="1680" kern="1200">
          <a:solidFill>
            <a:schemeClr val="tx1"/>
          </a:solidFill>
          <a:latin typeface="+mn-lt"/>
          <a:ea typeface="+mn-ea"/>
          <a:cs typeface="+mn-cs"/>
        </a:defRPr>
      </a:lvl8pPr>
      <a:lvl9pPr marL="3413821" algn="l" defTabSz="853455" rtl="0" eaLnBrk="1" latinLnBrk="0" hangingPunct="1">
        <a:defRPr sz="168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C190B7C-9AAB-4F60-9BEA-3A5FD965F4D6}"/>
              </a:ext>
            </a:extLst>
          </p:cNvPr>
          <p:cNvGrpSpPr/>
          <p:nvPr userDrawn="1"/>
        </p:nvGrpSpPr>
        <p:grpSpPr>
          <a:xfrm>
            <a:off x="7807045" y="6192297"/>
            <a:ext cx="4159557" cy="501588"/>
            <a:chOff x="15614087" y="12384593"/>
            <a:chExt cx="8319114" cy="1003175"/>
          </a:xfrm>
        </p:grpSpPr>
        <p:pic>
          <p:nvPicPr>
            <p:cNvPr id="5" name="Picture 4">
              <a:extLst>
                <a:ext uri="{FF2B5EF4-FFF2-40B4-BE49-F238E27FC236}">
                  <a16:creationId xmlns:a16="http://schemas.microsoft.com/office/drawing/2014/main" id="{1176FF83-6B81-4BF6-A536-C14886D7D1EE}"/>
                </a:ext>
              </a:extLst>
            </p:cNvPr>
            <p:cNvPicPr>
              <a:picLocks noChangeAspect="1"/>
            </p:cNvPicPr>
            <p:nvPr userDrawn="1"/>
          </p:nvPicPr>
          <p:blipFill>
            <a:blip r:embed="rId28"/>
            <a:stretch>
              <a:fillRect/>
            </a:stretch>
          </p:blipFill>
          <p:spPr>
            <a:xfrm>
              <a:off x="19008573" y="12420334"/>
              <a:ext cx="2400301" cy="960120"/>
            </a:xfrm>
            <a:prstGeom prst="rect">
              <a:avLst/>
            </a:prstGeom>
          </p:spPr>
        </p:pic>
        <p:sp>
          <p:nvSpPr>
            <p:cNvPr id="10" name="Rounded Rectangle 9">
              <a:extLst>
                <a:ext uri="{FF2B5EF4-FFF2-40B4-BE49-F238E27FC236}">
                  <a16:creationId xmlns:a16="http://schemas.microsoft.com/office/drawing/2014/main" id="{5BAA6CD8-44BE-D64E-A767-43DC0E2596F6}"/>
                </a:ext>
              </a:extLst>
            </p:cNvPr>
            <p:cNvSpPr/>
            <p:nvPr userDrawn="1"/>
          </p:nvSpPr>
          <p:spPr>
            <a:xfrm rot="3490428">
              <a:off x="15979270" y="1253199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a:extLst>
                <a:ext uri="{FF2B5EF4-FFF2-40B4-BE49-F238E27FC236}">
                  <a16:creationId xmlns:a16="http://schemas.microsoft.com/office/drawing/2014/main" id="{D976DD27-F133-4C4A-B0AF-949E4C22E4FD}"/>
                </a:ext>
              </a:extLst>
            </p:cNvPr>
            <p:cNvSpPr/>
            <p:nvPr userDrawn="1"/>
          </p:nvSpPr>
          <p:spPr>
            <a:xfrm rot="3408788">
              <a:off x="16549125" y="12523757"/>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1">
              <a:extLst>
                <a:ext uri="{FF2B5EF4-FFF2-40B4-BE49-F238E27FC236}">
                  <a16:creationId xmlns:a16="http://schemas.microsoft.com/office/drawing/2014/main" id="{07F4F2E5-38BA-E645-9A08-0DA165E30812}"/>
                </a:ext>
              </a:extLst>
            </p:cNvPr>
            <p:cNvSpPr/>
            <p:nvPr userDrawn="1"/>
          </p:nvSpPr>
          <p:spPr>
            <a:xfrm rot="2748153">
              <a:off x="17619126" y="12465133"/>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2">
              <a:extLst>
                <a:ext uri="{FF2B5EF4-FFF2-40B4-BE49-F238E27FC236}">
                  <a16:creationId xmlns:a16="http://schemas.microsoft.com/office/drawing/2014/main" id="{94EDE8D6-76CC-784D-B2FA-8CB2BF03515B}"/>
                </a:ext>
              </a:extLst>
            </p:cNvPr>
            <p:cNvSpPr/>
            <p:nvPr userDrawn="1"/>
          </p:nvSpPr>
          <p:spPr>
            <a:xfrm rot="1095909">
              <a:off x="18589503" y="12388497"/>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Rounded Rectangle 13">
              <a:extLst>
                <a:ext uri="{FF2B5EF4-FFF2-40B4-BE49-F238E27FC236}">
                  <a16:creationId xmlns:a16="http://schemas.microsoft.com/office/drawing/2014/main" id="{4B311A0F-65CF-114E-966C-715211568844}"/>
                </a:ext>
              </a:extLst>
            </p:cNvPr>
            <p:cNvSpPr/>
            <p:nvPr userDrawn="1"/>
          </p:nvSpPr>
          <p:spPr>
            <a:xfrm>
              <a:off x="21603615"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ounded Rectangle 14">
              <a:extLst>
                <a:ext uri="{FF2B5EF4-FFF2-40B4-BE49-F238E27FC236}">
                  <a16:creationId xmlns:a16="http://schemas.microsoft.com/office/drawing/2014/main" id="{A8813029-5F37-8340-8CEB-F90F1D0C55E6}"/>
                </a:ext>
              </a:extLst>
            </p:cNvPr>
            <p:cNvSpPr/>
            <p:nvPr userDrawn="1"/>
          </p:nvSpPr>
          <p:spPr>
            <a:xfrm>
              <a:off x="22647886"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ounded Rectangle 15">
              <a:extLst>
                <a:ext uri="{FF2B5EF4-FFF2-40B4-BE49-F238E27FC236}">
                  <a16:creationId xmlns:a16="http://schemas.microsoft.com/office/drawing/2014/main" id="{D23F6C78-48CF-4F49-9D3F-7BFC2EA2D704}"/>
                </a:ext>
              </a:extLst>
            </p:cNvPr>
            <p:cNvSpPr/>
            <p:nvPr userDrawn="1"/>
          </p:nvSpPr>
          <p:spPr>
            <a:xfrm>
              <a:off x="23170021"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Rounded Rectangle 16">
              <a:extLst>
                <a:ext uri="{FF2B5EF4-FFF2-40B4-BE49-F238E27FC236}">
                  <a16:creationId xmlns:a16="http://schemas.microsoft.com/office/drawing/2014/main" id="{D5B3466E-5259-624A-9432-A32C34E1F298}"/>
                </a:ext>
              </a:extLst>
            </p:cNvPr>
            <p:cNvSpPr/>
            <p:nvPr userDrawn="1"/>
          </p:nvSpPr>
          <p:spPr>
            <a:xfrm>
              <a:off x="23692158"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17">
              <a:extLst>
                <a:ext uri="{FF2B5EF4-FFF2-40B4-BE49-F238E27FC236}">
                  <a16:creationId xmlns:a16="http://schemas.microsoft.com/office/drawing/2014/main" id="{93644CD0-A11C-474A-B004-2345324C9109}"/>
                </a:ext>
              </a:extLst>
            </p:cNvPr>
            <p:cNvSpPr/>
            <p:nvPr userDrawn="1"/>
          </p:nvSpPr>
          <p:spPr>
            <a:xfrm rot="2962958">
              <a:off x="17109978" y="12482561"/>
              <a:ext cx="242119" cy="972486"/>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8">
              <a:extLst>
                <a:ext uri="{FF2B5EF4-FFF2-40B4-BE49-F238E27FC236}">
                  <a16:creationId xmlns:a16="http://schemas.microsoft.com/office/drawing/2014/main" id="{272AC676-6A39-954F-AD7C-EE5E5DC46E58}"/>
                </a:ext>
              </a:extLst>
            </p:cNvPr>
            <p:cNvSpPr/>
            <p:nvPr userDrawn="1"/>
          </p:nvSpPr>
          <p:spPr>
            <a:xfrm rot="1898842">
              <a:off x="18147335" y="12410941"/>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a:extLst>
                <a:ext uri="{FF2B5EF4-FFF2-40B4-BE49-F238E27FC236}">
                  <a16:creationId xmlns:a16="http://schemas.microsoft.com/office/drawing/2014/main" id="{9230C04D-CF0C-1444-806D-0B61EE91E845}"/>
                </a:ext>
              </a:extLst>
            </p:cNvPr>
            <p:cNvSpPr/>
            <p:nvPr userDrawn="1"/>
          </p:nvSpPr>
          <p:spPr>
            <a:xfrm>
              <a:off x="22125752" y="12384593"/>
              <a:ext cx="241043" cy="976827"/>
            </a:xfrm>
            <a:prstGeom prst="roundRect">
              <a:avLst/>
            </a:prstGeom>
            <a:solidFill>
              <a:srgbClr val="E7E6E6"/>
            </a:solidFill>
            <a:ln w="9525"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 name="TextBox 1">
            <a:extLst>
              <a:ext uri="{FF2B5EF4-FFF2-40B4-BE49-F238E27FC236}">
                <a16:creationId xmlns:a16="http://schemas.microsoft.com/office/drawing/2014/main" id="{068FD33F-5347-B746-9903-25102816E414}"/>
              </a:ext>
            </a:extLst>
          </p:cNvPr>
          <p:cNvSpPr txBox="1"/>
          <p:nvPr userDrawn="1"/>
        </p:nvSpPr>
        <p:spPr>
          <a:xfrm>
            <a:off x="708593" y="6578163"/>
            <a:ext cx="1606530" cy="200055"/>
          </a:xfrm>
          <a:prstGeom prst="rect">
            <a:avLst/>
          </a:prstGeom>
          <a:noFill/>
        </p:spPr>
        <p:txBody>
          <a:bodyPr wrap="none" rtlCol="0">
            <a:spAutoFit/>
          </a:bodyPr>
          <a:lstStyle/>
          <a:p>
            <a:r>
              <a:rPr lang="en-US" sz="700" dirty="0">
                <a:solidFill>
                  <a:srgbClr val="0D2344"/>
                </a:solidFill>
                <a:latin typeface="+mn-lt"/>
                <a:ea typeface="Roboto" pitchFamily="2" charset="0"/>
              </a:rPr>
              <a:t>© 2024 Resilinc. All rights reserved.</a:t>
            </a:r>
          </a:p>
        </p:txBody>
      </p:sp>
      <p:sp>
        <p:nvSpPr>
          <p:cNvPr id="3" name="TextBox 2">
            <a:extLst>
              <a:ext uri="{FF2B5EF4-FFF2-40B4-BE49-F238E27FC236}">
                <a16:creationId xmlns:a16="http://schemas.microsoft.com/office/drawing/2014/main" id="{5D755972-A0A8-F44B-B29B-E80BEB8CE29B}"/>
              </a:ext>
            </a:extLst>
          </p:cNvPr>
          <p:cNvSpPr txBox="1"/>
          <p:nvPr userDrawn="1"/>
        </p:nvSpPr>
        <p:spPr>
          <a:xfrm>
            <a:off x="10181306" y="258537"/>
            <a:ext cx="1713750" cy="276999"/>
          </a:xfrm>
          <a:prstGeom prst="rect">
            <a:avLst/>
          </a:prstGeom>
          <a:noFill/>
        </p:spPr>
        <p:txBody>
          <a:bodyPr wrap="square" rtlCol="0">
            <a:spAutoFit/>
          </a:bodyPr>
          <a:lstStyle/>
          <a:p>
            <a:pPr algn="r"/>
            <a:fld id="{9E614D2E-FE0F-5942-A249-8509B55036FA}" type="slidenum">
              <a:rPr lang="en-US" sz="1200" smtClean="0">
                <a:solidFill>
                  <a:schemeClr val="tx1">
                    <a:lumMod val="50000"/>
                    <a:lumOff val="50000"/>
                  </a:schemeClr>
                </a:solidFill>
                <a:latin typeface="+mn-lt"/>
                <a:ea typeface="Roboto" pitchFamily="2" charset="0"/>
              </a:rPr>
              <a:pPr algn="r"/>
              <a:t>‹#›</a:t>
            </a:fld>
            <a:endParaRPr lang="en-US" sz="1200">
              <a:solidFill>
                <a:schemeClr val="tx1">
                  <a:lumMod val="50000"/>
                  <a:lumOff val="50000"/>
                </a:schemeClr>
              </a:solidFill>
              <a:latin typeface="+mn-lt"/>
              <a:ea typeface="Roboto" pitchFamily="2" charset="0"/>
            </a:endParaRPr>
          </a:p>
        </p:txBody>
      </p:sp>
      <p:sp>
        <p:nvSpPr>
          <p:cNvPr id="6" name="Title Placeholder 5">
            <a:extLst>
              <a:ext uri="{FF2B5EF4-FFF2-40B4-BE49-F238E27FC236}">
                <a16:creationId xmlns:a16="http://schemas.microsoft.com/office/drawing/2014/main" id="{DDBF21BE-C6EB-49BC-A38B-E1A2F7F0A45F}"/>
              </a:ext>
            </a:extLst>
          </p:cNvPr>
          <p:cNvSpPr>
            <a:spLocks noGrp="1"/>
          </p:cNvSpPr>
          <p:nvPr userDrawn="1">
            <p:ph type="title"/>
          </p:nvPr>
        </p:nvSpPr>
        <p:spPr>
          <a:xfrm>
            <a:off x="580340" y="587830"/>
            <a:ext cx="10987431" cy="97971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7" name="Text Placeholder 6">
            <a:extLst>
              <a:ext uri="{FF2B5EF4-FFF2-40B4-BE49-F238E27FC236}">
                <a16:creationId xmlns:a16="http://schemas.microsoft.com/office/drawing/2014/main" id="{C986CCD4-7378-4A24-AEFA-0CEABD9D9EDD}"/>
              </a:ext>
            </a:extLst>
          </p:cNvPr>
          <p:cNvSpPr>
            <a:spLocks noGrp="1"/>
          </p:cNvSpPr>
          <p:nvPr userDrawn="1">
            <p:ph type="body" idx="1"/>
          </p:nvPr>
        </p:nvSpPr>
        <p:spPr>
          <a:xfrm>
            <a:off x="580340" y="1876153"/>
            <a:ext cx="10987431" cy="410990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70709887"/>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Lst>
  <p:hf sldNum="0" hdr="0" ftr="0" dt="0"/>
  <p:txStyles>
    <p:titleStyle>
      <a:lvl1pPr algn="l" defTabSz="853455" rtl="0" eaLnBrk="1" latinLnBrk="0" hangingPunct="1">
        <a:lnSpc>
          <a:spcPct val="90000"/>
        </a:lnSpc>
        <a:spcBef>
          <a:spcPct val="0"/>
        </a:spcBef>
        <a:buNone/>
        <a:defRPr sz="3300" b="1" kern="1200">
          <a:solidFill>
            <a:srgbClr val="0D2344"/>
          </a:solidFill>
          <a:latin typeface="+mj-lt"/>
          <a:ea typeface="+mj-ea"/>
          <a:cs typeface="+mj-cs"/>
        </a:defRPr>
      </a:lvl1pPr>
    </p:titleStyle>
    <p:bodyStyle>
      <a:lvl1pPr marL="213364" indent="-213364" algn="l" defTabSz="853455" rtl="0" eaLnBrk="1" latinLnBrk="0" hangingPunct="1">
        <a:lnSpc>
          <a:spcPct val="90000"/>
        </a:lnSpc>
        <a:spcBef>
          <a:spcPts val="934"/>
        </a:spcBef>
        <a:buClr>
          <a:schemeClr val="accent4"/>
        </a:buClr>
        <a:buFont typeface="Arial" panose="020B0604020202020204" pitchFamily="34" charset="0"/>
        <a:buChar char="•"/>
        <a:defRPr sz="2000" kern="1200">
          <a:solidFill>
            <a:schemeClr val="tx1"/>
          </a:solidFill>
          <a:latin typeface="+mn-lt"/>
          <a:ea typeface="+mn-ea"/>
          <a:cs typeface="+mn-cs"/>
        </a:defRPr>
      </a:lvl1pPr>
      <a:lvl2pPr marL="640092" indent="-213364" algn="l" defTabSz="853455" rtl="0" eaLnBrk="1" latinLnBrk="0" hangingPunct="1">
        <a:lnSpc>
          <a:spcPct val="90000"/>
        </a:lnSpc>
        <a:spcBef>
          <a:spcPts val="467"/>
        </a:spcBef>
        <a:buClr>
          <a:schemeClr val="accent1">
            <a:lumMod val="50000"/>
          </a:schemeClr>
        </a:buClr>
        <a:buFont typeface="Arial" panose="020B0604020202020204" pitchFamily="34" charset="0"/>
        <a:buChar char="•"/>
        <a:defRPr sz="1800" kern="1200">
          <a:solidFill>
            <a:schemeClr val="tx1"/>
          </a:solidFill>
          <a:latin typeface="+mn-lt"/>
          <a:ea typeface="+mn-ea"/>
          <a:cs typeface="+mn-cs"/>
        </a:defRPr>
      </a:lvl2pPr>
      <a:lvl3pPr marL="1066819" indent="-213364" algn="l" defTabSz="853455" rtl="0" eaLnBrk="1" latinLnBrk="0" hangingPunct="1">
        <a:lnSpc>
          <a:spcPct val="90000"/>
        </a:lnSpc>
        <a:spcBef>
          <a:spcPts val="467"/>
        </a:spcBef>
        <a:buClr>
          <a:schemeClr val="accent4"/>
        </a:buClr>
        <a:buFont typeface="Arial" panose="020B0604020202020204" pitchFamily="34" charset="0"/>
        <a:buChar char="•"/>
        <a:defRPr sz="1400" kern="1200">
          <a:solidFill>
            <a:schemeClr val="tx1"/>
          </a:solidFill>
          <a:latin typeface="+mn-lt"/>
          <a:ea typeface="+mn-ea"/>
          <a:cs typeface="+mn-cs"/>
        </a:defRPr>
      </a:lvl3pPr>
      <a:lvl4pPr marL="1493547" indent="-213364" algn="l" defTabSz="853455" rtl="0" eaLnBrk="1" latinLnBrk="0" hangingPunct="1">
        <a:lnSpc>
          <a:spcPct val="90000"/>
        </a:lnSpc>
        <a:spcBef>
          <a:spcPts val="467"/>
        </a:spcBef>
        <a:buClr>
          <a:schemeClr val="accent4"/>
        </a:buClr>
        <a:buFont typeface="Arial" panose="020B0604020202020204" pitchFamily="34" charset="0"/>
        <a:buChar char="•"/>
        <a:defRPr sz="1200" kern="1200">
          <a:solidFill>
            <a:schemeClr val="tx1"/>
          </a:solidFill>
          <a:latin typeface="+mn-lt"/>
          <a:ea typeface="+mn-ea"/>
          <a:cs typeface="+mn-cs"/>
        </a:defRPr>
      </a:lvl4pPr>
      <a:lvl5pPr marL="1920275" indent="-213364" algn="l" defTabSz="853455" rtl="0" eaLnBrk="1" latinLnBrk="0" hangingPunct="1">
        <a:lnSpc>
          <a:spcPct val="90000"/>
        </a:lnSpc>
        <a:spcBef>
          <a:spcPts val="467"/>
        </a:spcBef>
        <a:buClr>
          <a:schemeClr val="accent4"/>
        </a:buClr>
        <a:buFont typeface="Arial" panose="020B0604020202020204" pitchFamily="34" charset="0"/>
        <a:buChar char="•"/>
        <a:defRPr sz="1200" kern="1200">
          <a:solidFill>
            <a:schemeClr val="tx1"/>
          </a:solidFill>
          <a:latin typeface="+mn-lt"/>
          <a:ea typeface="+mn-ea"/>
          <a:cs typeface="+mn-cs"/>
        </a:defRPr>
      </a:lvl5pPr>
      <a:lvl6pPr marL="2347002"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6pPr>
      <a:lvl7pPr marL="2773730"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7pPr>
      <a:lvl8pPr marL="3200457"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8pPr>
      <a:lvl9pPr marL="3627185" indent="-213364" algn="l" defTabSz="853455" rtl="0" eaLnBrk="1" latinLnBrk="0" hangingPunct="1">
        <a:lnSpc>
          <a:spcPct val="90000"/>
        </a:lnSpc>
        <a:spcBef>
          <a:spcPts val="467"/>
        </a:spcBef>
        <a:buFont typeface="Arial" panose="020B0604020202020204" pitchFamily="34" charset="0"/>
        <a:buChar char="•"/>
        <a:defRPr sz="1680" kern="1200">
          <a:solidFill>
            <a:schemeClr val="tx1"/>
          </a:solidFill>
          <a:latin typeface="+mn-lt"/>
          <a:ea typeface="+mn-ea"/>
          <a:cs typeface="+mn-cs"/>
        </a:defRPr>
      </a:lvl9pPr>
    </p:bodyStyle>
    <p:otherStyle>
      <a:defPPr>
        <a:defRPr lang="en-US"/>
      </a:defPPr>
      <a:lvl1pPr marL="0" algn="l" defTabSz="853455" rtl="0" eaLnBrk="1" latinLnBrk="0" hangingPunct="1">
        <a:defRPr sz="1680" kern="1200">
          <a:solidFill>
            <a:schemeClr val="tx1"/>
          </a:solidFill>
          <a:latin typeface="+mn-lt"/>
          <a:ea typeface="+mn-ea"/>
          <a:cs typeface="+mn-cs"/>
        </a:defRPr>
      </a:lvl1pPr>
      <a:lvl2pPr marL="426728" algn="l" defTabSz="853455" rtl="0" eaLnBrk="1" latinLnBrk="0" hangingPunct="1">
        <a:defRPr sz="1680" kern="1200">
          <a:solidFill>
            <a:schemeClr val="tx1"/>
          </a:solidFill>
          <a:latin typeface="+mn-lt"/>
          <a:ea typeface="+mn-ea"/>
          <a:cs typeface="+mn-cs"/>
        </a:defRPr>
      </a:lvl2pPr>
      <a:lvl3pPr marL="853455" algn="l" defTabSz="853455" rtl="0" eaLnBrk="1" latinLnBrk="0" hangingPunct="1">
        <a:defRPr sz="1680" kern="1200">
          <a:solidFill>
            <a:schemeClr val="tx1"/>
          </a:solidFill>
          <a:latin typeface="+mn-lt"/>
          <a:ea typeface="+mn-ea"/>
          <a:cs typeface="+mn-cs"/>
        </a:defRPr>
      </a:lvl3pPr>
      <a:lvl4pPr marL="1280183" algn="l" defTabSz="853455" rtl="0" eaLnBrk="1" latinLnBrk="0" hangingPunct="1">
        <a:defRPr sz="1680" kern="1200">
          <a:solidFill>
            <a:schemeClr val="tx1"/>
          </a:solidFill>
          <a:latin typeface="+mn-lt"/>
          <a:ea typeface="+mn-ea"/>
          <a:cs typeface="+mn-cs"/>
        </a:defRPr>
      </a:lvl4pPr>
      <a:lvl5pPr marL="1706911" algn="l" defTabSz="853455" rtl="0" eaLnBrk="1" latinLnBrk="0" hangingPunct="1">
        <a:defRPr sz="1680" kern="1200">
          <a:solidFill>
            <a:schemeClr val="tx1"/>
          </a:solidFill>
          <a:latin typeface="+mn-lt"/>
          <a:ea typeface="+mn-ea"/>
          <a:cs typeface="+mn-cs"/>
        </a:defRPr>
      </a:lvl5pPr>
      <a:lvl6pPr marL="2133638" algn="l" defTabSz="853455" rtl="0" eaLnBrk="1" latinLnBrk="0" hangingPunct="1">
        <a:defRPr sz="1680" kern="1200">
          <a:solidFill>
            <a:schemeClr val="tx1"/>
          </a:solidFill>
          <a:latin typeface="+mn-lt"/>
          <a:ea typeface="+mn-ea"/>
          <a:cs typeface="+mn-cs"/>
        </a:defRPr>
      </a:lvl6pPr>
      <a:lvl7pPr marL="2560366" algn="l" defTabSz="853455" rtl="0" eaLnBrk="1" latinLnBrk="0" hangingPunct="1">
        <a:defRPr sz="1680" kern="1200">
          <a:solidFill>
            <a:schemeClr val="tx1"/>
          </a:solidFill>
          <a:latin typeface="+mn-lt"/>
          <a:ea typeface="+mn-ea"/>
          <a:cs typeface="+mn-cs"/>
        </a:defRPr>
      </a:lvl7pPr>
      <a:lvl8pPr marL="2987094" algn="l" defTabSz="853455" rtl="0" eaLnBrk="1" latinLnBrk="0" hangingPunct="1">
        <a:defRPr sz="1680" kern="1200">
          <a:solidFill>
            <a:schemeClr val="tx1"/>
          </a:solidFill>
          <a:latin typeface="+mn-lt"/>
          <a:ea typeface="+mn-ea"/>
          <a:cs typeface="+mn-cs"/>
        </a:defRPr>
      </a:lvl8pPr>
      <a:lvl9pPr marL="3413821" algn="l" defTabSz="853455" rtl="0" eaLnBrk="1" latinLnBrk="0" hangingPunct="1">
        <a:defRPr sz="168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50AB4-E39A-AAD3-26AD-362DC549A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54823E-444A-70C7-6CE9-04B09F7B6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F3D075-DE8C-726A-3E3D-407C3EAC16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B0A554-18E2-4EE3-B988-81C87E3EF5EF}" type="datetimeFigureOut">
              <a:rPr lang="en-IN" smtClean="0"/>
              <a:t>31-08-2026</a:t>
            </a:fld>
            <a:endParaRPr lang="en-IN"/>
          </a:p>
        </p:txBody>
      </p:sp>
      <p:sp>
        <p:nvSpPr>
          <p:cNvPr id="5" name="Footer Placeholder 4">
            <a:extLst>
              <a:ext uri="{FF2B5EF4-FFF2-40B4-BE49-F238E27FC236}">
                <a16:creationId xmlns:a16="http://schemas.microsoft.com/office/drawing/2014/main" id="{0E10377B-B32D-A289-FFCD-5A59C371D5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77F820B-58FC-CCB0-29A1-8225805CA9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0AC8B5-06AF-477F-B0F4-3F2BF5C8F390}" type="slidenum">
              <a:rPr lang="en-IN" smtClean="0"/>
              <a:t>‹#›</a:t>
            </a:fld>
            <a:endParaRPr lang="en-IN"/>
          </a:p>
        </p:txBody>
      </p:sp>
    </p:spTree>
    <p:extLst>
      <p:ext uri="{BB962C8B-B14F-4D97-AF65-F5344CB8AC3E}">
        <p14:creationId xmlns:p14="http://schemas.microsoft.com/office/powerpoint/2010/main" val="1546441778"/>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13" Type="http://schemas.openxmlformats.org/officeDocument/2006/relationships/slide" Target="slide34.xml"/><Relationship Id="rId18" Type="http://schemas.openxmlformats.org/officeDocument/2006/relationships/slide" Target="slide11.xml"/><Relationship Id="rId26" Type="http://schemas.openxmlformats.org/officeDocument/2006/relationships/slide" Target="slide19.xml"/><Relationship Id="rId39" Type="http://schemas.openxmlformats.org/officeDocument/2006/relationships/slide" Target="slide29.xml"/><Relationship Id="rId21" Type="http://schemas.openxmlformats.org/officeDocument/2006/relationships/slide" Target="slide39.xml"/><Relationship Id="rId34" Type="http://schemas.openxmlformats.org/officeDocument/2006/relationships/slide" Target="slide16.xml"/><Relationship Id="rId42" Type="http://schemas.openxmlformats.org/officeDocument/2006/relationships/slide" Target="slide44.xml"/><Relationship Id="rId47" Type="http://schemas.openxmlformats.org/officeDocument/2006/relationships/slide" Target="slide50.xml"/><Relationship Id="rId50" Type="http://schemas.openxmlformats.org/officeDocument/2006/relationships/image" Target="../media/image9.png"/><Relationship Id="rId7" Type="http://schemas.openxmlformats.org/officeDocument/2006/relationships/slide" Target="slide31.xml"/><Relationship Id="rId2" Type="http://schemas.openxmlformats.org/officeDocument/2006/relationships/slide" Target="slide3.xml"/><Relationship Id="rId16" Type="http://schemas.openxmlformats.org/officeDocument/2006/relationships/slide" Target="slide10.xml"/><Relationship Id="rId29" Type="http://schemas.openxmlformats.org/officeDocument/2006/relationships/slide" Target="slide42.xml"/><Relationship Id="rId11" Type="http://schemas.openxmlformats.org/officeDocument/2006/relationships/slide" Target="slide33.xml"/><Relationship Id="rId24" Type="http://schemas.openxmlformats.org/officeDocument/2006/relationships/slide" Target="slide18.xml"/><Relationship Id="rId32" Type="http://schemas.openxmlformats.org/officeDocument/2006/relationships/slide" Target="slide22.xml"/><Relationship Id="rId37" Type="http://schemas.openxmlformats.org/officeDocument/2006/relationships/slide" Target="slide25.xml"/><Relationship Id="rId40" Type="http://schemas.openxmlformats.org/officeDocument/2006/relationships/slide" Target="slide30.xml"/><Relationship Id="rId45" Type="http://schemas.openxmlformats.org/officeDocument/2006/relationships/slide" Target="slide48.xml"/><Relationship Id="rId5" Type="http://schemas.openxmlformats.org/officeDocument/2006/relationships/slide" Target="slide26.xml"/><Relationship Id="rId15" Type="http://schemas.openxmlformats.org/officeDocument/2006/relationships/slide" Target="slide35.xml"/><Relationship Id="rId23" Type="http://schemas.openxmlformats.org/officeDocument/2006/relationships/slide" Target="slide46.xml"/><Relationship Id="rId28" Type="http://schemas.openxmlformats.org/officeDocument/2006/relationships/slide" Target="slide20.xml"/><Relationship Id="rId36" Type="http://schemas.openxmlformats.org/officeDocument/2006/relationships/slide" Target="slide23.xml"/><Relationship Id="rId49" Type="http://schemas.openxmlformats.org/officeDocument/2006/relationships/slide" Target="slide58.xml"/><Relationship Id="rId10" Type="http://schemas.openxmlformats.org/officeDocument/2006/relationships/slide" Target="slide8.xml"/><Relationship Id="rId19" Type="http://schemas.openxmlformats.org/officeDocument/2006/relationships/slide" Target="slide38.xml"/><Relationship Id="rId31" Type="http://schemas.openxmlformats.org/officeDocument/2006/relationships/slide" Target="slide43.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32.xml"/><Relationship Id="rId14" Type="http://schemas.openxmlformats.org/officeDocument/2006/relationships/slide" Target="slide9.xml"/><Relationship Id="rId22" Type="http://schemas.openxmlformats.org/officeDocument/2006/relationships/slide" Target="slide12.xml"/><Relationship Id="rId27" Type="http://schemas.openxmlformats.org/officeDocument/2006/relationships/slide" Target="slide41.xml"/><Relationship Id="rId30" Type="http://schemas.openxmlformats.org/officeDocument/2006/relationships/slide" Target="slide21.xml"/><Relationship Id="rId35" Type="http://schemas.openxmlformats.org/officeDocument/2006/relationships/slide" Target="slide17.xml"/><Relationship Id="rId43" Type="http://schemas.openxmlformats.org/officeDocument/2006/relationships/slide" Target="slide45.xml"/><Relationship Id="rId48" Type="http://schemas.openxmlformats.org/officeDocument/2006/relationships/slide" Target="slide51.xml"/><Relationship Id="rId8" Type="http://schemas.openxmlformats.org/officeDocument/2006/relationships/slide" Target="slide6.xml"/><Relationship Id="rId3" Type="http://schemas.openxmlformats.org/officeDocument/2006/relationships/slide" Target="slide24.xml"/><Relationship Id="rId12" Type="http://schemas.openxmlformats.org/officeDocument/2006/relationships/slide" Target="slide7.xml"/><Relationship Id="rId17" Type="http://schemas.openxmlformats.org/officeDocument/2006/relationships/slide" Target="slide36.xml"/><Relationship Id="rId25" Type="http://schemas.openxmlformats.org/officeDocument/2006/relationships/slide" Target="slide40.xml"/><Relationship Id="rId33" Type="http://schemas.openxmlformats.org/officeDocument/2006/relationships/slide" Target="slide14.xml"/><Relationship Id="rId38" Type="http://schemas.openxmlformats.org/officeDocument/2006/relationships/slide" Target="slide28.xml"/><Relationship Id="rId46" Type="http://schemas.openxmlformats.org/officeDocument/2006/relationships/slide" Target="slide49.xml"/><Relationship Id="rId20" Type="http://schemas.openxmlformats.org/officeDocument/2006/relationships/slide" Target="slide13.xml"/><Relationship Id="rId41" Type="http://schemas.openxmlformats.org/officeDocument/2006/relationships/slide" Target="slide37.xml"/><Relationship Id="rId1" Type="http://schemas.openxmlformats.org/officeDocument/2006/relationships/slideLayout" Target="../slideLayouts/slideLayout7.xml"/><Relationship Id="rId6" Type="http://schemas.openxmlformats.org/officeDocument/2006/relationships/slide" Target="slide5.xml"/></Relationships>
</file>

<file path=ppt/slides/_rels/slide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5.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6.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7.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8.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9.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0.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1.xml.rels><?xml version="1.0" encoding="UTF-8" standalone="yes"?>
<Relationships xmlns="http://schemas.openxmlformats.org/package/2006/relationships"><Relationship Id="rId13" Type="http://schemas.openxmlformats.org/officeDocument/2006/relationships/slide" Target="slide17.xml"/><Relationship Id="rId18" Type="http://schemas.openxmlformats.org/officeDocument/2006/relationships/slide" Target="slide23.xml"/><Relationship Id="rId26" Type="http://schemas.openxmlformats.org/officeDocument/2006/relationships/slide" Target="slide32.xml"/><Relationship Id="rId39" Type="http://schemas.openxmlformats.org/officeDocument/2006/relationships/slide" Target="slide45.xml"/><Relationship Id="rId21" Type="http://schemas.openxmlformats.org/officeDocument/2006/relationships/slide" Target="slide26.xml"/><Relationship Id="rId34" Type="http://schemas.openxmlformats.org/officeDocument/2006/relationships/slide" Target="slide40.xml"/><Relationship Id="rId42" Type="http://schemas.openxmlformats.org/officeDocument/2006/relationships/slide" Target="slide48.xml"/><Relationship Id="rId7" Type="http://schemas.openxmlformats.org/officeDocument/2006/relationships/slide" Target="slide9.xml"/><Relationship Id="rId2" Type="http://schemas.openxmlformats.org/officeDocument/2006/relationships/slide" Target="slide3.xml"/><Relationship Id="rId16" Type="http://schemas.openxmlformats.org/officeDocument/2006/relationships/slide" Target="slide20.xml"/><Relationship Id="rId29" Type="http://schemas.openxmlformats.org/officeDocument/2006/relationships/slide" Target="slide35.xml"/><Relationship Id="rId1" Type="http://schemas.openxmlformats.org/officeDocument/2006/relationships/slideLayout" Target="../slideLayouts/slideLayout7.xml"/><Relationship Id="rId6" Type="http://schemas.openxmlformats.org/officeDocument/2006/relationships/slide" Target="slide8.xml"/><Relationship Id="rId11" Type="http://schemas.openxmlformats.org/officeDocument/2006/relationships/slide" Target="slide14.xml"/><Relationship Id="rId24" Type="http://schemas.openxmlformats.org/officeDocument/2006/relationships/slide" Target="slide30.xml"/><Relationship Id="rId32" Type="http://schemas.openxmlformats.org/officeDocument/2006/relationships/slide" Target="slide38.xml"/><Relationship Id="rId37" Type="http://schemas.openxmlformats.org/officeDocument/2006/relationships/slide" Target="slide43.xml"/><Relationship Id="rId40" Type="http://schemas.openxmlformats.org/officeDocument/2006/relationships/slide" Target="slide46.xml"/><Relationship Id="rId45" Type="http://schemas.openxmlformats.org/officeDocument/2006/relationships/slide" Target="slide51.xml"/><Relationship Id="rId5" Type="http://schemas.openxmlformats.org/officeDocument/2006/relationships/slide" Target="slide6.xml"/><Relationship Id="rId15" Type="http://schemas.openxmlformats.org/officeDocument/2006/relationships/slide" Target="slide19.xml"/><Relationship Id="rId23" Type="http://schemas.openxmlformats.org/officeDocument/2006/relationships/slide" Target="slide29.xml"/><Relationship Id="rId28" Type="http://schemas.openxmlformats.org/officeDocument/2006/relationships/slide" Target="slide34.xml"/><Relationship Id="rId36" Type="http://schemas.openxmlformats.org/officeDocument/2006/relationships/slide" Target="slide42.xml"/><Relationship Id="rId10" Type="http://schemas.openxmlformats.org/officeDocument/2006/relationships/slide" Target="slide12.xml"/><Relationship Id="rId19" Type="http://schemas.openxmlformats.org/officeDocument/2006/relationships/slide" Target="slide24.xml"/><Relationship Id="rId31" Type="http://schemas.openxmlformats.org/officeDocument/2006/relationships/slide" Target="slide37.xml"/><Relationship Id="rId44" Type="http://schemas.openxmlformats.org/officeDocument/2006/relationships/slide" Target="slide50.xml"/><Relationship Id="rId4" Type="http://schemas.openxmlformats.org/officeDocument/2006/relationships/slide" Target="slide5.xml"/><Relationship Id="rId9" Type="http://schemas.openxmlformats.org/officeDocument/2006/relationships/slide" Target="slide11.xml"/><Relationship Id="rId14" Type="http://schemas.openxmlformats.org/officeDocument/2006/relationships/slide" Target="slide18.xml"/><Relationship Id="rId22" Type="http://schemas.openxmlformats.org/officeDocument/2006/relationships/slide" Target="slide28.xml"/><Relationship Id="rId27" Type="http://schemas.openxmlformats.org/officeDocument/2006/relationships/slide" Target="slide33.xml"/><Relationship Id="rId30" Type="http://schemas.openxmlformats.org/officeDocument/2006/relationships/slide" Target="slide36.xml"/><Relationship Id="rId35" Type="http://schemas.openxmlformats.org/officeDocument/2006/relationships/slide" Target="slide41.xml"/><Relationship Id="rId43" Type="http://schemas.openxmlformats.org/officeDocument/2006/relationships/slide" Target="slide49.xml"/><Relationship Id="rId8" Type="http://schemas.openxmlformats.org/officeDocument/2006/relationships/slide" Target="slide10.xml"/><Relationship Id="rId3" Type="http://schemas.openxmlformats.org/officeDocument/2006/relationships/slide" Target="slide4.xml"/><Relationship Id="rId12" Type="http://schemas.openxmlformats.org/officeDocument/2006/relationships/slide" Target="slide16.xml"/><Relationship Id="rId17" Type="http://schemas.openxmlformats.org/officeDocument/2006/relationships/slide" Target="slide21.xml"/><Relationship Id="rId25" Type="http://schemas.openxmlformats.org/officeDocument/2006/relationships/slide" Target="slide31.xml"/><Relationship Id="rId33" Type="http://schemas.openxmlformats.org/officeDocument/2006/relationships/slide" Target="slide39.xml"/><Relationship Id="rId38" Type="http://schemas.openxmlformats.org/officeDocument/2006/relationships/slide" Target="slide44.xml"/><Relationship Id="rId46" Type="http://schemas.openxmlformats.org/officeDocument/2006/relationships/slide" Target="slide2.xml"/><Relationship Id="rId20" Type="http://schemas.openxmlformats.org/officeDocument/2006/relationships/slide" Target="slide25.xml"/><Relationship Id="rId41" Type="http://schemas.openxmlformats.org/officeDocument/2006/relationships/slide" Target="slide47.xml"/></Relationships>
</file>

<file path=ppt/slides/_rels/slide12.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4.xml.rels><?xml version="1.0" encoding="UTF-8" standalone="yes"?>
<Relationships xmlns="http://schemas.openxmlformats.org/package/2006/relationships"><Relationship Id="rId13" Type="http://schemas.openxmlformats.org/officeDocument/2006/relationships/slide" Target="slide11.xml"/><Relationship Id="rId18" Type="http://schemas.openxmlformats.org/officeDocument/2006/relationships/slide" Target="slide17.xml"/><Relationship Id="rId26" Type="http://schemas.openxmlformats.org/officeDocument/2006/relationships/slide" Target="slide26.xml"/><Relationship Id="rId39" Type="http://schemas.openxmlformats.org/officeDocument/2006/relationships/slide" Target="slide40.xml"/><Relationship Id="rId21" Type="http://schemas.openxmlformats.org/officeDocument/2006/relationships/slide" Target="slide20.xml"/><Relationship Id="rId34" Type="http://schemas.openxmlformats.org/officeDocument/2006/relationships/slide" Target="slide35.xml"/><Relationship Id="rId42" Type="http://schemas.openxmlformats.org/officeDocument/2006/relationships/slide" Target="slide43.xml"/><Relationship Id="rId47" Type="http://schemas.openxmlformats.org/officeDocument/2006/relationships/slide" Target="slide48.xml"/><Relationship Id="rId7" Type="http://schemas.openxmlformats.org/officeDocument/2006/relationships/slide" Target="slide5.xml"/><Relationship Id="rId2" Type="http://schemas.openxmlformats.org/officeDocument/2006/relationships/hyperlink" Target="https://www.gdacs.org/" TargetMode="External"/><Relationship Id="rId16" Type="http://schemas.openxmlformats.org/officeDocument/2006/relationships/slide" Target="slide14.xml"/><Relationship Id="rId29" Type="http://schemas.openxmlformats.org/officeDocument/2006/relationships/slide" Target="slide30.xml"/><Relationship Id="rId11" Type="http://schemas.openxmlformats.org/officeDocument/2006/relationships/slide" Target="slide9.xml"/><Relationship Id="rId24" Type="http://schemas.openxmlformats.org/officeDocument/2006/relationships/slide" Target="slide24.xml"/><Relationship Id="rId32" Type="http://schemas.openxmlformats.org/officeDocument/2006/relationships/slide" Target="slide33.xml"/><Relationship Id="rId37" Type="http://schemas.openxmlformats.org/officeDocument/2006/relationships/slide" Target="slide38.xml"/><Relationship Id="rId40" Type="http://schemas.openxmlformats.org/officeDocument/2006/relationships/slide" Target="slide41.xml"/><Relationship Id="rId45" Type="http://schemas.openxmlformats.org/officeDocument/2006/relationships/slide" Target="slide46.xml"/><Relationship Id="rId5" Type="http://schemas.openxmlformats.org/officeDocument/2006/relationships/slide" Target="slide3.xml"/><Relationship Id="rId15" Type="http://schemas.openxmlformats.org/officeDocument/2006/relationships/slide" Target="slide49.xml"/><Relationship Id="rId23" Type="http://schemas.openxmlformats.org/officeDocument/2006/relationships/slide" Target="slide23.xml"/><Relationship Id="rId28" Type="http://schemas.openxmlformats.org/officeDocument/2006/relationships/slide" Target="slide29.xml"/><Relationship Id="rId36" Type="http://schemas.openxmlformats.org/officeDocument/2006/relationships/slide" Target="slide37.xml"/><Relationship Id="rId49" Type="http://schemas.openxmlformats.org/officeDocument/2006/relationships/slide" Target="slide2.xml"/><Relationship Id="rId10" Type="http://schemas.openxmlformats.org/officeDocument/2006/relationships/slide" Target="slide8.xml"/><Relationship Id="rId19" Type="http://schemas.openxmlformats.org/officeDocument/2006/relationships/slide" Target="slide18.xml"/><Relationship Id="rId31" Type="http://schemas.openxmlformats.org/officeDocument/2006/relationships/slide" Target="slide32.xml"/><Relationship Id="rId44" Type="http://schemas.openxmlformats.org/officeDocument/2006/relationships/slide" Target="slide45.xml"/><Relationship Id="rId4" Type="http://schemas.openxmlformats.org/officeDocument/2006/relationships/hyperlink" Target="https://www.jma.go.jp/jma/indexe.html" TargetMode="External"/><Relationship Id="rId9" Type="http://schemas.openxmlformats.org/officeDocument/2006/relationships/slide" Target="slide7.xml"/><Relationship Id="rId14" Type="http://schemas.openxmlformats.org/officeDocument/2006/relationships/slide" Target="slide12.xml"/><Relationship Id="rId22" Type="http://schemas.openxmlformats.org/officeDocument/2006/relationships/slide" Target="slide21.xml"/><Relationship Id="rId27" Type="http://schemas.openxmlformats.org/officeDocument/2006/relationships/slide" Target="slide28.xml"/><Relationship Id="rId30" Type="http://schemas.openxmlformats.org/officeDocument/2006/relationships/slide" Target="slide31.xml"/><Relationship Id="rId35" Type="http://schemas.openxmlformats.org/officeDocument/2006/relationships/slide" Target="slide36.xml"/><Relationship Id="rId43" Type="http://schemas.openxmlformats.org/officeDocument/2006/relationships/slide" Target="slide44.xml"/><Relationship Id="rId48" Type="http://schemas.openxmlformats.org/officeDocument/2006/relationships/slide" Target="slide50.xml"/><Relationship Id="rId8" Type="http://schemas.openxmlformats.org/officeDocument/2006/relationships/slide" Target="slide6.xml"/><Relationship Id="rId3" Type="http://schemas.openxmlformats.org/officeDocument/2006/relationships/hyperlink" Target="https://www.usgs.gov/" TargetMode="External"/><Relationship Id="rId12" Type="http://schemas.openxmlformats.org/officeDocument/2006/relationships/slide" Target="slide10.xml"/><Relationship Id="rId17" Type="http://schemas.openxmlformats.org/officeDocument/2006/relationships/slide" Target="slide16.xml"/><Relationship Id="rId25" Type="http://schemas.openxmlformats.org/officeDocument/2006/relationships/slide" Target="slide25.xml"/><Relationship Id="rId33" Type="http://schemas.openxmlformats.org/officeDocument/2006/relationships/slide" Target="slide34.xml"/><Relationship Id="rId38" Type="http://schemas.openxmlformats.org/officeDocument/2006/relationships/slide" Target="slide39.xml"/><Relationship Id="rId46" Type="http://schemas.openxmlformats.org/officeDocument/2006/relationships/slide" Target="slide47.xml"/><Relationship Id="rId20" Type="http://schemas.openxmlformats.org/officeDocument/2006/relationships/slide" Target="slide19.xml"/><Relationship Id="rId41" Type="http://schemas.openxmlformats.org/officeDocument/2006/relationships/slide" Target="slide42.xml"/><Relationship Id="rId1" Type="http://schemas.openxmlformats.org/officeDocument/2006/relationships/slideLayout" Target="../slideLayouts/slideLayout7.xml"/><Relationship Id="rId6" Type="http://schemas.openxmlformats.org/officeDocument/2006/relationships/slide" Target="slide4.xml"/></Relationships>
</file>

<file path=ppt/slides/_rels/slide15.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47" Type="http://schemas.openxmlformats.org/officeDocument/2006/relationships/hyperlink" Target="https://www.usgs.gov/" TargetMode="Externa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48" Type="http://schemas.openxmlformats.org/officeDocument/2006/relationships/slide" Target="slide2.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hyperlink" Target="https://www.gdacs.org/" TargetMode="External"/><Relationship Id="rId20" Type="http://schemas.openxmlformats.org/officeDocument/2006/relationships/slide" Target="slide23.xml"/><Relationship Id="rId41" Type="http://schemas.openxmlformats.org/officeDocument/2006/relationships/slide" Target="slide45.xml"/></Relationships>
</file>

<file path=ppt/slides/_rels/slide16.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7.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18.xml.rels><?xml version="1.0" encoding="UTF-8" standalone="yes"?>
<Relationships xmlns="http://schemas.openxmlformats.org/package/2006/relationships"><Relationship Id="rId13" Type="http://schemas.openxmlformats.org/officeDocument/2006/relationships/slide" Target="slide10.xml"/><Relationship Id="rId18" Type="http://schemas.openxmlformats.org/officeDocument/2006/relationships/slide" Target="slide16.xml"/><Relationship Id="rId26" Type="http://schemas.openxmlformats.org/officeDocument/2006/relationships/slide" Target="slide25.xml"/><Relationship Id="rId39" Type="http://schemas.openxmlformats.org/officeDocument/2006/relationships/slide" Target="slide39.xml"/><Relationship Id="rId21" Type="http://schemas.openxmlformats.org/officeDocument/2006/relationships/slide" Target="slide19.xml"/><Relationship Id="rId34" Type="http://schemas.openxmlformats.org/officeDocument/2006/relationships/slide" Target="slide34.xml"/><Relationship Id="rId42" Type="http://schemas.openxmlformats.org/officeDocument/2006/relationships/slide" Target="slide42.xml"/><Relationship Id="rId47" Type="http://schemas.openxmlformats.org/officeDocument/2006/relationships/slide" Target="slide47.xml"/><Relationship Id="rId50" Type="http://schemas.openxmlformats.org/officeDocument/2006/relationships/slide" Target="slide2.xml"/><Relationship Id="rId7" Type="http://schemas.openxmlformats.org/officeDocument/2006/relationships/slide" Target="slide4.xml"/><Relationship Id="rId2" Type="http://schemas.openxmlformats.org/officeDocument/2006/relationships/hyperlink" Target="https://www.fda.gov/inspections-compliance-enforcement-and-criminal-investigations/compliance-actions-and-activities/warning-letters" TargetMode="External"/><Relationship Id="rId16" Type="http://schemas.openxmlformats.org/officeDocument/2006/relationships/slide" Target="slide49.xml"/><Relationship Id="rId29" Type="http://schemas.openxmlformats.org/officeDocument/2006/relationships/slide" Target="slide29.xml"/><Relationship Id="rId11" Type="http://schemas.openxmlformats.org/officeDocument/2006/relationships/slide" Target="slide8.xml"/><Relationship Id="rId24" Type="http://schemas.openxmlformats.org/officeDocument/2006/relationships/slide" Target="slide23.xml"/><Relationship Id="rId32" Type="http://schemas.openxmlformats.org/officeDocument/2006/relationships/slide" Target="slide32.xml"/><Relationship Id="rId37" Type="http://schemas.openxmlformats.org/officeDocument/2006/relationships/slide" Target="slide37.xml"/><Relationship Id="rId40" Type="http://schemas.openxmlformats.org/officeDocument/2006/relationships/slide" Target="slide40.xml"/><Relationship Id="rId45" Type="http://schemas.openxmlformats.org/officeDocument/2006/relationships/slide" Target="slide45.xml"/><Relationship Id="rId5" Type="http://schemas.openxmlformats.org/officeDocument/2006/relationships/hyperlink" Target="http://eudragmdp.ema.europa.eu/inspections/gmpc/searchGMPNonCompliance.do" TargetMode="External"/><Relationship Id="rId15" Type="http://schemas.openxmlformats.org/officeDocument/2006/relationships/slide" Target="slide12.xml"/><Relationship Id="rId23" Type="http://schemas.openxmlformats.org/officeDocument/2006/relationships/slide" Target="slide21.xml"/><Relationship Id="rId28" Type="http://schemas.openxmlformats.org/officeDocument/2006/relationships/slide" Target="slide28.xml"/><Relationship Id="rId36" Type="http://schemas.openxmlformats.org/officeDocument/2006/relationships/slide" Target="slide36.xml"/><Relationship Id="rId49" Type="http://schemas.openxmlformats.org/officeDocument/2006/relationships/slide" Target="slide50.xml"/><Relationship Id="rId10" Type="http://schemas.openxmlformats.org/officeDocument/2006/relationships/slide" Target="slide7.xml"/><Relationship Id="rId19" Type="http://schemas.openxmlformats.org/officeDocument/2006/relationships/slide" Target="slide17.xml"/><Relationship Id="rId31" Type="http://schemas.openxmlformats.org/officeDocument/2006/relationships/slide" Target="slide31.xml"/><Relationship Id="rId44" Type="http://schemas.openxmlformats.org/officeDocument/2006/relationships/slide" Target="slide44.xml"/><Relationship Id="rId4" Type="http://schemas.openxmlformats.org/officeDocument/2006/relationships/hyperlink" Target="https://www.ema.europa.eu/en/news-events/whats-new" TargetMode="External"/><Relationship Id="rId9" Type="http://schemas.openxmlformats.org/officeDocument/2006/relationships/slide" Target="slide6.xml"/><Relationship Id="rId14" Type="http://schemas.openxmlformats.org/officeDocument/2006/relationships/slide" Target="slide11.xml"/><Relationship Id="rId22" Type="http://schemas.openxmlformats.org/officeDocument/2006/relationships/slide" Target="slide20.xml"/><Relationship Id="rId27" Type="http://schemas.openxmlformats.org/officeDocument/2006/relationships/slide" Target="slide26.xml"/><Relationship Id="rId30" Type="http://schemas.openxmlformats.org/officeDocument/2006/relationships/slide" Target="slide30.xml"/><Relationship Id="rId35" Type="http://schemas.openxmlformats.org/officeDocument/2006/relationships/slide" Target="slide35.xml"/><Relationship Id="rId43" Type="http://schemas.openxmlformats.org/officeDocument/2006/relationships/slide" Target="slide43.xml"/><Relationship Id="rId48" Type="http://schemas.openxmlformats.org/officeDocument/2006/relationships/slide" Target="slide48.xml"/><Relationship Id="rId8" Type="http://schemas.openxmlformats.org/officeDocument/2006/relationships/slide" Target="slide5.xml"/><Relationship Id="rId3" Type="http://schemas.openxmlformats.org/officeDocument/2006/relationships/hyperlink" Target="https://www.osha.gov/news/newsreleases/infodate-m/202212" TargetMode="External"/><Relationship Id="rId12" Type="http://schemas.openxmlformats.org/officeDocument/2006/relationships/slide" Target="slide9.xml"/><Relationship Id="rId17" Type="http://schemas.openxmlformats.org/officeDocument/2006/relationships/slide" Target="slide14.xml"/><Relationship Id="rId25" Type="http://schemas.openxmlformats.org/officeDocument/2006/relationships/slide" Target="slide24.xml"/><Relationship Id="rId33" Type="http://schemas.openxmlformats.org/officeDocument/2006/relationships/slide" Target="slide33.xml"/><Relationship Id="rId38" Type="http://schemas.openxmlformats.org/officeDocument/2006/relationships/slide" Target="slide38.xml"/><Relationship Id="rId46" Type="http://schemas.openxmlformats.org/officeDocument/2006/relationships/slide" Target="slide46.xml"/><Relationship Id="rId20" Type="http://schemas.openxmlformats.org/officeDocument/2006/relationships/slide" Target="slide18.xml"/><Relationship Id="rId41" Type="http://schemas.openxmlformats.org/officeDocument/2006/relationships/slide" Target="slide41.xml"/><Relationship Id="rId1" Type="http://schemas.openxmlformats.org/officeDocument/2006/relationships/slideLayout" Target="../slideLayouts/slideLayout7.xml"/><Relationship Id="rId6" Type="http://schemas.openxmlformats.org/officeDocument/2006/relationships/slide" Target="slide3.xml"/></Relationships>
</file>

<file path=ppt/slides/_rels/slide19.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0.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1.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2.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4.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5.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6.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7.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8.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29.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0.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1.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2.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4.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5.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6.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37.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4.xml"/><Relationship Id="rId21" Type="http://schemas.openxmlformats.org/officeDocument/2006/relationships/slide" Target="slide24.xml"/><Relationship Id="rId34" Type="http://schemas.openxmlformats.org/officeDocument/2006/relationships/slide" Target="slide39.xml"/><Relationship Id="rId42" Type="http://schemas.openxmlformats.org/officeDocument/2006/relationships/slide" Target="slide47.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2.xml"/><Relationship Id="rId40" Type="http://schemas.openxmlformats.org/officeDocument/2006/relationships/slide" Target="slide45.xml"/><Relationship Id="rId45" Type="http://schemas.openxmlformats.org/officeDocument/2006/relationships/slide" Target="slide2.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1.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50.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40.xml"/><Relationship Id="rId43" Type="http://schemas.openxmlformats.org/officeDocument/2006/relationships/slide" Target="slide48.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8.xml"/><Relationship Id="rId38" Type="http://schemas.openxmlformats.org/officeDocument/2006/relationships/slide" Target="slide43.xml"/><Relationship Id="rId20" Type="http://schemas.openxmlformats.org/officeDocument/2006/relationships/slide" Target="slide23.xml"/><Relationship Id="rId41" Type="http://schemas.openxmlformats.org/officeDocument/2006/relationships/slide" Target="slide46.xml"/></Relationships>
</file>

<file path=ppt/slides/_rels/slide38.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4.xml"/><Relationship Id="rId21" Type="http://schemas.openxmlformats.org/officeDocument/2006/relationships/slide" Target="slide24.xml"/><Relationship Id="rId34" Type="http://schemas.openxmlformats.org/officeDocument/2006/relationships/slide" Target="slide39.xml"/><Relationship Id="rId42" Type="http://schemas.openxmlformats.org/officeDocument/2006/relationships/slide" Target="slide47.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2.xml"/><Relationship Id="rId40" Type="http://schemas.openxmlformats.org/officeDocument/2006/relationships/slide" Target="slide45.xml"/><Relationship Id="rId45" Type="http://schemas.openxmlformats.org/officeDocument/2006/relationships/slide" Target="slide2.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1.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50.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40.xml"/><Relationship Id="rId43" Type="http://schemas.openxmlformats.org/officeDocument/2006/relationships/slide" Target="slide48.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3.xml"/><Relationship Id="rId20" Type="http://schemas.openxmlformats.org/officeDocument/2006/relationships/slide" Target="slide23.xml"/><Relationship Id="rId41" Type="http://schemas.openxmlformats.org/officeDocument/2006/relationships/slide" Target="slide46.xml"/></Relationships>
</file>

<file path=ppt/slides/_rels/slide39.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0.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1.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47" Type="http://schemas.openxmlformats.org/officeDocument/2006/relationships/slide" Target="slide2.xml"/><Relationship Id="rId7" Type="http://schemas.openxmlformats.org/officeDocument/2006/relationships/slide" Target="slide7.xml"/><Relationship Id="rId2" Type="http://schemas.openxmlformats.org/officeDocument/2006/relationships/slide" Target="slide6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42.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4.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5.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6.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7.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8.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49.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47" Type="http://schemas.openxmlformats.org/officeDocument/2006/relationships/slide" Target="slide2.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49.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13.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50.xml"/><Relationship Id="rId20" Type="http://schemas.openxmlformats.org/officeDocument/2006/relationships/slide" Target="slide23.xml"/><Relationship Id="rId41" Type="http://schemas.openxmlformats.org/officeDocument/2006/relationships/slide" Target="slide45.xml"/></Relationships>
</file>

<file path=ppt/slides/_rels/slide50.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51.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20.xml"/><Relationship Id="rId26" Type="http://schemas.openxmlformats.org/officeDocument/2006/relationships/slide" Target="slide30.xml"/><Relationship Id="rId39" Type="http://schemas.openxmlformats.org/officeDocument/2006/relationships/slide" Target="slide43.xml"/><Relationship Id="rId21" Type="http://schemas.openxmlformats.org/officeDocument/2006/relationships/slide" Target="slide24.xml"/><Relationship Id="rId34" Type="http://schemas.openxmlformats.org/officeDocument/2006/relationships/slide" Target="slide38.xml"/><Relationship Id="rId42" Type="http://schemas.openxmlformats.org/officeDocument/2006/relationships/slide" Target="slide46.xml"/><Relationship Id="rId7" Type="http://schemas.openxmlformats.org/officeDocument/2006/relationships/slide" Target="slide8.xml"/><Relationship Id="rId2" Type="http://schemas.openxmlformats.org/officeDocument/2006/relationships/slide" Target="slide3.xml"/><Relationship Id="rId16" Type="http://schemas.openxmlformats.org/officeDocument/2006/relationships/slide" Target="slide18.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24" Type="http://schemas.openxmlformats.org/officeDocument/2006/relationships/slide" Target="slide28.xml"/><Relationship Id="rId32" Type="http://schemas.openxmlformats.org/officeDocument/2006/relationships/slide" Target="slide36.xml"/><Relationship Id="rId37" Type="http://schemas.openxmlformats.org/officeDocument/2006/relationships/slide" Target="slide41.xml"/><Relationship Id="rId40" Type="http://schemas.openxmlformats.org/officeDocument/2006/relationships/slide" Target="slide44.xml"/><Relationship Id="rId45" Type="http://schemas.openxmlformats.org/officeDocument/2006/relationships/slide" Target="slide50.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1.xml"/><Relationship Id="rId19" Type="http://schemas.openxmlformats.org/officeDocument/2006/relationships/slide" Target="slide21.xml"/><Relationship Id="rId31" Type="http://schemas.openxmlformats.org/officeDocument/2006/relationships/slide" Target="slide35.xml"/><Relationship Id="rId44" Type="http://schemas.openxmlformats.org/officeDocument/2006/relationships/slide" Target="slide48.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43" Type="http://schemas.openxmlformats.org/officeDocument/2006/relationships/slide" Target="slide47.xml"/><Relationship Id="rId8" Type="http://schemas.openxmlformats.org/officeDocument/2006/relationships/slide" Target="slide9.xml"/><Relationship Id="rId3" Type="http://schemas.openxmlformats.org/officeDocument/2006/relationships/slide" Target="slide4.xml"/><Relationship Id="rId12" Type="http://schemas.openxmlformats.org/officeDocument/2006/relationships/slide" Target="slide49.xml"/><Relationship Id="rId17" Type="http://schemas.openxmlformats.org/officeDocument/2006/relationships/slide" Target="slide19.xml"/><Relationship Id="rId25" Type="http://schemas.openxmlformats.org/officeDocument/2006/relationships/slide" Target="slide29.xml"/><Relationship Id="rId33" Type="http://schemas.openxmlformats.org/officeDocument/2006/relationships/slide" Target="slide37.xml"/><Relationship Id="rId38" Type="http://schemas.openxmlformats.org/officeDocument/2006/relationships/slide" Target="slide42.xml"/><Relationship Id="rId46" Type="http://schemas.openxmlformats.org/officeDocument/2006/relationships/slide" Target="slide2.xml"/><Relationship Id="rId20" Type="http://schemas.openxmlformats.org/officeDocument/2006/relationships/slide" Target="slide23.xml"/><Relationship Id="rId41" Type="http://schemas.openxmlformats.org/officeDocument/2006/relationships/slide" Target="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54.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55.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56.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3" Type="http://schemas.openxmlformats.org/officeDocument/2006/relationships/slide" Target="slide12.xml"/><Relationship Id="rId18" Type="http://schemas.openxmlformats.org/officeDocument/2006/relationships/slide" Target="slide18.xml"/><Relationship Id="rId26" Type="http://schemas.openxmlformats.org/officeDocument/2006/relationships/slide" Target="slide28.xml"/><Relationship Id="rId39" Type="http://schemas.openxmlformats.org/officeDocument/2006/relationships/slide" Target="slide41.xml"/><Relationship Id="rId21" Type="http://schemas.openxmlformats.org/officeDocument/2006/relationships/slide" Target="slide21.xml"/><Relationship Id="rId34" Type="http://schemas.openxmlformats.org/officeDocument/2006/relationships/slide" Target="slide36.xml"/><Relationship Id="rId42" Type="http://schemas.openxmlformats.org/officeDocument/2006/relationships/slide" Target="slide44.xml"/><Relationship Id="rId47" Type="http://schemas.openxmlformats.org/officeDocument/2006/relationships/slide" Target="slide50.xml"/><Relationship Id="rId7" Type="http://schemas.openxmlformats.org/officeDocument/2006/relationships/slide" Target="slide6.xml"/><Relationship Id="rId2" Type="http://schemas.openxmlformats.org/officeDocument/2006/relationships/image" Target="../media/image9.png"/><Relationship Id="rId16" Type="http://schemas.openxmlformats.org/officeDocument/2006/relationships/slide" Target="slide16.xml"/><Relationship Id="rId29" Type="http://schemas.openxmlformats.org/officeDocument/2006/relationships/slide" Target="slide31.xml"/><Relationship Id="rId1" Type="http://schemas.openxmlformats.org/officeDocument/2006/relationships/slideLayout" Target="../slideLayouts/slideLayout7.xml"/><Relationship Id="rId6" Type="http://schemas.openxmlformats.org/officeDocument/2006/relationships/slide" Target="slide5.xml"/><Relationship Id="rId11" Type="http://schemas.openxmlformats.org/officeDocument/2006/relationships/slide" Target="slide10.xml"/><Relationship Id="rId24" Type="http://schemas.openxmlformats.org/officeDocument/2006/relationships/slide" Target="slide25.xml"/><Relationship Id="rId32" Type="http://schemas.openxmlformats.org/officeDocument/2006/relationships/slide" Target="slide34.xml"/><Relationship Id="rId37" Type="http://schemas.openxmlformats.org/officeDocument/2006/relationships/slide" Target="slide39.xml"/><Relationship Id="rId40" Type="http://schemas.openxmlformats.org/officeDocument/2006/relationships/slide" Target="slide42.xml"/><Relationship Id="rId45" Type="http://schemas.openxmlformats.org/officeDocument/2006/relationships/slide" Target="slide47.xml"/><Relationship Id="rId5" Type="http://schemas.openxmlformats.org/officeDocument/2006/relationships/slide" Target="slide4.xml"/><Relationship Id="rId15" Type="http://schemas.openxmlformats.org/officeDocument/2006/relationships/slide" Target="slide14.xml"/><Relationship Id="rId23" Type="http://schemas.openxmlformats.org/officeDocument/2006/relationships/slide" Target="slide24.xml"/><Relationship Id="rId28" Type="http://schemas.openxmlformats.org/officeDocument/2006/relationships/slide" Target="slide30.xml"/><Relationship Id="rId36" Type="http://schemas.openxmlformats.org/officeDocument/2006/relationships/slide" Target="slide38.xml"/><Relationship Id="rId10" Type="http://schemas.openxmlformats.org/officeDocument/2006/relationships/slide" Target="slide9.xml"/><Relationship Id="rId19" Type="http://schemas.openxmlformats.org/officeDocument/2006/relationships/slide" Target="slide19.xml"/><Relationship Id="rId31" Type="http://schemas.openxmlformats.org/officeDocument/2006/relationships/slide" Target="slide33.xml"/><Relationship Id="rId44" Type="http://schemas.openxmlformats.org/officeDocument/2006/relationships/slide" Target="slide46.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49.xml"/><Relationship Id="rId22" Type="http://schemas.openxmlformats.org/officeDocument/2006/relationships/slide" Target="slide23.xml"/><Relationship Id="rId27" Type="http://schemas.openxmlformats.org/officeDocument/2006/relationships/slide" Target="slide29.xml"/><Relationship Id="rId30" Type="http://schemas.openxmlformats.org/officeDocument/2006/relationships/slide" Target="slide32.xml"/><Relationship Id="rId35" Type="http://schemas.openxmlformats.org/officeDocument/2006/relationships/slide" Target="slide37.xml"/><Relationship Id="rId43" Type="http://schemas.openxmlformats.org/officeDocument/2006/relationships/slide" Target="slide45.xml"/><Relationship Id="rId8" Type="http://schemas.openxmlformats.org/officeDocument/2006/relationships/slide" Target="slide7.xml"/><Relationship Id="rId3" Type="http://schemas.openxmlformats.org/officeDocument/2006/relationships/slide" Target="slide2.xml"/><Relationship Id="rId12" Type="http://schemas.openxmlformats.org/officeDocument/2006/relationships/slide" Target="slide11.xml"/><Relationship Id="rId17" Type="http://schemas.openxmlformats.org/officeDocument/2006/relationships/slide" Target="slide17.xml"/><Relationship Id="rId25" Type="http://schemas.openxmlformats.org/officeDocument/2006/relationships/slide" Target="slide26.xml"/><Relationship Id="rId33" Type="http://schemas.openxmlformats.org/officeDocument/2006/relationships/slide" Target="slide35.xml"/><Relationship Id="rId38" Type="http://schemas.openxmlformats.org/officeDocument/2006/relationships/slide" Target="slide40.xml"/><Relationship Id="rId46" Type="http://schemas.openxmlformats.org/officeDocument/2006/relationships/slide" Target="slide48.xml"/><Relationship Id="rId20" Type="http://schemas.openxmlformats.org/officeDocument/2006/relationships/slide" Target="slide20.xml"/><Relationship Id="rId41" Type="http://schemas.openxmlformats.org/officeDocument/2006/relationships/slide" Target="slide43.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2.xml"/></Relationships>
</file>

<file path=ppt/slides/_rels/slide60.xml.rels><?xml version="1.0" encoding="UTF-8" standalone="yes"?>
<Relationships xmlns="http://schemas.openxmlformats.org/package/2006/relationships"><Relationship Id="rId13" Type="http://schemas.openxmlformats.org/officeDocument/2006/relationships/slide" Target="slide12.xml"/><Relationship Id="rId18" Type="http://schemas.openxmlformats.org/officeDocument/2006/relationships/slide" Target="slide18.xml"/><Relationship Id="rId26" Type="http://schemas.openxmlformats.org/officeDocument/2006/relationships/slide" Target="slide28.xml"/><Relationship Id="rId39" Type="http://schemas.openxmlformats.org/officeDocument/2006/relationships/slide" Target="slide41.xml"/><Relationship Id="rId21" Type="http://schemas.openxmlformats.org/officeDocument/2006/relationships/slide" Target="slide21.xml"/><Relationship Id="rId34" Type="http://schemas.openxmlformats.org/officeDocument/2006/relationships/slide" Target="slide36.xml"/><Relationship Id="rId42" Type="http://schemas.openxmlformats.org/officeDocument/2006/relationships/slide" Target="slide44.xml"/><Relationship Id="rId47" Type="http://schemas.openxmlformats.org/officeDocument/2006/relationships/slide" Target="slide50.xml"/><Relationship Id="rId7" Type="http://schemas.openxmlformats.org/officeDocument/2006/relationships/slide" Target="slide6.xml"/><Relationship Id="rId2" Type="http://schemas.openxmlformats.org/officeDocument/2006/relationships/image" Target="../media/image9.png"/><Relationship Id="rId16" Type="http://schemas.openxmlformats.org/officeDocument/2006/relationships/slide" Target="slide16.xml"/><Relationship Id="rId29" Type="http://schemas.openxmlformats.org/officeDocument/2006/relationships/slide" Target="slide31.xml"/><Relationship Id="rId1" Type="http://schemas.openxmlformats.org/officeDocument/2006/relationships/slideLayout" Target="../slideLayouts/slideLayout7.xml"/><Relationship Id="rId6" Type="http://schemas.openxmlformats.org/officeDocument/2006/relationships/slide" Target="slide5.xml"/><Relationship Id="rId11" Type="http://schemas.openxmlformats.org/officeDocument/2006/relationships/slide" Target="slide10.xml"/><Relationship Id="rId24" Type="http://schemas.openxmlformats.org/officeDocument/2006/relationships/slide" Target="slide25.xml"/><Relationship Id="rId32" Type="http://schemas.openxmlformats.org/officeDocument/2006/relationships/slide" Target="slide34.xml"/><Relationship Id="rId37" Type="http://schemas.openxmlformats.org/officeDocument/2006/relationships/slide" Target="slide39.xml"/><Relationship Id="rId40" Type="http://schemas.openxmlformats.org/officeDocument/2006/relationships/slide" Target="slide42.xml"/><Relationship Id="rId45" Type="http://schemas.openxmlformats.org/officeDocument/2006/relationships/slide" Target="slide47.xml"/><Relationship Id="rId5" Type="http://schemas.openxmlformats.org/officeDocument/2006/relationships/slide" Target="slide4.xml"/><Relationship Id="rId15" Type="http://schemas.openxmlformats.org/officeDocument/2006/relationships/slide" Target="slide14.xml"/><Relationship Id="rId23" Type="http://schemas.openxmlformats.org/officeDocument/2006/relationships/slide" Target="slide24.xml"/><Relationship Id="rId28" Type="http://schemas.openxmlformats.org/officeDocument/2006/relationships/slide" Target="slide30.xml"/><Relationship Id="rId36" Type="http://schemas.openxmlformats.org/officeDocument/2006/relationships/slide" Target="slide38.xml"/><Relationship Id="rId10" Type="http://schemas.openxmlformats.org/officeDocument/2006/relationships/slide" Target="slide9.xml"/><Relationship Id="rId19" Type="http://schemas.openxmlformats.org/officeDocument/2006/relationships/slide" Target="slide19.xml"/><Relationship Id="rId31" Type="http://schemas.openxmlformats.org/officeDocument/2006/relationships/slide" Target="slide33.xml"/><Relationship Id="rId44" Type="http://schemas.openxmlformats.org/officeDocument/2006/relationships/slide" Target="slide46.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49.xml"/><Relationship Id="rId22" Type="http://schemas.openxmlformats.org/officeDocument/2006/relationships/slide" Target="slide23.xml"/><Relationship Id="rId27" Type="http://schemas.openxmlformats.org/officeDocument/2006/relationships/slide" Target="slide29.xml"/><Relationship Id="rId30" Type="http://schemas.openxmlformats.org/officeDocument/2006/relationships/slide" Target="slide32.xml"/><Relationship Id="rId35" Type="http://schemas.openxmlformats.org/officeDocument/2006/relationships/slide" Target="slide37.xml"/><Relationship Id="rId43" Type="http://schemas.openxmlformats.org/officeDocument/2006/relationships/slide" Target="slide45.xml"/><Relationship Id="rId8" Type="http://schemas.openxmlformats.org/officeDocument/2006/relationships/slide" Target="slide7.xml"/><Relationship Id="rId3" Type="http://schemas.openxmlformats.org/officeDocument/2006/relationships/slide" Target="slide2.xml"/><Relationship Id="rId12" Type="http://schemas.openxmlformats.org/officeDocument/2006/relationships/slide" Target="slide11.xml"/><Relationship Id="rId17" Type="http://schemas.openxmlformats.org/officeDocument/2006/relationships/slide" Target="slide17.xml"/><Relationship Id="rId25" Type="http://schemas.openxmlformats.org/officeDocument/2006/relationships/slide" Target="slide26.xml"/><Relationship Id="rId33" Type="http://schemas.openxmlformats.org/officeDocument/2006/relationships/slide" Target="slide35.xml"/><Relationship Id="rId38" Type="http://schemas.openxmlformats.org/officeDocument/2006/relationships/slide" Target="slide40.xml"/><Relationship Id="rId46" Type="http://schemas.openxmlformats.org/officeDocument/2006/relationships/slide" Target="slide48.xml"/><Relationship Id="rId20" Type="http://schemas.openxmlformats.org/officeDocument/2006/relationships/slide" Target="slide20.xml"/><Relationship Id="rId41" Type="http://schemas.openxmlformats.org/officeDocument/2006/relationships/slide" Target="slide43.xml"/></Relationships>
</file>

<file path=ppt/slides/_rels/slide61.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62.xml.rels><?xml version="1.0" encoding="UTF-8" standalone="yes"?>
<Relationships xmlns="http://schemas.openxmlformats.org/package/2006/relationships"><Relationship Id="rId13" Type="http://schemas.openxmlformats.org/officeDocument/2006/relationships/slide" Target="slide49.xml"/><Relationship Id="rId18" Type="http://schemas.openxmlformats.org/officeDocument/2006/relationships/slide" Target="slide19.xml"/><Relationship Id="rId26" Type="http://schemas.openxmlformats.org/officeDocument/2006/relationships/slide" Target="slide29.xml"/><Relationship Id="rId39" Type="http://schemas.openxmlformats.org/officeDocument/2006/relationships/slide" Target="slide42.xml"/><Relationship Id="rId21" Type="http://schemas.openxmlformats.org/officeDocument/2006/relationships/slide" Target="slide23.xml"/><Relationship Id="rId34" Type="http://schemas.openxmlformats.org/officeDocument/2006/relationships/slide" Target="slide37.xml"/><Relationship Id="rId42" Type="http://schemas.openxmlformats.org/officeDocument/2006/relationships/slide" Target="slide45.xml"/><Relationship Id="rId7" Type="http://schemas.openxmlformats.org/officeDocument/2006/relationships/slide" Target="slide7.xml"/><Relationship Id="rId2" Type="http://schemas.openxmlformats.org/officeDocument/2006/relationships/slide" Target="slide2.xml"/><Relationship Id="rId16" Type="http://schemas.openxmlformats.org/officeDocument/2006/relationships/slide" Target="slide17.xml"/><Relationship Id="rId29" Type="http://schemas.openxmlformats.org/officeDocument/2006/relationships/slide" Target="slide3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6.xml"/><Relationship Id="rId32" Type="http://schemas.openxmlformats.org/officeDocument/2006/relationships/slide" Target="slide35.xml"/><Relationship Id="rId37" Type="http://schemas.openxmlformats.org/officeDocument/2006/relationships/slide" Target="slide40.xml"/><Relationship Id="rId40" Type="http://schemas.openxmlformats.org/officeDocument/2006/relationships/slide" Target="slide43.xml"/><Relationship Id="rId45" Type="http://schemas.openxmlformats.org/officeDocument/2006/relationships/slide" Target="slide48.xml"/><Relationship Id="rId5" Type="http://schemas.openxmlformats.org/officeDocument/2006/relationships/slide" Target="slide5.xml"/><Relationship Id="rId15" Type="http://schemas.openxmlformats.org/officeDocument/2006/relationships/slide" Target="slide16.xml"/><Relationship Id="rId23" Type="http://schemas.openxmlformats.org/officeDocument/2006/relationships/slide" Target="slide25.xml"/><Relationship Id="rId28" Type="http://schemas.openxmlformats.org/officeDocument/2006/relationships/slide" Target="slide31.xml"/><Relationship Id="rId36" Type="http://schemas.openxmlformats.org/officeDocument/2006/relationships/slide" Target="slide39.xml"/><Relationship Id="rId10" Type="http://schemas.openxmlformats.org/officeDocument/2006/relationships/slide" Target="slide10.xml"/><Relationship Id="rId19" Type="http://schemas.openxmlformats.org/officeDocument/2006/relationships/slide" Target="slide20.xml"/><Relationship Id="rId31" Type="http://schemas.openxmlformats.org/officeDocument/2006/relationships/slide" Target="slide34.xml"/><Relationship Id="rId44" Type="http://schemas.openxmlformats.org/officeDocument/2006/relationships/slide" Target="slide47.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4.xml"/><Relationship Id="rId27" Type="http://schemas.openxmlformats.org/officeDocument/2006/relationships/slide" Target="slide30.xml"/><Relationship Id="rId30" Type="http://schemas.openxmlformats.org/officeDocument/2006/relationships/slide" Target="slide33.xml"/><Relationship Id="rId35" Type="http://schemas.openxmlformats.org/officeDocument/2006/relationships/slide" Target="slide38.xml"/><Relationship Id="rId43" Type="http://schemas.openxmlformats.org/officeDocument/2006/relationships/slide" Target="slide46.xml"/><Relationship Id="rId8" Type="http://schemas.openxmlformats.org/officeDocument/2006/relationships/slide" Target="slide8.xml"/><Relationship Id="rId3" Type="http://schemas.openxmlformats.org/officeDocument/2006/relationships/slide" Target="slide3.xml"/><Relationship Id="rId12" Type="http://schemas.openxmlformats.org/officeDocument/2006/relationships/slide" Target="slide12.xml"/><Relationship Id="rId17" Type="http://schemas.openxmlformats.org/officeDocument/2006/relationships/slide" Target="slide18.xml"/><Relationship Id="rId25" Type="http://schemas.openxmlformats.org/officeDocument/2006/relationships/slide" Target="slide28.xml"/><Relationship Id="rId33" Type="http://schemas.openxmlformats.org/officeDocument/2006/relationships/slide" Target="slide36.xml"/><Relationship Id="rId38" Type="http://schemas.openxmlformats.org/officeDocument/2006/relationships/slide" Target="slide41.xml"/><Relationship Id="rId46" Type="http://schemas.openxmlformats.org/officeDocument/2006/relationships/slide" Target="slide50.xml"/><Relationship Id="rId20" Type="http://schemas.openxmlformats.org/officeDocument/2006/relationships/slide" Target="slide21.xml"/><Relationship Id="rId41" Type="http://schemas.openxmlformats.org/officeDocument/2006/relationships/slide" Target="slide44.xml"/></Relationships>
</file>

<file path=ppt/slides/_rels/slide6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7E2F6CA-1E75-42EB-8863-6504FC1349A9}"/>
              </a:ext>
            </a:extLst>
          </p:cNvPr>
          <p:cNvPicPr>
            <a:picLocks noChangeAspect="1"/>
          </p:cNvPicPr>
          <p:nvPr/>
        </p:nvPicPr>
        <p:blipFill rotWithShape="1">
          <a:blip r:embed="rId3">
            <a:alphaModFix amt="50000"/>
          </a:blip>
          <a:srcRect l="8370" t="4382" r="8272" b="6150"/>
          <a:stretch/>
        </p:blipFill>
        <p:spPr>
          <a:xfrm>
            <a:off x="6761285" y="813289"/>
            <a:ext cx="5108331" cy="5231423"/>
          </a:xfrm>
          <a:prstGeom prst="ellipse">
            <a:avLst/>
          </a:prstGeom>
        </p:spPr>
      </p:pic>
      <p:sp>
        <p:nvSpPr>
          <p:cNvPr id="9" name="Rectangle 8">
            <a:extLst>
              <a:ext uri="{FF2B5EF4-FFF2-40B4-BE49-F238E27FC236}">
                <a16:creationId xmlns:a16="http://schemas.microsoft.com/office/drawing/2014/main" id="{25F0EA18-BDC3-49B2-85A1-859C0B4BD93C}"/>
              </a:ext>
            </a:extLst>
          </p:cNvPr>
          <p:cNvSpPr/>
          <p:nvPr/>
        </p:nvSpPr>
        <p:spPr>
          <a:xfrm>
            <a:off x="3670" y="0"/>
            <a:ext cx="12192000" cy="6858000"/>
          </a:xfrm>
          <a:prstGeom prst="rect">
            <a:avLst/>
          </a:prstGeom>
          <a:solidFill>
            <a:schemeClr val="tx1">
              <a:alpha val="3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43256" rtl="0" eaLnBrk="1" fontAlgn="auto" latinLnBrk="0" hangingPunct="1">
              <a:lnSpc>
                <a:spcPct val="100000"/>
              </a:lnSpc>
              <a:spcBef>
                <a:spcPts val="0"/>
              </a:spcBef>
              <a:spcAft>
                <a:spcPts val="0"/>
              </a:spcAft>
              <a:buClrTx/>
              <a:buSzTx/>
              <a:buFontTx/>
              <a:buNone/>
              <a:tabLst/>
              <a:defRPr/>
            </a:pPr>
            <a:endParaRPr kumimoji="0" lang="en-US" sz="1857" b="0" i="0" u="none" strike="noStrike" kern="1200" cap="none" spc="0" normalizeH="0" baseline="0" noProof="0" dirty="0">
              <a:ln>
                <a:noFill/>
              </a:ln>
              <a:solidFill>
                <a:srgbClr val="FFFFFF"/>
              </a:solidFill>
              <a:effectLst/>
              <a:uLnTx/>
              <a:uFillTx/>
              <a:latin typeface="Corbel" panose="020B0503020204020204" pitchFamily="34" charset="0"/>
            </a:endParaRPr>
          </a:p>
        </p:txBody>
      </p:sp>
      <p:sp>
        <p:nvSpPr>
          <p:cNvPr id="4" name="Text Placeholder 3">
            <a:extLst>
              <a:ext uri="{FF2B5EF4-FFF2-40B4-BE49-F238E27FC236}">
                <a16:creationId xmlns:a16="http://schemas.microsoft.com/office/drawing/2014/main" id="{074EDA9D-68D9-BA4E-9B68-8B34E52C26CF}"/>
              </a:ext>
            </a:extLst>
          </p:cNvPr>
          <p:cNvSpPr>
            <a:spLocks noGrp="1"/>
          </p:cNvSpPr>
          <p:nvPr>
            <p:ph type="subTitle" idx="1"/>
          </p:nvPr>
        </p:nvSpPr>
        <p:spPr>
          <a:xfrm>
            <a:off x="1071581" y="1787525"/>
            <a:ext cx="4876800" cy="1426419"/>
          </a:xfrm>
        </p:spPr>
        <p:txBody>
          <a:bodyPr anchor="ctr">
            <a:noAutofit/>
          </a:bodyPr>
          <a:lstStyle/>
          <a:p>
            <a:pPr>
              <a:spcBef>
                <a:spcPct val="0"/>
              </a:spcBef>
            </a:pPr>
            <a:r>
              <a:rPr lang="en-IN" sz="3000" b="1" dirty="0">
                <a:solidFill>
                  <a:schemeClr val="accent1"/>
                </a:solidFill>
                <a:latin typeface="Corbel" panose="020B0503020204020204" pitchFamily="34" charset="0"/>
                <a:ea typeface="+mj-ea"/>
                <a:cs typeface="+mj-cs"/>
              </a:rPr>
              <a:t>EventWatch</a:t>
            </a:r>
          </a:p>
          <a:p>
            <a:pPr>
              <a:spcBef>
                <a:spcPct val="0"/>
              </a:spcBef>
            </a:pPr>
            <a:r>
              <a:rPr lang="en-IN" sz="2000" b="1" dirty="0">
                <a:solidFill>
                  <a:schemeClr val="accent1"/>
                </a:solidFill>
                <a:latin typeface="Corbel" panose="020B0503020204020204" pitchFamily="34" charset="0"/>
                <a:ea typeface="+mj-ea"/>
                <a:cs typeface="+mj-cs"/>
              </a:rPr>
              <a:t>Thresholds &amp; Guidelines</a:t>
            </a:r>
          </a:p>
        </p:txBody>
      </p:sp>
      <p:sp>
        <p:nvSpPr>
          <p:cNvPr id="12" name="Rectangle 11">
            <a:extLst>
              <a:ext uri="{FF2B5EF4-FFF2-40B4-BE49-F238E27FC236}">
                <a16:creationId xmlns:a16="http://schemas.microsoft.com/office/drawing/2014/main" id="{BA681F36-4903-424B-A567-5E580A366AB4}"/>
              </a:ext>
            </a:extLst>
          </p:cNvPr>
          <p:cNvSpPr/>
          <p:nvPr/>
        </p:nvSpPr>
        <p:spPr>
          <a:xfrm>
            <a:off x="1071581" y="5958562"/>
            <a:ext cx="4861267" cy="353943"/>
          </a:xfrm>
          <a:prstGeom prst="rect">
            <a:avLst/>
          </a:prstGeom>
        </p:spPr>
        <p:txBody>
          <a:bodyPr wrap="square" lIns="45720" tIns="22860" rIns="45720" bIns="22860" anchor="t">
            <a:spAutoFit/>
          </a:bodyPr>
          <a:lstStyle/>
          <a:p>
            <a:pPr marL="0" marR="0" lvl="0" indent="0" algn="l" defTabSz="943256"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orbel" panose="020B0503020204020204" pitchFamily="34" charset="0"/>
              </a:rPr>
              <a:t>Resilinc EventWatch Team</a:t>
            </a:r>
          </a:p>
        </p:txBody>
      </p:sp>
      <p:pic>
        <p:nvPicPr>
          <p:cNvPr id="6" name="Graphic 9">
            <a:extLst>
              <a:ext uri="{FF2B5EF4-FFF2-40B4-BE49-F238E27FC236}">
                <a16:creationId xmlns:a16="http://schemas.microsoft.com/office/drawing/2014/main" id="{1EDEE06A-3957-4E05-BDA6-3CA95F79FD81}"/>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26834" b="21815"/>
          <a:stretch/>
        </p:blipFill>
        <p:spPr>
          <a:xfrm>
            <a:off x="7717601" y="2838624"/>
            <a:ext cx="3195698" cy="1364566"/>
          </a:xfrm>
          <a:prstGeom prst="rect">
            <a:avLst/>
          </a:prstGeom>
          <a:effectLst>
            <a:outerShdw blurRad="50800" dist="38100" dir="2700000" algn="tl" rotWithShape="0">
              <a:prstClr val="black">
                <a:alpha val="40000"/>
              </a:prstClr>
            </a:outerShdw>
          </a:effectLst>
        </p:spPr>
      </p:pic>
      <p:sp>
        <p:nvSpPr>
          <p:cNvPr id="2" name="Text Placeholder 3">
            <a:extLst>
              <a:ext uri="{FF2B5EF4-FFF2-40B4-BE49-F238E27FC236}">
                <a16:creationId xmlns:a16="http://schemas.microsoft.com/office/drawing/2014/main" id="{C4742B66-43D8-9799-1B90-E06CEF7B32BD}"/>
              </a:ext>
            </a:extLst>
          </p:cNvPr>
          <p:cNvSpPr txBox="1">
            <a:spLocks/>
          </p:cNvSpPr>
          <p:nvPr/>
        </p:nvSpPr>
        <p:spPr>
          <a:xfrm>
            <a:off x="1071581" y="2860000"/>
            <a:ext cx="4876800" cy="353944"/>
          </a:xfrm>
          <a:prstGeom prst="rect">
            <a:avLst/>
          </a:prstGeom>
        </p:spPr>
        <p:txBody>
          <a:bodyPr vert="horz" lIns="91440" tIns="45720" rIns="91440" bIns="45720" rtlCol="0" anchor="ctr">
            <a:noAutofit/>
          </a:bodyPr>
          <a:lstStyle>
            <a:lvl1pPr marL="0" indent="0" algn="l" defTabSz="853455" rtl="0" eaLnBrk="1" latinLnBrk="0" hangingPunct="1">
              <a:lnSpc>
                <a:spcPct val="90000"/>
              </a:lnSpc>
              <a:spcBef>
                <a:spcPts val="934"/>
              </a:spcBef>
              <a:buClr>
                <a:schemeClr val="accent4"/>
              </a:buClr>
              <a:buFont typeface="Arial" panose="020B0604020202020204" pitchFamily="34" charset="0"/>
              <a:buNone/>
              <a:defRPr sz="2500" b="0" kern="1200">
                <a:solidFill>
                  <a:schemeClr val="bg1"/>
                </a:solidFill>
                <a:latin typeface="+mj-lt"/>
                <a:ea typeface="+mn-ea"/>
                <a:cs typeface="+mn-cs"/>
              </a:defRPr>
            </a:lvl1pPr>
            <a:lvl2pPr marL="228600" indent="0" algn="ctr" defTabSz="853455" rtl="0" eaLnBrk="1" latinLnBrk="0" hangingPunct="1">
              <a:lnSpc>
                <a:spcPct val="90000"/>
              </a:lnSpc>
              <a:spcBef>
                <a:spcPts val="467"/>
              </a:spcBef>
              <a:buClr>
                <a:schemeClr val="accent1">
                  <a:lumMod val="50000"/>
                </a:schemeClr>
              </a:buClr>
              <a:buFont typeface="Arial" panose="020B0604020202020204" pitchFamily="34" charset="0"/>
              <a:buNone/>
              <a:defRPr sz="1000" kern="1200">
                <a:solidFill>
                  <a:schemeClr val="tx1"/>
                </a:solidFill>
                <a:latin typeface="+mn-lt"/>
                <a:ea typeface="+mn-ea"/>
                <a:cs typeface="+mn-cs"/>
              </a:defRPr>
            </a:lvl2pPr>
            <a:lvl3pPr marL="457200" indent="0" algn="ctr" defTabSz="853455" rtl="0" eaLnBrk="1" latinLnBrk="0" hangingPunct="1">
              <a:lnSpc>
                <a:spcPct val="90000"/>
              </a:lnSpc>
              <a:spcBef>
                <a:spcPts val="467"/>
              </a:spcBef>
              <a:buClr>
                <a:schemeClr val="accent4"/>
              </a:buClr>
              <a:buFont typeface="Arial" panose="020B0604020202020204" pitchFamily="34" charset="0"/>
              <a:buNone/>
              <a:defRPr sz="900" kern="1200">
                <a:solidFill>
                  <a:schemeClr val="tx1"/>
                </a:solidFill>
                <a:latin typeface="+mn-lt"/>
                <a:ea typeface="+mn-ea"/>
                <a:cs typeface="+mn-cs"/>
              </a:defRPr>
            </a:lvl3pPr>
            <a:lvl4pPr marL="685800" indent="0" algn="ctr" defTabSz="853455" rtl="0" eaLnBrk="1" latinLnBrk="0" hangingPunct="1">
              <a:lnSpc>
                <a:spcPct val="90000"/>
              </a:lnSpc>
              <a:spcBef>
                <a:spcPts val="467"/>
              </a:spcBef>
              <a:buClr>
                <a:schemeClr val="accent4"/>
              </a:buClr>
              <a:buFont typeface="Arial" panose="020B0604020202020204" pitchFamily="34" charset="0"/>
              <a:buNone/>
              <a:defRPr sz="800" kern="1200">
                <a:solidFill>
                  <a:schemeClr val="tx1"/>
                </a:solidFill>
                <a:latin typeface="+mn-lt"/>
                <a:ea typeface="+mn-ea"/>
                <a:cs typeface="+mn-cs"/>
              </a:defRPr>
            </a:lvl4pPr>
            <a:lvl5pPr marL="914400" indent="0" algn="ctr" defTabSz="853455" rtl="0" eaLnBrk="1" latinLnBrk="0" hangingPunct="1">
              <a:lnSpc>
                <a:spcPct val="90000"/>
              </a:lnSpc>
              <a:spcBef>
                <a:spcPts val="467"/>
              </a:spcBef>
              <a:buClr>
                <a:schemeClr val="accent4"/>
              </a:buClr>
              <a:buFont typeface="Arial" panose="020B0604020202020204" pitchFamily="34" charset="0"/>
              <a:buNone/>
              <a:defRPr sz="800" kern="1200">
                <a:solidFill>
                  <a:schemeClr val="tx1"/>
                </a:solidFill>
                <a:latin typeface="+mn-lt"/>
                <a:ea typeface="+mn-ea"/>
                <a:cs typeface="+mn-cs"/>
              </a:defRPr>
            </a:lvl5pPr>
            <a:lvl6pPr marL="1143000" indent="0" algn="ctr" defTabSz="853455" rtl="0" eaLnBrk="1" latinLnBrk="0" hangingPunct="1">
              <a:lnSpc>
                <a:spcPct val="90000"/>
              </a:lnSpc>
              <a:spcBef>
                <a:spcPts val="467"/>
              </a:spcBef>
              <a:buFont typeface="Arial" panose="020B0604020202020204" pitchFamily="34" charset="0"/>
              <a:buNone/>
              <a:defRPr sz="800" kern="1200">
                <a:solidFill>
                  <a:schemeClr val="tx1"/>
                </a:solidFill>
                <a:latin typeface="+mn-lt"/>
                <a:ea typeface="+mn-ea"/>
                <a:cs typeface="+mn-cs"/>
              </a:defRPr>
            </a:lvl6pPr>
            <a:lvl7pPr marL="1371600" indent="0" algn="ctr" defTabSz="853455" rtl="0" eaLnBrk="1" latinLnBrk="0" hangingPunct="1">
              <a:lnSpc>
                <a:spcPct val="90000"/>
              </a:lnSpc>
              <a:spcBef>
                <a:spcPts val="467"/>
              </a:spcBef>
              <a:buFont typeface="Arial" panose="020B0604020202020204" pitchFamily="34" charset="0"/>
              <a:buNone/>
              <a:defRPr sz="800" kern="1200">
                <a:solidFill>
                  <a:schemeClr val="tx1"/>
                </a:solidFill>
                <a:latin typeface="+mn-lt"/>
                <a:ea typeface="+mn-ea"/>
                <a:cs typeface="+mn-cs"/>
              </a:defRPr>
            </a:lvl7pPr>
            <a:lvl8pPr marL="1600200" indent="0" algn="ctr" defTabSz="853455" rtl="0" eaLnBrk="1" latinLnBrk="0" hangingPunct="1">
              <a:lnSpc>
                <a:spcPct val="90000"/>
              </a:lnSpc>
              <a:spcBef>
                <a:spcPts val="467"/>
              </a:spcBef>
              <a:buFont typeface="Arial" panose="020B0604020202020204" pitchFamily="34" charset="0"/>
              <a:buNone/>
              <a:defRPr sz="800" kern="1200">
                <a:solidFill>
                  <a:schemeClr val="tx1"/>
                </a:solidFill>
                <a:latin typeface="+mn-lt"/>
                <a:ea typeface="+mn-ea"/>
                <a:cs typeface="+mn-cs"/>
              </a:defRPr>
            </a:lvl8pPr>
            <a:lvl9pPr marL="1828800" indent="0" algn="ctr" defTabSz="853455" rtl="0" eaLnBrk="1" latinLnBrk="0" hangingPunct="1">
              <a:lnSpc>
                <a:spcPct val="90000"/>
              </a:lnSpc>
              <a:spcBef>
                <a:spcPts val="467"/>
              </a:spcBef>
              <a:buFont typeface="Arial" panose="020B0604020202020204" pitchFamily="34" charset="0"/>
              <a:buNone/>
              <a:defRPr sz="800" kern="1200">
                <a:solidFill>
                  <a:schemeClr val="tx1"/>
                </a:solidFill>
                <a:latin typeface="+mn-lt"/>
                <a:ea typeface="+mn-ea"/>
                <a:cs typeface="+mn-cs"/>
              </a:defRPr>
            </a:lvl9pPr>
          </a:lstStyle>
          <a:p>
            <a:pPr>
              <a:spcBef>
                <a:spcPct val="0"/>
              </a:spcBef>
            </a:pPr>
            <a:r>
              <a:rPr lang="en-IN" sz="1600" dirty="0">
                <a:solidFill>
                  <a:schemeClr val="bg2"/>
                </a:solidFill>
                <a:latin typeface="Corbel" panose="020B0503020204020204" pitchFamily="34" charset="0"/>
                <a:ea typeface="+mj-ea"/>
                <a:cs typeface="+mj-cs"/>
              </a:rPr>
              <a:t>Version 6.5</a:t>
            </a:r>
          </a:p>
        </p:txBody>
      </p:sp>
    </p:spTree>
    <p:extLst>
      <p:ext uri="{BB962C8B-B14F-4D97-AF65-F5344CB8AC3E}">
        <p14:creationId xmlns:p14="http://schemas.microsoft.com/office/powerpoint/2010/main" val="195359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22553-3935-30B1-5C17-C8C6686E5B5D}"/>
              </a:ext>
            </a:extLst>
          </p:cNvPr>
          <p:cNvSpPr txBox="1"/>
          <p:nvPr/>
        </p:nvSpPr>
        <p:spPr>
          <a:xfrm>
            <a:off x="-27411" y="27017"/>
            <a:ext cx="3007434" cy="461665"/>
          </a:xfrm>
          <a:prstGeom prst="rect">
            <a:avLst/>
          </a:prstGeom>
          <a:noFill/>
        </p:spPr>
        <p:txBody>
          <a:bodyPr wrap="square" rtlCol="0">
            <a:spAutoFit/>
          </a:bodyPr>
          <a:lstStyle/>
          <a:p>
            <a:pPr algn="ctr"/>
            <a:r>
              <a:rPr lang="en-IN" sz="2400" b="1" dirty="0">
                <a:solidFill>
                  <a:srgbClr val="0070C0"/>
                </a:solidFill>
                <a:latin typeface="Corbel" panose="020B0503020204020204" pitchFamily="34" charset="0"/>
              </a:rPr>
              <a:t>Home – Event types</a:t>
            </a:r>
          </a:p>
        </p:txBody>
      </p:sp>
      <p:graphicFrame>
        <p:nvGraphicFramePr>
          <p:cNvPr id="11" name="Table 2">
            <a:extLst>
              <a:ext uri="{FF2B5EF4-FFF2-40B4-BE49-F238E27FC236}">
                <a16:creationId xmlns:a16="http://schemas.microsoft.com/office/drawing/2014/main" id="{044BF155-C258-AD93-FEA3-599E05DFFFC9}"/>
              </a:ext>
            </a:extLst>
          </p:cNvPr>
          <p:cNvGraphicFramePr>
            <a:graphicFrameLocks noGrp="1"/>
          </p:cNvGraphicFramePr>
          <p:nvPr>
            <p:extLst>
              <p:ext uri="{D42A27DB-BD31-4B8C-83A1-F6EECF244321}">
                <p14:modId xmlns:p14="http://schemas.microsoft.com/office/powerpoint/2010/main" val="3787065911"/>
              </p:ext>
            </p:extLst>
          </p:nvPr>
        </p:nvGraphicFramePr>
        <p:xfrm>
          <a:off x="64905" y="500000"/>
          <a:ext cx="5230722" cy="6182227"/>
        </p:xfrm>
        <a:graphic>
          <a:graphicData uri="http://schemas.openxmlformats.org/drawingml/2006/table">
            <a:tbl>
              <a:tblPr firstRow="1" bandRow="1">
                <a:tableStyleId>{21E4AEA4-8DFA-4A89-87EB-49C32662AFE0}</a:tableStyleId>
              </a:tblPr>
              <a:tblGrid>
                <a:gridCol w="2615361">
                  <a:extLst>
                    <a:ext uri="{9D8B030D-6E8A-4147-A177-3AD203B41FA5}">
                      <a16:colId xmlns:a16="http://schemas.microsoft.com/office/drawing/2014/main" val="1013625593"/>
                    </a:ext>
                  </a:extLst>
                </a:gridCol>
                <a:gridCol w="2615361">
                  <a:extLst>
                    <a:ext uri="{9D8B030D-6E8A-4147-A177-3AD203B41FA5}">
                      <a16:colId xmlns:a16="http://schemas.microsoft.com/office/drawing/2014/main" val="1371905692"/>
                    </a:ext>
                  </a:extLst>
                </a:gridCol>
              </a:tblGrid>
              <a:tr h="449677">
                <a:tc gridSpan="2">
                  <a:txBody>
                    <a:bodyPr/>
                    <a:lstStyle/>
                    <a:p>
                      <a:pPr algn="ctr"/>
                      <a:r>
                        <a:rPr lang="en-US" sz="2000" dirty="0"/>
                        <a:t>Man Made</a:t>
                      </a:r>
                    </a:p>
                  </a:txBody>
                  <a:tcPr anchor="ctr"/>
                </a:tc>
                <a:tc hMerge="1">
                  <a:txBody>
                    <a:bodyPr/>
                    <a:lstStyle/>
                    <a:p>
                      <a:endParaRPr lang="en-US" dirty="0"/>
                    </a:p>
                  </a:txBody>
                  <a:tcPr/>
                </a:tc>
                <a:extLst>
                  <a:ext uri="{0D108BD9-81ED-4DB2-BD59-A6C34878D82A}">
                    <a16:rowId xmlns:a16="http://schemas.microsoft.com/office/drawing/2014/main" val="3868907692"/>
                  </a:ext>
                </a:extLst>
              </a:tr>
              <a:tr h="352000">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2" action="ppaction://hlinksldjump">
                            <a:extLst>
                              <a:ext uri="{A12FA001-AC4F-418D-AE19-62706E023703}">
                                <ahyp:hlinkClr xmlns:ahyp="http://schemas.microsoft.com/office/drawing/2018/hyperlinkcolor" val="tx"/>
                              </a:ext>
                            </a:extLst>
                          </a:hlinkClick>
                        </a:rPr>
                        <a:t>Airport Disruption</a:t>
                      </a:r>
                      <a:endParaRPr lang="en-US" sz="1200" b="1" i="0" u="none" strike="noStrike" kern="1200" dirty="0">
                        <a:solidFill>
                          <a:schemeClr val="accent5"/>
                        </a:solidFill>
                        <a:effectLst/>
                        <a:latin typeface="+mn-lt"/>
                        <a:ea typeface="+mn-ea"/>
                        <a:cs typeface="+mn-cs"/>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accent5"/>
                          </a:solidFill>
                          <a:effectLst/>
                          <a:latin typeface="+mn-lt"/>
                          <a:hlinkClick r:id="rId3" action="ppaction://hlinksldjump">
                            <a:extLst>
                              <a:ext uri="{A12FA001-AC4F-418D-AE19-62706E023703}">
                                <ahyp:hlinkClr xmlns:ahyp="http://schemas.microsoft.com/office/drawing/2018/hyperlinkcolor" val="tx"/>
                              </a:ext>
                            </a:extLst>
                          </a:hlinkClick>
                        </a:rPr>
                        <a:t>Force Majeure</a:t>
                      </a:r>
                      <a:endParaRPr lang="en-US" sz="1200" b="1" i="0" u="none" strike="noStrike">
                        <a:solidFill>
                          <a:schemeClr val="accent5"/>
                        </a:solidFill>
                        <a:effectLst/>
                        <a:latin typeface="+mn-lt"/>
                      </a:endParaRPr>
                    </a:p>
                    <a:p>
                      <a:pPr algn="ctr" fontAlgn="ct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2269750878"/>
                  </a:ext>
                </a:extLst>
              </a:tr>
              <a:tr h="352000">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4" action="ppaction://hlinksldjump">
                            <a:extLst>
                              <a:ext uri="{A12FA001-AC4F-418D-AE19-62706E023703}">
                                <ahyp:hlinkClr xmlns:ahyp="http://schemas.microsoft.com/office/drawing/2018/hyperlinkcolor" val="tx"/>
                              </a:ext>
                            </a:extLst>
                          </a:hlinkClick>
                        </a:rPr>
                        <a:t>Bankruptcy</a:t>
                      </a:r>
                      <a:endParaRPr lang="en-US" sz="1200" b="1" i="0" u="none" strike="noStrike" kern="1200" dirty="0">
                        <a:solidFill>
                          <a:schemeClr val="accent5"/>
                        </a:solidFill>
                        <a:effectLst/>
                        <a:latin typeface="+mn-lt"/>
                        <a:ea typeface="+mn-ea"/>
                        <a:cs typeface="+mn-cs"/>
                      </a:endParaRPr>
                    </a:p>
                  </a:txBody>
                  <a:tcPr marL="6350" marR="6350" marT="6350" marB="0" anchor="ctr"/>
                </a:tc>
                <a:tc>
                  <a:txBody>
                    <a:bodyPr/>
                    <a:lstStyle/>
                    <a:p>
                      <a:pPr algn="ctr" fontAlgn="ctr"/>
                      <a:r>
                        <a:rPr lang="en-US" sz="1200" b="1" i="0" u="none" strike="noStrike">
                          <a:solidFill>
                            <a:schemeClr val="accent5"/>
                          </a:solidFill>
                          <a:effectLst/>
                          <a:latin typeface="+mn-lt"/>
                          <a:hlinkClick r:id="rId5" action="ppaction://hlinksldjump">
                            <a:extLst>
                              <a:ext uri="{A12FA001-AC4F-418D-AE19-62706E023703}">
                                <ahyp:hlinkClr xmlns:ahyp="http://schemas.microsoft.com/office/drawing/2018/hyperlinkcolor" val="tx"/>
                              </a:ext>
                            </a:extLst>
                          </a:hlinkClick>
                        </a:rPr>
                        <a:t>Geopolitical</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3940838028"/>
                  </a:ext>
                </a:extLst>
              </a:tr>
              <a:tr h="352000">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Business Spin-off</a:t>
                      </a:r>
                      <a:endParaRPr lang="en-US" sz="1200" b="1" i="0" u="none" strike="noStrike" kern="1200" dirty="0">
                        <a:solidFill>
                          <a:schemeClr val="accent5"/>
                        </a:solidFill>
                        <a:effectLst/>
                        <a:latin typeface="+mn-lt"/>
                        <a:ea typeface="+mn-ea"/>
                        <a:cs typeface="+mn-cs"/>
                      </a:endParaRPr>
                    </a:p>
                  </a:txBody>
                  <a:tcPr marL="6350" marR="6350" marT="6350" marB="0" anchor="ctr"/>
                </a:tc>
                <a:tc>
                  <a:txBody>
                    <a:bodyPr/>
                    <a:lstStyle/>
                    <a:p>
                      <a:pPr algn="ctr" fontAlgn="ctr"/>
                      <a:r>
                        <a:rPr lang="en-US" sz="1200" b="1" i="0" u="none" strike="noStrike">
                          <a:solidFill>
                            <a:schemeClr val="accent5"/>
                          </a:solidFill>
                          <a:effectLst/>
                          <a:latin typeface="+mn-lt"/>
                          <a:hlinkClick r:id="rId7" action="ppaction://hlinksldjump">
                            <a:extLst>
                              <a:ext uri="{A12FA001-AC4F-418D-AE19-62706E023703}">
                                <ahyp:hlinkClr xmlns:ahyp="http://schemas.microsoft.com/office/drawing/2018/hyperlinkcolor" val="tx"/>
                              </a:ext>
                            </a:extLst>
                          </a:hlinkClick>
                        </a:rPr>
                        <a:t>Labor Disruption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421293415"/>
                  </a:ext>
                </a:extLst>
              </a:tr>
              <a:tr h="352000">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8" action="ppaction://hlinksldjump">
                            <a:extLst>
                              <a:ext uri="{A12FA001-AC4F-418D-AE19-62706E023703}">
                                <ahyp:hlinkClr xmlns:ahyp="http://schemas.microsoft.com/office/drawing/2018/hyperlinkcolor" val="tx"/>
                              </a:ext>
                            </a:extLst>
                          </a:hlinkClick>
                        </a:rPr>
                        <a:t>Business Sale</a:t>
                      </a:r>
                      <a:endParaRPr lang="en-US" sz="1200" b="1" i="0" u="none" strike="noStrike" kern="1200" dirty="0">
                        <a:solidFill>
                          <a:schemeClr val="accent5"/>
                        </a:solidFill>
                        <a:effectLst/>
                        <a:latin typeface="+mn-lt"/>
                        <a:ea typeface="+mn-ea"/>
                        <a:cs typeface="+mn-cs"/>
                      </a:endParaRPr>
                    </a:p>
                  </a:txBody>
                  <a:tcPr marL="6350" marR="6350" marT="6350" marB="0" anchor="ctr"/>
                </a:tc>
                <a:tc>
                  <a:txBody>
                    <a:bodyPr/>
                    <a:lstStyle/>
                    <a:p>
                      <a:pPr algn="ctr" fontAlgn="ctr"/>
                      <a:r>
                        <a:rPr lang="en-US" sz="1200" b="1" i="0" u="none" strike="noStrike">
                          <a:solidFill>
                            <a:schemeClr val="accent5"/>
                          </a:solidFill>
                          <a:effectLst/>
                          <a:latin typeface="+mn-lt"/>
                          <a:hlinkClick r:id="rId9" action="ppaction://hlinksldjump">
                            <a:extLst>
                              <a:ext uri="{A12FA001-AC4F-418D-AE19-62706E023703}">
                                <ahyp:hlinkClr xmlns:ahyp="http://schemas.microsoft.com/office/drawing/2018/hyperlinkcolor" val="tx"/>
                              </a:ext>
                            </a:extLst>
                          </a:hlinkClick>
                        </a:rPr>
                        <a:t>Labor Violation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3824642340"/>
                  </a:ext>
                </a:extLst>
              </a:tr>
              <a:tr h="352000">
                <a:tc>
                  <a:txBody>
                    <a:bodyPr/>
                    <a:lstStyle/>
                    <a:p>
                      <a:pPr algn="ctr" fontAlgn="ctr"/>
                      <a:r>
                        <a:rPr lang="en-US" sz="1200" b="1" i="0" u="none" strike="noStrike" dirty="0">
                          <a:solidFill>
                            <a:schemeClr val="accent5"/>
                          </a:solidFill>
                          <a:effectLst/>
                          <a:latin typeface="+mn-lt"/>
                          <a:hlinkClick r:id="rId10" action="ppaction://hlinksldjump">
                            <a:extLst>
                              <a:ext uri="{A12FA001-AC4F-418D-AE19-62706E023703}">
                                <ahyp:hlinkClr xmlns:ahyp="http://schemas.microsoft.com/office/drawing/2018/hyperlinkcolor" val="tx"/>
                              </a:ext>
                            </a:extLst>
                          </a:hlinkClick>
                        </a:rPr>
                        <a:t>Chemical Spill</a:t>
                      </a:r>
                      <a:endParaRPr lang="en-US" sz="1200" b="1" i="0" u="none" strike="noStrike" dirty="0">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11" action="ppaction://hlinksldjump">
                            <a:extLst>
                              <a:ext uri="{A12FA001-AC4F-418D-AE19-62706E023703}">
                                <ahyp:hlinkClr xmlns:ahyp="http://schemas.microsoft.com/office/drawing/2018/hyperlinkcolor" val="tx"/>
                              </a:ext>
                            </a:extLst>
                          </a:hlinkClick>
                        </a:rPr>
                        <a:t>Leadership Transition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2698363584"/>
                  </a:ext>
                </a:extLst>
              </a:tr>
              <a:tr h="352000">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Bribery/Corruption</a:t>
                      </a:r>
                      <a:endParaRPr lang="en-US" sz="1200" b="1" i="0" u="none" strike="noStrike" kern="1200" dirty="0">
                        <a:solidFill>
                          <a:schemeClr val="accent5"/>
                        </a:solidFill>
                        <a:effectLst/>
                        <a:latin typeface="+mn-lt"/>
                        <a:ea typeface="+mn-ea"/>
                        <a:cs typeface="+mn-cs"/>
                      </a:endParaRPr>
                    </a:p>
                  </a:txBody>
                  <a:tcPr marL="6350" marR="6350" marT="6350" marB="0" anchor="ctr"/>
                </a:tc>
                <a:tc>
                  <a:txBody>
                    <a:bodyPr/>
                    <a:lstStyle/>
                    <a:p>
                      <a:pPr algn="ctr" fontAlgn="ctr"/>
                      <a:r>
                        <a:rPr lang="en-US" sz="1200" b="1" i="0" u="none" strike="noStrike">
                          <a:solidFill>
                            <a:schemeClr val="accent5"/>
                          </a:solidFill>
                          <a:effectLst/>
                          <a:latin typeface="+mn-lt"/>
                          <a:hlinkClick r:id="rId13" action="ppaction://hlinksldjump">
                            <a:extLst>
                              <a:ext uri="{A12FA001-AC4F-418D-AE19-62706E023703}">
                                <ahyp:hlinkClr xmlns:ahyp="http://schemas.microsoft.com/office/drawing/2018/hyperlinkcolor" val="tx"/>
                              </a:ext>
                            </a:extLst>
                          </a:hlinkClick>
                        </a:rPr>
                        <a:t>Legal Action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172003395"/>
                  </a:ext>
                </a:extLst>
              </a:tr>
              <a:tr h="352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chemeClr val="accent5"/>
                          </a:solidFill>
                          <a:effectLst/>
                          <a:latin typeface="+mn-lt"/>
                          <a:hlinkClick r:id="rId14" action="ppaction://hlinksldjump">
                            <a:extLst>
                              <a:ext uri="{A12FA001-AC4F-418D-AE19-62706E023703}">
                                <ahyp:hlinkClr xmlns:ahyp="http://schemas.microsoft.com/office/drawing/2018/hyperlinkcolor" val="tx"/>
                              </a:ext>
                            </a:extLst>
                          </a:hlinkClick>
                        </a:rPr>
                        <a:t>Company Split</a:t>
                      </a:r>
                      <a:endParaRPr lang="en-US" sz="1200" b="1" i="0" u="none" strike="noStrike" dirty="0">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15" action="ppaction://hlinksldjump">
                            <a:extLst>
                              <a:ext uri="{A12FA001-AC4F-418D-AE19-62706E023703}">
                                <ahyp:hlinkClr xmlns:ahyp="http://schemas.microsoft.com/office/drawing/2018/hyperlinkcolor" val="tx"/>
                              </a:ext>
                            </a:extLst>
                          </a:hlinkClick>
                        </a:rPr>
                        <a:t>Merger &amp; Acquisition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2718428411"/>
                  </a:ext>
                </a:extLst>
              </a:tr>
              <a:tr h="352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chemeClr val="accent5"/>
                          </a:solidFill>
                          <a:effectLst/>
                          <a:latin typeface="+mn-lt"/>
                          <a:hlinkClick r:id="rId16" action="ppaction://hlinksldjump">
                            <a:extLst>
                              <a:ext uri="{A12FA001-AC4F-418D-AE19-62706E023703}">
                                <ahyp:hlinkClr xmlns:ahyp="http://schemas.microsoft.com/office/drawing/2018/hyperlinkcolor" val="tx"/>
                              </a:ext>
                            </a:extLst>
                          </a:hlinkClick>
                        </a:rPr>
                        <a:t>Compliance</a:t>
                      </a:r>
                      <a:endParaRPr lang="en-US" sz="1200" b="1" i="0" u="none" strike="noStrike" dirty="0">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17" action="ppaction://hlinksldjump">
                            <a:extLst>
                              <a:ext uri="{A12FA001-AC4F-418D-AE19-62706E023703}">
                                <ahyp:hlinkClr xmlns:ahyp="http://schemas.microsoft.com/office/drawing/2018/hyperlinkcolor" val="tx"/>
                              </a:ext>
                            </a:extLst>
                          </a:hlinkClick>
                        </a:rPr>
                        <a:t>Mine Shutdown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2938928999"/>
                  </a:ext>
                </a:extLst>
              </a:tr>
              <a:tr h="352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chemeClr val="accent5"/>
                          </a:solidFill>
                          <a:effectLst/>
                          <a:latin typeface="+mn-lt"/>
                          <a:hlinkClick r:id="rId18" action="ppaction://hlinksldjump">
                            <a:extLst>
                              <a:ext uri="{A12FA001-AC4F-418D-AE19-62706E023703}">
                                <ahyp:hlinkClr xmlns:ahyp="http://schemas.microsoft.com/office/drawing/2018/hyperlinkcolor" val="tx"/>
                              </a:ext>
                            </a:extLst>
                          </a:hlinkClick>
                        </a:rPr>
                        <a:t>Corporate Restructuring</a:t>
                      </a:r>
                      <a:endParaRPr lang="en-US" sz="1200" b="1" i="0" u="none" strike="noStrike" dirty="0">
                        <a:solidFill>
                          <a:schemeClr val="accent5"/>
                        </a:solidFill>
                        <a:effectLst/>
                        <a:latin typeface="+mn-lt"/>
                      </a:endParaRPr>
                    </a:p>
                    <a:p>
                      <a:pPr algn="ctr" fontAlgn="ctr"/>
                      <a:endParaRPr lang="en-US" sz="1200" b="1" i="0" u="none" strike="noStrike" dirty="0">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19" action="ppaction://hlinksldjump">
                            <a:extLst>
                              <a:ext uri="{A12FA001-AC4F-418D-AE19-62706E023703}">
                                <ahyp:hlinkClr xmlns:ahyp="http://schemas.microsoft.com/office/drawing/2018/hyperlinkcolor" val="tx"/>
                              </a:ext>
                            </a:extLst>
                          </a:hlinkClick>
                        </a:rPr>
                        <a:t>Port Disruption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1233269359"/>
                  </a:ext>
                </a:extLst>
              </a:tr>
              <a:tr h="352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chemeClr val="accent5"/>
                          </a:solidFill>
                          <a:effectLst/>
                          <a:latin typeface="+mn-lt"/>
                          <a:ea typeface="+mn-ea"/>
                          <a:cs typeface="+mn-cs"/>
                          <a:hlinkClick r:id="rId20" action="ppaction://hlinksldjump">
                            <a:extLst>
                              <a:ext uri="{A12FA001-AC4F-418D-AE19-62706E023703}">
                                <ahyp:hlinkClr xmlns:ahyp="http://schemas.microsoft.com/office/drawing/2018/hyperlinkcolor" val="tx"/>
                              </a:ext>
                            </a:extLst>
                          </a:hlinkClick>
                        </a:rPr>
                        <a:t>Counterfeit</a:t>
                      </a:r>
                      <a:endParaRPr lang="en-US" sz="1200" b="1" i="0" u="none" strike="noStrike">
                        <a:solidFill>
                          <a:schemeClr val="accent5"/>
                        </a:solidFill>
                        <a:effectLst/>
                        <a:latin typeface="+mn-lt"/>
                      </a:endParaRPr>
                    </a:p>
                    <a:p>
                      <a:pPr algn="ctr" fontAlgn="ctr"/>
                      <a:endParaRPr lang="en-US" sz="1200" b="1" i="0" u="none" strike="noStrike">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21" action="ppaction://hlinksldjump">
                            <a:extLst>
                              <a:ext uri="{A12FA001-AC4F-418D-AE19-62706E023703}">
                                <ahyp:hlinkClr xmlns:ahyp="http://schemas.microsoft.com/office/drawing/2018/hyperlinkcolor" val="tx"/>
                              </a:ext>
                            </a:extLst>
                          </a:hlinkClick>
                        </a:rPr>
                        <a:t>Price Fluctuation</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1387849607"/>
                  </a:ext>
                </a:extLst>
              </a:tr>
              <a:tr h="352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accent5"/>
                          </a:solidFill>
                          <a:effectLst/>
                          <a:latin typeface="+mn-lt"/>
                          <a:hlinkClick r:id="rId22" action="ppaction://hlinksldjump">
                            <a:extLst>
                              <a:ext uri="{A12FA001-AC4F-418D-AE19-62706E023703}">
                                <ahyp:hlinkClr xmlns:ahyp="http://schemas.microsoft.com/office/drawing/2018/hyperlinkcolor" val="tx"/>
                              </a:ext>
                            </a:extLst>
                          </a:hlinkClick>
                        </a:rPr>
                        <a:t>Cyber Attack</a:t>
                      </a:r>
                      <a:endParaRPr lang="en-US" sz="1200" b="1" i="0" u="none" strike="noStrike">
                        <a:solidFill>
                          <a:schemeClr val="accent5"/>
                        </a:solidFill>
                        <a:effectLst/>
                        <a:latin typeface="+mn-lt"/>
                      </a:endParaRPr>
                    </a:p>
                    <a:p>
                      <a:pPr algn="ctr" fontAlgn="ctr"/>
                      <a:endParaRPr lang="en-US" sz="1200" b="1" i="0" u="none" strike="noStrike">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23" action="ppaction://hlinksldjump">
                            <a:extLst>
                              <a:ext uri="{A12FA001-AC4F-418D-AE19-62706E023703}">
                                <ahyp:hlinkClr xmlns:ahyp="http://schemas.microsoft.com/office/drawing/2018/hyperlinkcolor" val="tx"/>
                              </a:ext>
                            </a:extLst>
                          </a:hlinkClick>
                        </a:rPr>
                        <a:t>Profit Warning</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463066879"/>
                  </a:ext>
                </a:extLst>
              </a:tr>
              <a:tr h="352000">
                <a:tc>
                  <a:txBody>
                    <a:bodyPr/>
                    <a:lstStyle/>
                    <a:p>
                      <a:pPr algn="ctr" fontAlgn="ctr"/>
                      <a:r>
                        <a:rPr lang="en-US" sz="1200" b="1" i="0" u="none" strike="noStrike">
                          <a:solidFill>
                            <a:schemeClr val="accent5"/>
                          </a:solidFill>
                          <a:effectLst/>
                          <a:latin typeface="+mn-lt"/>
                          <a:hlinkClick r:id="rId24" action="ppaction://hlinksldjump">
                            <a:extLst>
                              <a:ext uri="{A12FA001-AC4F-418D-AE19-62706E023703}">
                                <ahyp:hlinkClr xmlns:ahyp="http://schemas.microsoft.com/office/drawing/2018/hyperlinkcolor" val="tx"/>
                              </a:ext>
                            </a:extLst>
                          </a:hlinkClick>
                        </a:rPr>
                        <a:t>FDA/EMA/OSHA Action</a:t>
                      </a:r>
                      <a:endParaRPr lang="en-US" sz="1200" b="1" i="0" u="none" strike="noStrike">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25" action="ppaction://hlinksldjump">
                            <a:extLst>
                              <a:ext uri="{A12FA001-AC4F-418D-AE19-62706E023703}">
                                <ahyp:hlinkClr xmlns:ahyp="http://schemas.microsoft.com/office/drawing/2018/hyperlinkcolor" val="tx"/>
                              </a:ext>
                            </a:extLst>
                          </a:hlinkClick>
                        </a:rPr>
                        <a:t>Protest/Riot</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3553577874"/>
                  </a:ext>
                </a:extLst>
              </a:tr>
              <a:tr h="352000">
                <a:tc>
                  <a:txBody>
                    <a:bodyPr/>
                    <a:lstStyle/>
                    <a:p>
                      <a:pPr algn="ctr" fontAlgn="ctr"/>
                      <a:r>
                        <a:rPr lang="en-US" sz="1200" b="1" i="0" u="none" strike="noStrike">
                          <a:solidFill>
                            <a:schemeClr val="accent5"/>
                          </a:solidFill>
                          <a:effectLst/>
                          <a:latin typeface="+mn-lt"/>
                          <a:hlinkClick r:id="rId26" action="ppaction://hlinksldjump">
                            <a:extLst>
                              <a:ext uri="{A12FA001-AC4F-418D-AE19-62706E023703}">
                                <ahyp:hlinkClr xmlns:ahyp="http://schemas.microsoft.com/office/drawing/2018/hyperlinkcolor" val="tx"/>
                              </a:ext>
                            </a:extLst>
                          </a:hlinkClick>
                        </a:rPr>
                        <a:t>Factory Fire</a:t>
                      </a:r>
                      <a:endParaRPr lang="en-US" sz="1200" b="1" i="0" u="none" strike="noStrike">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27" action="ppaction://hlinksldjump">
                            <a:extLst>
                              <a:ext uri="{A12FA001-AC4F-418D-AE19-62706E023703}">
                                <ahyp:hlinkClr xmlns:ahyp="http://schemas.microsoft.com/office/drawing/2018/hyperlinkcolor" val="tx"/>
                              </a:ext>
                            </a:extLst>
                          </a:hlinkClick>
                        </a:rPr>
                        <a:t>Recal</a:t>
                      </a:r>
                      <a:r>
                        <a:rPr lang="en-US" sz="1200" b="1" i="0" u="none" strike="noStrike">
                          <a:solidFill>
                            <a:schemeClr val="accent5"/>
                          </a:solidFill>
                          <a:effectLst/>
                          <a:latin typeface="+mn-lt"/>
                          <a:hlinkClick r:id="rId25" action="ppaction://hlinksldjump">
                            <a:extLst>
                              <a:ext uri="{A12FA001-AC4F-418D-AE19-62706E023703}">
                                <ahyp:hlinkClr xmlns:ahyp="http://schemas.microsoft.com/office/drawing/2018/hyperlinkcolor" val="tx"/>
                              </a:ext>
                            </a:extLst>
                          </a:hlinkClick>
                        </a:rPr>
                        <a:t>l</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1574931864"/>
                  </a:ext>
                </a:extLst>
              </a:tr>
              <a:tr h="352000">
                <a:tc>
                  <a:txBody>
                    <a:bodyPr/>
                    <a:lstStyle/>
                    <a:p>
                      <a:pPr algn="ctr" fontAlgn="ctr"/>
                      <a:r>
                        <a:rPr lang="en-US" sz="1200" b="1" i="0" u="none" strike="noStrike">
                          <a:solidFill>
                            <a:schemeClr val="accent5"/>
                          </a:solidFill>
                          <a:effectLst/>
                          <a:latin typeface="+mn-lt"/>
                          <a:hlinkClick r:id="rId28" action="ppaction://hlinksldjump">
                            <a:extLst>
                              <a:ext uri="{A12FA001-AC4F-418D-AE19-62706E023703}">
                                <ahyp:hlinkClr xmlns:ahyp="http://schemas.microsoft.com/office/drawing/2018/hyperlinkcolor" val="tx"/>
                              </a:ext>
                            </a:extLst>
                          </a:hlinkClick>
                        </a:rPr>
                        <a:t>Factory Disruption</a:t>
                      </a:r>
                      <a:endParaRPr lang="en-US" sz="1200" b="1" i="0" u="none" strike="noStrike">
                        <a:solidFill>
                          <a:schemeClr val="accent5"/>
                        </a:solidFill>
                        <a:effectLst/>
                        <a:latin typeface="+mn-lt"/>
                      </a:endParaRPr>
                    </a:p>
                  </a:txBody>
                  <a:tcPr marL="6350" marR="6350" marT="6350" marB="0" anchor="ctr"/>
                </a:tc>
                <a:tc>
                  <a:txBody>
                    <a:bodyPr/>
                    <a:lstStyle/>
                    <a:p>
                      <a:pPr algn="ctr" fontAlgn="ctr"/>
                      <a:r>
                        <a:rPr lang="en-US" sz="1200" b="1" i="0" u="none" strike="noStrike">
                          <a:solidFill>
                            <a:schemeClr val="accent5"/>
                          </a:solidFill>
                          <a:effectLst/>
                          <a:latin typeface="+mn-lt"/>
                          <a:hlinkClick r:id="rId29" action="ppaction://hlinksldjump">
                            <a:extLst>
                              <a:ext uri="{A12FA001-AC4F-418D-AE19-62706E023703}">
                                <ahyp:hlinkClr xmlns:ahyp="http://schemas.microsoft.com/office/drawing/2018/hyperlinkcolor" val="tx"/>
                              </a:ext>
                            </a:extLst>
                          </a:hlinkClick>
                        </a:rPr>
                        <a:t>Regulatory Change</a:t>
                      </a: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1999905178"/>
                  </a:ext>
                </a:extLst>
              </a:tr>
              <a:tr h="352000">
                <a:tc>
                  <a:txBody>
                    <a:bodyPr/>
                    <a:lstStyle/>
                    <a:p>
                      <a:pPr algn="ctr" fontAlgn="ctr"/>
                      <a:r>
                        <a:rPr lang="en-US" sz="1200" b="1" i="0" u="none" strike="noStrike">
                          <a:solidFill>
                            <a:schemeClr val="accent5"/>
                          </a:solidFill>
                          <a:effectLst/>
                          <a:latin typeface="+mn-lt"/>
                          <a:hlinkClick r:id="rId30" action="ppaction://hlinksldjump">
                            <a:extLst>
                              <a:ext uri="{A12FA001-AC4F-418D-AE19-62706E023703}">
                                <ahyp:hlinkClr xmlns:ahyp="http://schemas.microsoft.com/office/drawing/2018/hyperlinkcolor" val="tx"/>
                              </a:ext>
                            </a:extLst>
                          </a:hlinkClick>
                        </a:rPr>
                        <a:t>Fine</a:t>
                      </a:r>
                      <a:endParaRPr lang="en-US" sz="1200" b="1" i="0" u="none" strike="noStrike">
                        <a:solidFill>
                          <a:schemeClr val="accent5"/>
                        </a:solidFill>
                        <a:effectLst/>
                        <a:latin typeface="+mn-lt"/>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accent5"/>
                          </a:solidFill>
                          <a:effectLst/>
                          <a:latin typeface="+mn-lt"/>
                          <a:hlinkClick r:id="rId31" action="ppaction://hlinksldjump">
                            <a:extLst>
                              <a:ext uri="{A12FA001-AC4F-418D-AE19-62706E023703}">
                                <ahyp:hlinkClr xmlns:ahyp="http://schemas.microsoft.com/office/drawing/2018/hyperlinkcolor" val="tx"/>
                              </a:ext>
                            </a:extLst>
                          </a:hlinkClick>
                        </a:rPr>
                        <a:t>Supply Shortage</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a:solidFill>
                          <a:schemeClr val="accent5"/>
                        </a:solidFill>
                        <a:effectLst/>
                        <a:latin typeface="+mn-lt"/>
                        <a:hlinkClick r:id="rId31" action="ppaction://hlinksldjump">
                          <a:extLst>
                            <a:ext uri="{A12FA001-AC4F-418D-AE19-62706E023703}">
                              <ahyp:hlinkClr xmlns:ahyp="http://schemas.microsoft.com/office/drawing/2018/hyperlinkcolor" val="tx"/>
                            </a:ext>
                          </a:extLst>
                        </a:hlinkClick>
                      </a:endParaRPr>
                    </a:p>
                  </a:txBody>
                  <a:tcPr marL="6350" marR="6350" marT="6350" marB="0" anchor="ctr"/>
                </a:tc>
                <a:extLst>
                  <a:ext uri="{0D108BD9-81ED-4DB2-BD59-A6C34878D82A}">
                    <a16:rowId xmlns:a16="http://schemas.microsoft.com/office/drawing/2014/main" val="50470102"/>
                  </a:ext>
                </a:extLst>
              </a:tr>
              <a:tr h="352000">
                <a:tc>
                  <a:txBody>
                    <a:bodyPr/>
                    <a:lstStyle/>
                    <a:p>
                      <a:pPr marL="0" algn="ctr" defTabSz="914400" rtl="0" eaLnBrk="1" fontAlgn="ctr" latinLnBrk="0" hangingPunct="1"/>
                      <a:r>
                        <a:rPr lang="en-US" sz="1200" b="1" i="0" u="none" strike="noStrike" kern="1200">
                          <a:solidFill>
                            <a:schemeClr val="accent5"/>
                          </a:solidFill>
                          <a:effectLst/>
                          <a:latin typeface="+mn-lt"/>
                          <a:ea typeface="+mn-ea"/>
                          <a:cs typeface="+mn-cs"/>
                          <a:hlinkClick r:id="rId32" action="ppaction://hlinksldjump">
                            <a:extLst>
                              <a:ext uri="{A12FA001-AC4F-418D-AE19-62706E023703}">
                                <ahyp:hlinkClr xmlns:ahyp="http://schemas.microsoft.com/office/drawing/2018/hyperlinkcolor" val="tx"/>
                              </a:ext>
                            </a:extLst>
                          </a:hlinkClick>
                        </a:rPr>
                        <a:t>Financial Distress</a:t>
                      </a:r>
                      <a:endParaRPr lang="en-US" sz="1200" b="1" i="0" u="none" strike="noStrike" kern="1200">
                        <a:solidFill>
                          <a:schemeClr val="accent5"/>
                        </a:solidFill>
                        <a:effectLst/>
                        <a:latin typeface="+mn-lt"/>
                        <a:ea typeface="+mn-ea"/>
                        <a:cs typeface="+mn-cs"/>
                      </a:endParaRPr>
                    </a:p>
                  </a:txBody>
                  <a:tcPr marL="6350" marR="6350" marT="6350" marB="0" anchor="ctr"/>
                </a:tc>
                <a:tc>
                  <a:txBody>
                    <a:bodyPr/>
                    <a:lstStyle/>
                    <a:p>
                      <a:pPr algn="ctr" fontAlgn="ctr"/>
                      <a:endParaRPr lang="en-US" sz="1200" b="1" i="0" u="none" strike="noStrike">
                        <a:solidFill>
                          <a:schemeClr val="accent5"/>
                        </a:solidFill>
                        <a:effectLst/>
                        <a:latin typeface="+mn-lt"/>
                      </a:endParaRPr>
                    </a:p>
                  </a:txBody>
                  <a:tcPr marL="6350" marR="6350" marT="6350" marB="0" anchor="ctr"/>
                </a:tc>
                <a:extLst>
                  <a:ext uri="{0D108BD9-81ED-4DB2-BD59-A6C34878D82A}">
                    <a16:rowId xmlns:a16="http://schemas.microsoft.com/office/drawing/2014/main" val="3065978169"/>
                  </a:ext>
                </a:extLst>
              </a:tr>
            </a:tbl>
          </a:graphicData>
        </a:graphic>
      </p:graphicFrame>
      <p:graphicFrame>
        <p:nvGraphicFramePr>
          <p:cNvPr id="13" name="Table 2">
            <a:extLst>
              <a:ext uri="{FF2B5EF4-FFF2-40B4-BE49-F238E27FC236}">
                <a16:creationId xmlns:a16="http://schemas.microsoft.com/office/drawing/2014/main" id="{1AB7ADA9-BF88-22A7-0572-163AA46F1983}"/>
              </a:ext>
            </a:extLst>
          </p:cNvPr>
          <p:cNvGraphicFramePr>
            <a:graphicFrameLocks noGrp="1"/>
          </p:cNvGraphicFramePr>
          <p:nvPr>
            <p:extLst>
              <p:ext uri="{D42A27DB-BD31-4B8C-83A1-F6EECF244321}">
                <p14:modId xmlns:p14="http://schemas.microsoft.com/office/powerpoint/2010/main" val="987389420"/>
              </p:ext>
            </p:extLst>
          </p:nvPr>
        </p:nvGraphicFramePr>
        <p:xfrm>
          <a:off x="5710066" y="481163"/>
          <a:ext cx="2483354" cy="6254416"/>
        </p:xfrm>
        <a:graphic>
          <a:graphicData uri="http://schemas.openxmlformats.org/drawingml/2006/table">
            <a:tbl>
              <a:tblPr firstRow="1" bandRow="1">
                <a:tableStyleId>{93296810-A885-4BE3-A3E7-6D5BEEA58F35}</a:tableStyleId>
              </a:tblPr>
              <a:tblGrid>
                <a:gridCol w="2483354">
                  <a:extLst>
                    <a:ext uri="{9D8B030D-6E8A-4147-A177-3AD203B41FA5}">
                      <a16:colId xmlns:a16="http://schemas.microsoft.com/office/drawing/2014/main" val="1013625593"/>
                    </a:ext>
                  </a:extLst>
                </a:gridCol>
              </a:tblGrid>
              <a:tr h="461961">
                <a:tc>
                  <a:txBody>
                    <a:bodyPr/>
                    <a:lstStyle/>
                    <a:p>
                      <a:pPr algn="ctr"/>
                      <a:r>
                        <a:rPr lang="en-US" sz="2000" dirty="0"/>
                        <a:t>Naturally Caused</a:t>
                      </a:r>
                    </a:p>
                  </a:txBody>
                  <a:tcPr anchor="ctr"/>
                </a:tc>
                <a:extLst>
                  <a:ext uri="{0D108BD9-81ED-4DB2-BD59-A6C34878D82A}">
                    <a16:rowId xmlns:a16="http://schemas.microsoft.com/office/drawing/2014/main" val="3868907692"/>
                  </a:ext>
                </a:extLst>
              </a:tr>
              <a:tr h="518442">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3" action="ppaction://hlinksldjump">
                            <a:extLst>
                              <a:ext uri="{A12FA001-AC4F-418D-AE19-62706E023703}">
                                <ahyp:hlinkClr xmlns:ahyp="http://schemas.microsoft.com/office/drawing/2018/hyperlinkcolor" val="tx"/>
                              </a:ext>
                            </a:extLst>
                          </a:hlinkClick>
                        </a:rPr>
                        <a:t>Earthquake</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269750878"/>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4" action="ppaction://hlinksldjump">
                            <a:extLst>
                              <a:ext uri="{A12FA001-AC4F-418D-AE19-62706E023703}">
                                <ahyp:hlinkClr xmlns:ahyp="http://schemas.microsoft.com/office/drawing/2018/hyperlinkcolor" val="tx"/>
                              </a:ext>
                            </a:extLst>
                          </a:hlinkClick>
                        </a:rPr>
                        <a:t>Environmental Hazard</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940838028"/>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5" action="ppaction://hlinksldjump">
                            <a:extLst>
                              <a:ext uri="{A12FA001-AC4F-418D-AE19-62706E023703}">
                                <ahyp:hlinkClr xmlns:ahyp="http://schemas.microsoft.com/office/drawing/2018/hyperlinkcolor" val="tx"/>
                              </a:ext>
                            </a:extLst>
                          </a:hlinkClick>
                        </a:rPr>
                        <a:t>Extreme Weather</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421293415"/>
                  </a:ext>
                </a:extLst>
              </a:tr>
              <a:tr h="351819">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6" action="ppaction://hlinksldjump">
                            <a:extLst>
                              <a:ext uri="{A12FA001-AC4F-418D-AE19-62706E023703}">
                                <ahyp:hlinkClr xmlns:ahyp="http://schemas.microsoft.com/office/drawing/2018/hyperlinkcolor" val="tx"/>
                              </a:ext>
                            </a:extLst>
                          </a:hlinkClick>
                        </a:rPr>
                        <a:t>Flood</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824642340"/>
                  </a:ext>
                </a:extLst>
              </a:tr>
              <a:tr h="566552">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7" action="ppaction://hlinksldjump">
                            <a:extLst>
                              <a:ext uri="{A12FA001-AC4F-418D-AE19-62706E023703}">
                                <ahyp:hlinkClr xmlns:ahyp="http://schemas.microsoft.com/office/drawing/2018/hyperlinkcolor" val="tx"/>
                              </a:ext>
                            </a:extLst>
                          </a:hlinkClick>
                        </a:rPr>
                        <a:t>Forest Fire</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698363584"/>
                  </a:ext>
                </a:extLst>
              </a:tr>
              <a:tr h="525711">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8" action="ppaction://hlinksldjump">
                            <a:extLst>
                              <a:ext uri="{A12FA001-AC4F-418D-AE19-62706E023703}">
                                <ahyp:hlinkClr xmlns:ahyp="http://schemas.microsoft.com/office/drawing/2018/hyperlinkcolor" val="tx"/>
                              </a:ext>
                            </a:extLst>
                          </a:hlinkClick>
                        </a:rPr>
                        <a:t>Human Health</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718428411"/>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39" action="ppaction://hlinksldjump">
                            <a:extLst>
                              <a:ext uri="{A12FA001-AC4F-418D-AE19-62706E023703}">
                                <ahyp:hlinkClr xmlns:ahyp="http://schemas.microsoft.com/office/drawing/2018/hyperlinkcolor" val="tx"/>
                              </a:ext>
                            </a:extLst>
                          </a:hlinkClick>
                        </a:rPr>
                        <a:t>Hurricane/ Typhoon (Pre-Landfall)</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938928999"/>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40" action="ppaction://hlinksldjump">
                            <a:extLst>
                              <a:ext uri="{A12FA001-AC4F-418D-AE19-62706E023703}">
                                <ahyp:hlinkClr xmlns:ahyp="http://schemas.microsoft.com/office/drawing/2018/hyperlinkcolor" val="tx"/>
                              </a:ext>
                            </a:extLst>
                          </a:hlinkClick>
                        </a:rPr>
                        <a:t>Hurricane/ Typhoon (Post-Landfall)</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010040970"/>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41" action="ppaction://hlinksldjump">
                            <a:extLst>
                              <a:ext uri="{A12FA001-AC4F-418D-AE19-62706E023703}">
                                <ahyp:hlinkClr xmlns:ahyp="http://schemas.microsoft.com/office/drawing/2018/hyperlinkcolor" val="tx"/>
                              </a:ext>
                            </a:extLst>
                          </a:hlinkClick>
                        </a:rPr>
                        <a:t>Power Outage</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550815631"/>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42" action="ppaction://hlinksldjump">
                            <a:extLst>
                              <a:ext uri="{A12FA001-AC4F-418D-AE19-62706E023703}">
                                <ahyp:hlinkClr xmlns:ahyp="http://schemas.microsoft.com/office/drawing/2018/hyperlinkcolor" val="tx"/>
                              </a:ext>
                            </a:extLst>
                          </a:hlinkClick>
                        </a:rPr>
                        <a:t>Tornado</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482867895"/>
                  </a:ext>
                </a:extLst>
              </a:tr>
              <a:tr h="547133">
                <a:tc>
                  <a:txBody>
                    <a:bodyPr/>
                    <a:lstStyle/>
                    <a:p>
                      <a:pPr marL="0" algn="ctr" defTabSz="914400" rtl="0" eaLnBrk="1" fontAlgn="ctr" latinLnBrk="0" hangingPunct="1"/>
                      <a:r>
                        <a:rPr lang="en-US" sz="1200" b="1" i="0" u="none" strike="noStrike" kern="1200" dirty="0">
                          <a:solidFill>
                            <a:schemeClr val="accent5"/>
                          </a:solidFill>
                          <a:effectLst/>
                          <a:latin typeface="+mn-lt"/>
                          <a:ea typeface="+mn-ea"/>
                          <a:cs typeface="+mn-cs"/>
                          <a:hlinkClick r:id="rId43" action="ppaction://hlinksldjump">
                            <a:extLst>
                              <a:ext uri="{A12FA001-AC4F-418D-AE19-62706E023703}">
                                <ahyp:hlinkClr xmlns:ahyp="http://schemas.microsoft.com/office/drawing/2018/hyperlinkcolor" val="tx"/>
                              </a:ext>
                            </a:extLst>
                          </a:hlinkClick>
                        </a:rPr>
                        <a:t>Volcano</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4217048742"/>
                  </a:ext>
                </a:extLst>
              </a:tr>
            </a:tbl>
          </a:graphicData>
        </a:graphic>
      </p:graphicFrame>
      <p:graphicFrame>
        <p:nvGraphicFramePr>
          <p:cNvPr id="15" name="Table 2">
            <a:extLst>
              <a:ext uri="{FF2B5EF4-FFF2-40B4-BE49-F238E27FC236}">
                <a16:creationId xmlns:a16="http://schemas.microsoft.com/office/drawing/2014/main" id="{C892AA24-0BB4-9F13-EB2B-68D5AB5C078B}"/>
              </a:ext>
            </a:extLst>
          </p:cNvPr>
          <p:cNvGraphicFramePr>
            <a:graphicFrameLocks noGrp="1"/>
          </p:cNvGraphicFramePr>
          <p:nvPr>
            <p:extLst>
              <p:ext uri="{D42A27DB-BD31-4B8C-83A1-F6EECF244321}">
                <p14:modId xmlns:p14="http://schemas.microsoft.com/office/powerpoint/2010/main" val="3911974279"/>
              </p:ext>
            </p:extLst>
          </p:nvPr>
        </p:nvGraphicFramePr>
        <p:xfrm>
          <a:off x="8803012" y="481164"/>
          <a:ext cx="2669748" cy="3044978"/>
        </p:xfrm>
        <a:graphic>
          <a:graphicData uri="http://schemas.openxmlformats.org/drawingml/2006/table">
            <a:tbl>
              <a:tblPr firstRow="1" bandRow="1">
                <a:tableStyleId>{7DF18680-E054-41AD-8BC1-D1AEF772440D}</a:tableStyleId>
              </a:tblPr>
              <a:tblGrid>
                <a:gridCol w="2669748">
                  <a:extLst>
                    <a:ext uri="{9D8B030D-6E8A-4147-A177-3AD203B41FA5}">
                      <a16:colId xmlns:a16="http://schemas.microsoft.com/office/drawing/2014/main" val="1013625593"/>
                    </a:ext>
                  </a:extLst>
                </a:gridCol>
              </a:tblGrid>
              <a:tr h="420588">
                <a:tc>
                  <a:txBody>
                    <a:bodyPr/>
                    <a:lstStyle/>
                    <a:p>
                      <a:pPr algn="ctr"/>
                      <a:r>
                        <a:rPr lang="en-US" sz="2000" dirty="0"/>
                        <a:t>Others</a:t>
                      </a:r>
                    </a:p>
                  </a:txBody>
                  <a:tcPr anchor="ctr"/>
                </a:tc>
                <a:extLst>
                  <a:ext uri="{0D108BD9-81ED-4DB2-BD59-A6C34878D82A}">
                    <a16:rowId xmlns:a16="http://schemas.microsoft.com/office/drawing/2014/main" val="3868907692"/>
                  </a:ext>
                </a:extLst>
              </a:tr>
              <a:tr h="476474">
                <a:tc>
                  <a:txBody>
                    <a:bodyPr/>
                    <a:lstStyle/>
                    <a:p>
                      <a:pPr algn="ctr" fontAlgn="ctr"/>
                      <a:r>
                        <a:rPr lang="en-US" sz="1200" b="1" i="0" u="none" strike="noStrike" kern="1200" dirty="0">
                          <a:solidFill>
                            <a:schemeClr val="accent5"/>
                          </a:solidFill>
                          <a:effectLst/>
                          <a:latin typeface="+mn-lt"/>
                          <a:ea typeface="+mn-ea"/>
                          <a:cs typeface="+mn-cs"/>
                          <a:hlinkClick r:id="rId44" action="ppaction://hlinksldjump">
                            <a:extLst>
                              <a:ext uri="{A12FA001-AC4F-418D-AE19-62706E023703}">
                                <ahyp:hlinkClr xmlns:ahyp="http://schemas.microsoft.com/office/drawing/2018/hyperlinkcolor" val="tx"/>
                              </a:ext>
                            </a:extLst>
                          </a:hlinkClick>
                        </a:rPr>
                        <a:t>Mail / Postal/ Package delivery services disruptions</a:t>
                      </a:r>
                      <a:br>
                        <a:rPr lang="en-US" sz="1200" b="1" i="0" u="none" strike="noStrike" kern="1200" dirty="0">
                          <a:solidFill>
                            <a:schemeClr val="accent5"/>
                          </a:solidFill>
                          <a:effectLst/>
                          <a:latin typeface="+mn-lt"/>
                          <a:ea typeface="+mn-ea"/>
                          <a:cs typeface="+mn-cs"/>
                        </a:rPr>
                      </a:b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269750878"/>
                  </a:ext>
                </a:extLst>
              </a:tr>
              <a:tr h="498132">
                <a:tc>
                  <a:txBody>
                    <a:bodyPr/>
                    <a:lstStyle/>
                    <a:p>
                      <a:pPr algn="ctr" fontAlgn="ctr"/>
                      <a:r>
                        <a:rPr lang="en-US" sz="1200" b="1" i="0" u="none" strike="noStrike" kern="1200" dirty="0">
                          <a:solidFill>
                            <a:schemeClr val="accent5"/>
                          </a:solidFill>
                          <a:effectLst/>
                          <a:latin typeface="+mn-lt"/>
                          <a:ea typeface="+mn-ea"/>
                          <a:cs typeface="+mn-cs"/>
                          <a:hlinkClick r:id="rId45" action="ppaction://hlinksldjump">
                            <a:extLst>
                              <a:ext uri="{A12FA001-AC4F-418D-AE19-62706E023703}">
                                <ahyp:hlinkClr xmlns:ahyp="http://schemas.microsoft.com/office/drawing/2018/hyperlinkcolor" val="tx"/>
                              </a:ext>
                            </a:extLst>
                          </a:hlinkClick>
                        </a:rPr>
                        <a:t>Airworthiness</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940838028"/>
                  </a:ext>
                </a:extLst>
              </a:tr>
              <a:tr h="498132">
                <a:tc>
                  <a:txBody>
                    <a:bodyPr/>
                    <a:lstStyle/>
                    <a:p>
                      <a:pPr algn="ctr" fontAlgn="ctr"/>
                      <a:r>
                        <a:rPr lang="en-US" sz="1200" b="1" i="0" u="none" strike="noStrike" kern="1200" dirty="0">
                          <a:solidFill>
                            <a:schemeClr val="accent5"/>
                          </a:solidFill>
                          <a:effectLst/>
                          <a:latin typeface="+mn-lt"/>
                          <a:ea typeface="+mn-ea"/>
                          <a:cs typeface="+mn-cs"/>
                          <a:hlinkClick r:id="rId46" action="ppaction://hlinksldjump">
                            <a:extLst>
                              <a:ext uri="{A12FA001-AC4F-418D-AE19-62706E023703}">
                                <ahyp:hlinkClr xmlns:ahyp="http://schemas.microsoft.com/office/drawing/2018/hyperlinkcolor" val="tx"/>
                              </a:ext>
                            </a:extLst>
                          </a:hlinkClick>
                        </a:rPr>
                        <a:t>Layoffs</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421293415"/>
                  </a:ext>
                </a:extLst>
              </a:tr>
              <a:tr h="498132">
                <a:tc>
                  <a:txBody>
                    <a:bodyPr/>
                    <a:lstStyle/>
                    <a:p>
                      <a:pPr algn="ctr" fontAlgn="ctr"/>
                      <a:r>
                        <a:rPr lang="en-US" sz="1200" b="1" i="0" u="none" strike="noStrike" kern="1200" dirty="0">
                          <a:solidFill>
                            <a:schemeClr val="accent5"/>
                          </a:solidFill>
                          <a:effectLst/>
                          <a:latin typeface="+mn-lt"/>
                          <a:ea typeface="+mn-ea"/>
                          <a:cs typeface="+mn-cs"/>
                          <a:hlinkClick r:id="rId47" action="ppaction://hlinksldjump">
                            <a:extLst>
                              <a:ext uri="{A12FA001-AC4F-418D-AE19-62706E023703}">
                                <ahyp:hlinkClr xmlns:ahyp="http://schemas.microsoft.com/office/drawing/2018/hyperlinkcolor" val="tx"/>
                              </a:ext>
                            </a:extLst>
                          </a:hlinkClick>
                        </a:rPr>
                        <a:t>Container Ship accidents</a:t>
                      </a: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3824642340"/>
                  </a:ext>
                </a:extLst>
              </a:tr>
              <a:tr h="57500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chemeClr val="accent5"/>
                          </a:solidFill>
                          <a:effectLst/>
                          <a:latin typeface="+mn-lt"/>
                          <a:hlinkClick r:id="rId48" action="ppaction://hlinksldjump">
                            <a:extLst>
                              <a:ext uri="{A12FA001-AC4F-418D-AE19-62706E023703}">
                                <ahyp:hlinkClr xmlns:ahyp="http://schemas.microsoft.com/office/drawing/2018/hyperlinkcolor" val="tx"/>
                              </a:ext>
                            </a:extLst>
                          </a:hlinkClick>
                        </a:rPr>
                        <a:t>Others</a:t>
                      </a:r>
                      <a:endParaRPr lang="en-US" sz="1200" b="1" i="0" u="none" strike="noStrike" dirty="0">
                        <a:solidFill>
                          <a:schemeClr val="accent5"/>
                        </a:solidFill>
                        <a:effectLst/>
                        <a:latin typeface="+mn-lt"/>
                      </a:endParaRPr>
                    </a:p>
                    <a:p>
                      <a:pPr algn="ctr" fontAlgn="ctr"/>
                      <a:endParaRPr lang="en-US" sz="1200" b="1" i="0" u="none" strike="noStrike" kern="1200" dirty="0">
                        <a:solidFill>
                          <a:schemeClr val="accent5"/>
                        </a:solidFill>
                        <a:effectLst/>
                        <a:latin typeface="+mn-lt"/>
                        <a:ea typeface="+mn-ea"/>
                        <a:cs typeface="+mn-cs"/>
                      </a:endParaRPr>
                    </a:p>
                  </a:txBody>
                  <a:tcPr marL="6350" marR="6350" marT="6350" marB="0" anchor="ctr"/>
                </a:tc>
                <a:extLst>
                  <a:ext uri="{0D108BD9-81ED-4DB2-BD59-A6C34878D82A}">
                    <a16:rowId xmlns:a16="http://schemas.microsoft.com/office/drawing/2014/main" val="2698363584"/>
                  </a:ext>
                </a:extLst>
              </a:tr>
            </a:tbl>
          </a:graphicData>
        </a:graphic>
      </p:graphicFrame>
      <p:pic>
        <p:nvPicPr>
          <p:cNvPr id="17" name="Picture 16">
            <a:hlinkClick r:id="rId49" action="ppaction://hlinksldjump"/>
            <a:extLst>
              <a:ext uri="{FF2B5EF4-FFF2-40B4-BE49-F238E27FC236}">
                <a16:creationId xmlns:a16="http://schemas.microsoft.com/office/drawing/2014/main" id="{55723932-5C97-5A4D-4CD2-B0023C13895E}"/>
              </a:ext>
            </a:extLst>
          </p:cNvPr>
          <p:cNvPicPr>
            <a:picLocks noChangeAspect="1"/>
          </p:cNvPicPr>
          <p:nvPr/>
        </p:nvPicPr>
        <p:blipFill>
          <a:blip r:embed="rId50"/>
          <a:stretch>
            <a:fillRect/>
          </a:stretch>
        </p:blipFill>
        <p:spPr>
          <a:xfrm>
            <a:off x="9020181" y="3715557"/>
            <a:ext cx="2355543" cy="1577727"/>
          </a:xfrm>
          <a:prstGeom prst="rect">
            <a:avLst/>
          </a:prstGeom>
        </p:spPr>
      </p:pic>
      <p:sp>
        <p:nvSpPr>
          <p:cNvPr id="19" name="Oval 18">
            <a:hlinkClick r:id="rId49" action="ppaction://hlinksldjump"/>
            <a:extLst>
              <a:ext uri="{FF2B5EF4-FFF2-40B4-BE49-F238E27FC236}">
                <a16:creationId xmlns:a16="http://schemas.microsoft.com/office/drawing/2014/main" id="{8BC3A1D9-084F-A70A-AA3F-9CDF372841A1}"/>
              </a:ext>
            </a:extLst>
          </p:cNvPr>
          <p:cNvSpPr/>
          <p:nvPr/>
        </p:nvSpPr>
        <p:spPr>
          <a:xfrm>
            <a:off x="9867625" y="4233932"/>
            <a:ext cx="907822" cy="486803"/>
          </a:xfrm>
          <a:prstGeom prst="ellipse">
            <a:avLst/>
          </a:prstGeom>
          <a:solidFill>
            <a:schemeClr val="accent2">
              <a:alpha val="5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Corbel" panose="020B0503020204020204" pitchFamily="34" charset="0"/>
              </a:rPr>
              <a:t>Event Severity Gauge</a:t>
            </a:r>
            <a:endParaRPr lang="en-US" sz="1400" dirty="0">
              <a:latin typeface="Corbel" panose="020B0503020204020204" pitchFamily="34" charset="0"/>
            </a:endParaRPr>
          </a:p>
        </p:txBody>
      </p:sp>
      <p:sp>
        <p:nvSpPr>
          <p:cNvPr id="21" name="Rectangle: Rounded Corners 20">
            <a:extLst>
              <a:ext uri="{FF2B5EF4-FFF2-40B4-BE49-F238E27FC236}">
                <a16:creationId xmlns:a16="http://schemas.microsoft.com/office/drawing/2014/main" id="{5C06442A-74B5-EC09-D47E-08BC052C4B1F}"/>
              </a:ext>
            </a:extLst>
          </p:cNvPr>
          <p:cNvSpPr/>
          <p:nvPr/>
        </p:nvSpPr>
        <p:spPr>
          <a:xfrm>
            <a:off x="8722981" y="5549679"/>
            <a:ext cx="3085278" cy="33244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2"/>
                </a:solidFill>
                <a:latin typeface="Corbel" panose="020B0503020204020204" pitchFamily="34" charset="0"/>
              </a:rPr>
              <a:t>What Resilinc is Doing</a:t>
            </a:r>
            <a:endParaRPr lang="en-US" sz="1600" dirty="0">
              <a:solidFill>
                <a:schemeClr val="accent2"/>
              </a:solidFill>
              <a:latin typeface="Corbel" panose="020B0503020204020204" pitchFamily="34" charset="0"/>
            </a:endParaRPr>
          </a:p>
        </p:txBody>
      </p:sp>
      <p:sp>
        <p:nvSpPr>
          <p:cNvPr id="2" name="Rectangle: Rounded Corners 1">
            <a:extLst>
              <a:ext uri="{FF2B5EF4-FFF2-40B4-BE49-F238E27FC236}">
                <a16:creationId xmlns:a16="http://schemas.microsoft.com/office/drawing/2014/main" id="{397F9C84-96E4-B15E-E2EB-1A0DE067474B}"/>
              </a:ext>
            </a:extLst>
          </p:cNvPr>
          <p:cNvSpPr/>
          <p:nvPr/>
        </p:nvSpPr>
        <p:spPr>
          <a:xfrm>
            <a:off x="8778897" y="6044388"/>
            <a:ext cx="3085278" cy="33244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2"/>
                </a:solidFill>
                <a:latin typeface="Corbel" panose="020B0503020204020204" pitchFamily="34" charset="0"/>
              </a:rPr>
              <a:t>EventWatch Industry List</a:t>
            </a:r>
            <a:endParaRPr lang="en-US" sz="1600" dirty="0">
              <a:solidFill>
                <a:schemeClr val="accent2"/>
              </a:solidFill>
              <a:latin typeface="Corbel" panose="020B0503020204020204" pitchFamily="34" charset="0"/>
            </a:endParaRPr>
          </a:p>
        </p:txBody>
      </p:sp>
    </p:spTree>
    <p:extLst>
      <p:ext uri="{BB962C8B-B14F-4D97-AF65-F5344CB8AC3E}">
        <p14:creationId xmlns:p14="http://schemas.microsoft.com/office/powerpoint/2010/main" val="2299173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8605" y="840"/>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34369" y="212035"/>
            <a:ext cx="4639094" cy="362371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339786" y="4111976"/>
            <a:ext cx="4336475" cy="2185214"/>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Sub-Types:</a:t>
            </a:r>
            <a:br>
              <a:rPr lang="en-IN" sz="1400" b="1" u="sng" dirty="0">
                <a:solidFill>
                  <a:schemeClr val="tx1">
                    <a:lumMod val="65000"/>
                    <a:lumOff val="35000"/>
                  </a:schemeClr>
                </a:solidFill>
                <a:latin typeface="Corbel" panose="020B0503020204020204" pitchFamily="34" charset="0"/>
              </a:rPr>
            </a:br>
            <a:endParaRPr lang="en-IN" sz="1400" b="1" u="sng" dirty="0">
              <a:solidFill>
                <a:schemeClr val="tx1">
                  <a:lumMod val="65000"/>
                  <a:lumOff val="35000"/>
                </a:schemeClr>
              </a:solidFill>
              <a:latin typeface="Corbel" panose="020B050302020402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Airport shutdown</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Airlines canceling a high number of flights</a:t>
            </a:r>
          </a:p>
          <a:p>
            <a:pPr marL="285750" indent="-2857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Airport accidents, blast, gas leaks, chemical spill</a:t>
            </a:r>
          </a:p>
          <a:p>
            <a:pPr marL="285750" indent="-2857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Cargo airplane crash</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Cargo handling operations down</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Disruptions due to man-made events</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Disruptions due to weather events</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Disruptions due to technical glitches/cyber attacks</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Customs or security disruptions</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56025" y="747771"/>
            <a:ext cx="4652385" cy="5495992"/>
          </a:xfrm>
          <a:prstGeom prst="rect">
            <a:avLst/>
          </a:prstGeom>
          <a:noFill/>
        </p:spPr>
        <p:txBody>
          <a:bodyPr wrap="square" rtlCol="0">
            <a:spAutoFit/>
          </a:bodyPr>
          <a:lstStyle/>
          <a:p>
            <a:pPr>
              <a:lnSpc>
                <a:spcPct val="150000"/>
              </a:lnSpc>
            </a:pPr>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br>
              <a:rPr lang="en-IN" sz="1400" dirty="0">
                <a:latin typeface="Corbel" panose="020B0503020204020204" pitchFamily="34" charset="0"/>
                <a:cs typeface="Calibri" panose="020F0502020204030204" pitchFamily="34" charset="0"/>
              </a:rPr>
            </a:br>
            <a:r>
              <a:rPr lang="en-IN" sz="1200" dirty="0">
                <a:solidFill>
                  <a:schemeClr val="tx1">
                    <a:lumMod val="65000"/>
                    <a:lumOff val="35000"/>
                  </a:schemeClr>
                </a:solidFill>
                <a:latin typeface="Corbel" panose="020B0503020204020204" pitchFamily="34" charset="0"/>
                <a:cs typeface="Calibri" panose="020F0502020204030204" pitchFamily="34" charset="0"/>
              </a:rPr>
              <a:t>We notify an airport disruption when:</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If the airport is mapped, we report straightaway.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The airport halts its activities completely.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 The airport reports a high number of flight cancelations, affecting cargo movement</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If a Passenger activity stops, notify only if major flights canceled.</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If cargo activity is disrupted, notify straightaway.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Avoid notifying about domestic airports with no cargo activities.</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Partial disruptions, no impact on cargo; Operations resumed – </a:t>
            </a:r>
            <a:r>
              <a:rPr lang="en-IN" sz="1200" b="1" dirty="0">
                <a:solidFill>
                  <a:schemeClr val="tx1">
                    <a:lumMod val="65000"/>
                    <a:lumOff val="35000"/>
                  </a:schemeClr>
                </a:solidFill>
                <a:latin typeface="Corbel" panose="020B0503020204020204" pitchFamily="34" charset="0"/>
                <a:cs typeface="Calibri" panose="020F0502020204030204" pitchFamily="34" charset="0"/>
              </a:rPr>
              <a:t>Avoid</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Under airport disruptions, we also notify labor strikes threatening an airport.</a:t>
            </a:r>
          </a:p>
          <a:p>
            <a:br>
              <a:rPr lang="en-IN" sz="1400" dirty="0">
                <a:solidFill>
                  <a:schemeClr val="tx1">
                    <a:lumMod val="65000"/>
                    <a:lumOff val="35000"/>
                  </a:schemeClr>
                </a:solidFill>
                <a:latin typeface="Corbel" panose="020B0503020204020204" pitchFamily="34" charset="0"/>
                <a:cs typeface="Calibri" panose="020F0502020204030204" pitchFamily="34" charset="0"/>
              </a:rPr>
            </a:br>
            <a:r>
              <a:rPr lang="en-IN" sz="1200" b="1" u="sng" dirty="0">
                <a:solidFill>
                  <a:schemeClr val="tx1">
                    <a:lumMod val="65000"/>
                    <a:lumOff val="35000"/>
                  </a:schemeClr>
                </a:solidFill>
                <a:latin typeface="Corbel" panose="020B0503020204020204" pitchFamily="34" charset="0"/>
                <a:cs typeface="Calibri" panose="020F0502020204030204" pitchFamily="34" charset="0"/>
              </a:rPr>
              <a:t>DO NOT NOTIFY: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Disruption affects only passenger flights (no cargo impact)</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Domestic-only airport with no cargo</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Minor disruption, resolved quickly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Fire in aircraft hangar or airport parking, no flight disruptions</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Strike - if only a ballot is scheduled, and no strike date set</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76990" y="396089"/>
            <a:ext cx="4444693" cy="3312832"/>
          </a:xfrm>
          <a:prstGeom prst="rect">
            <a:avLst/>
          </a:prstGeom>
          <a:noFill/>
        </p:spPr>
        <p:txBody>
          <a:bodyPr wrap="square" rtlCol="0">
            <a:normAutofit fontScale="92500" lnSpcReduction="10000"/>
          </a:bodyPr>
          <a:lstStyle/>
          <a:p>
            <a:r>
              <a:rPr lang="en-US" sz="1400" b="1" u="sng" dirty="0">
                <a:solidFill>
                  <a:schemeClr val="tx1">
                    <a:lumMod val="65000"/>
                    <a:lumOff val="35000"/>
                  </a:schemeClr>
                </a:solidFill>
                <a:latin typeface="Corbel" panose="020B0503020204020204" pitchFamily="34" charset="0"/>
                <a:cs typeface="Calibri" panose="020F0502020204030204" pitchFamily="34" charset="0"/>
              </a:rPr>
              <a:t>WarRoom Guidelines:</a:t>
            </a:r>
            <a:br>
              <a:rPr lang="en-US" sz="1400" b="1" u="sng" dirty="0">
                <a:solidFill>
                  <a:schemeClr val="tx1">
                    <a:lumMod val="65000"/>
                    <a:lumOff val="35000"/>
                  </a:schemeClr>
                </a:solidFill>
                <a:latin typeface="Corbel" panose="020B0503020204020204" pitchFamily="34" charset="0"/>
                <a:cs typeface="Calibri" panose="020F0502020204030204" pitchFamily="34" charset="0"/>
              </a:rPr>
            </a:br>
            <a:endParaRPr lang="en-US" sz="1400" b="1" u="sng"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b="1" dirty="0">
                <a:solidFill>
                  <a:schemeClr val="tx1">
                    <a:lumMod val="65000"/>
                    <a:lumOff val="35000"/>
                  </a:schemeClr>
                </a:solidFill>
                <a:latin typeface="Corbel" panose="020B0503020204020204" pitchFamily="34" charset="0"/>
                <a:cs typeface="Calibri" panose="020F0502020204030204" pitchFamily="34" charset="0"/>
              </a:rPr>
              <a:t>Mapped airport: Report straight away </a:t>
            </a:r>
          </a:p>
          <a:p>
            <a:r>
              <a:rPr lang="en-US" sz="1200" dirty="0">
                <a:latin typeface="Corbel" panose="020B0503020204020204" pitchFamily="34" charset="0"/>
                <a:cs typeface="Calibri" panose="020F0502020204030204" pitchFamily="34" charset="0"/>
              </a:rPr>
              <a:t>          - </a:t>
            </a:r>
            <a:r>
              <a:rPr lang="en-US" sz="1200" dirty="0">
                <a:solidFill>
                  <a:schemeClr val="tx1">
                    <a:lumMod val="65000"/>
                    <a:lumOff val="35000"/>
                  </a:schemeClr>
                </a:solidFill>
                <a:latin typeface="Corbel" panose="020B0503020204020204" pitchFamily="34" charset="0"/>
                <a:cs typeface="Calibri" panose="020F0502020204030204" pitchFamily="34" charset="0"/>
              </a:rPr>
              <a:t>Disruption &gt; 24 </a:t>
            </a:r>
            <a:r>
              <a:rPr lang="en-US" sz="1200" dirty="0" err="1">
                <a:solidFill>
                  <a:schemeClr val="tx1">
                    <a:lumMod val="65000"/>
                    <a:lumOff val="35000"/>
                  </a:schemeClr>
                </a:solidFill>
                <a:latin typeface="Corbel" panose="020B0503020204020204" pitchFamily="34" charset="0"/>
                <a:cs typeface="Calibri" panose="020F0502020204030204" pitchFamily="34" charset="0"/>
              </a:rPr>
              <a:t>hrs</a:t>
            </a:r>
            <a:r>
              <a:rPr lang="en-US" sz="1200" dirty="0">
                <a:solidFill>
                  <a:schemeClr val="tx1">
                    <a:lumMod val="65000"/>
                    <a:lumOff val="35000"/>
                  </a:schemeClr>
                </a:solidFill>
                <a:latin typeface="Corbel" panose="020B0503020204020204" pitchFamily="34" charset="0"/>
                <a:cs typeface="Calibri" panose="020F0502020204030204" pitchFamily="34" charset="0"/>
              </a:rPr>
              <a:t> - 100 km radius polygon </a:t>
            </a:r>
          </a:p>
          <a:p>
            <a:r>
              <a:rPr lang="en-US" sz="1200" dirty="0">
                <a:solidFill>
                  <a:schemeClr val="tx1">
                    <a:lumMod val="65000"/>
                    <a:lumOff val="35000"/>
                  </a:schemeClr>
                </a:solidFill>
                <a:latin typeface="Corbel" panose="020B0503020204020204" pitchFamily="34" charset="0"/>
                <a:cs typeface="Calibri" panose="020F0502020204030204" pitchFamily="34" charset="0"/>
              </a:rPr>
              <a:t>          - Disruption &lt; 24 </a:t>
            </a:r>
            <a:r>
              <a:rPr lang="en-US" sz="1200" dirty="0" err="1">
                <a:solidFill>
                  <a:schemeClr val="tx1">
                    <a:lumMod val="65000"/>
                    <a:lumOff val="35000"/>
                  </a:schemeClr>
                </a:solidFill>
                <a:latin typeface="Corbel" panose="020B0503020204020204" pitchFamily="34" charset="0"/>
                <a:cs typeface="Calibri" panose="020F0502020204030204" pitchFamily="34" charset="0"/>
              </a:rPr>
              <a:t>hrs</a:t>
            </a:r>
            <a:r>
              <a:rPr lang="en-US" sz="1200" dirty="0">
                <a:solidFill>
                  <a:schemeClr val="tx1">
                    <a:lumMod val="65000"/>
                    <a:lumOff val="35000"/>
                  </a:schemeClr>
                </a:solidFill>
                <a:latin typeface="Corbel" panose="020B0503020204020204" pitchFamily="34" charset="0"/>
                <a:cs typeface="Calibri" panose="020F0502020204030204" pitchFamily="34" charset="0"/>
              </a:rPr>
              <a:t> -&gt; manual polygon covering just the airport</a:t>
            </a:r>
            <a:br>
              <a:rPr lang="en-US" sz="1200" dirty="0">
                <a:latin typeface="Corbel" panose="020B0503020204020204" pitchFamily="34" charset="0"/>
                <a:cs typeface="Calibri" panose="020F0502020204030204" pitchFamily="34" charset="0"/>
              </a:rPr>
            </a:br>
            <a:endParaRPr lang="en-US" sz="1200" dirty="0">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b="1" dirty="0">
                <a:solidFill>
                  <a:schemeClr val="tx1">
                    <a:lumMod val="65000"/>
                    <a:lumOff val="35000"/>
                  </a:schemeClr>
                </a:solidFill>
                <a:latin typeface="Corbel" panose="020B0503020204020204" pitchFamily="34" charset="0"/>
                <a:cs typeface="Calibri" panose="020F0502020204030204" pitchFamily="34" charset="0"/>
              </a:rPr>
              <a:t>Non-mapped airport with cargo: </a:t>
            </a:r>
            <a:br>
              <a:rPr lang="en-US" sz="1200" b="1"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 Disruption &gt; 24 </a:t>
            </a:r>
            <a:r>
              <a:rPr lang="en-US" sz="1200" dirty="0" err="1">
                <a:solidFill>
                  <a:schemeClr val="tx1">
                    <a:lumMod val="65000"/>
                    <a:lumOff val="35000"/>
                  </a:schemeClr>
                </a:solidFill>
                <a:latin typeface="Corbel" panose="020B0503020204020204" pitchFamily="34" charset="0"/>
                <a:cs typeface="Calibri" panose="020F0502020204030204" pitchFamily="34" charset="0"/>
              </a:rPr>
              <a:t>hrs</a:t>
            </a:r>
            <a:r>
              <a:rPr lang="en-US" sz="1200" dirty="0">
                <a:solidFill>
                  <a:schemeClr val="tx1">
                    <a:lumMod val="65000"/>
                    <a:lumOff val="35000"/>
                  </a:schemeClr>
                </a:solidFill>
                <a:latin typeface="Corbel" panose="020B0503020204020204" pitchFamily="34" charset="0"/>
                <a:cs typeface="Calibri" panose="020F0502020204030204" pitchFamily="34" charset="0"/>
              </a:rPr>
              <a:t> -&gt; 100-km radius polygon </a:t>
            </a:r>
            <a:br>
              <a:rPr lang="en-US" sz="1200"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 Disruption &lt; 24 </a:t>
            </a:r>
            <a:r>
              <a:rPr lang="en-US" sz="1200" dirty="0" err="1">
                <a:solidFill>
                  <a:schemeClr val="tx1">
                    <a:lumMod val="65000"/>
                    <a:lumOff val="35000"/>
                  </a:schemeClr>
                </a:solidFill>
                <a:latin typeface="Corbel" panose="020B0503020204020204" pitchFamily="34" charset="0"/>
                <a:cs typeface="Calibri" panose="020F0502020204030204" pitchFamily="34" charset="0"/>
              </a:rPr>
              <a:t>hrs</a:t>
            </a:r>
            <a:r>
              <a:rPr lang="en-US" sz="1200" dirty="0">
                <a:solidFill>
                  <a:schemeClr val="tx1">
                    <a:lumMod val="65000"/>
                    <a:lumOff val="35000"/>
                  </a:schemeClr>
                </a:solidFill>
                <a:latin typeface="Corbel" panose="020B0503020204020204" pitchFamily="34" charset="0"/>
                <a:cs typeface="Calibri" panose="020F0502020204030204" pitchFamily="34" charset="0"/>
              </a:rPr>
              <a:t> -&gt; Just a bulletin; NO WarRoom</a:t>
            </a:r>
            <a:br>
              <a:rPr lang="en-US" sz="1200" dirty="0">
                <a:latin typeface="Corbel" panose="020B0503020204020204" pitchFamily="34" charset="0"/>
                <a:cs typeface="Calibri" panose="020F0502020204030204" pitchFamily="34" charset="0"/>
              </a:rPr>
            </a:br>
            <a:endParaRPr lang="en-US" sz="1200" dirty="0">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Non-mapped airport with NO cargo -&gt; DO NOT REPORT</a:t>
            </a:r>
            <a:br>
              <a:rPr lang="en-US" sz="1200" dirty="0">
                <a:latin typeface="Corbel" panose="020B0503020204020204" pitchFamily="34" charset="0"/>
                <a:cs typeface="Calibri" panose="020F0502020204030204" pitchFamily="34" charset="0"/>
              </a:rPr>
            </a:br>
            <a:endParaRPr lang="en-US" sz="1200" dirty="0">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Nationwide strike at airports: Manual polygons covering all mapped airports and all non-mapped airports that have cargo activity, No single polygon covering the entire country</a:t>
            </a:r>
            <a:br>
              <a:rPr lang="en-US" sz="1200" dirty="0">
                <a:latin typeface="Corbel" panose="020B0503020204020204" pitchFamily="34" charset="0"/>
                <a:cs typeface="Calibri" panose="020F0502020204030204" pitchFamily="34" charset="0"/>
              </a:rPr>
            </a:br>
            <a:endParaRPr lang="en-US" sz="1200" dirty="0">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b="1" u="sng"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US" sz="1200" b="1" dirty="0">
                <a:solidFill>
                  <a:schemeClr val="tx1">
                    <a:lumMod val="65000"/>
                    <a:lumOff val="35000"/>
                  </a:schemeClr>
                </a:solidFill>
                <a:latin typeface="Corbel" panose="020B0503020204020204" pitchFamily="34" charset="0"/>
                <a:cs typeface="Calibri" panose="020F0502020204030204" pitchFamily="34" charset="0"/>
              </a:rPr>
              <a:t>– YES</a:t>
            </a:r>
            <a:br>
              <a:rPr lang="en-US" sz="1200" b="1"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Note: Do not send Supplier Impact Confirmation for LOW severity events.</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3F881C34-6036-44B0-D565-51C8B8A3B90F}"/>
              </a:ext>
            </a:extLst>
          </p:cNvPr>
          <p:cNvGraphicFramePr>
            <a:graphicFrameLocks noGrp="1"/>
          </p:cNvGraphicFramePr>
          <p:nvPr>
            <p:extLst>
              <p:ext uri="{D42A27DB-BD31-4B8C-83A1-F6EECF244321}">
                <p14:modId xmlns:p14="http://schemas.microsoft.com/office/powerpoint/2010/main" val="394558016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7" name="Rectangle 6">
            <a:extLst>
              <a:ext uri="{FF2B5EF4-FFF2-40B4-BE49-F238E27FC236}">
                <a16:creationId xmlns:a16="http://schemas.microsoft.com/office/drawing/2014/main" id="{A2088183-0A2C-167E-E74A-31D85D338D69}"/>
              </a:ext>
            </a:extLst>
          </p:cNvPr>
          <p:cNvSpPr/>
          <p:nvPr/>
        </p:nvSpPr>
        <p:spPr>
          <a:xfrm>
            <a:off x="165518" y="212035"/>
            <a:ext cx="4781631" cy="614900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4370" y="3985146"/>
            <a:ext cx="4694266" cy="228206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sp>
        <p:nvSpPr>
          <p:cNvPr id="4" name="Rectangle 3">
            <a:extLst>
              <a:ext uri="{FF2B5EF4-FFF2-40B4-BE49-F238E27FC236}">
                <a16:creationId xmlns:a16="http://schemas.microsoft.com/office/drawing/2014/main" id="{BB96143F-DA2A-CE11-1B92-D6B28E168417}"/>
              </a:ext>
            </a:extLst>
          </p:cNvPr>
          <p:cNvSpPr/>
          <p:nvPr/>
        </p:nvSpPr>
        <p:spPr>
          <a:xfrm>
            <a:off x="238828" y="385958"/>
            <a:ext cx="4103410" cy="361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a:solidFill>
                  <a:srgbClr val="0070C0"/>
                </a:solidFill>
                <a:latin typeface="Corbel" panose="020B0503020204020204" pitchFamily="34" charset="0"/>
              </a:rPr>
              <a:t>AIRPORT DISRUPTION</a:t>
            </a:r>
          </a:p>
        </p:txBody>
      </p:sp>
      <p:sp>
        <p:nvSpPr>
          <p:cNvPr id="3" name="Rectangle: Rounded Corners 2">
            <a:hlinkClick r:id="rId46" action="ppaction://hlinksldjump"/>
            <a:extLst>
              <a:ext uri="{FF2B5EF4-FFF2-40B4-BE49-F238E27FC236}">
                <a16:creationId xmlns:a16="http://schemas.microsoft.com/office/drawing/2014/main" id="{406BA7A5-3E2B-049E-573F-BB4EBA8226A3}"/>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06740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75309" y="180906"/>
            <a:ext cx="5417896" cy="358271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778972" y="4158397"/>
            <a:ext cx="3925309" cy="1815882"/>
          </a:xfrm>
          <a:prstGeom prst="rect">
            <a:avLst/>
          </a:prstGeom>
          <a:noFill/>
        </p:spPr>
        <p:txBody>
          <a:bodyPr wrap="square" rtlCol="0">
            <a:spAutoFit/>
          </a:bodyPr>
          <a:lstStyle/>
          <a:p>
            <a:r>
              <a:rPr lang="en-US" sz="1400" b="1" u="sng">
                <a:latin typeface="Corbel" panose="020B0503020204020204" pitchFamily="34" charset="0"/>
              </a:rPr>
              <a:t>Sub-Types</a:t>
            </a:r>
          </a:p>
          <a:p>
            <a:endParaRPr lang="en-US" sz="1400" b="1" u="sng">
              <a:latin typeface="Corbel" panose="020B0503020204020204" pitchFamily="34" charset="0"/>
            </a:endParaRP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Bankruptcy affecting a site/company/group</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Bankruptcy affecting government, city, state, etc. </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Possible Bankruptcy/financial hazards </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Missed Payments/Default Payments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Possibility of Bankruptcy due to Anti-Dumping Effects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Parent or subsidiary bankruptcy</a:t>
            </a:r>
          </a:p>
          <a:p>
            <a:pPr marL="285750" indent="-285750">
              <a:buFont typeface="Arial" panose="020B0604020202020204" pitchFamily="34" charset="0"/>
              <a:buChar char="•"/>
            </a:pPr>
            <a:r>
              <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Rebranding after Bankruptcy</a:t>
            </a:r>
          </a:p>
        </p:txBody>
      </p:sp>
      <p:sp>
        <p:nvSpPr>
          <p:cNvPr id="10" name="TextBox 9">
            <a:extLst>
              <a:ext uri="{FF2B5EF4-FFF2-40B4-BE49-F238E27FC236}">
                <a16:creationId xmlns:a16="http://schemas.microsoft.com/office/drawing/2014/main" id="{B90C778B-9D44-B70A-F699-FDAFA36BDB03}"/>
              </a:ext>
            </a:extLst>
          </p:cNvPr>
          <p:cNvSpPr txBox="1"/>
          <p:nvPr/>
        </p:nvSpPr>
        <p:spPr>
          <a:xfrm>
            <a:off x="185224" y="195887"/>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BANKRUPTCY</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42587" y="621497"/>
            <a:ext cx="4169966" cy="5439694"/>
          </a:xfrm>
          <a:prstGeom prst="rect">
            <a:avLst/>
          </a:prstGeom>
          <a:noFill/>
        </p:spPr>
        <p:txBody>
          <a:bodyPr wrap="square" rtlCol="0">
            <a:spAutoFit/>
          </a:bodyPr>
          <a:lstStyle/>
          <a:p>
            <a:pPr>
              <a:lnSpc>
                <a:spcPct val="150000"/>
              </a:lnSpc>
            </a:pPr>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a:lnSpc>
                <a:spcPct val="150000"/>
              </a:lnSpc>
            </a:pPr>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Notify bankruptcy/insolvency proceeding proactively</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Notify as soon as signs or talks of a possible bankruptcy become public. </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Send an update when the company files for bankruptcy</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a partner plans to file bankruptcy, send impact when signs and talks become public. Send an update when bankruptcy is announced.</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bankruptcy has been filed already, notify with impact.</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bankruptcy is filed in a specific region/country, send impact to the sites only in that country. Supplier email is not needed</a:t>
            </a:r>
          </a:p>
          <a:p>
            <a:pPr marL="285750" indent="-285750">
              <a:lnSpc>
                <a:spcPct val="150000"/>
              </a:lnSpc>
              <a:buFont typeface="Arial" panose="020B0604020202020204" pitchFamily="34" charset="0"/>
              <a:buChar char="•"/>
            </a:pPr>
            <a:r>
              <a:rPr lang="en-US" sz="1200" b="1"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Company mapped? Report with High Severity</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Company Not mapped? Check if the product line &amp; applications connect</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Service provider - Check if the applications of the services offered within our vertices</a:t>
            </a:r>
          </a:p>
          <a:p>
            <a:pPr marL="285750" indent="-285750">
              <a:lnSpc>
                <a:spcPct val="150000"/>
              </a:lnSpc>
              <a:buFont typeface="Arial" panose="020B0604020202020204" pitchFamily="34" charset="0"/>
              <a:buChar char="•"/>
            </a:pPr>
            <a:r>
              <a:rPr lang="en-US" sz="1300" dirty="0">
                <a:solidFill>
                  <a:schemeClr val="bg1">
                    <a:lumMod val="95000"/>
                  </a:schemeClr>
                </a:solidFill>
                <a:latin typeface="Corbel" panose="020B0503020204020204" pitchFamily="34" charset="0"/>
                <a:cs typeface="Calibri" panose="020F0502020204030204" pitchFamily="34" charset="0"/>
              </a:rPr>
              <a:t>"</a:t>
            </a:r>
            <a:endParaRPr lang="en-IN" sz="1300" dirty="0">
              <a:solidFill>
                <a:schemeClr val="bg1">
                  <a:lumMod val="95000"/>
                </a:schemeClr>
              </a:solidFill>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778972" y="783850"/>
            <a:ext cx="5057757" cy="2062103"/>
          </a:xfrm>
          <a:prstGeom prst="rect">
            <a:avLst/>
          </a:prstGeom>
          <a:noFill/>
        </p:spPr>
        <p:txBody>
          <a:bodyPr wrap="square" rtlCol="0">
            <a:spAutoFit/>
          </a:bodyPr>
          <a:lstStyle/>
          <a:p>
            <a:r>
              <a:rPr lang="en-US" sz="1400" b="1" u="sng" dirty="0">
                <a:latin typeface="Corbel" panose="020B0503020204020204" pitchFamily="34" charset="0"/>
                <a:cs typeface="Calibri" panose="020F0502020204030204" pitchFamily="34" charset="0"/>
              </a:rPr>
              <a:t>WarRoom Guidelines</a:t>
            </a:r>
          </a:p>
          <a:p>
            <a:pPr>
              <a:lnSpc>
                <a:spcPct val="150000"/>
              </a:lnSpc>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We create a WarRoom, when:</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Supplier company files for bankruptcy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sym typeface="Wingdings" panose="05000000000000000000" pitchFamily="2" charset="2"/>
              </a:rPr>
              <a: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Send impact to all sites or the sites in the affected city/state/country only</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A country, state, or city filing for bankruptcy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sym typeface="Wingdings" panose="05000000000000000000" pitchFamily="2" charset="2"/>
              </a:rPr>
              <a: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Send impact to all sites involved in the city, state, or country.</a:t>
            </a:r>
            <a:endParaRPr lang="en-US" sz="1200" dirty="0">
              <a:solidFill>
                <a:schemeClr val="tx1">
                  <a:lumMod val="85000"/>
                  <a:lumOff val="15000"/>
                </a:schemeClr>
              </a:solidFill>
              <a:latin typeface="Corbel" panose="020B0503020204020204" pitchFamily="34" charset="0"/>
              <a:cs typeface="Calibri" panose="020F0502020204030204" pitchFamily="34" charset="0"/>
            </a:endParaRPr>
          </a:p>
          <a:p>
            <a:r>
              <a:rPr lang="en-US" sz="1200" b="1" u="sng" dirty="0">
                <a:latin typeface="Corbel" panose="020B0503020204020204" pitchFamily="34" charset="0"/>
                <a:cs typeface="Calibri" panose="020F0502020204030204" pitchFamily="34" charset="0"/>
              </a:rPr>
              <a:t>Send Supplier Impact Confirmation? -</a:t>
            </a:r>
            <a:r>
              <a:rPr lang="en-US" sz="1200" b="1" dirty="0">
                <a:latin typeface="Corbel" panose="020B0503020204020204" pitchFamily="34" charset="0"/>
                <a:cs typeface="Calibri" panose="020F0502020204030204" pitchFamily="34" charset="0"/>
              </a:rPr>
              <a:t> YES</a:t>
            </a:r>
            <a:endParaRPr lang="en-US" sz="1200" b="1">
              <a:latin typeface="Corbel" panose="020B0503020204020204" pitchFamily="34" charset="0"/>
              <a:cs typeface="Calibri" panose="020F0502020204030204" pitchFamily="34" charset="0"/>
            </a:endParaRPr>
          </a:p>
          <a:p>
            <a:r>
              <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Note: Do not send Supplier Impact Confirmation for LOW severity events.</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5"/>
            <a:ext cx="4307420" cy="648120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78744" y="3975652"/>
            <a:ext cx="5451342" cy="268646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17" name="Table 16">
            <a:extLst>
              <a:ext uri="{FF2B5EF4-FFF2-40B4-BE49-F238E27FC236}">
                <a16:creationId xmlns:a16="http://schemas.microsoft.com/office/drawing/2014/main" id="{6925487E-0C91-025B-8F12-DFF99EFD44B3}"/>
              </a:ext>
            </a:extLst>
          </p:cNvPr>
          <p:cNvGraphicFramePr>
            <a:graphicFrameLocks noGrp="1"/>
          </p:cNvGraphicFramePr>
          <p:nvPr>
            <p:extLst>
              <p:ext uri="{D42A27DB-BD31-4B8C-83A1-F6EECF244321}">
                <p14:modId xmlns:p14="http://schemas.microsoft.com/office/powerpoint/2010/main" val="1377872363"/>
              </p:ext>
            </p:extLst>
          </p:nvPr>
        </p:nvGraphicFramePr>
        <p:xfrm>
          <a:off x="10191788" y="16832"/>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1D097A68-3101-C43E-E66A-42E09D3EF4A6}"/>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369211207"/>
      </p:ext>
    </p:extLst>
  </p:cSld>
  <p:clrMapOvr>
    <a:masterClrMapping/>
  </p:clrMapOvr>
  <mc:AlternateContent xmlns:mc="http://schemas.openxmlformats.org/markup-compatibility/2006" xmlns:p14="http://schemas.microsoft.com/office/powerpoint/2010/main">
    <mc:Choice Requires="p14">
      <p:transition spd="slow" p14:dur="2000" advTm="11109"/>
    </mc:Choice>
    <mc:Fallback xmlns="">
      <p:transition spd="slow" advTm="1110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6"/>
            <a:ext cx="5465086" cy="437784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678993" y="4833902"/>
            <a:ext cx="3925309" cy="1261884"/>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Spinning off a business unit/division </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Spinning off a brand/product</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Spinning off sites/plants</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Spinning off subsidiaries</a:t>
            </a:r>
            <a:endParaRPr lang="en-US" sz="1400" dirty="0">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53951" y="373235"/>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BUSINESS SPIN-OFF</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79271" y="979280"/>
            <a:ext cx="4009459" cy="4539704"/>
          </a:xfrm>
          <a:prstGeom prst="rect">
            <a:avLst/>
          </a:prstGeom>
          <a:noFill/>
        </p:spPr>
        <p:txBody>
          <a:bodyPr wrap="square" rtlCol="0">
            <a:spAutoFit/>
          </a:bodyPr>
          <a:lstStyle/>
          <a:p>
            <a:pPr>
              <a:lnSpc>
                <a:spcPct val="150000"/>
              </a:lnSpc>
            </a:pPr>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Notify the spin-off as soon as it is announced.</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a supplier company is involved, send impact with initial bulletins.</a:t>
            </a:r>
            <a:b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b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Company Not mapped? Check if the product line and applications connect. </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the service sector is involved - Check if their services have applications in our vertical: logistics provider | cargo shipping| petrochemicals | specialty chemicals provider | IT company | utility provider| farming company</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Send updates on completion news.</a:t>
            </a:r>
          </a:p>
        </p:txBody>
      </p:sp>
      <p:sp>
        <p:nvSpPr>
          <p:cNvPr id="8" name="TextBox 7">
            <a:extLst>
              <a:ext uri="{FF2B5EF4-FFF2-40B4-BE49-F238E27FC236}">
                <a16:creationId xmlns:a16="http://schemas.microsoft.com/office/drawing/2014/main" id="{B5610F2B-2AF4-ACCC-641F-7F6A8CA668E7}"/>
              </a:ext>
            </a:extLst>
          </p:cNvPr>
          <p:cNvSpPr txBox="1"/>
          <p:nvPr/>
        </p:nvSpPr>
        <p:spPr>
          <a:xfrm>
            <a:off x="4777995" y="424139"/>
            <a:ext cx="4989217" cy="3139321"/>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Partner Spinning Off a business </a:t>
            </a:r>
            <a:r>
              <a:rPr lang="en-US" sz="1200" dirty="0">
                <a:latin typeface="Corbel" panose="020B0503020204020204" pitchFamily="34" charset="0"/>
                <a:ea typeface="Roboto" panose="02000000000000000000" pitchFamily="2" charset="0"/>
                <a:cs typeface="Roboto" panose="02000000000000000000" pitchFamily="2" charset="0"/>
                <a:sym typeface="Wingdings" panose="05000000000000000000" pitchFamily="2" charset="2"/>
              </a:rPr>
              <a:t></a:t>
            </a:r>
            <a:r>
              <a:rPr lang="en-US" sz="1200" dirty="0">
                <a:latin typeface="Corbel" panose="020B0503020204020204" pitchFamily="34" charset="0"/>
                <a:ea typeface="Roboto" panose="02000000000000000000" pitchFamily="2" charset="0"/>
                <a:cs typeface="Roboto" panose="02000000000000000000" pitchFamily="2" charset="0"/>
              </a:rPr>
              <a:t> Send impact with initial bulletin</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If a partner is selling a specific division only - Send impact to just that division/country/site</a:t>
            </a:r>
          </a:p>
          <a:p>
            <a:pPr marL="285750" indent="-2857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Cannot identify business divisions- Send impact to all sites. </a:t>
            </a:r>
          </a:p>
          <a:p>
            <a:endParaRPr lang="en-US" sz="1400" dirty="0">
              <a:latin typeface="Corbel" panose="020B0503020204020204" pitchFamily="34" charset="0"/>
              <a:ea typeface="Roboto" panose="02000000000000000000" pitchFamily="2" charset="0"/>
              <a:cs typeface="Roboto" panose="02000000000000000000" pitchFamily="2" charset="0"/>
            </a:endParaRPr>
          </a:p>
          <a:p>
            <a:endParaRPr lang="en-US" sz="1400" dirty="0">
              <a:latin typeface="Corbel" panose="020B0503020204020204" pitchFamily="34" charset="0"/>
              <a:ea typeface="Roboto" panose="02000000000000000000" pitchFamily="2" charset="0"/>
              <a:cs typeface="Roboto" panose="02000000000000000000" pitchFamily="2" charset="0"/>
            </a:endParaRPr>
          </a:p>
          <a:p>
            <a:endParaRPr lang="en-US" sz="1400" dirty="0">
              <a:latin typeface="Corbel" panose="020B0503020204020204" pitchFamily="34" charset="0"/>
              <a:ea typeface="Roboto" panose="02000000000000000000" pitchFamily="2" charset="0"/>
              <a:cs typeface="Roboto" panose="02000000000000000000" pitchFamily="2" charset="0"/>
            </a:endParaRPr>
          </a:p>
          <a:p>
            <a:endParaRPr lang="en-US" sz="1400" dirty="0">
              <a:latin typeface="Corbel" panose="020B0503020204020204" pitchFamily="34" charset="0"/>
              <a:ea typeface="Roboto" panose="02000000000000000000" pitchFamily="2" charset="0"/>
              <a:cs typeface="Roboto" panose="02000000000000000000" pitchFamily="2" charset="0"/>
            </a:endParaRPr>
          </a:p>
          <a:p>
            <a:endParaRPr lang="en-US" sz="1400" dirty="0">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5"/>
            <a:ext cx="4300531" cy="649618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36616" y="4693676"/>
            <a:ext cx="5471975" cy="198341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17" name="Table 16">
            <a:extLst>
              <a:ext uri="{FF2B5EF4-FFF2-40B4-BE49-F238E27FC236}">
                <a16:creationId xmlns:a16="http://schemas.microsoft.com/office/drawing/2014/main" id="{BD633925-588D-F5AD-9C7B-AEC56D8E7D91}"/>
              </a:ext>
            </a:extLst>
          </p:cNvPr>
          <p:cNvGraphicFramePr>
            <a:graphicFrameLocks noGrp="1"/>
          </p:cNvGraphicFramePr>
          <p:nvPr>
            <p:extLst>
              <p:ext uri="{D42A27DB-BD31-4B8C-83A1-F6EECF244321}">
                <p14:modId xmlns:p14="http://schemas.microsoft.com/office/powerpoint/2010/main" val="229375097"/>
              </p:ext>
            </p:extLst>
          </p:nvPr>
        </p:nvGraphicFramePr>
        <p:xfrm>
          <a:off x="10155764" y="43586"/>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23F33CFB-FE52-E138-4D84-9F21AE18FD7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292012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6"/>
            <a:ext cx="5465086" cy="402003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798220" y="4440037"/>
            <a:ext cx="5067108" cy="1631216"/>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Sale involving factories/plants</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Sale involving Company (mapped/non-mapped)</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Business unit sale</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Subsidiary sale</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Asset sale</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Brand/portfolio sale</a:t>
            </a:r>
          </a:p>
        </p:txBody>
      </p:sp>
      <p:sp>
        <p:nvSpPr>
          <p:cNvPr id="10" name="TextBox 9">
            <a:extLst>
              <a:ext uri="{FF2B5EF4-FFF2-40B4-BE49-F238E27FC236}">
                <a16:creationId xmlns:a16="http://schemas.microsoft.com/office/drawing/2014/main" id="{B90C778B-9D44-B70A-F699-FDAFA36BDB03}"/>
              </a:ext>
            </a:extLst>
          </p:cNvPr>
          <p:cNvSpPr txBox="1"/>
          <p:nvPr/>
        </p:nvSpPr>
        <p:spPr>
          <a:xfrm>
            <a:off x="182139" y="370000"/>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BUSINESS SALE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94591" y="945988"/>
            <a:ext cx="4038861" cy="3567259"/>
          </a:xfrm>
          <a:prstGeom prst="rect">
            <a:avLst/>
          </a:prstGeom>
          <a:noFill/>
        </p:spPr>
        <p:txBody>
          <a:bodyPr wrap="square" rtlCol="0">
            <a:spAutoFit/>
          </a:bodyPr>
          <a:lstStyle/>
          <a:p>
            <a:pPr>
              <a:lnSpc>
                <a:spcPct val="150000"/>
              </a:lnSpc>
            </a:pPr>
            <a:r>
              <a:rPr lang="en-IN" sz="1400" b="1" u="sng" dirty="0">
                <a:latin typeface="Corbel" panose="020B0503020204020204" pitchFamily="34" charset="0"/>
              </a:rPr>
              <a:t>Reporting Guidelines:</a:t>
            </a:r>
          </a:p>
          <a:p>
            <a:pPr marL="285750" lvl="0" indent="-285750">
              <a:lnSpc>
                <a:spcPct val="150000"/>
              </a:lnSpc>
              <a:spcAft>
                <a:spcPts val="800"/>
              </a:spcAft>
              <a:buFont typeface="Arial" panose="020B0604020202020204" pitchFamily="34" charset="0"/>
              <a:buChar char="•"/>
              <a:tabLst>
                <a:tab pos="457200" algn="l"/>
              </a:tabLst>
            </a:pPr>
            <a:r>
              <a:rPr lang="en-IN" sz="1200" dirty="0">
                <a:latin typeface="Corbel" panose="020B0503020204020204" pitchFamily="34" charset="0"/>
                <a:ea typeface="Roboto" panose="02000000000000000000" pitchFamily="2" charset="0"/>
                <a:cs typeface="Roboto" panose="02000000000000000000" pitchFamily="2" charset="0"/>
              </a:rPr>
              <a:t>Notify as soon as it is announced (signs/talks/plans)</a:t>
            </a:r>
          </a:p>
          <a:p>
            <a:pPr marL="285750" lvl="0" indent="-285750">
              <a:lnSpc>
                <a:spcPct val="150000"/>
              </a:lnSpc>
              <a:spcAft>
                <a:spcPts val="800"/>
              </a:spcAft>
              <a:buFont typeface="Arial" panose="020B0604020202020204" pitchFamily="34" charset="0"/>
              <a:buChar char="•"/>
              <a:tabLst>
                <a:tab pos="457200" algn="l"/>
              </a:tabLst>
            </a:pPr>
            <a:r>
              <a:rPr lang="en-US" sz="1200" dirty="0">
                <a:latin typeface="Corbel" panose="020B0503020204020204" pitchFamily="34" charset="0"/>
                <a:ea typeface="Roboto" panose="02000000000000000000" pitchFamily="2" charset="0"/>
                <a:cs typeface="Roboto" panose="02000000000000000000" pitchFamily="2" charset="0"/>
              </a:rPr>
              <a:t>Company mapped? - Send an impact with the initial bulletin. </a:t>
            </a:r>
            <a:endParaRPr lang="en-IN" sz="1200" dirty="0">
              <a:latin typeface="Corbel" panose="020B0503020204020204" pitchFamily="34" charset="0"/>
              <a:ea typeface="Roboto" panose="02000000000000000000" pitchFamily="2" charset="0"/>
              <a:cs typeface="Roboto" panose="02000000000000000000" pitchFamily="2" charset="0"/>
            </a:endParaRPr>
          </a:p>
          <a:p>
            <a:pPr marL="285750" lvl="0" indent="-285750">
              <a:lnSpc>
                <a:spcPct val="150000"/>
              </a:lnSpc>
              <a:spcAft>
                <a:spcPts val="800"/>
              </a:spcAft>
              <a:buFont typeface="Arial" panose="020B0604020202020204" pitchFamily="34" charset="0"/>
              <a:buChar char="•"/>
              <a:tabLst>
                <a:tab pos="457200" algn="l"/>
              </a:tabLst>
            </a:pPr>
            <a:r>
              <a:rPr lang="en-US" sz="1200" dirty="0">
                <a:latin typeface="Corbel" panose="020B0503020204020204" pitchFamily="34" charset="0"/>
                <a:ea typeface="Roboto" panose="02000000000000000000" pitchFamily="2" charset="0"/>
                <a:cs typeface="Roboto" panose="02000000000000000000" pitchFamily="2" charset="0"/>
              </a:rPr>
              <a:t>Company not mapped? - Send a bulletin if products have applications in the industries we cover.</a:t>
            </a:r>
          </a:p>
          <a:p>
            <a:pPr marL="285750" lvl="0" indent="-285750">
              <a:lnSpc>
                <a:spcPct val="150000"/>
              </a:lnSpc>
              <a:spcAft>
                <a:spcPts val="800"/>
              </a:spcAft>
              <a:buFont typeface="Arial" panose="020B0604020202020204" pitchFamily="34" charset="0"/>
              <a:buChar char="•"/>
              <a:tabLst>
                <a:tab pos="457200" algn="l"/>
              </a:tabLst>
            </a:pPr>
            <a:r>
              <a:rPr lang="en-US" sz="1200" dirty="0">
                <a:latin typeface="Corbel" panose="020B0503020204020204" pitchFamily="34" charset="0"/>
                <a:ea typeface="Roboto" panose="02000000000000000000" pitchFamily="2" charset="0"/>
                <a:cs typeface="Roboto" panose="02000000000000000000" pitchFamily="2" charset="0"/>
              </a:rPr>
              <a:t>If the service sector is involved - Check if their services have applications in our vertical: logistics provider | cargo shipping| petrochemicals | specialty chemicals provider | IT company | utility provider| farming company</a:t>
            </a:r>
            <a:endParaRPr lang="en-IN" sz="1200" dirty="0">
              <a:latin typeface="Corbel" panose="020B0503020204020204" pitchFamily="34" charset="0"/>
              <a:ea typeface="Roboto" panose="02000000000000000000" pitchFamily="2" charset="0"/>
              <a:cs typeface="Roboto" panose="02000000000000000000" pitchFamily="2" charset="0"/>
            </a:endParaRPr>
          </a:p>
          <a:p>
            <a:pPr marL="285750" lvl="0" indent="-285750">
              <a:lnSpc>
                <a:spcPct val="150000"/>
              </a:lnSpc>
              <a:spcAft>
                <a:spcPts val="800"/>
              </a:spcAft>
              <a:buFont typeface="Arial" panose="020B0604020202020204" pitchFamily="34" charset="0"/>
              <a:buChar char="•"/>
              <a:tabLst>
                <a:tab pos="457200" algn="l"/>
              </a:tabLst>
            </a:pPr>
            <a:r>
              <a:rPr lang="en-US" sz="1200" dirty="0">
                <a:latin typeface="Corbel" panose="020B0503020204020204" pitchFamily="34" charset="0"/>
                <a:ea typeface="Roboto" panose="02000000000000000000" pitchFamily="2" charset="0"/>
                <a:cs typeface="Roboto" panose="02000000000000000000" pitchFamily="2" charset="0"/>
              </a:rPr>
              <a:t>Send updates on completion news</a:t>
            </a:r>
            <a:endParaRPr lang="en-IN" sz="1200"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99330" y="347673"/>
            <a:ext cx="5264887" cy="2800767"/>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200">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Send impact when the deal is announced. </a:t>
            </a:r>
          </a:p>
          <a:p>
            <a:pPr marL="285750" indent="-2857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Send to all involved companies. </a:t>
            </a:r>
          </a:p>
          <a:p>
            <a:pPr marL="285750" indent="-2857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If a partner is selling a specific division only - Send impact to just that division/country/site</a:t>
            </a:r>
          </a:p>
          <a:p>
            <a:pPr marL="285750" indent="-2857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Cannot identify business divisions- Send impact to all sites. Don't Send supplier impact requests</a:t>
            </a:r>
          </a:p>
          <a:p>
            <a:endParaRPr lang="en-US" sz="1400" b="1" u="sng">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4"/>
            <a:ext cx="4225740" cy="606742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43504" y="4390035"/>
            <a:ext cx="5420713" cy="185829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3" name="Table 2">
            <a:extLst>
              <a:ext uri="{FF2B5EF4-FFF2-40B4-BE49-F238E27FC236}">
                <a16:creationId xmlns:a16="http://schemas.microsoft.com/office/drawing/2014/main" id="{A5B6E016-DC80-F200-D03D-BE09D412FECC}"/>
              </a:ext>
            </a:extLst>
          </p:cNvPr>
          <p:cNvGraphicFramePr>
            <a:graphicFrameLocks noGrp="1"/>
          </p:cNvGraphicFramePr>
          <p:nvPr>
            <p:extLst>
              <p:ext uri="{D42A27DB-BD31-4B8C-83A1-F6EECF244321}">
                <p14:modId xmlns:p14="http://schemas.microsoft.com/office/powerpoint/2010/main" val="3646865731"/>
              </p:ext>
            </p:extLst>
          </p:nvPr>
        </p:nvGraphicFramePr>
        <p:xfrm>
          <a:off x="10168605" y="16832"/>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9" name="Rectangle: Rounded Corners 8">
            <a:hlinkClick r:id="rId46" action="ppaction://hlinksldjump"/>
            <a:extLst>
              <a:ext uri="{FF2B5EF4-FFF2-40B4-BE49-F238E27FC236}">
                <a16:creationId xmlns:a16="http://schemas.microsoft.com/office/drawing/2014/main" id="{6FDAC126-F10C-4CE0-D9B3-41639DD30399}"/>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43256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51456" y="16077"/>
            <a:ext cx="1993803" cy="6826684"/>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5148"/>
            <a:endParaRPr lang="en-IN" sz="1195" dirty="0">
              <a:solidFill>
                <a:prstClr val="black"/>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22373" y="195342"/>
            <a:ext cx="4868828" cy="374055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5148"/>
            <a:endParaRPr lang="en-IN" sz="1195" dirty="0">
              <a:solidFill>
                <a:prstClr val="black"/>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06030" y="4086845"/>
            <a:ext cx="4641733" cy="2581861"/>
          </a:xfrm>
          <a:prstGeom prst="rect">
            <a:avLst/>
          </a:prstGeom>
          <a:noFill/>
        </p:spPr>
        <p:txBody>
          <a:bodyPr wrap="square" rtlCol="0">
            <a:spAutoFit/>
          </a:bodyPr>
          <a:lstStyle/>
          <a:p>
            <a:pPr defTabSz="455148"/>
            <a:r>
              <a:rPr lang="en-IN" sz="1394" b="1" u="sng" dirty="0">
                <a:solidFill>
                  <a:prstClr val="black"/>
                </a:solidFill>
                <a:latin typeface="Corbel" panose="020B0503020204020204" pitchFamily="34" charset="0"/>
              </a:rPr>
              <a:t>Sub-Types</a:t>
            </a:r>
          </a:p>
          <a:p>
            <a:pPr defTabSz="455148"/>
            <a:endParaRPr lang="en-IN" sz="1394" b="1" u="sng" dirty="0">
              <a:solidFill>
                <a:prstClr val="black"/>
              </a:solidFill>
              <a:latin typeface="Corbel" panose="020B0503020204020204" pitchFamily="34" charset="0"/>
              <a:ea typeface="Roboto" panose="02000000000000000000" pitchFamily="2" charset="0"/>
              <a:cs typeface="Roboto" panose="02000000000000000000" pitchFamily="2" charset="0"/>
            </a:endParaRPr>
          </a:p>
          <a:p>
            <a:pPr defTabSz="455148">
              <a:lnSpc>
                <a:spcPct val="150000"/>
              </a:lnSpc>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Notify under Bribery / Corruption</a:t>
            </a:r>
          </a:p>
          <a:p>
            <a:pPr marL="243825" indent="-243825" defTabSz="455148">
              <a:lnSpc>
                <a:spcPct val="150000"/>
              </a:lnSpc>
              <a:buFontTx/>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Site and supplier level events</a:t>
            </a:r>
          </a:p>
          <a:p>
            <a:pPr marL="243825" indent="-243825" defTabSz="455148">
              <a:lnSpc>
                <a:spcPct val="150000"/>
              </a:lnSpc>
              <a:buFontTx/>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Leadership involved / arrested</a:t>
            </a:r>
          </a:p>
          <a:p>
            <a:pPr marL="243825" indent="-243825" defTabSz="455148">
              <a:lnSpc>
                <a:spcPct val="150000"/>
              </a:lnSpc>
              <a:buFontTx/>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Poor practices</a:t>
            </a:r>
          </a:p>
          <a:p>
            <a:pPr marL="243825" indent="-243825" defTabSz="455148">
              <a:lnSpc>
                <a:spcPct val="150000"/>
              </a:lnSpc>
              <a:buFontTx/>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Credit rating / brand impact </a:t>
            </a:r>
          </a:p>
          <a:p>
            <a:pPr marL="243825" indent="-243825" defTabSz="455148">
              <a:lnSpc>
                <a:spcPct val="150000"/>
              </a:lnSpc>
              <a:buFontTx/>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City and state level </a:t>
            </a:r>
          </a:p>
          <a:p>
            <a:pPr defTabSz="455148"/>
            <a:endParaRPr lang="en-IN" sz="1394" b="1" u="sng" dirty="0">
              <a:solidFill>
                <a:prstClr val="black">
                  <a:lumMod val="85000"/>
                  <a:lumOff val="15000"/>
                </a:prstClr>
              </a:solidFill>
              <a:latin typeface="Corbel" panose="020B0503020204020204" pitchFamily="34" charset="0"/>
            </a:endParaRPr>
          </a:p>
          <a:p>
            <a:pPr defTabSz="455148"/>
            <a:endParaRPr lang="en-IN" sz="1195" b="1" u="sng" dirty="0">
              <a:solidFill>
                <a:prstClr val="black"/>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17752" y="362123"/>
            <a:ext cx="4570271" cy="459998"/>
          </a:xfrm>
          <a:prstGeom prst="rect">
            <a:avLst/>
          </a:prstGeom>
          <a:noFill/>
        </p:spPr>
        <p:txBody>
          <a:bodyPr wrap="square" rtlCol="0">
            <a:spAutoFit/>
          </a:bodyPr>
          <a:lstStyle/>
          <a:p>
            <a:pPr defTabSz="455148"/>
            <a:r>
              <a:rPr lang="en-IN" sz="2389" b="1" dirty="0">
                <a:solidFill>
                  <a:srgbClr val="0070C0"/>
                </a:solidFill>
                <a:latin typeface="Corbel" panose="020B0503020204020204" pitchFamily="34" charset="0"/>
              </a:rPr>
              <a:t>BRIBERY / CORRUPTION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69463" y="987355"/>
            <a:ext cx="4570271" cy="4904291"/>
          </a:xfrm>
          <a:prstGeom prst="rect">
            <a:avLst/>
          </a:prstGeom>
          <a:noFill/>
        </p:spPr>
        <p:txBody>
          <a:bodyPr wrap="square" rtlCol="0">
            <a:spAutoFit/>
          </a:bodyPr>
          <a:lstStyle/>
          <a:p>
            <a:pPr defTabSz="455148"/>
            <a:r>
              <a:rPr lang="en-IN" sz="1394" b="1" u="sng" dirty="0">
                <a:solidFill>
                  <a:prstClr val="black">
                    <a:lumMod val="85000"/>
                    <a:lumOff val="15000"/>
                  </a:prstClr>
                </a:solidFill>
                <a:latin typeface="Corbel" panose="020B0503020204020204" pitchFamily="34" charset="0"/>
                <a:cs typeface="Calibri" panose="020F0502020204030204" pitchFamily="34" charset="0"/>
              </a:rPr>
              <a:t>Reporting Guidelines</a:t>
            </a:r>
          </a:p>
          <a:p>
            <a:pPr algn="just" defTabSz="455148"/>
            <a:endParaRPr lang="en-IN" sz="1394" b="1" u="sng" dirty="0">
              <a:solidFill>
                <a:prstClr val="black"/>
              </a:solidFill>
              <a:latin typeface="Corbel" panose="020B0503020204020204" pitchFamily="34" charset="0"/>
              <a:cs typeface="Calibri" panose="020F0502020204030204" pitchFamily="34" charset="0"/>
            </a:endParaRPr>
          </a:p>
          <a:p>
            <a:pPr algn="just" defTabSz="455148"/>
            <a:r>
              <a:rPr lang="en-US" sz="1200" dirty="0">
                <a:solidFill>
                  <a:prstClr val="black"/>
                </a:solidFill>
                <a:latin typeface="Corbel" panose="020B0503020204020204" pitchFamily="34" charset="0"/>
                <a:ea typeface="Roboto" panose="02000000000000000000" pitchFamily="2" charset="0"/>
                <a:cs typeface="Roboto" panose="02000000000000000000" pitchFamily="2" charset="0"/>
              </a:rPr>
              <a:t>Under EventWatch, Resilinc monitors situations where:</a:t>
            </a:r>
          </a:p>
          <a:p>
            <a:pPr algn="just" defTabSz="455148"/>
            <a:endParaRPr lang="en-US" sz="1394"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A supplier has been found guilty of corruption or bribery </a:t>
            </a:r>
          </a:p>
          <a:p>
            <a:pPr marL="284468" indent="-284468" algn="just" defTabSz="455148">
              <a:lnSpc>
                <a:spcPct val="150000"/>
              </a:lnSpc>
              <a:buFont typeface="Arial" panose="020B0604020202020204" pitchFamily="34" charset="0"/>
              <a:buChar char="•"/>
            </a:pPr>
            <a:endParaRPr lang="en-US" sz="1195"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A leader of a supplier company is involved in a scandal</a:t>
            </a:r>
          </a:p>
          <a:p>
            <a:pPr marL="284468" indent="-284468" algn="just" defTabSz="455148">
              <a:lnSpc>
                <a:spcPct val="150000"/>
              </a:lnSpc>
              <a:buFont typeface="Arial" panose="020B0604020202020204" pitchFamily="34" charset="0"/>
              <a:buChar char="•"/>
            </a:pPr>
            <a:endParaRPr lang="en-US" sz="1195"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General inspections and investigations where relevant companies are involved </a:t>
            </a:r>
          </a:p>
          <a:p>
            <a:pPr marL="284468" indent="-284468" algn="just" defTabSz="455148">
              <a:lnSpc>
                <a:spcPct val="150000"/>
              </a:lnSpc>
              <a:buFont typeface="Arial" panose="020B0604020202020204" pitchFamily="34" charset="0"/>
              <a:buChar char="•"/>
            </a:pPr>
            <a:endParaRPr lang="en-US" sz="1195"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Signs of poor practices / potential brand impact </a:t>
            </a:r>
          </a:p>
          <a:p>
            <a:pPr marL="284468" indent="-284468" algn="just" defTabSz="455148">
              <a:lnSpc>
                <a:spcPct val="150000"/>
              </a:lnSpc>
              <a:buFont typeface="Arial" panose="020B0604020202020204" pitchFamily="34" charset="0"/>
              <a:buChar char="•"/>
            </a:pPr>
            <a:endParaRPr lang="en-US" sz="1195"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Credit rating fluctuates due to corruption scandals </a:t>
            </a:r>
          </a:p>
          <a:p>
            <a:pPr marL="284468" indent="-284468" algn="just" defTabSz="455148">
              <a:lnSpc>
                <a:spcPct val="150000"/>
              </a:lnSpc>
              <a:buFont typeface="Arial" panose="020B0604020202020204" pitchFamily="34" charset="0"/>
              <a:buChar char="•"/>
            </a:pPr>
            <a:endParaRPr lang="en-US" sz="1195"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lnSpc>
                <a:spcPct val="150000"/>
              </a:lnSpc>
              <a:buFont typeface="Arial" panose="020B0604020202020204" pitchFamily="34" charset="0"/>
              <a:buChar char="•"/>
            </a:pPr>
            <a:r>
              <a:rPr lang="en-US" sz="1195" dirty="0">
                <a:solidFill>
                  <a:prstClr val="black"/>
                </a:solidFill>
                <a:latin typeface="Corbel" panose="020B0503020204020204" pitchFamily="34" charset="0"/>
                <a:ea typeface="Roboto" panose="02000000000000000000" pitchFamily="2" charset="0"/>
                <a:cs typeface="Roboto" panose="02000000000000000000" pitchFamily="2" charset="0"/>
              </a:rPr>
              <a:t>We also notify state and country level scandals that can potentially impact manufacturing and supply chain </a:t>
            </a:r>
          </a:p>
          <a:p>
            <a:pPr marL="284468" indent="-284468" algn="just" defTabSz="455148">
              <a:buFont typeface="Arial" panose="020B0604020202020204" pitchFamily="34" charset="0"/>
              <a:buChar char="•"/>
            </a:pPr>
            <a:endParaRPr lang="en-US" sz="1195" b="1" u="sng" dirty="0">
              <a:solidFill>
                <a:prstClr val="black"/>
              </a:solidFill>
              <a:latin typeface="Corbel" panose="020B0503020204020204" pitchFamily="34" charset="0"/>
              <a:ea typeface="Roboto" panose="02000000000000000000" pitchFamily="2" charset="0"/>
              <a:cs typeface="Roboto" panose="02000000000000000000" pitchFamily="2" charset="0"/>
            </a:endParaRPr>
          </a:p>
          <a:p>
            <a:pPr marL="284468" indent="-284468" algn="just" defTabSz="455148">
              <a:buFont typeface="Arial" panose="020B0604020202020204" pitchFamily="34" charset="0"/>
              <a:buChar char="•"/>
            </a:pPr>
            <a:endParaRPr lang="en-US" sz="1195" b="1" u="sng" dirty="0">
              <a:solidFill>
                <a:prstClr val="black"/>
              </a:solidFill>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42974" y="276618"/>
            <a:ext cx="4845499" cy="3496726"/>
          </a:xfrm>
          <a:prstGeom prst="rect">
            <a:avLst/>
          </a:prstGeom>
          <a:noFill/>
        </p:spPr>
        <p:txBody>
          <a:bodyPr wrap="square" rtlCol="0">
            <a:spAutoFit/>
          </a:bodyPr>
          <a:lstStyle/>
          <a:p>
            <a:pPr defTabSz="455148"/>
            <a:r>
              <a:rPr lang="en-US" sz="1394" b="1" u="sng">
                <a:solidFill>
                  <a:prstClr val="black"/>
                </a:solidFill>
                <a:latin typeface="Corbel" panose="020B0503020204020204" pitchFamily="34" charset="0"/>
                <a:cs typeface="Calibri" panose="020F0502020204030204" pitchFamily="34" charset="0"/>
              </a:rPr>
              <a:t>WarRoom Guidelines</a:t>
            </a:r>
          </a:p>
          <a:p>
            <a:pPr defTabSz="455148"/>
            <a:endParaRPr lang="en-US" sz="1394" b="1" u="sng">
              <a:solidFill>
                <a:prstClr val="black"/>
              </a:solidFill>
              <a:latin typeface="Corbel" panose="020B0503020204020204" pitchFamily="34" charset="0"/>
              <a:ea typeface="Roboto" panose="02000000000000000000" pitchFamily="2" charset="0"/>
              <a:cs typeface="Roboto" panose="02000000000000000000" pitchFamily="2" charset="0"/>
            </a:endParaRPr>
          </a:p>
          <a:p>
            <a:pPr marL="171450" indent="-171450" defTabSz="455148">
              <a:lnSpc>
                <a:spcPct val="150000"/>
              </a:lnSpc>
              <a:buFont typeface="Arial" panose="020B0604020202020204" pitchFamily="34" charset="0"/>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Send impact when Partner(s) involved</a:t>
            </a:r>
          </a:p>
          <a:p>
            <a:pPr marL="171450" indent="-171450" defTabSz="455148">
              <a:lnSpc>
                <a:spcPct val="150000"/>
              </a:lnSpc>
              <a:buFont typeface="Arial" panose="020B0604020202020204" pitchFamily="34" charset="0"/>
              <a:buChar char="•"/>
            </a:pPr>
            <a:r>
              <a:rPr lang="en-US" sz="1200" dirty="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t>Partner confirms impact in public domain</a:t>
            </a:r>
            <a:br>
              <a:rPr lang="en-US" sz="1200">
                <a:solidFill>
                  <a:prstClr val="black">
                    <a:lumMod val="85000"/>
                    <a:lumOff val="15000"/>
                  </a:prstClr>
                </a:solidFill>
                <a:latin typeface="Corbel" panose="020B0503020204020204" pitchFamily="34" charset="0"/>
                <a:ea typeface="Roboto" panose="02000000000000000000" pitchFamily="2" charset="0"/>
                <a:cs typeface="Roboto" panose="02000000000000000000" pitchFamily="2" charset="0"/>
              </a:rPr>
            </a:br>
            <a:r>
              <a:rPr lang="en-US" sz="1195" dirty="0">
                <a:solidFill>
                  <a:prstClr val="black">
                    <a:lumMod val="85000"/>
                    <a:lumOff val="15000"/>
                  </a:prstClr>
                </a:solidFill>
                <a:latin typeface="Corbel" panose="020B0503020204020204" pitchFamily="34" charset="0"/>
              </a:rPr>
              <a:t>  </a:t>
            </a: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endParaRPr lang="en-US" sz="1195" dirty="0">
              <a:solidFill>
                <a:prstClr val="black">
                  <a:lumMod val="85000"/>
                  <a:lumOff val="15000"/>
                </a:prstClr>
              </a:solidFill>
              <a:latin typeface="Corbel" panose="020B0503020204020204" pitchFamily="34" charset="0"/>
            </a:endParaRPr>
          </a:p>
          <a:p>
            <a:pPr defTabSz="455148"/>
            <a:br>
              <a:rPr lang="en-US" sz="1394" dirty="0">
                <a:solidFill>
                  <a:prstClr val="black">
                    <a:lumMod val="85000"/>
                    <a:lumOff val="15000"/>
                  </a:prstClr>
                </a:solidFill>
                <a:latin typeface="Corbel" panose="020B0503020204020204" pitchFamily="34" charset="0"/>
              </a:rPr>
            </a:br>
            <a:r>
              <a:rPr lang="en-US" sz="1394" dirty="0">
                <a:solidFill>
                  <a:prstClr val="black">
                    <a:lumMod val="85000"/>
                    <a:lumOff val="15000"/>
                  </a:prstClr>
                </a:solidFill>
                <a:latin typeface="Corbel" panose="020B0503020204020204" pitchFamily="34" charset="0"/>
              </a:rPr>
              <a:t> </a:t>
            </a:r>
            <a:endParaRPr lang="en-US" sz="1394" b="1" u="sng">
              <a:solidFill>
                <a:prstClr val="black">
                  <a:lumMod val="85000"/>
                  <a:lumOff val="15000"/>
                </a:prstClr>
              </a:solidFill>
              <a:latin typeface="Corbel" panose="020B0503020204020204" pitchFamily="34" charset="0"/>
              <a:cs typeface="Calibri" panose="020F0502020204030204" pitchFamily="34" charset="0"/>
            </a:endParaRPr>
          </a:p>
          <a:p>
            <a:pPr defTabSz="455148"/>
            <a:r>
              <a:rPr lang="en-US" sz="1394" b="1" u="sng">
                <a:solidFill>
                  <a:prstClr val="black">
                    <a:lumMod val="85000"/>
                    <a:lumOff val="15000"/>
                  </a:prstClr>
                </a:solidFill>
                <a:latin typeface="Corbel" panose="020B0503020204020204" pitchFamily="34" charset="0"/>
                <a:cs typeface="Calibri" panose="020F0502020204030204" pitchFamily="34" charset="0"/>
              </a:rPr>
              <a:t>Send Supplier Impact Confirmation? -</a:t>
            </a:r>
            <a:r>
              <a:rPr lang="en-US" sz="1394" b="1">
                <a:solidFill>
                  <a:prstClr val="black">
                    <a:lumMod val="85000"/>
                    <a:lumOff val="15000"/>
                  </a:prstClr>
                </a:solidFill>
                <a:latin typeface="Corbel" panose="020B0503020204020204" pitchFamily="34" charset="0"/>
                <a:cs typeface="Calibri" panose="020F0502020204030204" pitchFamily="34" charset="0"/>
              </a:rPr>
              <a:t> YES (not for LOW severity; MEDIUM, HIGH, SEVERE only)</a:t>
            </a:r>
            <a:endParaRPr lang="en-IN" sz="1394" b="1" dirty="0">
              <a:solidFill>
                <a:prstClr val="black">
                  <a:lumMod val="85000"/>
                  <a:lumOff val="15000"/>
                </a:prst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55003" y="195339"/>
            <a:ext cx="4791282" cy="639713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5148"/>
            <a:endParaRPr lang="en-IN" sz="1195" dirty="0">
              <a:solidFill>
                <a:prstClr val="black"/>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8814" y="4086845"/>
            <a:ext cx="4868828" cy="257581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5148"/>
            <a:endParaRPr lang="en-IN" sz="1195" dirty="0">
              <a:solidFill>
                <a:prstClr val="black"/>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10258" y="15240"/>
            <a:ext cx="54928" cy="68026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5148"/>
            <a:endParaRPr lang="en-US" sz="1195">
              <a:solidFill>
                <a:prstClr val="white"/>
              </a:solidFill>
              <a:latin typeface="Corbel" panose="020B0503020204020204" pitchFamily="34" charset="0"/>
            </a:endParaRPr>
          </a:p>
        </p:txBody>
      </p:sp>
      <p:graphicFrame>
        <p:nvGraphicFramePr>
          <p:cNvPr id="4" name="Table 3">
            <a:extLst>
              <a:ext uri="{FF2B5EF4-FFF2-40B4-BE49-F238E27FC236}">
                <a16:creationId xmlns:a16="http://schemas.microsoft.com/office/drawing/2014/main" id="{6FA24ADB-A7CD-31F8-5036-BD63AAB0D677}"/>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78D8374C-220D-76C6-F1F9-58B000B7D215}"/>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947554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6"/>
            <a:ext cx="5465086" cy="397909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695912" y="4393806"/>
            <a:ext cx="5084191" cy="2009140"/>
          </a:xfrm>
          <a:prstGeom prst="rect">
            <a:avLst/>
          </a:prstGeom>
          <a:noFill/>
        </p:spPr>
        <p:txBody>
          <a:bodyPr wrap="square" rtlCol="0">
            <a:spAutoFit/>
          </a:bodyPr>
          <a:lstStyle/>
          <a:p>
            <a:r>
              <a:rPr lang="en-IN" sz="1400" b="1" u="sng" dirty="0">
                <a:latin typeface="Corbel" panose="020B0503020204020204" pitchFamily="34" charset="0"/>
              </a:rPr>
              <a:t>Sub-Types</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Toxic Leaks/fumes, Hazardous Spill</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Health Warnings/Advisories/Stay indoors</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Plant closure/evacuation alerts in the area</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Water/River Contamination </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Site and Regional contamination </a:t>
            </a:r>
          </a:p>
          <a:p>
            <a:pPr marL="285750" lvl="0" indent="-285750">
              <a:lnSpc>
                <a:spcPct val="107000"/>
              </a:lnSpc>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Spills at manufacturing/services/transportation/ energy/cargo hubs</a:t>
            </a:r>
          </a:p>
          <a:p>
            <a:pPr marL="285750" lvl="0" indent="-285750">
              <a:lnSpc>
                <a:spcPct val="107000"/>
              </a:lnSpc>
              <a:spcAft>
                <a:spcPts val="800"/>
              </a:spcAft>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Leaks due to train derailments or road accidents</a:t>
            </a:r>
          </a:p>
          <a:p>
            <a:pPr marL="285750" indent="-285750">
              <a:buFont typeface="Arial" panose="020B0604020202020204" pitchFamily="34" charset="0"/>
              <a:buChar char="•"/>
            </a:pPr>
            <a:endParaRPr lang="en-IN" sz="1400" b="1" u="sng" dirty="0">
              <a:solidFill>
                <a:schemeClr val="tx1">
                  <a:lumMod val="85000"/>
                  <a:lumOff val="15000"/>
                </a:schemeClr>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82139" y="301601"/>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CHEMICAL SPILL</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75990" y="836013"/>
            <a:ext cx="3967385" cy="4893647"/>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We notify spills and leaks as soon as the news is made public.</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Notify even if no sites are mapped. Check the industrial importance of the region, product and services affected</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Report chemical spills at an industrial unit, warehouse, port, airport, industrial park, mines, logistic hubs, train track, medical labs, and highway</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Spills and leaks can cause plant/ region evacuations, road closures, temporary plant shutdowns, environmental hazards, investigations, product scarcity, and more</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updates if the situation escalates</a:t>
            </a:r>
          </a:p>
          <a:p>
            <a:endParaRPr lang="en-IN" sz="1400" b="1" u="sng" dirty="0">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95913" y="369465"/>
            <a:ext cx="5266066" cy="3667351"/>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r>
              <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We create a WarRoom, when:</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 spill is at the mapped site. Send impact to the affected site.</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 spill at a mapped/non-mapped site with reports of external disruptions. Send impact for all sites in the affected region</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 spill affects a region and causes disruption.</a:t>
            </a:r>
          </a:p>
          <a:p>
            <a:pPr marL="285750" indent="-2857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cs typeface="Calibri" panose="020F0502020204030204" pitchFamily="34" charset="0"/>
            </a:endParaRPr>
          </a:p>
          <a:p>
            <a:pPr>
              <a:lnSpc>
                <a:spcPct val="107000"/>
              </a:lnSpc>
              <a:spcAft>
                <a:spcPts val="800"/>
              </a:spcAft>
            </a:pPr>
            <a:r>
              <a:rPr lang="en-US" sz="1400" b="1" u="sng">
                <a:latin typeface="Corbel" panose="020B0503020204020204" pitchFamily="34" charset="0"/>
              </a:rPr>
              <a:t>Radius Guidelines</a:t>
            </a:r>
          </a:p>
          <a:p>
            <a:pPr marL="285750" lvl="0" indent="-285750">
              <a:lnSpc>
                <a:spcPct val="150000"/>
              </a:lnSpc>
              <a:buFont typeface="Arial" panose="020B0604020202020204" pitchFamily="34" charset="0"/>
              <a:buChar char="•"/>
            </a:pPr>
            <a:r>
              <a:rPr lang="en-US" sz="1200">
                <a:latin typeface="Corbel" panose="020B0503020204020204" pitchFamily="34" charset="0"/>
                <a:ea typeface="Roboto" panose="02000000000000000000" pitchFamily="2" charset="0"/>
                <a:cs typeface="Roboto" panose="02000000000000000000" pitchFamily="2" charset="0"/>
              </a:rPr>
              <a:t>Create a 1-KM radius around the affected site if external disruptions reported</a:t>
            </a:r>
          </a:p>
          <a:p>
            <a:pPr marL="285750" lvl="0" indent="-285750">
              <a:lnSpc>
                <a:spcPct val="150000"/>
              </a:lnSpc>
              <a:spcAft>
                <a:spcPts val="800"/>
              </a:spcAft>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articles mention an evacuation radius, go by that</a:t>
            </a:r>
            <a:endParaRPr lang="en-US" sz="1200" dirty="0">
              <a:latin typeface="Corbel" panose="020B0503020204020204" pitchFamily="34" charset="0"/>
              <a:ea typeface="Roboto" panose="02000000000000000000" pitchFamily="2" charset="0"/>
              <a:cs typeface="Roboto" panose="02000000000000000000" pitchFamily="2"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5"/>
            <a:ext cx="4225740" cy="649618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21317" y="4317277"/>
            <a:ext cx="5440662" cy="235981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15" name="Table 14">
            <a:extLst>
              <a:ext uri="{FF2B5EF4-FFF2-40B4-BE49-F238E27FC236}">
                <a16:creationId xmlns:a16="http://schemas.microsoft.com/office/drawing/2014/main" id="{84D58AAE-6CBD-751F-F830-8D174D909A9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EA98934A-6BAB-C711-FDFB-70CBA6D652B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03043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707993" y="180906"/>
            <a:ext cx="5300597" cy="374173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862802" y="4296976"/>
            <a:ext cx="4890797" cy="2339102"/>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Splitting company business/ unit  </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Splitting and selling assets </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Splitting Joint venture/ De-merging</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Asset split/Brand </a:t>
            </a:r>
            <a:r>
              <a:rPr lang="en-US" sz="1200" dirty="0">
                <a:latin typeface="Corbel" panose="020B0503020204020204" pitchFamily="34" charset="0"/>
                <a:ea typeface="Roboto" panose="02000000000000000000" pitchFamily="2" charset="0"/>
                <a:cs typeface="Roboto" panose="02000000000000000000" pitchFamily="2" charset="0"/>
              </a:rPr>
              <a:t>Split </a:t>
            </a:r>
          </a:p>
          <a:p>
            <a:pPr marL="285750" indent="-2857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r>
              <a:rPr lang="en-US" sz="1200" dirty="0">
                <a:latin typeface="Corbel" panose="020B0503020204020204" pitchFamily="34" charset="0"/>
                <a:ea typeface="Roboto" panose="02000000000000000000" pitchFamily="2" charset="0"/>
                <a:cs typeface="Roboto" panose="02000000000000000000" pitchFamily="2" charset="0"/>
              </a:rPr>
              <a:t>A Company may conduct a division split to </a:t>
            </a:r>
            <a:endParaRPr lang="en-IN"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Improve profit margins</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Lower management costs</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Focus on new markets/regions</a:t>
            </a:r>
          </a:p>
          <a:p>
            <a:pPr marL="285750" indent="-2857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Splits reduce companies’ capital costs</a:t>
            </a:r>
          </a:p>
          <a:p>
            <a:pPr marL="285750" indent="-285750">
              <a:buFont typeface="Arial" panose="020B0604020202020204" pitchFamily="34" charset="0"/>
              <a:buChar char="•"/>
            </a:pPr>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55370" y="353823"/>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COMPANY SPLIT</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35496" y="838178"/>
            <a:ext cx="4317876" cy="492660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as soon as it is announced (signs/talks/plans)</a:t>
            </a:r>
          </a:p>
          <a:p>
            <a:pPr>
              <a:lnSpc>
                <a:spcPct val="150000"/>
              </a:lnSpc>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For a mapped company- Send an impact with the initial bulletin. </a:t>
            </a:r>
          </a:p>
          <a:p>
            <a:pPr>
              <a:lnSpc>
                <a:spcPct val="150000"/>
              </a:lnSpc>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If the company is not mapped - Send a bulletin if products have applications in the industries, we cover. Possible sub-tier or Tier 1 yet to be mapped (decide based on product line)</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Services sector- Check if serving into the verticals we cover</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Steel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strong product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application or a partner is involved)</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Mining company (only if a partner is involved)</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C</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rude (only if a partner is involved)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862802" y="312836"/>
            <a:ext cx="4810269" cy="3416320"/>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pPr>
              <a:lnSpc>
                <a:spcPct val="150000"/>
              </a:lnSpc>
            </a:pPr>
            <a:r>
              <a:rPr lang="en-US" sz="1200">
                <a:latin typeface="Corbel" panose="020B0503020204020204" pitchFamily="34" charset="0"/>
                <a:ea typeface="Roboto" panose="02000000000000000000" pitchFamily="2" charset="0"/>
                <a:cs typeface="Roboto" panose="02000000000000000000" pitchFamily="2" charset="0"/>
              </a:rPr>
              <a:t>We create a WarRoom, when:</a:t>
            </a:r>
          </a:p>
          <a:p>
            <a:pPr>
              <a:lnSpc>
                <a:spcPct val="150000"/>
              </a:lnSpc>
            </a:pPr>
            <a:endParaRPr lang="en-US" sz="120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 partner is involved in the split</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Specific segment of business involved. Send impact to just that segment</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Cannot identify business segments involved? Send impact to all sites</a:t>
            </a:r>
            <a:br>
              <a:rPr lang="en-US" sz="1200" b="0" i="0" u="none" strike="noStrike">
                <a:effectLst/>
                <a:latin typeface="Corbel" panose="020B0503020204020204" pitchFamily="34" charset="0"/>
                <a:ea typeface="Roboto" panose="02000000000000000000" pitchFamily="2" charset="0"/>
                <a:cs typeface="Roboto" panose="02000000000000000000" pitchFamily="2" charset="0"/>
              </a:rPr>
            </a:br>
            <a:endParaRPr lang="en-US" sz="1200" dirty="0">
              <a:latin typeface="Corbel" panose="020B0503020204020204" pitchFamily="34" charset="0"/>
              <a:cs typeface="Calibri" panose="020F0502020204030204" pitchFamily="34" charset="0"/>
            </a:endParaRPr>
          </a:p>
          <a:p>
            <a:pPr lvl="1"/>
            <a:endParaRPr lang="en-US" sz="1200" dirty="0">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427007" cy="645517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707993" y="4189328"/>
            <a:ext cx="5256839" cy="244674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15" name="Table 14">
            <a:extLst>
              <a:ext uri="{FF2B5EF4-FFF2-40B4-BE49-F238E27FC236}">
                <a16:creationId xmlns:a16="http://schemas.microsoft.com/office/drawing/2014/main" id="{EB4DC7FF-976B-BBE8-EB3B-0B07CF517E7A}"/>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1310ED0E-B3B9-5C81-D7F6-A3611A8D9C4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69430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756901" y="39033"/>
            <a:ext cx="5251690" cy="361856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952014" y="4068688"/>
            <a:ext cx="3925309" cy="2185214"/>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Faulty, </a:t>
            </a: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Contaminated or Vulnerable </a:t>
            </a: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products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Packaging, Labelling issues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Counterfeit products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Bans/citations </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Regulatory actions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Worthiness alerts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Recalls due to compliance</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Faulty components / poor quality ingredients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21719" y="159234"/>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COMPLIANCE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65947" y="705246"/>
            <a:ext cx="4225739" cy="5201424"/>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Like FDA/EMA/OSHA, we notify </a:t>
            </a:r>
            <a:r>
              <a:rPr lang="en-US" sz="1200" dirty="0">
                <a:latin typeface="Corbel" panose="020B0503020204020204" pitchFamily="34" charset="0"/>
                <a:ea typeface="Roboto" panose="02000000000000000000" pitchFamily="2" charset="0"/>
                <a:cs typeface="Roboto" panose="02000000000000000000" pitchFamily="2" charset="0"/>
              </a:rPr>
              <a:t>all kinds of </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warnings/citations/safety &amp; compliance changes issued for products with applications in our verticals. </a:t>
            </a: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There are several regulatory bodies that regulate and certify products.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regulation changes, product worthiness issued, compliance citations issued, or poor-quality issues are reported.</a:t>
            </a: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changes to local and international regulatory compliance/risks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the manufacturer of the affected product(s) is mapped, notify with impact. If not mapped, notify based on product applications</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833798" y="316304"/>
            <a:ext cx="5263821" cy="3477875"/>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mapped sites/company is flagged, we notify customers with the impact attached</a:t>
            </a: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74887"/>
            <a:ext cx="4453513" cy="629940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756901" y="3915528"/>
            <a:ext cx="5251690" cy="245876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15" name="Table 14">
            <a:extLst>
              <a:ext uri="{FF2B5EF4-FFF2-40B4-BE49-F238E27FC236}">
                <a16:creationId xmlns:a16="http://schemas.microsoft.com/office/drawing/2014/main" id="{460CFDBA-B860-091A-77DD-70DC973C523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68F68412-85A9-30BE-C434-6C3814E23626}"/>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708613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633969" y="180906"/>
            <a:ext cx="5374621" cy="35694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765796" y="4151900"/>
            <a:ext cx="3925309" cy="2000548"/>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200" b="1" u="sng" dirty="0">
              <a:latin typeface="Corbel" panose="020B0503020204020204" pitchFamily="34"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Organizational or Hierarchical restructuring</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Asset and Deb restructuring</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Mergers and consolidations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Corporate and takeovers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Recapitalization</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Split-offs/Spin-offs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Rebranding/Renaming, Segregation, or selling assets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Workforce/employee restructuring</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32815" y="291019"/>
            <a:ext cx="4381566" cy="434233"/>
          </a:xfrm>
          <a:prstGeom prst="rect">
            <a:avLst/>
          </a:prstGeom>
          <a:noFill/>
        </p:spPr>
        <p:txBody>
          <a:bodyPr wrap="square" rtlCol="0">
            <a:normAutofit lnSpcReduction="10000"/>
          </a:bodyPr>
          <a:lstStyle/>
          <a:p>
            <a:r>
              <a:rPr lang="en-IN" sz="2400" b="1" dirty="0">
                <a:solidFill>
                  <a:srgbClr val="0070C0"/>
                </a:solidFill>
                <a:latin typeface="Corbel" panose="020B0503020204020204" pitchFamily="34" charset="0"/>
              </a:rPr>
              <a:t>CORPORATE RESTRUCTURING</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92295" y="752684"/>
            <a:ext cx="4237026" cy="5172826"/>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300" b="0" i="0" u="none" strike="noStrike" dirty="0">
              <a:effectLst/>
              <a:latin typeface="Corbel" panose="020B0503020204020204" pitchFamily="34"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Notify as soon as it is announced (signs/talks/plans)</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For a mapped company - Send an impact with the initial bulletin. </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the company is not mapped - Send a bulletin if products have applications in the industries, we cover. Possible sub-tier or Tier 1 yet to be mapped (decide based on product line)</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Services sector? Check if serving into the verticals we cover</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Steel (strong product application or a partner is involved)</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Mining company (only if a partner is involved)</a:t>
            </a:r>
          </a:p>
          <a:p>
            <a:pPr marL="342900" lvl="0" indent="-342900">
              <a:lnSpc>
                <a:spcPct val="150000"/>
              </a:lnSpc>
              <a:buFont typeface="Symbol" panose="05050102010706020507" pitchFamily="18" charset="2"/>
              <a:buChar char=""/>
            </a:pPr>
            <a:endPar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342900" lvl="0" indent="-342900">
              <a:lnSpc>
                <a:spcPct val="150000"/>
              </a:lnSpc>
              <a:spcAft>
                <a:spcPts val="800"/>
              </a:spcAft>
              <a:buFont typeface="Symbol" panose="05050102010706020507" pitchFamily="18" charset="2"/>
              <a:buChar char=""/>
            </a:pPr>
            <a:r>
              <a:rPr lang="en-IN" sz="1200"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Crude (only if a partner is involved)</a:t>
            </a:r>
          </a:p>
        </p:txBody>
      </p:sp>
      <p:sp>
        <p:nvSpPr>
          <p:cNvPr id="8" name="TextBox 7">
            <a:extLst>
              <a:ext uri="{FF2B5EF4-FFF2-40B4-BE49-F238E27FC236}">
                <a16:creationId xmlns:a16="http://schemas.microsoft.com/office/drawing/2014/main" id="{B5610F2B-2AF4-ACCC-641F-7F6A8CA668E7}"/>
              </a:ext>
            </a:extLst>
          </p:cNvPr>
          <p:cNvSpPr txBox="1"/>
          <p:nvPr/>
        </p:nvSpPr>
        <p:spPr>
          <a:xfrm>
            <a:off x="4765796" y="377142"/>
            <a:ext cx="5055791" cy="3508653"/>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r>
              <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We create a WarRoom, when:</a:t>
            </a:r>
          </a:p>
          <a:p>
            <a:endParaRPr lang="en-US" sz="120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 partner is involved in the corporate restructuring</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Specific segment of business involved. Send impact to just that segment</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Cannot identify business segments involved? Send impact to all sites</a:t>
            </a:r>
            <a:br>
              <a:rPr lang="en-US" sz="1200" b="0" i="0" u="none" strike="noStrike">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lvl="1"/>
            <a:endParaRPr lang="en-US" sz="1400" dirty="0">
              <a:latin typeface="Corbel" panose="020B0503020204020204" pitchFamily="34" charset="0"/>
              <a:cs typeface="Calibri" panose="020F0502020204030204" pitchFamily="34" charset="0"/>
            </a:endParaRPr>
          </a:p>
          <a:p>
            <a:pPr lvl="1"/>
            <a:endParaRPr lang="en-US" sz="1400" dirty="0">
              <a:latin typeface="Corbel" panose="020B0503020204020204" pitchFamily="34" charset="0"/>
              <a:cs typeface="Calibri" panose="020F0502020204030204" pitchFamily="34" charset="0"/>
            </a:endParaRPr>
          </a:p>
          <a:p>
            <a:pPr lvl="1"/>
            <a:endParaRPr lang="en-US" sz="1400" dirty="0">
              <a:latin typeface="Corbel" panose="020B0503020204020204" pitchFamily="34" charset="0"/>
              <a:cs typeface="Calibri" panose="020F0502020204030204" pitchFamily="34" charset="0"/>
            </a:endParaRPr>
          </a:p>
          <a:p>
            <a:pPr lvl="1"/>
            <a:endParaRPr lang="en-US" sz="1400" dirty="0">
              <a:latin typeface="Corbel" panose="020B0503020204020204" pitchFamily="34" charset="0"/>
              <a:cs typeface="Calibri" panose="020F0502020204030204" pitchFamily="34" charset="0"/>
            </a:endParaRPr>
          </a:p>
          <a:p>
            <a:pPr lvl="1"/>
            <a:endParaRPr lang="en-US" sz="1400" dirty="0">
              <a:latin typeface="Corbel" panose="020B0503020204020204" pitchFamily="34" charset="0"/>
              <a:cs typeface="Calibri" panose="020F0502020204030204" pitchFamily="34" charset="0"/>
            </a:endParaRPr>
          </a:p>
          <a:p>
            <a:pPr lvl="1"/>
            <a:endParaRPr lang="en-US" sz="1400" dirty="0">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342709" cy="633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633968" y="4012488"/>
            <a:ext cx="5374621" cy="250758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2" name="Table 1">
            <a:extLst>
              <a:ext uri="{FF2B5EF4-FFF2-40B4-BE49-F238E27FC236}">
                <a16:creationId xmlns:a16="http://schemas.microsoft.com/office/drawing/2014/main" id="{7EE65785-C36F-5195-AE42-94D13D0F43A3}"/>
              </a:ext>
            </a:extLst>
          </p:cNvPr>
          <p:cNvGraphicFramePr>
            <a:graphicFrameLocks noGrp="1"/>
          </p:cNvGraphicFramePr>
          <p:nvPr>
            <p:extLst>
              <p:ext uri="{D42A27DB-BD31-4B8C-83A1-F6EECF244321}">
                <p14:modId xmlns:p14="http://schemas.microsoft.com/office/powerpoint/2010/main" val="2635298211"/>
              </p:ext>
            </p:extLst>
          </p:nvPr>
        </p:nvGraphicFramePr>
        <p:xfrm>
          <a:off x="10168605" y="18917"/>
          <a:ext cx="2023395" cy="6814137"/>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208">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208">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208">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208">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153208">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753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208">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208">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208">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208">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208">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208">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20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208">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208">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208">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208">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208">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208">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208">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208">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208">
                <a:tc>
                  <a:txBody>
                    <a:bodyPr/>
                    <a:lstStyle/>
                    <a:p>
                      <a:pPr algn="ctr" fontAlgn="ctr"/>
                      <a:r>
                        <a:rPr lang="en-US" sz="900" b="0" u="none" strike="noStrike" kern="1200" dirty="0">
                          <a:solidFill>
                            <a:schemeClr val="accent2"/>
                          </a:solidFill>
                          <a:effectLst/>
                          <a:latin typeface="+mn-lt"/>
                          <a:ea typeface="+mn-ea"/>
                          <a:cs typeface="+mn-cs"/>
                          <a:hlinkClick r:id="rId24"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208">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208">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208">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208">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208">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208">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208">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208">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208">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208">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208">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208">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208">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208">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208">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208">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208">
                <a:tc>
                  <a:txBody>
                    <a:bodyPr/>
                    <a:lstStyle/>
                    <a:p>
                      <a:pPr marL="0" algn="ctr" defTabSz="914400" rtl="0" eaLnBrk="1" fontAlgn="ctr" latinLnBrk="0" hangingPunct="1"/>
                      <a:r>
                        <a:rPr lang="en-US" sz="900" b="0" u="none" strike="noStrike" kern="1200" dirty="0">
                          <a:solidFill>
                            <a:schemeClr val="accent2"/>
                          </a:solidFill>
                          <a:effectLst/>
                          <a:hlinkClick r:id="rId41"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0744">
                <a:tc>
                  <a:txBody>
                    <a:bodyPr/>
                    <a:lstStyle/>
                    <a:p>
                      <a:pPr marL="0" algn="ctr" defTabSz="914400" rtl="0" eaLnBrk="1" fontAlgn="ctr" latinLnBrk="0" hangingPunct="1"/>
                      <a:r>
                        <a:rPr lang="en-US" sz="900" b="0" u="none" strike="noStrike" kern="1200" dirty="0">
                          <a:solidFill>
                            <a:schemeClr val="accent2"/>
                          </a:solidFill>
                          <a:effectLst/>
                          <a:hlinkClick r:id="rId42"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4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208">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r h="280744">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45" action="ppaction://hlinksldjump">
                            <a:extLst>
                              <a:ext uri="{A12FA001-AC4F-418D-AE19-62706E023703}">
                                <ahyp:hlinkClr xmlns:ahyp="http://schemas.microsoft.com/office/drawing/2018/hyperlinkcolor" val="tx"/>
                              </a:ext>
                            </a:extLst>
                          </a:hlinkClick>
                        </a:rPr>
                        <a:t>Other</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4269773221"/>
                  </a:ext>
                </a:extLst>
              </a:tr>
            </a:tbl>
          </a:graphicData>
        </a:graphic>
      </p:graphicFrame>
      <p:sp>
        <p:nvSpPr>
          <p:cNvPr id="3" name="Rectangle: Rounded Corners 2">
            <a:hlinkClick r:id="rId46" action="ppaction://hlinksldjump"/>
            <a:extLst>
              <a:ext uri="{FF2B5EF4-FFF2-40B4-BE49-F238E27FC236}">
                <a16:creationId xmlns:a16="http://schemas.microsoft.com/office/drawing/2014/main" id="{32DAA5FA-4311-B97B-5DEC-75174A5E566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4297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7"/>
            <a:ext cx="5465086" cy="350319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668206" y="3993688"/>
            <a:ext cx="3925309" cy="2492990"/>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Data leaks, Breaches, Ransomware, Malware</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CISA Vulnerabilities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Faulty doughy components/devices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Vulnerable software/tools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Glitches/Malfunctioning/Vulnerabilities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Insider neglect/threat, Password attacks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Phishing Attacks - Zero-day, DDoS Attacks</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Remote Code Executions</a:t>
            </a:r>
            <a:endParaRPr lang="en-IN" sz="1100" b="1" u="sng" dirty="0">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37423" y="256509"/>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CYBER ATTACK</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69228" y="774526"/>
            <a:ext cx="4130610" cy="5819157"/>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Partner’s software attacked? Notify with impact attached</a:t>
            </a: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if the affected company(s) serves our customer industries. Possible unmapped sub-tier/T1 site yet to be mapped by the customers.</a:t>
            </a:r>
          </a:p>
          <a:p>
            <a:pPr marL="285750" indent="-285750">
              <a:lnSpc>
                <a:spcPct val="150000"/>
              </a:lnSpc>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Report d</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ata breaches at a service provider, manufacturer, utility services, data centers, financial institutions, communication services, cargo/freight services, etc. </a:t>
            </a: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all kinds of hacks, breaches, ransomware, attacks, and service interruptions</a:t>
            </a: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glitches in software or hardware that are vulnerable to cyber attacks  </a:t>
            </a: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NOTE:  </a:t>
            </a:r>
          </a:p>
          <a:p>
            <a:pPr marL="171450" indent="-171450">
              <a:lnSpc>
                <a:spcPct val="150000"/>
              </a:lnSpc>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end frequent updates when further information becomes available,</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 or</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companies start confirming impact in the public domain.</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Incase of </a:t>
            </a:r>
            <a:r>
              <a:rPr lang="en-US" sz="1200" b="1"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Cyber vulnerabilities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send news alerts but DO NOT create a WarRoom.</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Create a WarRoom only when a</a:t>
            </a:r>
            <a:r>
              <a:rPr lang="en-US" sz="1200" b="1"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Cyber Attack</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actually happens.</a:t>
            </a:r>
            <a:endPar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95161" y="410385"/>
            <a:ext cx="5258257" cy="3270126"/>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r>
              <a:rPr lang="en-US" sz="1300">
                <a:latin typeface="Corbel" panose="020B0503020204020204" pitchFamily="34" charset="0"/>
                <a:ea typeface="Roboto" panose="02000000000000000000" pitchFamily="2" charset="0"/>
                <a:cs typeface="Roboto" panose="02000000000000000000" pitchFamily="2" charset="0"/>
              </a:rPr>
              <a:t>We create a WarRoom, when:</a:t>
            </a:r>
            <a:br>
              <a:rPr lang="en-US" sz="1300">
                <a:latin typeface="Corbel" panose="020B0503020204020204" pitchFamily="34" charset="0"/>
                <a:ea typeface="Roboto" panose="02000000000000000000" pitchFamily="2" charset="0"/>
                <a:cs typeface="Roboto" panose="02000000000000000000" pitchFamily="2" charset="0"/>
              </a:rPr>
            </a:br>
            <a:endParaRPr lang="en-US" sz="1300" b="1" u="sng">
              <a:latin typeface="Corbel" panose="020B0503020204020204" pitchFamily="34" charset="0"/>
              <a:ea typeface="Roboto" panose="02000000000000000000" pitchFamily="2" charset="0"/>
              <a:cs typeface="Roboto" panose="02000000000000000000" pitchFamily="2" charset="0"/>
            </a:endParaRPr>
          </a:p>
          <a:p>
            <a:r>
              <a:rPr lang="en-US" sz="1400" b="1" i="0" u="sng" strike="noStrike">
                <a:effectLst/>
                <a:latin typeface="Corbel" panose="020B0503020204020204" pitchFamily="34" charset="0"/>
                <a:ea typeface="Roboto" panose="02000000000000000000" pitchFamily="2" charset="0"/>
                <a:cs typeface="Roboto" panose="02000000000000000000" pitchFamily="2" charset="0"/>
              </a:rPr>
              <a:t>Company Affected</a:t>
            </a:r>
          </a:p>
          <a:p>
            <a:pPr marL="285750" indent="-285750">
              <a:lnSpc>
                <a:spcPct val="150000"/>
              </a:lnSpc>
              <a:buFont typeface="Arial" panose="020B0604020202020204" pitchFamily="34" charset="0"/>
              <a:buChar char="•"/>
            </a:pPr>
            <a:r>
              <a:rPr lang="en-US" sz="1300" i="0" strike="noStrike">
                <a:effectLst/>
                <a:latin typeface="Corbel" panose="020B0503020204020204" pitchFamily="34" charset="0"/>
                <a:ea typeface="Roboto" panose="02000000000000000000" pitchFamily="2" charset="0"/>
                <a:cs typeface="Roboto" panose="02000000000000000000" pitchFamily="2" charset="0"/>
              </a:rPr>
              <a:t>A </a:t>
            </a:r>
            <a:r>
              <a:rPr lang="en-US" sz="1300" dirty="0">
                <a:latin typeface="Corbel" panose="020B0503020204020204" pitchFamily="34" charset="0"/>
                <a:ea typeface="Roboto" panose="02000000000000000000" pitchFamily="2" charset="0"/>
                <a:cs typeface="Roboto" panose="02000000000000000000" pitchFamily="2" charset="0"/>
              </a:rPr>
              <a:t>p</a:t>
            </a:r>
            <a:r>
              <a:rPr lang="en-US" sz="1300" b="0" i="0" u="none" strike="noStrike" dirty="0">
                <a:effectLst/>
                <a:latin typeface="Corbel" panose="020B0503020204020204" pitchFamily="34" charset="0"/>
                <a:ea typeface="Roboto" panose="02000000000000000000" pitchFamily="2" charset="0"/>
                <a:cs typeface="Roboto" panose="02000000000000000000" pitchFamily="2" charset="0"/>
              </a:rPr>
              <a:t>artner is involved</a:t>
            </a:r>
            <a:r>
              <a:rPr lang="en-US" sz="1300" dirty="0">
                <a:latin typeface="Corbel" panose="020B0503020204020204" pitchFamily="34" charset="0"/>
                <a:ea typeface="Roboto" panose="02000000000000000000" pitchFamily="2" charset="0"/>
                <a:cs typeface="Roboto" panose="02000000000000000000" pitchFamily="2" charset="0"/>
              </a:rPr>
              <a:t>. Send impact to all sites or to the affected region.</a:t>
            </a:r>
          </a:p>
          <a:p>
            <a:pPr marL="285750" indent="-285750">
              <a:lnSpc>
                <a:spcPct val="150000"/>
              </a:lnSpc>
              <a:buFont typeface="Arial" panose="020B0604020202020204" pitchFamily="34" charset="0"/>
              <a:buChar char="•"/>
            </a:pPr>
            <a:r>
              <a:rPr lang="en-US" sz="1300" dirty="0">
                <a:latin typeface="Corbel" panose="020B0503020204020204" pitchFamily="34" charset="0"/>
                <a:ea typeface="Roboto" panose="02000000000000000000" pitchFamily="2" charset="0"/>
                <a:cs typeface="Roboto" panose="02000000000000000000" pitchFamily="2" charset="0"/>
              </a:rPr>
              <a:t>A</a:t>
            </a:r>
            <a:r>
              <a:rPr lang="en-US" sz="1300" b="0" i="0" u="none" strike="noStrike" dirty="0">
                <a:effectLst/>
                <a:latin typeface="Corbel" panose="020B0503020204020204" pitchFamily="34" charset="0"/>
                <a:ea typeface="Roboto" panose="02000000000000000000" pitchFamily="2" charset="0"/>
                <a:cs typeface="Roboto" panose="02000000000000000000" pitchFamily="2" charset="0"/>
              </a:rPr>
              <a:t> partner confirms impact in the public domain.</a:t>
            </a:r>
            <a:endParaRPr lang="en-US" sz="13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300" b="1" i="0" u="sng" strike="noStrike" dirty="0">
              <a:effectLst/>
              <a:latin typeface="Corbel" panose="020B0503020204020204" pitchFamily="34" charset="0"/>
              <a:ea typeface="Roboto" panose="02000000000000000000" pitchFamily="2" charset="0"/>
              <a:cs typeface="Roboto" panose="02000000000000000000" pitchFamily="2" charset="0"/>
            </a:endParaRPr>
          </a:p>
          <a:p>
            <a:r>
              <a:rPr lang="en-US" sz="1400" b="1" i="0" u="sng" strike="noStrike" dirty="0">
                <a:effectLst/>
                <a:latin typeface="Corbel" panose="020B0503020204020204" pitchFamily="34" charset="0"/>
                <a:ea typeface="Roboto" panose="02000000000000000000" pitchFamily="2" charset="0"/>
                <a:cs typeface="Roboto" panose="02000000000000000000" pitchFamily="2" charset="0"/>
              </a:rPr>
              <a:t>Region Affected by cyber-attack</a:t>
            </a:r>
            <a:endParaRPr lang="en-US" sz="14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300" b="0" i="0" u="none" strike="noStrike" dirty="0">
                <a:effectLst/>
                <a:latin typeface="Corbel" panose="020B0503020204020204" pitchFamily="34" charset="0"/>
                <a:ea typeface="Roboto" panose="02000000000000000000" pitchFamily="2" charset="0"/>
                <a:cs typeface="Roboto" panose="02000000000000000000" pitchFamily="2" charset="0"/>
              </a:rPr>
              <a:t>Partner sites in the region of impact. Draw a polygon for the region affected by the cyber-attack</a:t>
            </a:r>
            <a:endParaRPr lang="en-US" sz="1300" dirty="0">
              <a:latin typeface="Corbel" panose="020B0503020204020204" pitchFamily="34" charset="0"/>
              <a:ea typeface="Roboto" panose="02000000000000000000" pitchFamily="2" charset="0"/>
              <a:cs typeface="Roboto" panose="02000000000000000000" pitchFamily="2" charset="0"/>
            </a:endParaRPr>
          </a:p>
          <a:p>
            <a:pPr lvl="1"/>
            <a:endParaRPr lang="en-US" sz="1300" dirty="0">
              <a:latin typeface="Corbel" panose="020B0503020204020204" pitchFamily="34" charset="0"/>
              <a:cs typeface="Calibri" panose="020F0502020204030204" pitchFamily="34" charset="0"/>
            </a:endParaRPr>
          </a:p>
          <a:p>
            <a:pPr lvl="1"/>
            <a:endParaRPr lang="en-US" sz="1300" dirty="0">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5"/>
            <a:ext cx="4225740" cy="642058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43504" y="3993687"/>
            <a:ext cx="5465087" cy="268340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Corbel" panose="020B0503020204020204" pitchFamily="34" charset="0"/>
            </a:endParaRPr>
          </a:p>
        </p:txBody>
      </p:sp>
      <p:graphicFrame>
        <p:nvGraphicFramePr>
          <p:cNvPr id="3" name="Table 2">
            <a:extLst>
              <a:ext uri="{FF2B5EF4-FFF2-40B4-BE49-F238E27FC236}">
                <a16:creationId xmlns:a16="http://schemas.microsoft.com/office/drawing/2014/main" id="{284B6ACA-8DBB-2C59-2035-36F10AF819BB}"/>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0BEF8AC4-9EE4-97B3-E252-6CE32F908E5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09675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18026" y="3987703"/>
            <a:ext cx="4662455" cy="2092881"/>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a:lnSpc>
                <a:spcPct val="150000"/>
              </a:lnSpc>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Counterfeit component</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Supplier bans/legal actions</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Customs announcements</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Regulatory agency investigations</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General counterfeit announcements</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68929" y="154822"/>
            <a:ext cx="4705066" cy="830997"/>
          </a:xfrm>
          <a:prstGeom prst="rect">
            <a:avLst/>
          </a:prstGeom>
          <a:noFill/>
        </p:spPr>
        <p:txBody>
          <a:bodyPr wrap="square" rtlCol="0">
            <a:spAutoFit/>
          </a:bodyPr>
          <a:lstStyle/>
          <a:p>
            <a:r>
              <a:rPr lang="en-US" sz="2400" b="1" dirty="0">
                <a:solidFill>
                  <a:srgbClr val="0070C0"/>
                </a:solidFill>
                <a:latin typeface="Corbel" panose="020B0503020204020204" pitchFamily="34" charset="0"/>
              </a:rPr>
              <a:t>CFSI: Counterfeit, Fraudulent and Suspect Items</a:t>
            </a:r>
            <a:endParaRPr lang="en-IN" sz="2400" b="1" dirty="0">
              <a:solidFill>
                <a:srgbClr val="0070C0"/>
              </a:solidFill>
              <a:latin typeface="Corbel" panose="020B0503020204020204" pitchFamily="34" charset="0"/>
            </a:endParaRP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9273" y="985819"/>
            <a:ext cx="4590674" cy="5093702"/>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algn="just"/>
            <a:endParaRPr lang="en-IN" sz="1400" b="1" u="sng" dirty="0">
              <a:latin typeface="Corbel" panose="020B0503020204020204" pitchFamily="34" charset="0"/>
              <a:cs typeface="Calibri" panose="020F0502020204030204" pitchFamily="34" charset="0"/>
            </a:endParaRPr>
          </a:p>
          <a:p>
            <a:pPr algn="just"/>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Under EventWatch, Resilinc monitors situations where:</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gn="just">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A</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supplier has been found guilty of using a counterfeit part/component in its manufacturing or products</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 supplier is warning customers of counterfeit products circulating in the market</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General industry-wide inspections and announcements where the use of counterfeit parts/components is trending higher</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Legal battles and initiatives against supplier companies due to the use of counterfeit products</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Regulatory agencies warning of counterfeit products</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Customs capture counterfeit products and announce the company involved</a:t>
            </a: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when related to raw materials, parts, components, etc.</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gn="just">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Do not report alerts for currency notes, fake luxury goods, counterfeit fashion items, etc. </a:t>
            </a:r>
          </a:p>
          <a:p>
            <a:pPr marL="285750" indent="-285750" algn="just">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Notify under </a:t>
            </a:r>
            <a:r>
              <a:rPr lang="en-US" sz="1400" b="1"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a:t>
            </a:r>
            <a:r>
              <a:rPr lang="en-US" sz="1400" b="1"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ounterfeit</a:t>
            </a:r>
          </a:p>
          <a:p>
            <a:pPr marL="285750" indent="-285750" algn="just">
              <a:buFont typeface="Arial" panose="020B0604020202020204" pitchFamily="34" charset="0"/>
              <a:buChar char="•"/>
            </a:pPr>
            <a:endParaRPr lang="en-IN" sz="1200" b="1" u="sng" dirty="0">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2154436"/>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a:lnSpc>
                <a:spcPct val="150000"/>
              </a:lnSpc>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when Partner(s) involved</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Partner confirms impact in public domain</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Supplier announces their products are being counterfeited  </a:t>
            </a:r>
            <a:br>
              <a:rPr lang="en-US" sz="1200" b="0" i="0" u="none" strike="noStrike">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a:t>
            </a:r>
            <a:endParaRPr lang="en-US" sz="1400" b="1" i="0" u="sng" strike="noStrike">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812672" cy="63126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04114" y="3760209"/>
            <a:ext cx="4812672" cy="273335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C5917178-F740-DE04-2005-D9B41CB41E77}"/>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818B17B5-DB73-D63B-EA55-DA03FDA89C91}"/>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112157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243912" y="619125"/>
            <a:ext cx="5764679" cy="519540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61847" y="67112"/>
            <a:ext cx="9684727" cy="830997"/>
          </a:xfrm>
          <a:prstGeom prst="rect">
            <a:avLst/>
          </a:prstGeom>
          <a:noFill/>
        </p:spPr>
        <p:txBody>
          <a:bodyPr wrap="square" rtlCol="0">
            <a:spAutoFit/>
          </a:bodyPr>
          <a:lstStyle/>
          <a:p>
            <a:r>
              <a:rPr lang="en-IN" sz="2400" b="1" dirty="0">
                <a:solidFill>
                  <a:srgbClr val="0070C0"/>
                </a:solidFill>
                <a:latin typeface="Corbel" panose="020B0503020204020204" pitchFamily="34" charset="0"/>
              </a:rPr>
              <a:t>EARTHQUAKES - JAPAN, TAIWAN, SOUTH KOREA, PHILLIPPINES, INDONESIA, AND CHINA</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62526" y="983580"/>
            <a:ext cx="3961799" cy="5836534"/>
          </a:xfrm>
          <a:prstGeom prst="rect">
            <a:avLst/>
          </a:prstGeom>
          <a:noFill/>
        </p:spPr>
        <p:txBody>
          <a:bodyPr wrap="square" rtlCol="0">
            <a:spAutoFit/>
          </a:bodyPr>
          <a:lstStyle/>
          <a:p>
            <a:r>
              <a:rPr lang="en-IN" sz="1100" b="1" u="sng" dirty="0">
                <a:latin typeface="Corbel" panose="020B0503020204020204" pitchFamily="34" charset="0"/>
              </a:rPr>
              <a:t>Reporting Guidelines:</a:t>
            </a:r>
            <a:endParaRPr lang="en-IN" sz="1100" dirty="0">
              <a:latin typeface="Corbel" panose="020B0503020204020204" pitchFamily="34" charset="0"/>
            </a:endParaRPr>
          </a:p>
          <a:p>
            <a:pPr marL="171450" indent="-171450">
              <a:buFont typeface="Arial" panose="020B0604020202020204" pitchFamily="34" charset="0"/>
              <a:buChar char="•"/>
            </a:pPr>
            <a:r>
              <a:rPr lang="en-US" sz="1100" dirty="0">
                <a:latin typeface="Corbel" panose="020B0503020204020204" pitchFamily="34" charset="0"/>
              </a:rPr>
              <a:t>When magnitude is above or equal to 6.4, send Pre-Alert within 25 minutes once the feed is received on the Resilinc Feed Capturing System.</a:t>
            </a:r>
          </a:p>
          <a:p>
            <a:pPr marL="171450" indent="-171450">
              <a:buFont typeface="Arial" panose="020B0604020202020204" pitchFamily="34" charset="0"/>
              <a:buChar char="•"/>
            </a:pPr>
            <a:r>
              <a:rPr lang="en-US" sz="1100" dirty="0">
                <a:latin typeface="Corbel" panose="020B0503020204020204" pitchFamily="34" charset="0"/>
              </a:rPr>
              <a:t>When magnitude is below 6.4, send an alert within 45 minutes.</a:t>
            </a:r>
          </a:p>
          <a:p>
            <a:pPr marL="171450" indent="-171450">
              <a:buFont typeface="Arial" panose="020B0604020202020204" pitchFamily="34" charset="0"/>
              <a:buChar char="•"/>
            </a:pPr>
            <a:r>
              <a:rPr lang="en-US" sz="1100" dirty="0">
                <a:latin typeface="Corbel" panose="020B0503020204020204" pitchFamily="34" charset="0"/>
              </a:rPr>
              <a:t>We do not notify all earthquakes. Alerting happens based on the following thresholds provided by Resilinc:</a:t>
            </a:r>
          </a:p>
          <a:p>
            <a:br>
              <a:rPr lang="en-US" sz="1100" dirty="0">
                <a:latin typeface="Corbel" panose="020B0503020204020204" pitchFamily="34" charset="0"/>
              </a:rPr>
            </a:br>
            <a:r>
              <a:rPr lang="en-US" sz="1100" dirty="0">
                <a:latin typeface="Corbel" panose="020B0503020204020204" pitchFamily="34" charset="0"/>
              </a:rPr>
              <a:t>For Japan, Taiwan, South Korea, Philippines, Indonesia, &amp; China:</a:t>
            </a:r>
          </a:p>
          <a:p>
            <a:pPr marL="171450" indent="-171450">
              <a:buFont typeface="Arial" panose="020B0604020202020204" pitchFamily="34" charset="0"/>
              <a:buChar char="•"/>
            </a:pPr>
            <a:r>
              <a:rPr lang="en-US" sz="1100" dirty="0">
                <a:latin typeface="Corbel" panose="020B0503020204020204" pitchFamily="34" charset="0"/>
              </a:rPr>
              <a:t>Notify Magnitude 5.0 or above straightaway when:</a:t>
            </a:r>
            <a:br>
              <a:rPr lang="en-US" sz="1100" dirty="0">
                <a:latin typeface="Corbel" panose="020B0503020204020204" pitchFamily="34" charset="0"/>
              </a:rPr>
            </a:br>
            <a:r>
              <a:rPr lang="en-US" sz="1100" dirty="0">
                <a:latin typeface="Corbel" panose="020B0503020204020204" pitchFamily="34" charset="0"/>
              </a:rPr>
              <a:t>- Epicenter on land and sites mapped in the region</a:t>
            </a:r>
            <a:br>
              <a:rPr lang="en-US" sz="1100" dirty="0">
                <a:latin typeface="Corbel" panose="020B0503020204020204" pitchFamily="34" charset="0"/>
              </a:rPr>
            </a:br>
            <a:r>
              <a:rPr lang="en-US" sz="1100" dirty="0">
                <a:latin typeface="Corbel" panose="020B0503020204020204" pitchFamily="34" charset="0"/>
              </a:rPr>
              <a:t>- Epicenter on land, no sites mapped but an important region</a:t>
            </a:r>
            <a:br>
              <a:rPr lang="en-US" sz="1100" dirty="0">
                <a:latin typeface="Corbel" panose="020B0503020204020204" pitchFamily="34" charset="0"/>
              </a:rPr>
            </a:br>
            <a:r>
              <a:rPr lang="en-US" sz="1100" dirty="0">
                <a:latin typeface="Corbel" panose="020B0503020204020204" pitchFamily="34" charset="0"/>
              </a:rPr>
              <a:t>- Epicenter off the coast and sites mapped in the coastal regions</a:t>
            </a:r>
            <a:br>
              <a:rPr lang="en-US" sz="1100" dirty="0">
                <a:latin typeface="Corbel" panose="020B0503020204020204" pitchFamily="34" charset="0"/>
              </a:rPr>
            </a:br>
            <a:r>
              <a:rPr lang="en-US" sz="1100" dirty="0">
                <a:latin typeface="Corbel" panose="020B0503020204020204" pitchFamily="34" charset="0"/>
              </a:rPr>
              <a:t>- Epicenter off the coast/Tsunami Alert issued</a:t>
            </a:r>
          </a:p>
          <a:p>
            <a:pPr marL="171450" indent="-171450">
              <a:buFont typeface="Arial" panose="020B0604020202020204" pitchFamily="34" charset="0"/>
              <a:buChar char="•"/>
            </a:pPr>
            <a:endParaRPr lang="en-US" sz="1100" dirty="0">
              <a:latin typeface="Corbel" panose="020B0503020204020204" pitchFamily="34" charset="0"/>
            </a:endParaRPr>
          </a:p>
          <a:p>
            <a:r>
              <a:rPr lang="en-IN" sz="1100" dirty="0">
                <a:latin typeface="Corbel" panose="020B0503020204020204" pitchFamily="34" charset="0"/>
              </a:rPr>
              <a:t>Check </a:t>
            </a:r>
            <a:r>
              <a:rPr lang="en-IN" sz="1100" dirty="0">
                <a:latin typeface="Corbel" panose="020B0503020204020204" pitchFamily="34" charset="0"/>
                <a:hlinkClick r:id="rId2"/>
              </a:rPr>
              <a:t>GDACS</a:t>
            </a:r>
            <a:r>
              <a:rPr lang="en-IN" sz="1100" dirty="0">
                <a:latin typeface="Corbel" panose="020B0503020204020204" pitchFamily="34" charset="0"/>
              </a:rPr>
              <a:t> and </a:t>
            </a:r>
            <a:r>
              <a:rPr lang="en-IN" sz="1100" dirty="0">
                <a:latin typeface="Corbel" panose="020B0503020204020204" pitchFamily="34" charset="0"/>
                <a:hlinkClick r:id="rId3"/>
              </a:rPr>
              <a:t>USGS</a:t>
            </a:r>
            <a:r>
              <a:rPr lang="en-IN" sz="1100" dirty="0">
                <a:latin typeface="Corbel" panose="020B0503020204020204" pitchFamily="34" charset="0"/>
              </a:rPr>
              <a:t> for details on earthquakes.</a:t>
            </a:r>
          </a:p>
          <a:p>
            <a:endParaRPr lang="en-US" sz="1100" dirty="0">
              <a:latin typeface="Corbel" panose="020B0503020204020204" pitchFamily="34" charset="0"/>
            </a:endParaRPr>
          </a:p>
          <a:p>
            <a:r>
              <a:rPr lang="en-US" sz="1100" dirty="0">
                <a:latin typeface="Corbel" panose="020B0503020204020204" pitchFamily="34" charset="0"/>
              </a:rPr>
              <a:t>NOTE:</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 we have supplier sites in the region, issue a customer impact with Pre-Alert and request supplier impact confirmation</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If/when disruptions reported, send an update within 2 hours of the Pre-Alert</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 further damages are reported, send an update every 6 hours (based on the availability of fresh information)</a:t>
            </a:r>
          </a:p>
          <a:p>
            <a:pPr marL="171450" lvl="0" indent="-171450">
              <a:lnSpc>
                <a:spcPct val="107000"/>
              </a:lnSpc>
              <a:buFont typeface="Arial" panose="020B0604020202020204" pitchFamily="34" charset="0"/>
              <a:buChar char="•"/>
            </a:pPr>
            <a:r>
              <a:rPr lang="en-IN" sz="1100" dirty="0">
                <a:latin typeface="Corbel" panose="020B0503020204020204" pitchFamily="34" charset="0"/>
              </a:rPr>
              <a:t>For Japan/Taiwan region, provide a list of regions with a </a:t>
            </a:r>
            <a:r>
              <a:rPr lang="en-IN" sz="1100" dirty="0" err="1">
                <a:latin typeface="Corbel" panose="020B0503020204020204" pitchFamily="34" charset="0"/>
              </a:rPr>
              <a:t>Shindo</a:t>
            </a:r>
            <a:r>
              <a:rPr lang="en-IN" sz="1100" dirty="0">
                <a:latin typeface="Corbel" panose="020B0503020204020204" pitchFamily="34" charset="0"/>
              </a:rPr>
              <a:t> scale- </a:t>
            </a:r>
            <a:r>
              <a:rPr lang="en-IN" sz="1100" dirty="0">
                <a:latin typeface="Corbel" panose="020B0503020204020204" pitchFamily="34" charset="0"/>
                <a:hlinkClick r:id="rId4"/>
              </a:rPr>
              <a:t>JMA Website</a:t>
            </a:r>
            <a:endParaRPr lang="en-IN" sz="1100" dirty="0">
              <a:latin typeface="Corbel" panose="020B0503020204020204" pitchFamily="34" charset="0"/>
            </a:endParaRPr>
          </a:p>
          <a:p>
            <a:pPr marL="171450" lvl="0" indent="-171450">
              <a:lnSpc>
                <a:spcPct val="107000"/>
              </a:lnSpc>
              <a:buFont typeface="Arial" panose="020B0604020202020204" pitchFamily="34" charset="0"/>
              <a:buChar char="•"/>
            </a:pPr>
            <a:r>
              <a:rPr lang="en-IN" sz="1100" dirty="0">
                <a:latin typeface="Corbel" panose="020B0503020204020204" pitchFamily="34" charset="0"/>
              </a:rPr>
              <a:t>If no sites are mapped, but an important manufacturing country, send a LOW FYI News and save an empty polygon</a:t>
            </a:r>
          </a:p>
          <a:p>
            <a:pPr marL="171450" lvl="0" indent="-171450">
              <a:lnSpc>
                <a:spcPct val="107000"/>
              </a:lnSpc>
              <a:spcAft>
                <a:spcPts val="800"/>
              </a:spcAft>
              <a:buFont typeface="Arial" panose="020B0604020202020204" pitchFamily="34" charset="0"/>
              <a:buChar char="•"/>
            </a:pPr>
            <a:r>
              <a:rPr lang="en-IN" sz="1100" dirty="0">
                <a:latin typeface="Corbel" panose="020B0503020204020204" pitchFamily="34" charset="0"/>
              </a:rPr>
              <a:t>If no sites are mapped, but important infrastructure in the region including, but not limited to, ports, airports, power plants, dams, major border crossings, etc., send a LOW FYI News and save an empty polygon</a:t>
            </a:r>
          </a:p>
        </p:txBody>
      </p:sp>
      <p:sp>
        <p:nvSpPr>
          <p:cNvPr id="8" name="TextBox 7">
            <a:extLst>
              <a:ext uri="{FF2B5EF4-FFF2-40B4-BE49-F238E27FC236}">
                <a16:creationId xmlns:a16="http://schemas.microsoft.com/office/drawing/2014/main" id="{B5610F2B-2AF4-ACCC-641F-7F6A8CA668E7}"/>
              </a:ext>
            </a:extLst>
          </p:cNvPr>
          <p:cNvSpPr txBox="1"/>
          <p:nvPr/>
        </p:nvSpPr>
        <p:spPr>
          <a:xfrm>
            <a:off x="4286232" y="647700"/>
            <a:ext cx="5660310" cy="5262979"/>
          </a:xfrm>
          <a:prstGeom prst="rect">
            <a:avLst/>
          </a:prstGeom>
          <a:noFill/>
        </p:spPr>
        <p:txBody>
          <a:bodyPr wrap="square" rtlCol="0">
            <a:spAutoFit/>
          </a:bodyPr>
          <a:lstStyle/>
          <a:p>
            <a:r>
              <a:rPr lang="en-US" sz="1200" b="1" u="sng">
                <a:latin typeface="Corbel" panose="020B0503020204020204" pitchFamily="34" charset="0"/>
                <a:cs typeface="Calibri" panose="020F0502020204030204" pitchFamily="34" charset="0"/>
              </a:rPr>
              <a:t>WarRoom Guidelines</a:t>
            </a:r>
          </a:p>
          <a:p>
            <a:pPr marL="171450" indent="-171450">
              <a:buFont typeface="Arial" panose="020B0604020202020204" pitchFamily="34" charset="0"/>
              <a:buChar char="•"/>
            </a:pPr>
            <a:r>
              <a:rPr lang="en-US" sz="1200" dirty="0">
                <a:latin typeface="Corbel" panose="020B0503020204020204" pitchFamily="34" charset="0"/>
              </a:rPr>
              <a:t>Always create a </a:t>
            </a:r>
            <a:r>
              <a:rPr lang="en-US" sz="1200">
                <a:latin typeface="Corbel" panose="020B0503020204020204" pitchFamily="34" charset="0"/>
              </a:rPr>
              <a:t>WarRoom</a:t>
            </a:r>
            <a:r>
              <a:rPr lang="en-US" sz="1200" dirty="0">
                <a:latin typeface="Corbel" panose="020B0503020204020204" pitchFamily="34" charset="0"/>
              </a:rPr>
              <a:t> with Pre-Alert </a:t>
            </a:r>
          </a:p>
          <a:p>
            <a:pPr marL="171450" indent="-171450">
              <a:buFont typeface="Arial" panose="020B0604020202020204" pitchFamily="34" charset="0"/>
              <a:buChar char="•"/>
            </a:pPr>
            <a:r>
              <a:rPr lang="en-US" sz="1200" dirty="0">
                <a:latin typeface="Corbel" panose="020B0503020204020204" pitchFamily="34" charset="0"/>
              </a:rPr>
              <a:t>For Japan and Taiwan, create polygon based on </a:t>
            </a:r>
            <a:r>
              <a:rPr lang="en-US" sz="1200">
                <a:latin typeface="Corbel" panose="020B0503020204020204" pitchFamily="34" charset="0"/>
              </a:rPr>
              <a:t>Shindo</a:t>
            </a:r>
            <a:r>
              <a:rPr lang="en-US" sz="1200" dirty="0">
                <a:latin typeface="Corbel" panose="020B0503020204020204" pitchFamily="34" charset="0"/>
              </a:rPr>
              <a:t> scale covering regions 5 lower (-5) and above, if available within 25 minutes)</a:t>
            </a:r>
          </a:p>
          <a:p>
            <a:pPr marL="171450" indent="-171450">
              <a:buFont typeface="Arial" panose="020B0604020202020204" pitchFamily="34" charset="0"/>
              <a:buChar char="•"/>
            </a:pPr>
            <a:r>
              <a:rPr lang="en-US" sz="1200" dirty="0">
                <a:latin typeface="Corbel" panose="020B0503020204020204" pitchFamily="34" charset="0"/>
              </a:rPr>
              <a:t>If </a:t>
            </a:r>
            <a:r>
              <a:rPr lang="en-US" sz="1200">
                <a:latin typeface="Corbel" panose="020B0503020204020204" pitchFamily="34" charset="0"/>
              </a:rPr>
              <a:t>Shindo</a:t>
            </a:r>
            <a:r>
              <a:rPr lang="en-US" sz="1200" dirty="0">
                <a:latin typeface="Corbel" panose="020B0503020204020204" pitchFamily="34" charset="0"/>
              </a:rPr>
              <a:t> scale is not available, draw a radius around epicenter</a:t>
            </a:r>
          </a:p>
          <a:p>
            <a:pPr marL="171450" indent="-171450">
              <a:buFont typeface="Arial" panose="020B0604020202020204" pitchFamily="34" charset="0"/>
              <a:buChar char="•"/>
            </a:pPr>
            <a:endParaRPr lang="en-US" sz="900" dirty="0">
              <a:latin typeface="Corbel" panose="020B0503020204020204" pitchFamily="34" charset="0"/>
            </a:endParaRPr>
          </a:p>
          <a:p>
            <a:r>
              <a:rPr lang="en-US" sz="1200" b="1" u="sng" dirty="0">
                <a:latin typeface="Corbel" panose="020B0503020204020204" pitchFamily="34" charset="0"/>
                <a:ea typeface="Roboto" panose="02000000000000000000" pitchFamily="2" charset="0"/>
                <a:cs typeface="Roboto" panose="02000000000000000000" pitchFamily="2" charset="0"/>
              </a:rPr>
              <a:t>Polygon Radius:</a:t>
            </a:r>
          </a:p>
          <a:p>
            <a:endParaRPr lang="en-US" sz="1200" b="1" u="sng" dirty="0">
              <a:latin typeface="Corbel" panose="020B0503020204020204" pitchFamily="34" charset="0"/>
              <a:ea typeface="Roboto" panose="02000000000000000000" pitchFamily="2" charset="0"/>
              <a:cs typeface="Roboto" panose="02000000000000000000" pitchFamily="2"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r>
              <a:rPr lang="en-US" sz="1200" dirty="0">
                <a:latin typeface="Corbel" panose="020B0503020204020204" pitchFamily="34" charset="0"/>
              </a:rPr>
              <a:t>Note: Update the impacted region if further damages are reported in the extended region, outside the initial polygon.</a:t>
            </a:r>
          </a:p>
          <a:p>
            <a:endParaRPr lang="en-US" sz="700" dirty="0">
              <a:latin typeface="Corbel" panose="020B0503020204020204" pitchFamily="34" charset="0"/>
            </a:endParaRPr>
          </a:p>
          <a:p>
            <a:r>
              <a:rPr lang="en-US" sz="1200" b="1" u="sng">
                <a:latin typeface="Corbel" panose="020B0503020204020204" pitchFamily="34" charset="0"/>
                <a:cs typeface="Calibri" panose="020F0502020204030204" pitchFamily="34" charset="0"/>
              </a:rPr>
              <a:t>Send Supplier Impact Confirmation? -</a:t>
            </a:r>
            <a:r>
              <a:rPr lang="en-US" sz="1200" b="1">
                <a:latin typeface="Corbel" panose="020B0503020204020204" pitchFamily="34" charset="0"/>
                <a:cs typeface="Calibri" panose="020F0502020204030204" pitchFamily="34" charset="0"/>
              </a:rPr>
              <a:t>  YES (send with pre-alert)</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937123"/>
            <a:ext cx="4007827" cy="580376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13" name="Table 12">
            <a:extLst>
              <a:ext uri="{FF2B5EF4-FFF2-40B4-BE49-F238E27FC236}">
                <a16:creationId xmlns:a16="http://schemas.microsoft.com/office/drawing/2014/main" id="{BCEDCE3E-1EC0-0E80-FC7C-24A5BB8F1A2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9"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5"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9"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4"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5"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7"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5"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8"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graphicFrame>
        <p:nvGraphicFramePr>
          <p:cNvPr id="3" name="Table 2">
            <a:extLst>
              <a:ext uri="{FF2B5EF4-FFF2-40B4-BE49-F238E27FC236}">
                <a16:creationId xmlns:a16="http://schemas.microsoft.com/office/drawing/2014/main" id="{AC217786-926E-3DE2-AF5E-F7137146740B}"/>
              </a:ext>
            </a:extLst>
          </p:cNvPr>
          <p:cNvGraphicFramePr>
            <a:graphicFrameLocks noGrp="1"/>
          </p:cNvGraphicFramePr>
          <p:nvPr>
            <p:extLst>
              <p:ext uri="{D42A27DB-BD31-4B8C-83A1-F6EECF244321}">
                <p14:modId xmlns:p14="http://schemas.microsoft.com/office/powerpoint/2010/main" val="1408051549"/>
              </p:ext>
            </p:extLst>
          </p:nvPr>
        </p:nvGraphicFramePr>
        <p:xfrm>
          <a:off x="4355321" y="3504583"/>
          <a:ext cx="5550680" cy="1496884"/>
        </p:xfrm>
        <a:graphic>
          <a:graphicData uri="http://schemas.openxmlformats.org/drawingml/2006/table">
            <a:tbl>
              <a:tblPr/>
              <a:tblGrid>
                <a:gridCol w="206353">
                  <a:extLst>
                    <a:ext uri="{9D8B030D-6E8A-4147-A177-3AD203B41FA5}">
                      <a16:colId xmlns:a16="http://schemas.microsoft.com/office/drawing/2014/main" val="1508610795"/>
                    </a:ext>
                  </a:extLst>
                </a:gridCol>
                <a:gridCol w="517193">
                  <a:extLst>
                    <a:ext uri="{9D8B030D-6E8A-4147-A177-3AD203B41FA5}">
                      <a16:colId xmlns:a16="http://schemas.microsoft.com/office/drawing/2014/main" val="721080467"/>
                    </a:ext>
                  </a:extLst>
                </a:gridCol>
                <a:gridCol w="517193">
                  <a:extLst>
                    <a:ext uri="{9D8B030D-6E8A-4147-A177-3AD203B41FA5}">
                      <a16:colId xmlns:a16="http://schemas.microsoft.com/office/drawing/2014/main" val="3843004892"/>
                    </a:ext>
                  </a:extLst>
                </a:gridCol>
                <a:gridCol w="517193">
                  <a:extLst>
                    <a:ext uri="{9D8B030D-6E8A-4147-A177-3AD203B41FA5}">
                      <a16:colId xmlns:a16="http://schemas.microsoft.com/office/drawing/2014/main" val="2616935190"/>
                    </a:ext>
                  </a:extLst>
                </a:gridCol>
                <a:gridCol w="517193">
                  <a:extLst>
                    <a:ext uri="{9D8B030D-6E8A-4147-A177-3AD203B41FA5}">
                      <a16:colId xmlns:a16="http://schemas.microsoft.com/office/drawing/2014/main" val="3892320968"/>
                    </a:ext>
                  </a:extLst>
                </a:gridCol>
                <a:gridCol w="517193">
                  <a:extLst>
                    <a:ext uri="{9D8B030D-6E8A-4147-A177-3AD203B41FA5}">
                      <a16:colId xmlns:a16="http://schemas.microsoft.com/office/drawing/2014/main" val="4056971828"/>
                    </a:ext>
                  </a:extLst>
                </a:gridCol>
                <a:gridCol w="517193">
                  <a:extLst>
                    <a:ext uri="{9D8B030D-6E8A-4147-A177-3AD203B41FA5}">
                      <a16:colId xmlns:a16="http://schemas.microsoft.com/office/drawing/2014/main" val="3450880744"/>
                    </a:ext>
                  </a:extLst>
                </a:gridCol>
                <a:gridCol w="517193">
                  <a:extLst>
                    <a:ext uri="{9D8B030D-6E8A-4147-A177-3AD203B41FA5}">
                      <a16:colId xmlns:a16="http://schemas.microsoft.com/office/drawing/2014/main" val="3580032804"/>
                    </a:ext>
                  </a:extLst>
                </a:gridCol>
                <a:gridCol w="517193">
                  <a:extLst>
                    <a:ext uri="{9D8B030D-6E8A-4147-A177-3AD203B41FA5}">
                      <a16:colId xmlns:a16="http://schemas.microsoft.com/office/drawing/2014/main" val="4272952120"/>
                    </a:ext>
                  </a:extLst>
                </a:gridCol>
                <a:gridCol w="517193">
                  <a:extLst>
                    <a:ext uri="{9D8B030D-6E8A-4147-A177-3AD203B41FA5}">
                      <a16:colId xmlns:a16="http://schemas.microsoft.com/office/drawing/2014/main" val="4156170426"/>
                    </a:ext>
                  </a:extLst>
                </a:gridCol>
                <a:gridCol w="517193">
                  <a:extLst>
                    <a:ext uri="{9D8B030D-6E8A-4147-A177-3AD203B41FA5}">
                      <a16:colId xmlns:a16="http://schemas.microsoft.com/office/drawing/2014/main" val="3669864433"/>
                    </a:ext>
                  </a:extLst>
                </a:gridCol>
                <a:gridCol w="172397">
                  <a:extLst>
                    <a:ext uri="{9D8B030D-6E8A-4147-A177-3AD203B41FA5}">
                      <a16:colId xmlns:a16="http://schemas.microsoft.com/office/drawing/2014/main" val="2200335393"/>
                    </a:ext>
                  </a:extLst>
                </a:gridCol>
              </a:tblGrid>
              <a:tr h="181014">
                <a:tc rowSpan="2" gridSpan="2">
                  <a:txBody>
                    <a:bodyPr/>
                    <a:lstStyle/>
                    <a:p>
                      <a:pPr algn="ctr" rtl="0" fontAlgn="ctr"/>
                      <a:r>
                        <a:rPr lang="en-US" sz="1000" b="1" i="0" u="none" strike="noStrike" dirty="0">
                          <a:solidFill>
                            <a:srgbClr val="000000"/>
                          </a:solidFill>
                          <a:effectLst/>
                          <a:latin typeface="Tw Cen MT" panose="020B0602020104020603" pitchFamily="34" charset="0"/>
                        </a:rPr>
                        <a:t> South Korea, Philippines, Indonesia,</a:t>
                      </a:r>
                    </a:p>
                    <a:p>
                      <a:pPr algn="ctr" rtl="0" fontAlgn="ctr"/>
                      <a:r>
                        <a:rPr lang="en-US" sz="1000" b="1" i="0" u="none" strike="noStrike" dirty="0">
                          <a:solidFill>
                            <a:srgbClr val="000000"/>
                          </a:solidFill>
                          <a:effectLst/>
                          <a:latin typeface="Tw Cen MT" panose="020B0602020104020603" pitchFamily="34" charset="0"/>
                        </a:rPr>
                        <a:t>&amp; China</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IN"/>
                    </a:p>
                  </a:txBody>
                  <a:tcPr/>
                </a:tc>
                <a:tc gridSpan="9">
                  <a:txBody>
                    <a:bodyPr/>
                    <a:lstStyle/>
                    <a:p>
                      <a:pPr algn="ctr" fontAlgn="ctr"/>
                      <a:r>
                        <a:rPr lang="en-IN" sz="1000" b="1" i="0" u="none" strike="noStrike" dirty="0">
                          <a:solidFill>
                            <a:srgbClr val="000000"/>
                          </a:solidFill>
                          <a:effectLst/>
                          <a:highlight>
                            <a:srgbClr val="FFD966"/>
                          </a:highlight>
                          <a:latin typeface="Tw Cen MT" panose="020B0602020104020603" pitchFamily="34" charset="0"/>
                        </a:rPr>
                        <a:t>Magnitude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r>
                        <a:rPr lang="en-IN" sz="1000" b="0" i="0" u="none" strike="noStrike">
                          <a:solidFill>
                            <a:srgbClr val="000000"/>
                          </a:solidFill>
                          <a:effectLst/>
                          <a:latin typeface="Tw Cen MT" panose="020B0602020104020603" pitchFamily="34" charset="0"/>
                        </a:rPr>
                        <a:t> </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73787070"/>
                  </a:ext>
                </a:extLst>
              </a:tr>
              <a:tr h="319792">
                <a:tc gridSpan="2" vMerge="1">
                  <a:txBody>
                    <a:bodyPr/>
                    <a:lstStyle/>
                    <a:p>
                      <a:endParaRPr lang="en-IN"/>
                    </a:p>
                  </a:txBody>
                  <a:tcPr/>
                </a:tc>
                <a:tc hMerge="1" vMerge="1">
                  <a:txBody>
                    <a:bodyPr/>
                    <a:lstStyle/>
                    <a:p>
                      <a:endParaRPr lang="en-IN"/>
                    </a:p>
                  </a:txBody>
                  <a:tcPr/>
                </a:tc>
                <a:tc>
                  <a:txBody>
                    <a:bodyPr/>
                    <a:lstStyle/>
                    <a:p>
                      <a:pPr algn="ctr" rtl="0" fontAlgn="ctr"/>
                      <a:r>
                        <a:rPr lang="en-IN" sz="900" b="1" i="0" u="none" strike="noStrike" dirty="0">
                          <a:solidFill>
                            <a:srgbClr val="000000"/>
                          </a:solidFill>
                          <a:effectLst/>
                          <a:highlight>
                            <a:srgbClr val="F4B084"/>
                          </a:highlight>
                          <a:latin typeface="Tw Cen MT" panose="020B0602020104020603" pitchFamily="34" charset="0"/>
                        </a:rPr>
                        <a:t>5.0M - 5.4M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5.5M - 6.0M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6.1M - 6.5M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dirty="0">
                          <a:solidFill>
                            <a:srgbClr val="000000"/>
                          </a:solidFill>
                          <a:effectLst/>
                          <a:highlight>
                            <a:srgbClr val="F4B084"/>
                          </a:highlight>
                          <a:latin typeface="Tw Cen MT" panose="020B0602020104020603" pitchFamily="34" charset="0"/>
                        </a:rPr>
                        <a:t>6.6M - 7.0M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7.1M - 7.5M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7.6M - 8.0M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8.1M - 8.5M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8.6M - 9.0M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9+</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rtl="0" fontAlgn="b"/>
                      <a:r>
                        <a:rPr lang="en-IN" sz="1000" b="0" i="0" u="none" strike="noStrike">
                          <a:solidFill>
                            <a:srgbClr val="000000"/>
                          </a:solidFill>
                          <a:effectLst/>
                          <a:latin typeface="Tw Cen MT" panose="020B0602020104020603" pitchFamily="34" charset="0"/>
                        </a:rPr>
                        <a:t> </a:t>
                      </a:r>
                    </a:p>
                  </a:txBody>
                  <a:tcPr marL="6350" marR="6350" marT="63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5759903"/>
                  </a:ext>
                </a:extLst>
              </a:tr>
              <a:tr h="174980">
                <a:tc rowSpan="5">
                  <a:txBody>
                    <a:bodyPr/>
                    <a:lstStyle/>
                    <a:p>
                      <a:pPr algn="ctr" rtl="0" fontAlgn="ctr"/>
                      <a:r>
                        <a:rPr lang="en-IN" sz="1000" b="1" i="0" u="none" strike="noStrike" dirty="0">
                          <a:solidFill>
                            <a:srgbClr val="000000"/>
                          </a:solidFill>
                          <a:effectLst/>
                          <a:highlight>
                            <a:srgbClr val="A9D08E"/>
                          </a:highlight>
                          <a:latin typeface="Tw Cen MT" panose="020B0602020104020603" pitchFamily="34" charset="0"/>
                        </a:rPr>
                        <a:t>Depth (Miles)</a:t>
                      </a:r>
                    </a:p>
                  </a:txBody>
                  <a:tcPr marL="6350" marR="6350" marT="635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0 to 10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153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495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540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5">
                  <a:txBody>
                    <a:bodyPr/>
                    <a:lstStyle/>
                    <a:p>
                      <a:pPr algn="ctr" rtl="0" fontAlgn="ctr"/>
                      <a:r>
                        <a:rPr lang="en-IN" sz="1000" b="1" i="0" u="none" strike="noStrike" dirty="0">
                          <a:solidFill>
                            <a:srgbClr val="000000"/>
                          </a:solidFill>
                          <a:effectLst/>
                          <a:highlight>
                            <a:srgbClr val="A9D08E"/>
                          </a:highlight>
                          <a:latin typeface="Tw Cen MT" panose="020B0602020104020603" pitchFamily="34" charset="0"/>
                        </a:rPr>
                        <a:t>Radius (Km)</a:t>
                      </a:r>
                    </a:p>
                  </a:txBody>
                  <a:tcPr marL="6350" marR="6350" marT="635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1692020375"/>
                  </a:ext>
                </a:extLst>
              </a:tr>
              <a:tr h="17498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11 to 20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135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180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495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3148432467"/>
                  </a:ext>
                </a:extLst>
              </a:tr>
              <a:tr h="17498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21 to 40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108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153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198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243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288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333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378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423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468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3898753997"/>
                  </a:ext>
                </a:extLst>
              </a:tr>
              <a:tr h="17498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41 to 60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90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135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180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669750236"/>
                  </a:ext>
                </a:extLst>
              </a:tr>
              <a:tr h="181014">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61 - 80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72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108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162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198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252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288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333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378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423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234244550"/>
                  </a:ext>
                </a:extLst>
              </a:tr>
            </a:tbl>
          </a:graphicData>
        </a:graphic>
      </p:graphicFrame>
      <p:graphicFrame>
        <p:nvGraphicFramePr>
          <p:cNvPr id="20" name="Table 19">
            <a:extLst>
              <a:ext uri="{FF2B5EF4-FFF2-40B4-BE49-F238E27FC236}">
                <a16:creationId xmlns:a16="http://schemas.microsoft.com/office/drawing/2014/main" id="{58BE5833-0491-9D3F-DA3D-73D9D3C1F729}"/>
              </a:ext>
            </a:extLst>
          </p:cNvPr>
          <p:cNvGraphicFramePr>
            <a:graphicFrameLocks noGrp="1"/>
          </p:cNvGraphicFramePr>
          <p:nvPr>
            <p:extLst>
              <p:ext uri="{D42A27DB-BD31-4B8C-83A1-F6EECF244321}">
                <p14:modId xmlns:p14="http://schemas.microsoft.com/office/powerpoint/2010/main" val="2211545972"/>
              </p:ext>
            </p:extLst>
          </p:nvPr>
        </p:nvGraphicFramePr>
        <p:xfrm>
          <a:off x="4355321" y="1950612"/>
          <a:ext cx="5550681" cy="1466850"/>
        </p:xfrm>
        <a:graphic>
          <a:graphicData uri="http://schemas.openxmlformats.org/drawingml/2006/table">
            <a:tbl>
              <a:tblPr/>
              <a:tblGrid>
                <a:gridCol w="198521">
                  <a:extLst>
                    <a:ext uri="{9D8B030D-6E8A-4147-A177-3AD203B41FA5}">
                      <a16:colId xmlns:a16="http://schemas.microsoft.com/office/drawing/2014/main" val="2656073922"/>
                    </a:ext>
                  </a:extLst>
                </a:gridCol>
                <a:gridCol w="517951">
                  <a:extLst>
                    <a:ext uri="{9D8B030D-6E8A-4147-A177-3AD203B41FA5}">
                      <a16:colId xmlns:a16="http://schemas.microsoft.com/office/drawing/2014/main" val="3938925029"/>
                    </a:ext>
                  </a:extLst>
                </a:gridCol>
                <a:gridCol w="517951">
                  <a:extLst>
                    <a:ext uri="{9D8B030D-6E8A-4147-A177-3AD203B41FA5}">
                      <a16:colId xmlns:a16="http://schemas.microsoft.com/office/drawing/2014/main" val="1830844144"/>
                    </a:ext>
                  </a:extLst>
                </a:gridCol>
                <a:gridCol w="517951">
                  <a:extLst>
                    <a:ext uri="{9D8B030D-6E8A-4147-A177-3AD203B41FA5}">
                      <a16:colId xmlns:a16="http://schemas.microsoft.com/office/drawing/2014/main" val="2276932030"/>
                    </a:ext>
                  </a:extLst>
                </a:gridCol>
                <a:gridCol w="517951">
                  <a:extLst>
                    <a:ext uri="{9D8B030D-6E8A-4147-A177-3AD203B41FA5}">
                      <a16:colId xmlns:a16="http://schemas.microsoft.com/office/drawing/2014/main" val="1767288890"/>
                    </a:ext>
                  </a:extLst>
                </a:gridCol>
                <a:gridCol w="517951">
                  <a:extLst>
                    <a:ext uri="{9D8B030D-6E8A-4147-A177-3AD203B41FA5}">
                      <a16:colId xmlns:a16="http://schemas.microsoft.com/office/drawing/2014/main" val="2370329173"/>
                    </a:ext>
                  </a:extLst>
                </a:gridCol>
                <a:gridCol w="517951">
                  <a:extLst>
                    <a:ext uri="{9D8B030D-6E8A-4147-A177-3AD203B41FA5}">
                      <a16:colId xmlns:a16="http://schemas.microsoft.com/office/drawing/2014/main" val="3879849687"/>
                    </a:ext>
                  </a:extLst>
                </a:gridCol>
                <a:gridCol w="517951">
                  <a:extLst>
                    <a:ext uri="{9D8B030D-6E8A-4147-A177-3AD203B41FA5}">
                      <a16:colId xmlns:a16="http://schemas.microsoft.com/office/drawing/2014/main" val="408819048"/>
                    </a:ext>
                  </a:extLst>
                </a:gridCol>
                <a:gridCol w="517951">
                  <a:extLst>
                    <a:ext uri="{9D8B030D-6E8A-4147-A177-3AD203B41FA5}">
                      <a16:colId xmlns:a16="http://schemas.microsoft.com/office/drawing/2014/main" val="2787694513"/>
                    </a:ext>
                  </a:extLst>
                </a:gridCol>
                <a:gridCol w="517951">
                  <a:extLst>
                    <a:ext uri="{9D8B030D-6E8A-4147-A177-3AD203B41FA5}">
                      <a16:colId xmlns:a16="http://schemas.microsoft.com/office/drawing/2014/main" val="1457026637"/>
                    </a:ext>
                  </a:extLst>
                </a:gridCol>
                <a:gridCol w="517951">
                  <a:extLst>
                    <a:ext uri="{9D8B030D-6E8A-4147-A177-3AD203B41FA5}">
                      <a16:colId xmlns:a16="http://schemas.microsoft.com/office/drawing/2014/main" val="3529127997"/>
                    </a:ext>
                  </a:extLst>
                </a:gridCol>
                <a:gridCol w="172650">
                  <a:extLst>
                    <a:ext uri="{9D8B030D-6E8A-4147-A177-3AD203B41FA5}">
                      <a16:colId xmlns:a16="http://schemas.microsoft.com/office/drawing/2014/main" val="4270757436"/>
                    </a:ext>
                  </a:extLst>
                </a:gridCol>
              </a:tblGrid>
              <a:tr h="215900">
                <a:tc rowSpan="2" gridSpan="2">
                  <a:txBody>
                    <a:bodyPr/>
                    <a:lstStyle/>
                    <a:p>
                      <a:pPr algn="ctr" rtl="0" fontAlgn="ctr"/>
                      <a:r>
                        <a:rPr lang="en-IN" sz="1000" b="1" i="0" u="none" strike="noStrike">
                          <a:solidFill>
                            <a:srgbClr val="000000"/>
                          </a:solidFill>
                          <a:effectLst/>
                          <a:highlight>
                            <a:srgbClr val="FFE699"/>
                          </a:highlight>
                          <a:latin typeface="Tw Cen MT" panose="020B0602020104020603" pitchFamily="34" charset="0"/>
                        </a:rPr>
                        <a:t>Japan / Taiwan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rowSpan="2" hMerge="1">
                  <a:txBody>
                    <a:bodyPr/>
                    <a:lstStyle/>
                    <a:p>
                      <a:endParaRPr lang="en-IN"/>
                    </a:p>
                  </a:txBody>
                  <a:tcPr/>
                </a:tc>
                <a:tc gridSpan="9">
                  <a:txBody>
                    <a:bodyPr/>
                    <a:lstStyle/>
                    <a:p>
                      <a:pPr algn="ctr" rtl="0" fontAlgn="ctr"/>
                      <a:r>
                        <a:rPr lang="en-IN" sz="1000" b="1" i="0" u="sng" strike="noStrike">
                          <a:solidFill>
                            <a:srgbClr val="000000"/>
                          </a:solidFill>
                          <a:effectLst/>
                          <a:highlight>
                            <a:srgbClr val="E2EFDA"/>
                          </a:highlight>
                          <a:latin typeface="Tw Cen MT" panose="020B0602020104020603" pitchFamily="34" charset="0"/>
                        </a:rPr>
                        <a:t>Magnitude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algn="ctr" rtl="0" fontAlgn="ctr"/>
                      <a:r>
                        <a:rPr lang="en-IN" sz="1000" b="0" i="0" u="none" strike="noStrike">
                          <a:solidFill>
                            <a:srgbClr val="000000"/>
                          </a:solidFill>
                          <a:effectLst/>
                          <a:highlight>
                            <a:srgbClr val="E7E6E6"/>
                          </a:highlight>
                          <a:latin typeface="Tw Cen MT" panose="020B0602020104020603"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668977077"/>
                  </a:ext>
                </a:extLst>
              </a:tr>
              <a:tr h="330200">
                <a:tc gridSpan="2" vMerge="1">
                  <a:txBody>
                    <a:bodyPr/>
                    <a:lstStyle/>
                    <a:p>
                      <a:endParaRPr lang="en-IN"/>
                    </a:p>
                  </a:txBody>
                  <a:tcPr/>
                </a:tc>
                <a:tc hMerge="1" vMerge="1">
                  <a:txBody>
                    <a:bodyPr/>
                    <a:lstStyle/>
                    <a:p>
                      <a:endParaRPr lang="en-IN"/>
                    </a:p>
                  </a:txBody>
                  <a:tcPr/>
                </a:tc>
                <a:tc>
                  <a:txBody>
                    <a:bodyPr/>
                    <a:lstStyle/>
                    <a:p>
                      <a:pPr algn="ctr" rtl="0" fontAlgn="ctr"/>
                      <a:r>
                        <a:rPr lang="en-IN" sz="900" b="1" i="0" u="none" strike="noStrike" dirty="0">
                          <a:solidFill>
                            <a:srgbClr val="000000"/>
                          </a:solidFill>
                          <a:effectLst/>
                          <a:highlight>
                            <a:srgbClr val="D9E1F2"/>
                          </a:highlight>
                          <a:latin typeface="Tw Cen MT" panose="020B0602020104020603" pitchFamily="34" charset="0"/>
                        </a:rPr>
                        <a:t>5.0M - 5.4M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5.5M - 6.0M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6.1M - 6.5M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6.6M - 7.0M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7.1M - 7.5M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7.6M - 8.0M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8.0M - 8.5M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8.5M - 9.0M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9.0&lt;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vMerge="1">
                  <a:txBody>
                    <a:bodyPr/>
                    <a:lstStyle/>
                    <a:p>
                      <a:endParaRPr lang="en-IN"/>
                    </a:p>
                  </a:txBody>
                  <a:tcPr/>
                </a:tc>
                <a:extLst>
                  <a:ext uri="{0D108BD9-81ED-4DB2-BD59-A6C34878D82A}">
                    <a16:rowId xmlns:a16="http://schemas.microsoft.com/office/drawing/2014/main" val="1115031500"/>
                  </a:ext>
                </a:extLst>
              </a:tr>
              <a:tr h="184150">
                <a:tc rowSpan="5">
                  <a:txBody>
                    <a:bodyPr/>
                    <a:lstStyle/>
                    <a:p>
                      <a:pPr algn="ctr" rtl="0" fontAlgn="ctr"/>
                      <a:r>
                        <a:rPr lang="en-IN" sz="1000" b="1" i="0" u="none" strike="noStrike" dirty="0">
                          <a:solidFill>
                            <a:srgbClr val="000000"/>
                          </a:solidFill>
                          <a:effectLst/>
                          <a:highlight>
                            <a:srgbClr val="E2EFDA"/>
                          </a:highlight>
                          <a:latin typeface="Tw Cen MT" panose="020B0602020104020603" pitchFamily="34" charset="0"/>
                        </a:rPr>
                        <a:t>Depth in Miles</a:t>
                      </a:r>
                    </a:p>
                  </a:txBody>
                  <a:tcPr marL="6350" marR="6350" marT="635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rtl="0" fontAlgn="ctr"/>
                      <a:r>
                        <a:rPr lang="en-IN" sz="900" b="1" i="0" u="none" strike="noStrike" dirty="0">
                          <a:solidFill>
                            <a:srgbClr val="000000"/>
                          </a:solidFill>
                          <a:effectLst/>
                          <a:highlight>
                            <a:srgbClr val="D9E1F2"/>
                          </a:highlight>
                          <a:latin typeface="Tw Cen MT" panose="020B0602020104020603" pitchFamily="34" charset="0"/>
                        </a:rPr>
                        <a:t>01 – 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0" i="0" u="none" strike="noStrike" dirty="0">
                          <a:solidFill>
                            <a:srgbClr val="000000"/>
                          </a:solidFill>
                          <a:effectLst/>
                          <a:latin typeface="Tw Cen MT" panose="020B0602020104020603" pitchFamily="34" charset="0"/>
                        </a:rPr>
                        <a:t>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88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109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137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171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214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267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333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416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0" fontAlgn="ctr"/>
                      <a:r>
                        <a:rPr lang="en-IN" sz="1000" b="1" i="0" u="none" strike="noStrike" dirty="0">
                          <a:solidFill>
                            <a:srgbClr val="000000"/>
                          </a:solidFill>
                          <a:effectLst/>
                          <a:highlight>
                            <a:srgbClr val="E2EFDA"/>
                          </a:highlight>
                          <a:latin typeface="Tw Cen MT" panose="020B0602020104020603" pitchFamily="34" charset="0"/>
                        </a:rPr>
                        <a:t>Radius in Kms</a:t>
                      </a:r>
                    </a:p>
                  </a:txBody>
                  <a:tcPr marL="6350" marR="6350" marT="635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146747200"/>
                  </a:ext>
                </a:extLst>
              </a:tr>
              <a:tr h="184150">
                <a:tc vMerge="1">
                  <a:txBody>
                    <a:bodyPr/>
                    <a:lstStyle/>
                    <a:p>
                      <a:endParaRPr lang="en-IN"/>
                    </a:p>
                  </a:txBody>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11 – 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0" i="0" u="none" strike="noStrike">
                          <a:solidFill>
                            <a:srgbClr val="000000"/>
                          </a:solidFill>
                          <a:effectLst/>
                          <a:latin typeface="Tw Cen MT" panose="020B0602020104020603" pitchFamily="34" charset="0"/>
                        </a:rPr>
                        <a:t>63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79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98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123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154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192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240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300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375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IN"/>
                    </a:p>
                  </a:txBody>
                  <a:tcPr/>
                </a:tc>
                <a:extLst>
                  <a:ext uri="{0D108BD9-81ED-4DB2-BD59-A6C34878D82A}">
                    <a16:rowId xmlns:a16="http://schemas.microsoft.com/office/drawing/2014/main" val="3335049214"/>
                  </a:ext>
                </a:extLst>
              </a:tr>
              <a:tr h="18415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D9E1F2"/>
                          </a:highlight>
                          <a:latin typeface="Tw Cen MT" panose="020B0602020104020603" pitchFamily="34" charset="0"/>
                        </a:rPr>
                        <a:t>21 - 40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0" i="0" u="none" strike="noStrike">
                          <a:solidFill>
                            <a:srgbClr val="000000"/>
                          </a:solidFill>
                          <a:effectLst/>
                          <a:latin typeface="Tw Cen MT" panose="020B0602020104020603" pitchFamily="34" charset="0"/>
                        </a:rPr>
                        <a:t>57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71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89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111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138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173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216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337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IN"/>
                    </a:p>
                  </a:txBody>
                  <a:tcPr/>
                </a:tc>
                <a:extLst>
                  <a:ext uri="{0D108BD9-81ED-4DB2-BD59-A6C34878D82A}">
                    <a16:rowId xmlns:a16="http://schemas.microsoft.com/office/drawing/2014/main" val="3688414510"/>
                  </a:ext>
                </a:extLst>
              </a:tr>
              <a:tr h="184150">
                <a:tc vMerge="1">
                  <a:txBody>
                    <a:bodyPr/>
                    <a:lstStyle/>
                    <a:p>
                      <a:endParaRPr lang="en-IN"/>
                    </a:p>
                  </a:txBody>
                  <a:tcPr/>
                </a:tc>
                <a:tc>
                  <a:txBody>
                    <a:bodyPr/>
                    <a:lstStyle/>
                    <a:p>
                      <a:pPr algn="ctr" rtl="0" fontAlgn="ctr"/>
                      <a:r>
                        <a:rPr lang="en-IN" sz="900" b="1" i="0" u="none" strike="noStrike">
                          <a:solidFill>
                            <a:srgbClr val="000000"/>
                          </a:solidFill>
                          <a:effectLst/>
                          <a:highlight>
                            <a:srgbClr val="D9E1F2"/>
                          </a:highlight>
                          <a:latin typeface="Tw Cen MT" panose="020B0602020104020603" pitchFamily="34" charset="0"/>
                        </a:rPr>
                        <a:t>41 - 60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0" i="0" u="none" strike="noStrike">
                          <a:solidFill>
                            <a:srgbClr val="000000"/>
                          </a:solidFill>
                          <a:effectLst/>
                          <a:latin typeface="Tw Cen MT" panose="020B0602020104020603" pitchFamily="34" charset="0"/>
                        </a:rPr>
                        <a:t>51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64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80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100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156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195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243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303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IN"/>
                    </a:p>
                  </a:txBody>
                  <a:tcPr/>
                </a:tc>
                <a:extLst>
                  <a:ext uri="{0D108BD9-81ED-4DB2-BD59-A6C34878D82A}">
                    <a16:rowId xmlns:a16="http://schemas.microsoft.com/office/drawing/2014/main" val="1446929348"/>
                  </a:ext>
                </a:extLst>
              </a:tr>
              <a:tr h="18415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D9E1F2"/>
                          </a:highlight>
                          <a:latin typeface="Tw Cen MT" panose="020B0602020104020603" pitchFamily="34" charset="0"/>
                        </a:rPr>
                        <a:t>61 - 80 &lt;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rtl="0" fontAlgn="ctr"/>
                      <a:r>
                        <a:rPr lang="en-IN" sz="900" b="0" i="0" u="none" strike="noStrike">
                          <a:solidFill>
                            <a:srgbClr val="000000"/>
                          </a:solidFill>
                          <a:effectLst/>
                          <a:latin typeface="Tw Cen MT" panose="020B0602020104020603" pitchFamily="34" charset="0"/>
                        </a:rPr>
                        <a:t>46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57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72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90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112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140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a:solidFill>
                            <a:srgbClr val="000000"/>
                          </a:solidFill>
                          <a:effectLst/>
                          <a:latin typeface="Tw Cen MT" panose="020B0602020104020603" pitchFamily="34" charset="0"/>
                        </a:rPr>
                        <a:t>175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218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Tw Cen MT" panose="020B0602020104020603" pitchFamily="34" charset="0"/>
                        </a:rPr>
                        <a:t>272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IN"/>
                    </a:p>
                  </a:txBody>
                  <a:tcPr/>
                </a:tc>
                <a:extLst>
                  <a:ext uri="{0D108BD9-81ED-4DB2-BD59-A6C34878D82A}">
                    <a16:rowId xmlns:a16="http://schemas.microsoft.com/office/drawing/2014/main" val="1582241667"/>
                  </a:ext>
                </a:extLst>
              </a:tr>
            </a:tbl>
          </a:graphicData>
        </a:graphic>
      </p:graphicFrame>
      <p:sp>
        <p:nvSpPr>
          <p:cNvPr id="21" name="TextBox 20">
            <a:extLst>
              <a:ext uri="{FF2B5EF4-FFF2-40B4-BE49-F238E27FC236}">
                <a16:creationId xmlns:a16="http://schemas.microsoft.com/office/drawing/2014/main" id="{3FEAD18F-1BEA-B1D8-57A1-55A275F3299E}"/>
              </a:ext>
            </a:extLst>
          </p:cNvPr>
          <p:cNvSpPr txBox="1"/>
          <p:nvPr/>
        </p:nvSpPr>
        <p:spPr>
          <a:xfrm>
            <a:off x="4298615" y="5993983"/>
            <a:ext cx="5250051" cy="646331"/>
          </a:xfrm>
          <a:prstGeom prst="rect">
            <a:avLst/>
          </a:prstGeom>
          <a:noFill/>
        </p:spPr>
        <p:txBody>
          <a:bodyPr wrap="square" rtlCol="0">
            <a:spAutoFit/>
          </a:bodyPr>
          <a:lstStyle/>
          <a:p>
            <a:r>
              <a:rPr lang="en-IN" sz="1200" b="1" u="sng" dirty="0">
                <a:latin typeface="Corbel" panose="020B0503020204020204" pitchFamily="34" charset="0"/>
              </a:rPr>
              <a:t>Sub-Types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Naturally caused earthquakes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Shaking caused by bombs and tests</a:t>
            </a:r>
          </a:p>
        </p:txBody>
      </p:sp>
      <p:sp>
        <p:nvSpPr>
          <p:cNvPr id="22" name="Rectangle 21">
            <a:extLst>
              <a:ext uri="{FF2B5EF4-FFF2-40B4-BE49-F238E27FC236}">
                <a16:creationId xmlns:a16="http://schemas.microsoft.com/office/drawing/2014/main" id="{E15770D5-C966-A996-62FE-834845004092}"/>
              </a:ext>
            </a:extLst>
          </p:cNvPr>
          <p:cNvSpPr/>
          <p:nvPr/>
        </p:nvSpPr>
        <p:spPr>
          <a:xfrm>
            <a:off x="4243911" y="5901651"/>
            <a:ext cx="5763547" cy="83099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23" name="TextBox 22">
            <a:extLst>
              <a:ext uri="{FF2B5EF4-FFF2-40B4-BE49-F238E27FC236}">
                <a16:creationId xmlns:a16="http://schemas.microsoft.com/office/drawing/2014/main" id="{90381FF9-1805-2E26-4BEA-42D6BF6C6084}"/>
              </a:ext>
            </a:extLst>
          </p:cNvPr>
          <p:cNvSpPr txBox="1"/>
          <p:nvPr/>
        </p:nvSpPr>
        <p:spPr>
          <a:xfrm>
            <a:off x="7181238" y="6171867"/>
            <a:ext cx="2765304" cy="461665"/>
          </a:xfrm>
          <a:prstGeom prst="rect">
            <a:avLst/>
          </a:prstGeom>
          <a:noFill/>
        </p:spPr>
        <p:txBody>
          <a:bodyPr wrap="square" rtlCol="0">
            <a:spAutoFit/>
          </a:bodyPr>
          <a:lstStyle/>
          <a:p>
            <a:pPr marL="171450" indent="-171450">
              <a:buFont typeface="Arial" panose="020B0604020202020204" pitchFamily="34" charset="0"/>
              <a:buChar char="•"/>
            </a:pPr>
            <a:r>
              <a:rPr lang="en-US" sz="1200" b="0" i="0" u="none" strike="noStrike" dirty="0">
                <a:effectLst/>
                <a:latin typeface="Corbel" panose="020B0503020204020204" pitchFamily="34" charset="0"/>
              </a:rPr>
              <a:t>Shaking caused by Volcanic activities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Tsunamis</a:t>
            </a:r>
            <a:r>
              <a:rPr lang="en-US" sz="1200" dirty="0">
                <a:latin typeface="Corbel" panose="020B0503020204020204" pitchFamily="34" charset="0"/>
              </a:rPr>
              <a:t> </a:t>
            </a:r>
            <a:endParaRPr lang="en-IN" sz="1200" b="1" u="sng" dirty="0">
              <a:latin typeface="Corbel" panose="020B0503020204020204" pitchFamily="34" charset="0"/>
            </a:endParaRPr>
          </a:p>
        </p:txBody>
      </p:sp>
      <p:sp>
        <p:nvSpPr>
          <p:cNvPr id="2" name="Rectangle: Rounded Corners 1">
            <a:hlinkClick r:id="rId49" action="ppaction://hlinksldjump"/>
            <a:extLst>
              <a:ext uri="{FF2B5EF4-FFF2-40B4-BE49-F238E27FC236}">
                <a16:creationId xmlns:a16="http://schemas.microsoft.com/office/drawing/2014/main" id="{40FD67E6-3FB3-81CD-D332-FA38E511F1C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9"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7045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342178" y="576616"/>
            <a:ext cx="5704030" cy="367989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16498" y="114951"/>
            <a:ext cx="9648408"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EARTHQUAKES - REST OF THE WORLD</a:t>
            </a:r>
          </a:p>
        </p:txBody>
      </p:sp>
      <p:sp>
        <p:nvSpPr>
          <p:cNvPr id="8" name="TextBox 7">
            <a:extLst>
              <a:ext uri="{FF2B5EF4-FFF2-40B4-BE49-F238E27FC236}">
                <a16:creationId xmlns:a16="http://schemas.microsoft.com/office/drawing/2014/main" id="{B5610F2B-2AF4-ACCC-641F-7F6A8CA668E7}"/>
              </a:ext>
            </a:extLst>
          </p:cNvPr>
          <p:cNvSpPr txBox="1"/>
          <p:nvPr/>
        </p:nvSpPr>
        <p:spPr>
          <a:xfrm>
            <a:off x="4424149" y="715171"/>
            <a:ext cx="5522394" cy="3600986"/>
          </a:xfrm>
          <a:prstGeom prst="rect">
            <a:avLst/>
          </a:prstGeom>
          <a:noFill/>
        </p:spPr>
        <p:txBody>
          <a:bodyPr wrap="square" rtlCol="0">
            <a:spAutoFit/>
          </a:bodyPr>
          <a:lstStyle/>
          <a:p>
            <a:r>
              <a:rPr lang="en-US" sz="1200" b="1" u="sng">
                <a:latin typeface="Corbel" panose="020B0503020204020204" pitchFamily="34" charset="0"/>
                <a:cs typeface="Calibri" panose="020F0502020204030204" pitchFamily="34" charset="0"/>
              </a:rPr>
              <a:t>WarRoom Guidelines</a:t>
            </a:r>
          </a:p>
          <a:p>
            <a:pPr marL="171450" indent="-171450">
              <a:buFont typeface="Arial" panose="020B0604020202020204" pitchFamily="34" charset="0"/>
              <a:buChar char="•"/>
            </a:pPr>
            <a:r>
              <a:rPr lang="en-US" sz="1200" dirty="0">
                <a:latin typeface="Corbel" panose="020B0503020204020204" pitchFamily="34" charset="0"/>
              </a:rPr>
              <a:t>Always create a </a:t>
            </a:r>
            <a:r>
              <a:rPr lang="en-US" sz="1200">
                <a:latin typeface="Corbel" panose="020B0503020204020204" pitchFamily="34" charset="0"/>
              </a:rPr>
              <a:t>WarRoom</a:t>
            </a:r>
            <a:r>
              <a:rPr lang="en-US" sz="1200" dirty="0">
                <a:latin typeface="Corbel" panose="020B0503020204020204" pitchFamily="34" charset="0"/>
              </a:rPr>
              <a:t> with Pre-Alert </a:t>
            </a:r>
          </a:p>
          <a:p>
            <a:endParaRPr lang="en-US" sz="1200" dirty="0">
              <a:latin typeface="Corbel" panose="020B0503020204020204" pitchFamily="34" charset="0"/>
            </a:endParaRPr>
          </a:p>
          <a:p>
            <a:r>
              <a:rPr lang="en-US" sz="1200" b="1" u="sng" dirty="0">
                <a:latin typeface="Corbel" panose="020B0503020204020204" pitchFamily="34" charset="0"/>
                <a:ea typeface="Roboto" panose="02000000000000000000" pitchFamily="2" charset="0"/>
                <a:cs typeface="Roboto" panose="02000000000000000000" pitchFamily="2" charset="0"/>
              </a:rPr>
              <a:t>Polygon Radius:</a:t>
            </a:r>
          </a:p>
          <a:p>
            <a:endParaRPr lang="en-US" sz="1200" b="1" u="sng" dirty="0">
              <a:latin typeface="Corbel" panose="020B0503020204020204" pitchFamily="34" charset="0"/>
              <a:ea typeface="Roboto" panose="02000000000000000000" pitchFamily="2" charset="0"/>
              <a:cs typeface="Roboto" panose="02000000000000000000" pitchFamily="2"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b="1" u="sng"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endParaRPr lang="en-US" sz="1200" dirty="0">
              <a:latin typeface="Corbel" panose="020B0503020204020204" pitchFamily="34" charset="0"/>
            </a:endParaRPr>
          </a:p>
          <a:p>
            <a:r>
              <a:rPr lang="en-US" sz="1200" dirty="0">
                <a:latin typeface="Corbel" panose="020B0503020204020204" pitchFamily="34" charset="0"/>
              </a:rPr>
              <a:t>Note: Update the impacted region if further damages are reported in the extended region, outside the initial polygon.</a:t>
            </a:r>
          </a:p>
          <a:p>
            <a:endParaRPr lang="en-US" sz="1200" dirty="0">
              <a:latin typeface="Corbel" panose="020B0503020204020204" pitchFamily="34" charset="0"/>
            </a:endParaRPr>
          </a:p>
          <a:p>
            <a:r>
              <a:rPr lang="en-US" sz="1200" b="1" u="sng">
                <a:latin typeface="Corbel" panose="020B0503020204020204" pitchFamily="34" charset="0"/>
                <a:cs typeface="Calibri" panose="020F0502020204030204" pitchFamily="34" charset="0"/>
              </a:rPr>
              <a:t>Send Supplier Impact Confirmation? -</a:t>
            </a:r>
            <a:r>
              <a:rPr lang="en-US" sz="1200" b="1">
                <a:latin typeface="Corbel" panose="020B0503020204020204" pitchFamily="34" charset="0"/>
                <a:cs typeface="Calibri" panose="020F0502020204030204" pitchFamily="34" charset="0"/>
              </a:rPr>
              <a:t> YES (not for LOW severity; MEDIUM, HIGH, SEVERE only)</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576617"/>
            <a:ext cx="4114698" cy="616427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13" name="Table 12">
            <a:extLst>
              <a:ext uri="{FF2B5EF4-FFF2-40B4-BE49-F238E27FC236}">
                <a16:creationId xmlns:a16="http://schemas.microsoft.com/office/drawing/2014/main" id="{BCEDCE3E-1EC0-0E80-FC7C-24A5BB8F1A22}"/>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grpSp>
        <p:nvGrpSpPr>
          <p:cNvPr id="9" name="Group 8">
            <a:extLst>
              <a:ext uri="{FF2B5EF4-FFF2-40B4-BE49-F238E27FC236}">
                <a16:creationId xmlns:a16="http://schemas.microsoft.com/office/drawing/2014/main" id="{7AA3A0B0-DCDD-AEE5-6708-F93D9A64508E}"/>
              </a:ext>
            </a:extLst>
          </p:cNvPr>
          <p:cNvGrpSpPr/>
          <p:nvPr/>
        </p:nvGrpSpPr>
        <p:grpSpPr>
          <a:xfrm>
            <a:off x="4352986" y="4434387"/>
            <a:ext cx="5693221" cy="830997"/>
            <a:chOff x="4352987" y="4434387"/>
            <a:chExt cx="5636446" cy="830997"/>
          </a:xfrm>
        </p:grpSpPr>
        <p:sp>
          <p:nvSpPr>
            <p:cNvPr id="5" name="TextBox 4">
              <a:extLst>
                <a:ext uri="{FF2B5EF4-FFF2-40B4-BE49-F238E27FC236}">
                  <a16:creationId xmlns:a16="http://schemas.microsoft.com/office/drawing/2014/main" id="{352F5488-5FFE-EE32-7FD9-81ABF1739B12}"/>
                </a:ext>
              </a:extLst>
            </p:cNvPr>
            <p:cNvSpPr txBox="1"/>
            <p:nvPr/>
          </p:nvSpPr>
          <p:spPr>
            <a:xfrm>
              <a:off x="4407690" y="4526719"/>
              <a:ext cx="5250051" cy="646331"/>
            </a:xfrm>
            <a:prstGeom prst="rect">
              <a:avLst/>
            </a:prstGeom>
            <a:noFill/>
          </p:spPr>
          <p:txBody>
            <a:bodyPr wrap="square" rtlCol="0">
              <a:spAutoFit/>
            </a:bodyPr>
            <a:lstStyle/>
            <a:p>
              <a:r>
                <a:rPr lang="en-IN" sz="1200" b="1" u="sng" dirty="0">
                  <a:latin typeface="Corbel" panose="020B0503020204020204" pitchFamily="34" charset="0"/>
                </a:rPr>
                <a:t>Sub-Types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Naturally caused earthquakes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Shaking caused by bombs and tests</a:t>
              </a:r>
            </a:p>
          </p:txBody>
        </p:sp>
        <p:sp>
          <p:nvSpPr>
            <p:cNvPr id="4" name="Rectangle 3">
              <a:extLst>
                <a:ext uri="{FF2B5EF4-FFF2-40B4-BE49-F238E27FC236}">
                  <a16:creationId xmlns:a16="http://schemas.microsoft.com/office/drawing/2014/main" id="{E59D703E-8E4F-EF31-B457-2C8E762A6AB2}"/>
                </a:ext>
              </a:extLst>
            </p:cNvPr>
            <p:cNvSpPr/>
            <p:nvPr/>
          </p:nvSpPr>
          <p:spPr>
            <a:xfrm>
              <a:off x="4352987" y="4434387"/>
              <a:ext cx="5636446" cy="83099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2" name="TextBox 1">
              <a:extLst>
                <a:ext uri="{FF2B5EF4-FFF2-40B4-BE49-F238E27FC236}">
                  <a16:creationId xmlns:a16="http://schemas.microsoft.com/office/drawing/2014/main" id="{9D7F4BE2-6D38-3049-2530-1E58038F4CF8}"/>
                </a:ext>
              </a:extLst>
            </p:cNvPr>
            <p:cNvSpPr txBox="1"/>
            <p:nvPr/>
          </p:nvSpPr>
          <p:spPr>
            <a:xfrm>
              <a:off x="7192591" y="4711385"/>
              <a:ext cx="2765304" cy="461665"/>
            </a:xfrm>
            <a:prstGeom prst="rect">
              <a:avLst/>
            </a:prstGeom>
            <a:noFill/>
          </p:spPr>
          <p:txBody>
            <a:bodyPr wrap="square" rtlCol="0">
              <a:spAutoFit/>
            </a:bodyPr>
            <a:lstStyle/>
            <a:p>
              <a:pPr marL="171450" indent="-171450">
                <a:buFont typeface="Arial" panose="020B0604020202020204" pitchFamily="34" charset="0"/>
                <a:buChar char="•"/>
              </a:pPr>
              <a:r>
                <a:rPr lang="en-US" sz="1200" b="0" i="0" u="none" strike="noStrike" dirty="0">
                  <a:effectLst/>
                  <a:latin typeface="Corbel" panose="020B0503020204020204" pitchFamily="34" charset="0"/>
                </a:rPr>
                <a:t>Shaking caused by Volcanic activities</a:t>
              </a:r>
            </a:p>
            <a:p>
              <a:pPr marL="171450" indent="-171450">
                <a:buFont typeface="Arial" panose="020B0604020202020204" pitchFamily="34" charset="0"/>
                <a:buChar char="•"/>
              </a:pPr>
              <a:r>
                <a:rPr lang="en-US" sz="1200" b="0" i="0" u="none" strike="noStrike" dirty="0">
                  <a:effectLst/>
                  <a:latin typeface="Corbel" panose="020B0503020204020204" pitchFamily="34" charset="0"/>
                </a:rPr>
                <a:t>Tsunamis</a:t>
              </a:r>
              <a:r>
                <a:rPr lang="en-US" sz="1200" dirty="0">
                  <a:latin typeface="Corbel" panose="020B0503020204020204" pitchFamily="34" charset="0"/>
                </a:rPr>
                <a:t> </a:t>
              </a:r>
              <a:endParaRPr lang="en-IN" sz="1200" b="1" u="sng" dirty="0">
                <a:latin typeface="Corbel" panose="020B0503020204020204" pitchFamily="34" charset="0"/>
              </a:endParaRPr>
            </a:p>
          </p:txBody>
        </p:sp>
      </p:grpSp>
      <p:sp>
        <p:nvSpPr>
          <p:cNvPr id="3" name="TextBox 2">
            <a:extLst>
              <a:ext uri="{FF2B5EF4-FFF2-40B4-BE49-F238E27FC236}">
                <a16:creationId xmlns:a16="http://schemas.microsoft.com/office/drawing/2014/main" id="{DC522ABF-2F52-D705-A75A-007D778AB973}"/>
              </a:ext>
            </a:extLst>
          </p:cNvPr>
          <p:cNvSpPr txBox="1"/>
          <p:nvPr/>
        </p:nvSpPr>
        <p:spPr>
          <a:xfrm flipH="1">
            <a:off x="158390" y="647224"/>
            <a:ext cx="4089760" cy="5473165"/>
          </a:xfrm>
          <a:prstGeom prst="rect">
            <a:avLst/>
          </a:prstGeom>
          <a:noFill/>
        </p:spPr>
        <p:txBody>
          <a:bodyPr wrap="square" rtlCol="0">
            <a:spAutoFit/>
          </a:bodyPr>
          <a:lstStyle/>
          <a:p>
            <a:r>
              <a:rPr lang="en-IN" sz="1100" b="1" u="sng" dirty="0">
                <a:latin typeface="Corbel" panose="020B0503020204020204" pitchFamily="34" charset="0"/>
              </a:rPr>
              <a:t>Reporting Guidelines:</a:t>
            </a:r>
            <a:endParaRPr lang="en-IN" sz="1100" dirty="0">
              <a:latin typeface="Corbel" panose="020B0503020204020204" pitchFamily="34" charset="0"/>
            </a:endParaRPr>
          </a:p>
          <a:p>
            <a:pPr marL="171450" indent="-171450">
              <a:buFont typeface="Arial" panose="020B0604020202020204" pitchFamily="34" charset="0"/>
              <a:buChar char="•"/>
            </a:pPr>
            <a:r>
              <a:rPr lang="en-US" sz="1100" dirty="0">
                <a:latin typeface="Corbel" panose="020B0503020204020204" pitchFamily="34" charset="0"/>
              </a:rPr>
              <a:t>When magnitude is above 6.4, send Pre-Alert within 25 minutes once the feed is received on the Resilinc Feed Capturing System.</a:t>
            </a:r>
          </a:p>
          <a:p>
            <a:pPr marL="171450" indent="-171450">
              <a:buFont typeface="Arial" panose="020B0604020202020204" pitchFamily="34" charset="0"/>
              <a:buChar char="•"/>
            </a:pPr>
            <a:r>
              <a:rPr lang="en-US" sz="1100" dirty="0">
                <a:latin typeface="Corbel" panose="020B0503020204020204" pitchFamily="34" charset="0"/>
              </a:rPr>
              <a:t>When magnitude is below 6.4, send an alert within 45 minutes</a:t>
            </a:r>
          </a:p>
          <a:p>
            <a:pPr marL="171450" indent="-171450">
              <a:buFont typeface="Arial" panose="020B0604020202020204" pitchFamily="34" charset="0"/>
              <a:buChar char="•"/>
            </a:pPr>
            <a:r>
              <a:rPr lang="en-US" sz="1100" dirty="0">
                <a:latin typeface="Corbel" panose="020B0503020204020204" pitchFamily="34" charset="0"/>
              </a:rPr>
              <a:t>We do not notify all earthquakes. Alerting happens based on the following thresholds provided by Resilinc:</a:t>
            </a:r>
          </a:p>
          <a:p>
            <a:br>
              <a:rPr lang="en-US" sz="1100" dirty="0">
                <a:latin typeface="Corbel" panose="020B0503020204020204" pitchFamily="34" charset="0"/>
              </a:rPr>
            </a:br>
            <a:r>
              <a:rPr lang="en-US" sz="1100" dirty="0">
                <a:latin typeface="Corbel" panose="020B0503020204020204" pitchFamily="34" charset="0"/>
              </a:rPr>
              <a:t>Worldwide::</a:t>
            </a:r>
          </a:p>
          <a:p>
            <a:pPr marL="171450" indent="-171450">
              <a:buFont typeface="Arial" panose="020B0604020202020204" pitchFamily="34" charset="0"/>
              <a:buChar char="•"/>
            </a:pPr>
            <a:r>
              <a:rPr lang="en-US" sz="1100" dirty="0">
                <a:latin typeface="Corbel" panose="020B0503020204020204" pitchFamily="34" charset="0"/>
              </a:rPr>
              <a:t>Closely monitor M5.0 – M5.6 (notify only if disruptions observed)</a:t>
            </a:r>
          </a:p>
          <a:p>
            <a:pPr marL="171450" indent="-171450">
              <a:buFont typeface="Arial" panose="020B0604020202020204" pitchFamily="34" charset="0"/>
              <a:buChar char="•"/>
            </a:pPr>
            <a:r>
              <a:rPr lang="en-US" sz="1100" dirty="0">
                <a:latin typeface="Corbel" panose="020B0503020204020204" pitchFamily="34" charset="0"/>
              </a:rPr>
              <a:t>Notify Magnitude 5.7 or above straightaway when:</a:t>
            </a:r>
            <a:br>
              <a:rPr lang="en-US" sz="1100" dirty="0">
                <a:latin typeface="Corbel" panose="020B0503020204020204" pitchFamily="34" charset="0"/>
              </a:rPr>
            </a:br>
            <a:r>
              <a:rPr lang="en-US" sz="1100" dirty="0">
                <a:latin typeface="Corbel" panose="020B0503020204020204" pitchFamily="34" charset="0"/>
              </a:rPr>
              <a:t>- Epicenter on land and sites mapped in the region</a:t>
            </a:r>
            <a:br>
              <a:rPr lang="en-US" sz="1100" dirty="0">
                <a:latin typeface="Corbel" panose="020B0503020204020204" pitchFamily="34" charset="0"/>
              </a:rPr>
            </a:br>
            <a:r>
              <a:rPr lang="en-US" sz="1100" dirty="0">
                <a:latin typeface="Corbel" panose="020B0503020204020204" pitchFamily="34" charset="0"/>
              </a:rPr>
              <a:t>- Epicenter on land, no sites mapped but an important region</a:t>
            </a:r>
            <a:br>
              <a:rPr lang="en-US" sz="1100" dirty="0">
                <a:latin typeface="Corbel" panose="020B0503020204020204" pitchFamily="34" charset="0"/>
              </a:rPr>
            </a:br>
            <a:r>
              <a:rPr lang="en-US" sz="1100" dirty="0">
                <a:latin typeface="Corbel" panose="020B0503020204020204" pitchFamily="34" charset="0"/>
              </a:rPr>
              <a:t>- Epicenter off the coast and sites mapped in the coastal regions</a:t>
            </a:r>
            <a:br>
              <a:rPr lang="en-US" sz="1100" dirty="0">
                <a:latin typeface="Corbel" panose="020B0503020204020204" pitchFamily="34" charset="0"/>
              </a:rPr>
            </a:br>
            <a:r>
              <a:rPr lang="en-US" sz="1100" dirty="0">
                <a:latin typeface="Corbel" panose="020B0503020204020204" pitchFamily="34" charset="0"/>
              </a:rPr>
              <a:t>- Epicenter off the coast/Tsunami Alert issued</a:t>
            </a:r>
          </a:p>
          <a:p>
            <a:pPr marL="171450" indent="-171450">
              <a:buFont typeface="Arial" panose="020B0604020202020204" pitchFamily="34" charset="0"/>
              <a:buChar char="•"/>
            </a:pPr>
            <a:endParaRPr lang="en-US" sz="1100" dirty="0">
              <a:latin typeface="Corbel" panose="020B0503020204020204" pitchFamily="34" charset="0"/>
            </a:endParaRPr>
          </a:p>
          <a:p>
            <a:r>
              <a:rPr lang="en-IN" sz="1100" dirty="0">
                <a:latin typeface="Corbel" panose="020B0503020204020204" pitchFamily="34" charset="0"/>
              </a:rPr>
              <a:t>Check </a:t>
            </a:r>
            <a:r>
              <a:rPr lang="en-IN" sz="1100" dirty="0">
                <a:latin typeface="Corbel" panose="020B0503020204020204" pitchFamily="34" charset="0"/>
                <a:hlinkClick r:id="rId46"/>
              </a:rPr>
              <a:t>GDACS</a:t>
            </a:r>
            <a:r>
              <a:rPr lang="en-IN" sz="1100" dirty="0">
                <a:latin typeface="Corbel" panose="020B0503020204020204" pitchFamily="34" charset="0"/>
              </a:rPr>
              <a:t> and </a:t>
            </a:r>
            <a:r>
              <a:rPr lang="en-IN" sz="1100" dirty="0">
                <a:latin typeface="Corbel" panose="020B0503020204020204" pitchFamily="34" charset="0"/>
                <a:hlinkClick r:id="rId47"/>
              </a:rPr>
              <a:t>USGS</a:t>
            </a:r>
            <a:r>
              <a:rPr lang="en-IN" sz="1100" dirty="0">
                <a:latin typeface="Corbel" panose="020B0503020204020204" pitchFamily="34" charset="0"/>
              </a:rPr>
              <a:t> for details on earthquakes.</a:t>
            </a:r>
          </a:p>
          <a:p>
            <a:endParaRPr lang="en-US" sz="1100" dirty="0">
              <a:latin typeface="Corbel" panose="020B0503020204020204" pitchFamily="34" charset="0"/>
            </a:endParaRPr>
          </a:p>
          <a:p>
            <a:endParaRPr lang="en-US" sz="1100" dirty="0">
              <a:latin typeface="Corbel" panose="020B0503020204020204" pitchFamily="34" charset="0"/>
            </a:endParaRPr>
          </a:p>
          <a:p>
            <a:r>
              <a:rPr lang="en-US" sz="1100" dirty="0">
                <a:latin typeface="Corbel" panose="020B0503020204020204" pitchFamily="34" charset="0"/>
              </a:rPr>
              <a:t>NOTE:</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 we have supplier sites in the region, issue a customer impact with Pre-Alert and request supplier impact confirmation</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If/when disruptions reported, send an update within 2 hours of the Pre-Alert</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 further damages are reported, send an update every 6 hours (based on the availability of fresh information)</a:t>
            </a:r>
          </a:p>
          <a:p>
            <a:pPr marL="171450" lvl="0" indent="-171450">
              <a:lnSpc>
                <a:spcPct val="107000"/>
              </a:lnSpc>
              <a:buFont typeface="Arial" panose="020B0604020202020204" pitchFamily="34" charset="0"/>
              <a:buChar char="•"/>
            </a:pPr>
            <a:r>
              <a:rPr lang="en-IN" sz="1100" dirty="0">
                <a:latin typeface="Corbel" panose="020B0503020204020204" pitchFamily="34" charset="0"/>
              </a:rPr>
              <a:t>If no sites are mapped, but an important manufacturing country, send a LOW FYI News and save an empty polygon</a:t>
            </a:r>
          </a:p>
          <a:p>
            <a:pPr marL="171450" lvl="0" indent="-171450">
              <a:lnSpc>
                <a:spcPct val="107000"/>
              </a:lnSpc>
              <a:spcAft>
                <a:spcPts val="800"/>
              </a:spcAft>
              <a:buFont typeface="Arial" panose="020B0604020202020204" pitchFamily="34" charset="0"/>
              <a:buChar char="•"/>
            </a:pPr>
            <a:r>
              <a:rPr lang="en-IN" sz="1100" dirty="0">
                <a:latin typeface="Corbel" panose="020B0503020204020204" pitchFamily="34" charset="0"/>
              </a:rPr>
              <a:t>If no sites are mapped, but important infrastructure in the region including, but not limited to, ports, airports, power plants, dams, major border crossings, etc., send a LOW FYI News and save an empty polygon</a:t>
            </a:r>
          </a:p>
        </p:txBody>
      </p:sp>
      <p:graphicFrame>
        <p:nvGraphicFramePr>
          <p:cNvPr id="24" name="Table 23">
            <a:extLst>
              <a:ext uri="{FF2B5EF4-FFF2-40B4-BE49-F238E27FC236}">
                <a16:creationId xmlns:a16="http://schemas.microsoft.com/office/drawing/2014/main" id="{70A550A9-C9D1-00AF-7A5B-1087B6E2DDEA}"/>
              </a:ext>
            </a:extLst>
          </p:cNvPr>
          <p:cNvGraphicFramePr>
            <a:graphicFrameLocks noGrp="1"/>
          </p:cNvGraphicFramePr>
          <p:nvPr>
            <p:extLst>
              <p:ext uri="{D42A27DB-BD31-4B8C-83A1-F6EECF244321}">
                <p14:modId xmlns:p14="http://schemas.microsoft.com/office/powerpoint/2010/main" val="1605782906"/>
              </p:ext>
            </p:extLst>
          </p:nvPr>
        </p:nvGraphicFramePr>
        <p:xfrm>
          <a:off x="4409292" y="1543050"/>
          <a:ext cx="5622060" cy="1454150"/>
        </p:xfrm>
        <a:graphic>
          <a:graphicData uri="http://schemas.openxmlformats.org/drawingml/2006/table">
            <a:tbl>
              <a:tblPr/>
              <a:tblGrid>
                <a:gridCol w="209006">
                  <a:extLst>
                    <a:ext uri="{9D8B030D-6E8A-4147-A177-3AD203B41FA5}">
                      <a16:colId xmlns:a16="http://schemas.microsoft.com/office/drawing/2014/main" val="1508610795"/>
                    </a:ext>
                  </a:extLst>
                </a:gridCol>
                <a:gridCol w="523844">
                  <a:extLst>
                    <a:ext uri="{9D8B030D-6E8A-4147-A177-3AD203B41FA5}">
                      <a16:colId xmlns:a16="http://schemas.microsoft.com/office/drawing/2014/main" val="721080467"/>
                    </a:ext>
                  </a:extLst>
                </a:gridCol>
                <a:gridCol w="523844">
                  <a:extLst>
                    <a:ext uri="{9D8B030D-6E8A-4147-A177-3AD203B41FA5}">
                      <a16:colId xmlns:a16="http://schemas.microsoft.com/office/drawing/2014/main" val="3843004892"/>
                    </a:ext>
                  </a:extLst>
                </a:gridCol>
                <a:gridCol w="523844">
                  <a:extLst>
                    <a:ext uri="{9D8B030D-6E8A-4147-A177-3AD203B41FA5}">
                      <a16:colId xmlns:a16="http://schemas.microsoft.com/office/drawing/2014/main" val="2616935190"/>
                    </a:ext>
                  </a:extLst>
                </a:gridCol>
                <a:gridCol w="523844">
                  <a:extLst>
                    <a:ext uri="{9D8B030D-6E8A-4147-A177-3AD203B41FA5}">
                      <a16:colId xmlns:a16="http://schemas.microsoft.com/office/drawing/2014/main" val="3892320968"/>
                    </a:ext>
                  </a:extLst>
                </a:gridCol>
                <a:gridCol w="523844">
                  <a:extLst>
                    <a:ext uri="{9D8B030D-6E8A-4147-A177-3AD203B41FA5}">
                      <a16:colId xmlns:a16="http://schemas.microsoft.com/office/drawing/2014/main" val="4056971828"/>
                    </a:ext>
                  </a:extLst>
                </a:gridCol>
                <a:gridCol w="523844">
                  <a:extLst>
                    <a:ext uri="{9D8B030D-6E8A-4147-A177-3AD203B41FA5}">
                      <a16:colId xmlns:a16="http://schemas.microsoft.com/office/drawing/2014/main" val="3450880744"/>
                    </a:ext>
                  </a:extLst>
                </a:gridCol>
                <a:gridCol w="523844">
                  <a:extLst>
                    <a:ext uri="{9D8B030D-6E8A-4147-A177-3AD203B41FA5}">
                      <a16:colId xmlns:a16="http://schemas.microsoft.com/office/drawing/2014/main" val="3580032804"/>
                    </a:ext>
                  </a:extLst>
                </a:gridCol>
                <a:gridCol w="523844">
                  <a:extLst>
                    <a:ext uri="{9D8B030D-6E8A-4147-A177-3AD203B41FA5}">
                      <a16:colId xmlns:a16="http://schemas.microsoft.com/office/drawing/2014/main" val="4272952120"/>
                    </a:ext>
                  </a:extLst>
                </a:gridCol>
                <a:gridCol w="523844">
                  <a:extLst>
                    <a:ext uri="{9D8B030D-6E8A-4147-A177-3AD203B41FA5}">
                      <a16:colId xmlns:a16="http://schemas.microsoft.com/office/drawing/2014/main" val="4156170426"/>
                    </a:ext>
                  </a:extLst>
                </a:gridCol>
                <a:gridCol w="523844">
                  <a:extLst>
                    <a:ext uri="{9D8B030D-6E8A-4147-A177-3AD203B41FA5}">
                      <a16:colId xmlns:a16="http://schemas.microsoft.com/office/drawing/2014/main" val="3669864433"/>
                    </a:ext>
                  </a:extLst>
                </a:gridCol>
                <a:gridCol w="174614">
                  <a:extLst>
                    <a:ext uri="{9D8B030D-6E8A-4147-A177-3AD203B41FA5}">
                      <a16:colId xmlns:a16="http://schemas.microsoft.com/office/drawing/2014/main" val="2200335393"/>
                    </a:ext>
                  </a:extLst>
                </a:gridCol>
              </a:tblGrid>
              <a:tr h="190500">
                <a:tc rowSpan="2" gridSpan="2">
                  <a:txBody>
                    <a:bodyPr/>
                    <a:lstStyle/>
                    <a:p>
                      <a:pPr algn="ctr" rtl="0" fontAlgn="ctr"/>
                      <a:r>
                        <a:rPr lang="en-IN" sz="1000" b="1" i="0" u="none" strike="noStrike" dirty="0">
                          <a:solidFill>
                            <a:srgbClr val="000000"/>
                          </a:solidFill>
                          <a:effectLst/>
                          <a:latin typeface="Tw Cen MT" panose="020B0602020104020603" pitchFamily="34" charset="0"/>
                        </a:rPr>
                        <a:t>Rest of the World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IN"/>
                    </a:p>
                  </a:txBody>
                  <a:tcPr/>
                </a:tc>
                <a:tc gridSpan="9">
                  <a:txBody>
                    <a:bodyPr/>
                    <a:lstStyle/>
                    <a:p>
                      <a:pPr algn="ctr" fontAlgn="ctr"/>
                      <a:r>
                        <a:rPr lang="en-IN" sz="1000" b="1" i="0" u="none" strike="noStrike">
                          <a:solidFill>
                            <a:srgbClr val="000000"/>
                          </a:solidFill>
                          <a:effectLst/>
                          <a:highlight>
                            <a:srgbClr val="FFD966"/>
                          </a:highlight>
                          <a:latin typeface="Tw Cen MT" panose="020B0602020104020603" pitchFamily="34" charset="0"/>
                        </a:rPr>
                        <a:t>Magnitude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r>
                        <a:rPr lang="en-IN" sz="1000" b="0" i="0" u="none" strike="noStrike">
                          <a:solidFill>
                            <a:srgbClr val="000000"/>
                          </a:solidFill>
                          <a:effectLst/>
                          <a:latin typeface="Tw Cen MT" panose="020B0602020104020603" pitchFamily="34" charset="0"/>
                        </a:rPr>
                        <a:t> </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73787070"/>
                  </a:ext>
                </a:extLst>
              </a:tr>
              <a:tr h="336550">
                <a:tc gridSpan="2" vMerge="1">
                  <a:txBody>
                    <a:bodyPr/>
                    <a:lstStyle/>
                    <a:p>
                      <a:endParaRPr lang="en-IN"/>
                    </a:p>
                  </a:txBody>
                  <a:tcPr/>
                </a:tc>
                <a:tc hMerge="1" vMerge="1">
                  <a:txBody>
                    <a:bodyPr/>
                    <a:lstStyle/>
                    <a:p>
                      <a:endParaRPr lang="en-IN"/>
                    </a:p>
                  </a:txBody>
                  <a:tcPr/>
                </a:tc>
                <a:tc>
                  <a:txBody>
                    <a:bodyPr/>
                    <a:lstStyle/>
                    <a:p>
                      <a:pPr algn="ctr" rtl="0" fontAlgn="ctr"/>
                      <a:r>
                        <a:rPr lang="en-IN" sz="900" b="1" i="0" u="none" strike="noStrike" dirty="0">
                          <a:solidFill>
                            <a:srgbClr val="000000"/>
                          </a:solidFill>
                          <a:effectLst/>
                          <a:highlight>
                            <a:srgbClr val="F4B084"/>
                          </a:highlight>
                          <a:latin typeface="Tw Cen MT" panose="020B0602020104020603" pitchFamily="34" charset="0"/>
                        </a:rPr>
                        <a:t>5.0M - 5.4M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5.5M - 6.0M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6.1M - 6.5M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6.6M - 7.0M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7.1M - 7.5M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7.6M - 8.0M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8.1M - 8.5M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8.6M - 9.0M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rtl="0" fontAlgn="ctr"/>
                      <a:r>
                        <a:rPr lang="en-IN" sz="900" b="1" i="0" u="none" strike="noStrike">
                          <a:solidFill>
                            <a:srgbClr val="000000"/>
                          </a:solidFill>
                          <a:effectLst/>
                          <a:highlight>
                            <a:srgbClr val="F4B084"/>
                          </a:highlight>
                          <a:latin typeface="Tw Cen MT" panose="020B0602020104020603" pitchFamily="34" charset="0"/>
                        </a:rPr>
                        <a:t>9+</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l" rtl="0" fontAlgn="b"/>
                      <a:r>
                        <a:rPr lang="en-IN" sz="1000" b="0" i="0" u="none" strike="noStrike">
                          <a:solidFill>
                            <a:srgbClr val="000000"/>
                          </a:solidFill>
                          <a:effectLst/>
                          <a:latin typeface="Tw Cen MT" panose="020B0602020104020603" pitchFamily="34" charset="0"/>
                        </a:rPr>
                        <a:t> </a:t>
                      </a:r>
                    </a:p>
                  </a:txBody>
                  <a:tcPr marL="6350" marR="6350" marT="63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5759903"/>
                  </a:ext>
                </a:extLst>
              </a:tr>
              <a:tr h="184150">
                <a:tc rowSpan="5">
                  <a:txBody>
                    <a:bodyPr/>
                    <a:lstStyle/>
                    <a:p>
                      <a:pPr algn="ctr" rtl="0" fontAlgn="ctr"/>
                      <a:r>
                        <a:rPr lang="en-IN" sz="1000" b="1" i="0" u="none" strike="noStrike">
                          <a:solidFill>
                            <a:srgbClr val="000000"/>
                          </a:solidFill>
                          <a:effectLst/>
                          <a:highlight>
                            <a:srgbClr val="A9D08E"/>
                          </a:highlight>
                          <a:latin typeface="Tw Cen MT" panose="020B0602020104020603" pitchFamily="34" charset="0"/>
                        </a:rPr>
                        <a:t>Depth (Miles)</a:t>
                      </a:r>
                    </a:p>
                  </a:txBody>
                  <a:tcPr marL="6350" marR="6350" marT="635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0 to 10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153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495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540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5">
                  <a:txBody>
                    <a:bodyPr/>
                    <a:lstStyle/>
                    <a:p>
                      <a:pPr algn="ctr" rtl="0" fontAlgn="ctr"/>
                      <a:r>
                        <a:rPr lang="en-IN" sz="1000" b="1" i="0" u="none" strike="noStrike">
                          <a:solidFill>
                            <a:srgbClr val="000000"/>
                          </a:solidFill>
                          <a:effectLst/>
                          <a:highlight>
                            <a:srgbClr val="A9D08E"/>
                          </a:highlight>
                          <a:latin typeface="Tw Cen MT" panose="020B0602020104020603" pitchFamily="34" charset="0"/>
                        </a:rPr>
                        <a:t>Radius (Km)</a:t>
                      </a:r>
                    </a:p>
                  </a:txBody>
                  <a:tcPr marL="6350" marR="6350" marT="635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1692020375"/>
                  </a:ext>
                </a:extLst>
              </a:tr>
              <a:tr h="18415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11 to 20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135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180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495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3148432467"/>
                  </a:ext>
                </a:extLst>
              </a:tr>
              <a:tr h="18415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21 to 40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108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153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198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243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288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333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378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423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468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3898753997"/>
                  </a:ext>
                </a:extLst>
              </a:tr>
              <a:tr h="18415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41 to 60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90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135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180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225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270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315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360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405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450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669750236"/>
                  </a:ext>
                </a:extLst>
              </a:tr>
              <a:tr h="190500">
                <a:tc vMerge="1">
                  <a:txBody>
                    <a:bodyPr/>
                    <a:lstStyle/>
                    <a:p>
                      <a:endParaRPr lang="en-IN"/>
                    </a:p>
                  </a:txBody>
                  <a:tcPr/>
                </a:tc>
                <a:tc>
                  <a:txBody>
                    <a:bodyPr/>
                    <a:lstStyle/>
                    <a:p>
                      <a:pPr algn="ctr" rtl="0" fontAlgn="ctr"/>
                      <a:r>
                        <a:rPr lang="en-IN" sz="900" b="1" i="0" u="none" strike="noStrike" dirty="0">
                          <a:solidFill>
                            <a:srgbClr val="000000"/>
                          </a:solidFill>
                          <a:effectLst/>
                          <a:highlight>
                            <a:srgbClr val="C9C9C9"/>
                          </a:highlight>
                          <a:latin typeface="Tw Cen MT" panose="020B0602020104020603" pitchFamily="34" charset="0"/>
                        </a:rPr>
                        <a:t>61 - 80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C9C9"/>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72 km</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108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162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198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a:solidFill>
                            <a:srgbClr val="000000"/>
                          </a:solidFill>
                          <a:effectLst/>
                          <a:highlight>
                            <a:srgbClr val="FFF2CC"/>
                          </a:highlight>
                          <a:latin typeface="Tw Cen MT" panose="020B0602020104020603" pitchFamily="34" charset="0"/>
                        </a:rPr>
                        <a:t>252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288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333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378 km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IN" sz="900" b="0" i="0" u="none" strike="noStrike" dirty="0">
                          <a:solidFill>
                            <a:srgbClr val="000000"/>
                          </a:solidFill>
                          <a:effectLst/>
                          <a:highlight>
                            <a:srgbClr val="FFF2CC"/>
                          </a:highlight>
                          <a:latin typeface="Tw Cen MT" panose="020B0602020104020603" pitchFamily="34" charset="0"/>
                        </a:rPr>
                        <a:t>423 km</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vMerge="1">
                  <a:txBody>
                    <a:bodyPr/>
                    <a:lstStyle/>
                    <a:p>
                      <a:endParaRPr lang="en-IN"/>
                    </a:p>
                  </a:txBody>
                  <a:tcPr/>
                </a:tc>
                <a:extLst>
                  <a:ext uri="{0D108BD9-81ED-4DB2-BD59-A6C34878D82A}">
                    <a16:rowId xmlns:a16="http://schemas.microsoft.com/office/drawing/2014/main" val="234244550"/>
                  </a:ext>
                </a:extLst>
              </a:tr>
            </a:tbl>
          </a:graphicData>
        </a:graphic>
      </p:graphicFrame>
      <p:sp>
        <p:nvSpPr>
          <p:cNvPr id="12" name="Rectangle: Rounded Corners 11">
            <a:hlinkClick r:id="rId48" action="ppaction://hlinksldjump"/>
            <a:extLst>
              <a:ext uri="{FF2B5EF4-FFF2-40B4-BE49-F238E27FC236}">
                <a16:creationId xmlns:a16="http://schemas.microsoft.com/office/drawing/2014/main" id="{73F790FF-1D96-64A6-083D-CE4EB9A5FC28}"/>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8"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29141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7"/>
            <a:ext cx="5465086" cy="394052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757598" y="4350043"/>
            <a:ext cx="4113035" cy="2154436"/>
          </a:xfrm>
          <a:prstGeom prst="rect">
            <a:avLst/>
          </a:prstGeom>
          <a:noFill/>
        </p:spPr>
        <p:txBody>
          <a:bodyPr wrap="square" rtlCol="0">
            <a:spAutoFit/>
          </a:bodyPr>
          <a:lstStyle/>
          <a:p>
            <a:r>
              <a:rPr lang="en-IN" sz="1400" b="1" u="sng" dirty="0">
                <a:latin typeface="Corbel" panose="020B0503020204020204" pitchFamily="34" charset="0"/>
              </a:rPr>
              <a:t>Sub-Types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Site/Factory pollutant emissions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Air quality concerns after Spills/leaks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Protests/actions on emissions </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Regional-level Smog/health alerts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Neglect and Contamination, New/Update Regulations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River pollution/effects on water treatment</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Fines/Bans/Investigations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Dust Storms </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Governments actions and their impact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16498" y="228855"/>
            <a:ext cx="4169967" cy="830997"/>
          </a:xfrm>
          <a:prstGeom prst="rect">
            <a:avLst/>
          </a:prstGeom>
          <a:noFill/>
        </p:spPr>
        <p:txBody>
          <a:bodyPr wrap="square" rtlCol="0">
            <a:spAutoFit/>
          </a:bodyPr>
          <a:lstStyle/>
          <a:p>
            <a:r>
              <a:rPr lang="en-IN" sz="2400" b="1" dirty="0">
                <a:solidFill>
                  <a:srgbClr val="0070C0"/>
                </a:solidFill>
                <a:latin typeface="Corbel" panose="020B0503020204020204" pitchFamily="34" charset="0"/>
              </a:rPr>
              <a:t>ENVIRONMENTAL HAZARD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21410" y="807991"/>
            <a:ext cx="4270275" cy="4711161"/>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endParaRPr lang="en-US" sz="1400" b="0" i="0" u="none" strike="noStrike" dirty="0">
              <a:effectLst/>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Smog Alert-Notify highest level (Red) smog/pollution alerts if sites mapped in the region of impact (send impact)</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involved in air, water, or river pollution, high emissions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rate observed at the site</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etc.? Notify straightaway (send customer impact) </a:t>
            </a:r>
          </a:p>
          <a:p>
            <a:pPr>
              <a:lnSpc>
                <a:spcPct val="150000"/>
              </a:lnSpc>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the company is not mapped - Send a bulletin if products have applications in the industries, we cover. Possible sub-tier or Tier 1 yet to be mapped (decide based on product line)</a:t>
            </a:r>
          </a:p>
          <a:p>
            <a:pPr marL="285750" indent="-285750">
              <a:lnSpc>
                <a:spcPct val="150000"/>
              </a:lnSpc>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Service provider involved? Notify if applications in our verticals</a:t>
            </a:r>
          </a:p>
          <a:p>
            <a:pPr>
              <a:lnSpc>
                <a:spcPct val="150000"/>
              </a:lnSpc>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Note: Send updates on reported or potential citations, lawsuits, investigations, etc. If companies confirm operational disruptions, move to HIGH and send supplier impact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1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90071" y="353521"/>
            <a:ext cx="5313065" cy="3323987"/>
          </a:xfrm>
          <a:prstGeom prst="rect">
            <a:avLst/>
          </a:prstGeom>
          <a:noFill/>
        </p:spPr>
        <p:txBody>
          <a:bodyPr wrap="square" rtlCol="0">
            <a:spAutoFit/>
          </a:bodyPr>
          <a:lstStyle/>
          <a:p>
            <a:r>
              <a:rPr lang="en-US" sz="1400" b="1" u="sng" dirty="0">
                <a:latin typeface="Corbel" panose="020B0503020204020204" pitchFamily="34" charset="0"/>
                <a:cs typeface="Calibri" panose="020F0502020204030204" pitchFamily="34" charset="0"/>
              </a:rPr>
              <a:t>WarRoom Guidelines</a:t>
            </a:r>
            <a:endParaRPr lang="en-US" sz="1200" b="1" u="sng" dirty="0">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involved? Send impact to the exact site</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Regional event? Send impact if the site(s) mapped in the region of impact</a:t>
            </a:r>
          </a:p>
          <a:p>
            <a:br>
              <a:rPr lang="en-US" sz="1200" b="0" i="0" u="none" strike="noStrike" dirty="0">
                <a:solidFill>
                  <a:schemeClr val="tx1">
                    <a:lumMod val="85000"/>
                    <a:lumOff val="15000"/>
                  </a:schemeClr>
                </a:solidFill>
                <a:effectLst/>
                <a:latin typeface="Corbel" panose="020B0503020204020204" pitchFamily="34" charset="0"/>
              </a:rPr>
            </a:br>
            <a:r>
              <a:rPr lang="en-US" sz="1400" b="1" i="0" u="sng" strike="noStrike" dirty="0">
                <a:solidFill>
                  <a:schemeClr val="tx1">
                    <a:lumMod val="85000"/>
                    <a:lumOff val="15000"/>
                  </a:schemeClr>
                </a:solidFill>
                <a:effectLst/>
                <a:latin typeface="Corbel" panose="020B0503020204020204" pitchFamily="34" charset="0"/>
              </a:rPr>
              <a:t>Radius:</a:t>
            </a:r>
            <a:endParaRPr lang="en-US" sz="1200" dirty="0">
              <a:solidFill>
                <a:schemeClr val="tx1">
                  <a:lumMod val="85000"/>
                  <a:lumOff val="15000"/>
                </a:schemeClr>
              </a:solidFill>
              <a:latin typeface="Corbel" panose="020B0503020204020204" pitchFamily="34"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Low = Impact not needed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Medium = Affected region</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High = Affected + 10 km</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Severe = Affected + 30 km</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ndParaRP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supplier impact only when High or Severe</a:t>
            </a:r>
          </a:p>
          <a:p>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there are companies confirming disruptions to operations, move to HIGH and send supplier impact</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lvl="1"/>
            <a:endParaRPr lang="en-US" sz="1200" dirty="0">
              <a:latin typeface="Corbel" panose="020B0503020204020204" pitchFamily="34" charset="0"/>
              <a:cs typeface="Calibri" panose="020F0502020204030204" pitchFamily="34" charset="0"/>
            </a:endParaRPr>
          </a:p>
          <a:p>
            <a:r>
              <a:rPr lang="en-US" sz="1400" b="1" u="sng" dirty="0">
                <a:latin typeface="Corbel" panose="020B0503020204020204" pitchFamily="34" charset="0"/>
                <a:cs typeface="Calibri" panose="020F0502020204030204" pitchFamily="34" charset="0"/>
              </a:rPr>
              <a:t>Send Supplier Impact Confirmation? -</a:t>
            </a:r>
            <a:r>
              <a:rPr lang="en-US" sz="1400" b="1" dirty="0">
                <a:latin typeface="Corbel" panose="020B0503020204020204" pitchFamily="34" charset="0"/>
                <a:cs typeface="Calibri" panose="020F0502020204030204" pitchFamily="34" charset="0"/>
              </a:rPr>
              <a:t>  Yes</a:t>
            </a:r>
          </a:p>
          <a:p>
            <a:r>
              <a:rPr lang="en-US" sz="1200" b="1" dirty="0">
                <a:latin typeface="Corbel" panose="020B0503020204020204" pitchFamily="34" charset="0"/>
                <a:ea typeface="Roboto" panose="02000000000000000000" pitchFamily="2" charset="0"/>
                <a:cs typeface="Roboto" panose="02000000000000000000" pitchFamily="2" charset="0"/>
              </a:rPr>
              <a:t>(when disruptions have been confirmed by companies)</a:t>
            </a:r>
            <a:endParaRPr lang="en-IN" sz="1200" b="1" dirty="0">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74887"/>
            <a:ext cx="4225740" cy="646838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38050" y="4255088"/>
            <a:ext cx="5465086" cy="228818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8EF91255-F849-F1D3-714D-2ABE176343A1}"/>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6BC5040D-813E-CA06-59E6-5B3C91954F9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840039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718163" y="127319"/>
            <a:ext cx="5290427" cy="6603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46465" y="146320"/>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EXTREME WEATHER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46465" y="589479"/>
            <a:ext cx="4494410" cy="4924425"/>
          </a:xfrm>
          <a:prstGeom prst="rect">
            <a:avLst/>
          </a:prstGeom>
          <a:noFill/>
        </p:spPr>
        <p:txBody>
          <a:bodyPr wrap="square" rtlCol="0">
            <a:spAutoFit/>
          </a:bodyPr>
          <a:lstStyle/>
          <a:p>
            <a:pPr>
              <a:spcAft>
                <a:spcPts val="600"/>
              </a:spcAft>
            </a:pPr>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Report only highly disruptive weather scenarios (follow Hurricane/Typhoon criteria for major named hurricanes, cyclones, and typhoons).</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DO NOT REPORT thunderstorms and minor frequent weather disruptions.</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Notify extreme weather situations only if partner sites are in the region.</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Notify only if infrastructure damage, transportation disruptions, flight cancellations, or utility service disruptions are reported.</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Power outages: Notify if partner sites are found in the region.</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Monitor delivery and logistics services for transportation disruptions and report them if observed.</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Major Named Snowstorms: Notify proactively as soon as they are identified before the storm reaches the region.</a:t>
            </a:r>
          </a:p>
          <a:p>
            <a:pPr marL="171450" indent="-171450">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For smaller storms, if disruptions are reported within areas outside the initial polygon, create a new event instead of an update.</a:t>
            </a:r>
          </a:p>
        </p:txBody>
      </p:sp>
      <p:sp>
        <p:nvSpPr>
          <p:cNvPr id="8" name="TextBox 7">
            <a:extLst>
              <a:ext uri="{FF2B5EF4-FFF2-40B4-BE49-F238E27FC236}">
                <a16:creationId xmlns:a16="http://schemas.microsoft.com/office/drawing/2014/main" id="{B5610F2B-2AF4-ACCC-641F-7F6A8CA668E7}"/>
              </a:ext>
            </a:extLst>
          </p:cNvPr>
          <p:cNvSpPr txBox="1"/>
          <p:nvPr/>
        </p:nvSpPr>
        <p:spPr>
          <a:xfrm>
            <a:off x="4835270" y="246428"/>
            <a:ext cx="5096032" cy="6447919"/>
          </a:xfrm>
          <a:prstGeom prst="rect">
            <a:avLst/>
          </a:prstGeom>
          <a:noFill/>
        </p:spPr>
        <p:txBody>
          <a:bodyPr wrap="square" rtlCol="0">
            <a:spAutoFit/>
          </a:bodyPr>
          <a:lstStyle/>
          <a:p>
            <a:pPr>
              <a:spcAft>
                <a:spcPts val="600"/>
              </a:spcAft>
            </a:pPr>
            <a:r>
              <a:rPr lang="en-US" sz="1400" b="1" u="sng" dirty="0">
                <a:effectLst/>
                <a:latin typeface="Corbel" panose="020B0503020204020204" pitchFamily="34" charset="0"/>
              </a:rPr>
              <a:t>WarRoom Guidelines:</a:t>
            </a:r>
            <a:endParaRPr lang="en-US" sz="1400" dirty="0">
              <a:latin typeface="Corbel" panose="020B0503020204020204" pitchFamily="34" charset="0"/>
              <a:ea typeface="Roboto" panose="02000000000000000000" pitchFamily="2" charset="0"/>
              <a:cs typeface="Roboto" panose="02000000000000000000" pitchFamily="2" charset="0"/>
            </a:endParaRPr>
          </a:p>
          <a:p>
            <a:pPr rtl="0"/>
            <a:r>
              <a:rPr lang="en-US" sz="1200" dirty="0">
                <a:latin typeface="Corbel" panose="020B0503020204020204" pitchFamily="34" charset="0"/>
                <a:ea typeface="Roboto" panose="02000000000000000000" pitchFamily="2" charset="0"/>
                <a:cs typeface="Roboto" panose="02000000000000000000" pitchFamily="2" charset="0"/>
              </a:rPr>
              <a:t>Regions where supplier sites are present, create a WarRoom via geofencing</a:t>
            </a:r>
          </a:p>
          <a:p>
            <a:pPr marL="171450" indent="-171450" rtl="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Extreme weather polygon should cover most affected regions (Red zones only)</a:t>
            </a:r>
          </a:p>
          <a:p>
            <a:pPr marL="171450" indent="-171450" rtl="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Check if we have reports of a predicted path of the storm </a:t>
            </a:r>
          </a:p>
          <a:p>
            <a:pPr marL="171450" indent="-171450" rtl="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Check which regions are mentioned in the reports of disruptions</a:t>
            </a: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webkit-standard"/>
              </a:rPr>
              <a:t>If a storm system is more than 3 days old and is impacting a newer region, it is preferred that we do not update it with new suppliers and sites. Instead, a new WarRoom should be created.</a:t>
            </a:r>
          </a:p>
          <a:p>
            <a:pPr marL="171450" indent="-171450" rtl="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rtl="0"/>
            <a:endParaRPr lang="en-US" sz="1400" dirty="0">
              <a:latin typeface="Corbel" panose="020B0503020204020204" pitchFamily="34" charset="0"/>
            </a:endParaRPr>
          </a:p>
          <a:p>
            <a:pPr rtl="0"/>
            <a:endParaRPr lang="en-US" sz="1400" dirty="0">
              <a:effectLst/>
              <a:latin typeface="Corbel" panose="020B0503020204020204" pitchFamily="34" charset="0"/>
            </a:endParaRPr>
          </a:p>
          <a:p>
            <a:pPr rtl="0"/>
            <a:r>
              <a:rPr lang="en-US" sz="1400" b="1" u="sng" dirty="0">
                <a:effectLst/>
                <a:latin typeface="Corbel" panose="020B0503020204020204" pitchFamily="34" charset="0"/>
              </a:rPr>
              <a:t>Send Supplier Impact Confirmation? </a:t>
            </a:r>
          </a:p>
          <a:p>
            <a:pPr rtl="0"/>
            <a:endParaRPr lang="en-US" sz="1400" b="1" u="sng" dirty="0">
              <a:effectLst/>
              <a:latin typeface="Corbel" panose="020B0503020204020204" pitchFamily="34" charset="0"/>
            </a:endParaRPr>
          </a:p>
          <a:p>
            <a:pPr algn="l"/>
            <a:r>
              <a:rPr lang="en-US" sz="1200" dirty="0">
                <a:latin typeface="Corbel" panose="020B0503020204020204" pitchFamily="34" charset="0"/>
                <a:ea typeface="Roboto" panose="02000000000000000000" pitchFamily="2" charset="0"/>
                <a:cs typeface="Roboto" panose="02000000000000000000" pitchFamily="2" charset="0"/>
              </a:rPr>
              <a:t>We do not issue a "Supplier Impact Confirmation Request" for every extreme weather situation, as the supplier community does not appreciate it. The "Supplier Impact Confirmation Request" is issued only when:</a:t>
            </a:r>
          </a:p>
          <a:p>
            <a:pPr algn="l"/>
            <a:endParaRPr lang="en-US" sz="1200" dirty="0">
              <a:latin typeface="Corbel" panose="020B0503020204020204" pitchFamily="34" charset="0"/>
              <a:ea typeface="Roboto" panose="02000000000000000000" pitchFamily="2" charset="0"/>
              <a:cs typeface="Roboto" panose="02000000000000000000" pitchFamily="2" charset="0"/>
            </a:endParaRPr>
          </a:p>
          <a:p>
            <a:pPr algn="l">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There are companies in the affected region publicly confirming disruptions to operations.</a:t>
            </a:r>
          </a:p>
          <a:p>
            <a:pPr algn="l">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There are signs of evacuations, power outages, impacts on utility services, etc.</a:t>
            </a:r>
          </a:p>
          <a:p>
            <a:pPr algn="l">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There are significantly affected areas (red zones) with multiple reports of disruptions.</a:t>
            </a:r>
          </a:p>
          <a:p>
            <a:pPr algn="l"/>
            <a:endParaRPr lang="en-US" sz="1200" dirty="0">
              <a:latin typeface="Corbel" panose="020B0503020204020204" pitchFamily="34" charset="0"/>
              <a:ea typeface="Roboto" panose="02000000000000000000" pitchFamily="2" charset="0"/>
              <a:cs typeface="Roboto" panose="02000000000000000000" pitchFamily="2" charset="0"/>
            </a:endParaRPr>
          </a:p>
          <a:p>
            <a:pPr algn="l"/>
            <a:r>
              <a:rPr lang="en-US" sz="1200" dirty="0">
                <a:latin typeface="Corbel" panose="020B0503020204020204" pitchFamily="34" charset="0"/>
                <a:ea typeface="Roboto" panose="02000000000000000000" pitchFamily="2" charset="0"/>
                <a:cs typeface="Roboto" panose="02000000000000000000" pitchFamily="2" charset="0"/>
              </a:rPr>
              <a:t>Note: There are some cases where there is a need to issue an impact confirmation request for a previously published update. This happens when reports of disruptions start surfacing the day after the event was published.</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27321"/>
            <a:ext cx="4407271" cy="526516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146465" y="5548325"/>
            <a:ext cx="4377303" cy="118235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TextBox 3">
            <a:extLst>
              <a:ext uri="{FF2B5EF4-FFF2-40B4-BE49-F238E27FC236}">
                <a16:creationId xmlns:a16="http://schemas.microsoft.com/office/drawing/2014/main" id="{BACF0A14-98EE-E23E-017B-00BC8131F45F}"/>
              </a:ext>
            </a:extLst>
          </p:cNvPr>
          <p:cNvSpPr txBox="1"/>
          <p:nvPr/>
        </p:nvSpPr>
        <p:spPr>
          <a:xfrm>
            <a:off x="221367" y="5617166"/>
            <a:ext cx="4323092" cy="1046440"/>
          </a:xfrm>
          <a:prstGeom prst="rect">
            <a:avLst/>
          </a:prstGeom>
          <a:noFill/>
        </p:spPr>
        <p:txBody>
          <a:bodyPr wrap="square">
            <a:spAutoFit/>
          </a:bodyPr>
          <a:lstStyle/>
          <a:p>
            <a:r>
              <a:rPr lang="en-IN" sz="1400" b="1" u="sng" dirty="0">
                <a:latin typeface="Corbel" panose="020B0503020204020204" pitchFamily="34" charset="0"/>
              </a:rPr>
              <a:t>Sub-Types: </a:t>
            </a:r>
          </a:p>
          <a:p>
            <a:pPr marL="171450" indent="-171450">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Nor'easters, Bomb cyclone, Arctic Outbreaks/blast, Ice Storms, Polar Vortex</a:t>
            </a:r>
          </a:p>
          <a:p>
            <a:pPr marL="171450" indent="-171450">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Major Winter/Ice Storms</a:t>
            </a:r>
          </a:p>
          <a:p>
            <a:pPr marL="171450" indent="-171450">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Lake-effect snow warnings</a:t>
            </a:r>
          </a:p>
        </p:txBody>
      </p:sp>
      <p:graphicFrame>
        <p:nvGraphicFramePr>
          <p:cNvPr id="3" name="Table 2">
            <a:extLst>
              <a:ext uri="{FF2B5EF4-FFF2-40B4-BE49-F238E27FC236}">
                <a16:creationId xmlns:a16="http://schemas.microsoft.com/office/drawing/2014/main" id="{E1152633-13D1-FDD0-2EE5-92B504E152D5}"/>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5" name="Rectangle: Rounded Corners 4">
            <a:hlinkClick r:id="rId46" action="ppaction://hlinksldjump"/>
            <a:extLst>
              <a:ext uri="{FF2B5EF4-FFF2-40B4-BE49-F238E27FC236}">
                <a16:creationId xmlns:a16="http://schemas.microsoft.com/office/drawing/2014/main" id="{D371CACD-9177-6C80-406B-0936EC75A6A8}"/>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650827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27321"/>
            <a:ext cx="5465086" cy="307776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44384" y="217530"/>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FDA/EMA/OSHA Action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59643" y="627748"/>
            <a:ext cx="4232640" cy="6063198"/>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We notify all kinds of regulatory warnings/citations issued to companies and sites. </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If mapped sites/company, we notify with the impact attached</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EventWatch Reports </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hlinkClick r:id="rId2"/>
              </a:rPr>
              <a:t>FDA Warning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FDA 483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hlinkClick r:id="rId3"/>
              </a:rPr>
              <a:t>| OSHA fine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hlinkClick r:id="rId4"/>
              </a:rPr>
              <a:t>EMA regulatory changes</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hlinkClick r:id="rId5"/>
              </a:rPr>
              <a:t> EUDRA warning</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Other agency warnings and investigations. </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any citation by any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regulatory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agency in the world</a:t>
            </a:r>
          </a:p>
          <a:p>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There are many foreign bodies that issue citations to manufacturing sites and issue warnings on poor quality controls. We should be notifying such warnings and citations</a:t>
            </a:r>
          </a:p>
          <a:p>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If the affected company is not mapped, still notify based on Product applications, including petrochemicals,</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healthcare, specialty chemicals, APIs,</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plastics, glass, coatings, resins, adhesives, packaging, metals, mining,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and more</a:t>
            </a:r>
            <a:b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FDA Form 483</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Notify only if a partner is involved</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Send impact if the site is mapped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NOTE: FDA/EMA stories are published with a lag and can be over a week old</a:t>
            </a:r>
            <a:endParaRPr lang="en-IN" sz="11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34439" y="129399"/>
            <a:ext cx="5359290" cy="1723549"/>
          </a:xfrm>
          <a:prstGeom prst="rect">
            <a:avLst/>
          </a:prstGeom>
          <a:noFill/>
        </p:spPr>
        <p:txBody>
          <a:bodyPr wrap="square" rtlCol="0">
            <a:spAutoFit/>
          </a:bodyPr>
          <a:lstStyle/>
          <a:p>
            <a:r>
              <a:rPr lang="en-US" sz="1400" b="1" u="sng" dirty="0">
                <a:latin typeface="Corbel" panose="020B0503020204020204" pitchFamily="34" charset="0"/>
              </a:rPr>
              <a:t>WarRoom Guidelines</a:t>
            </a:r>
          </a:p>
          <a:p>
            <a:endParaRPr lang="en-US" sz="1400" b="1" u="sng" dirty="0">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if the affected site or company is mapped. </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only a specific site is affected, send impact to that site only</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endParaRPr lang="en-US" sz="1200" b="1" u="sng" dirty="0">
              <a:latin typeface="Corbel" panose="020B0503020204020204" pitchFamily="34" charset="0"/>
              <a:ea typeface="Roboto" panose="02000000000000000000" pitchFamily="2" charset="0"/>
              <a:cs typeface="Roboto" panose="02000000000000000000" pitchFamily="2" charset="0"/>
            </a:endParaRPr>
          </a:p>
          <a:p>
            <a:r>
              <a:rPr lang="en-US" sz="1200" b="1" u="sng" dirty="0">
                <a:latin typeface="Corbel" panose="020B0503020204020204" pitchFamily="34" charset="0"/>
                <a:cs typeface="Calibri" panose="020F0502020204030204" pitchFamily="34" charset="0"/>
              </a:rPr>
              <a:t>Send Supplier Impact Confirmation? -</a:t>
            </a:r>
            <a:r>
              <a:rPr lang="en-US" sz="1200" b="1" dirty="0">
                <a:latin typeface="Corbel" panose="020B0503020204020204" pitchFamily="34" charset="0"/>
                <a:cs typeface="Calibri" panose="020F0502020204030204" pitchFamily="34" charset="0"/>
              </a:rPr>
              <a:t> YES (not for LOW severity; MEDIUM, HIGH, SEVERE only)</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27321"/>
            <a:ext cx="4225740" cy="659266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97949" y="3429000"/>
            <a:ext cx="5341083" cy="326904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TextBox 3">
            <a:extLst>
              <a:ext uri="{FF2B5EF4-FFF2-40B4-BE49-F238E27FC236}">
                <a16:creationId xmlns:a16="http://schemas.microsoft.com/office/drawing/2014/main" id="{BACF0A14-98EE-E23E-017B-00BC8131F45F}"/>
              </a:ext>
            </a:extLst>
          </p:cNvPr>
          <p:cNvSpPr txBox="1"/>
          <p:nvPr/>
        </p:nvSpPr>
        <p:spPr>
          <a:xfrm>
            <a:off x="4665174" y="3469825"/>
            <a:ext cx="5395779" cy="2893100"/>
          </a:xfrm>
          <a:prstGeom prst="rect">
            <a:avLst/>
          </a:prstGeom>
          <a:noFill/>
        </p:spPr>
        <p:txBody>
          <a:bodyPr wrap="square">
            <a:spAutoFit/>
          </a:bodyPr>
          <a:lstStyle/>
          <a:p>
            <a:r>
              <a:rPr lang="en-IN" sz="1400" b="1" u="sng" dirty="0">
                <a:latin typeface="Corbel" panose="020B0503020204020204" pitchFamily="34" charset="0"/>
              </a:rPr>
              <a:t>Sub-Types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Good manufacturing practices issues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Citation and warnings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Quality issues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Compliance</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Product safety</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a:t>
            </a:r>
            <a:r>
              <a:rPr lang="en-US" sz="1200" dirty="0">
                <a:latin typeface="Corbel" panose="020B0503020204020204" pitchFamily="34" charset="0"/>
                <a:ea typeface="Roboto" panose="02000000000000000000" pitchFamily="2" charset="0"/>
                <a:cs typeface="Roboto" panose="02000000000000000000" pitchFamily="2" charset="0"/>
              </a:rPr>
              <a:t>w</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arnings</a:t>
            </a:r>
            <a:r>
              <a:rPr lang="en-US" sz="1200" dirty="0">
                <a:latin typeface="Corbel" panose="020B0503020204020204" pitchFamily="34" charset="0"/>
                <a:ea typeface="Roboto" panose="02000000000000000000" pitchFamily="2" charset="0"/>
                <a:cs typeface="Roboto" panose="02000000000000000000" pitchFamily="2" charset="0"/>
              </a:rPr>
              <a:t>/Drug Safety Alerts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Investigations</a:t>
            </a:r>
            <a:r>
              <a:rPr lang="en-US" sz="1200" dirty="0">
                <a:latin typeface="Corbel" panose="020B0503020204020204" pitchFamily="34" charset="0"/>
                <a:ea typeface="Roboto" panose="02000000000000000000" pitchFamily="2" charset="0"/>
                <a:cs typeface="Roboto" panose="02000000000000000000" pitchFamily="2" charset="0"/>
              </a:rPr>
              <a:t>/</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Findings</a:t>
            </a:r>
            <a:r>
              <a:rPr lang="en-US" sz="1200" dirty="0">
                <a:latin typeface="Corbel" panose="020B0503020204020204" pitchFamily="34" charset="0"/>
                <a:ea typeface="Roboto" panose="02000000000000000000" pitchFamily="2" charset="0"/>
                <a:cs typeface="Roboto" panose="02000000000000000000" pitchFamily="2" charset="0"/>
              </a:rPr>
              <a:t>- f</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ines, bans, dismissals, sei</a:t>
            </a:r>
            <a:r>
              <a:rPr lang="en-US" sz="1200" dirty="0">
                <a:latin typeface="Corbel" panose="020B0503020204020204" pitchFamily="34" charset="0"/>
                <a:ea typeface="Roboto" panose="02000000000000000000" pitchFamily="2" charset="0"/>
                <a:cs typeface="Roboto" panose="02000000000000000000" pitchFamily="2" charset="0"/>
              </a:rPr>
              <a:t>zures, s</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uspensions</a:t>
            </a:r>
            <a:r>
              <a:rPr lang="en-US" sz="1200" dirty="0">
                <a:latin typeface="Corbel" panose="020B0503020204020204" pitchFamily="34" charset="0"/>
                <a:ea typeface="Roboto" panose="02000000000000000000" pitchFamily="2" charset="0"/>
                <a:cs typeface="Roboto" panose="02000000000000000000" pitchFamily="2" charset="0"/>
              </a:rPr>
              <a:t>, r</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evokes</a:t>
            </a:r>
            <a:r>
              <a:rPr lang="en-US" sz="1200" dirty="0">
                <a:latin typeface="Corbel" panose="020B0503020204020204" pitchFamily="34" charset="0"/>
                <a:ea typeface="Roboto" panose="02000000000000000000" pitchFamily="2" charset="0"/>
                <a:cs typeface="Roboto" panose="02000000000000000000" pitchFamily="2" charset="0"/>
              </a:rPr>
              <a:t> </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Recalls/Shortages</a:t>
            </a:r>
            <a:r>
              <a:rPr lang="en-US" sz="1200" dirty="0">
                <a:latin typeface="Corbel" panose="020B0503020204020204" pitchFamily="34" charset="0"/>
                <a:ea typeface="Roboto" panose="02000000000000000000" pitchFamily="2" charset="0"/>
                <a:cs typeface="Roboto" panose="02000000000000000000" pitchFamily="2" charset="0"/>
              </a:rPr>
              <a:t> </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Field corrective actions/Controlled drugs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Workplace safety</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Health risk communication -Guidance, Law &amp; Regulations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Export/Import halts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Supply difficulties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Drug Tariff</a:t>
            </a:r>
            <a:br>
              <a:rPr lang="en-US" sz="1200" dirty="0">
                <a:latin typeface="Corbel" panose="020B0503020204020204" pitchFamily="34" charset="0"/>
              </a:rPr>
            </a:br>
            <a:endParaRPr lang="en-IN" sz="1200" b="1" u="sng" dirty="0">
              <a:latin typeface="Corbel" panose="020B0503020204020204" pitchFamily="34" charset="0"/>
            </a:endParaRPr>
          </a:p>
        </p:txBody>
      </p:sp>
      <p:graphicFrame>
        <p:nvGraphicFramePr>
          <p:cNvPr id="3" name="Table 2">
            <a:extLst>
              <a:ext uri="{FF2B5EF4-FFF2-40B4-BE49-F238E27FC236}">
                <a16:creationId xmlns:a16="http://schemas.microsoft.com/office/drawing/2014/main" id="{C60BE342-8415-E4E1-C5C6-D62CDADF9683}"/>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0"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6"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30"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4"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5"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6"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7"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8"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6"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9"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50" action="ppaction://hlinksldjump"/>
            <a:extLst>
              <a:ext uri="{FF2B5EF4-FFF2-40B4-BE49-F238E27FC236}">
                <a16:creationId xmlns:a16="http://schemas.microsoft.com/office/drawing/2014/main" id="{FCDC6447-DCCE-CB5C-495D-901CF12F8168}"/>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50"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403159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872346" y="234004"/>
            <a:ext cx="4935808" cy="258879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043207" y="3101339"/>
            <a:ext cx="4978829" cy="3046988"/>
          </a:xfrm>
          <a:prstGeom prst="rect">
            <a:avLst/>
          </a:prstGeom>
          <a:noFill/>
        </p:spPr>
        <p:txBody>
          <a:bodyPr wrap="square" rtlCol="0">
            <a:spAutoFit/>
          </a:bodyPr>
          <a:lstStyle/>
          <a:p>
            <a:r>
              <a:rPr lang="en-IN" sz="1400" b="1" u="sng" dirty="0">
                <a:latin typeface="Corbel" panose="020B0503020204020204" pitchFamily="34" charset="0"/>
              </a:rPr>
              <a:t>Sub-Types:</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Fire and explosion at Warehouse/factory/plant </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Fire/explosion at a neighboring facility</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Minor fires, explosions, and evacuations</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ondisruptive/already recovered</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Subsequent investigations and repairs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Fine or Force Majeure due to fire</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Triggers protests, legal actions, or plant closure</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Manufacturing/services/utility disruption</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Plant substation fire</a:t>
            </a: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Fire just </a:t>
            </a: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outside the facility</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33191" y="284582"/>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FACTORY FIRE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34564" y="769856"/>
            <a:ext cx="4497411" cy="6063198"/>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171450" indent="-1714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Report factory fires proactively. </a:t>
            </a:r>
            <a:r>
              <a:rPr lang="en-US" sz="1400" i="0"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We</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r</a:t>
            </a:r>
            <a:r>
              <a:rPr lang="en-US" sz="1200" i="0"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eport a factory fire, even if the articles say it is a small fire or has been extinguished.</a:t>
            </a:r>
          </a:p>
          <a:p>
            <a:pPr marL="171450" indent="-171450">
              <a:buFont typeface="Arial" panose="020B0604020202020204" pitchFamily="34" charset="0"/>
              <a:buChar char="•"/>
            </a:pPr>
            <a:endParaRPr lang="en-US" sz="1200" i="0"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a fire is reported at a partner site/warehouse, notify with impact to the exact site. </a:t>
            </a:r>
          </a:p>
          <a:p>
            <a:pPr marL="171450" indent="-171450">
              <a:buFont typeface="Arial" panose="020B0604020202020204" pitchFamily="34" charset="0"/>
              <a:buChar char="•"/>
            </a:pPr>
            <a:endPar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Check if there are evacuations in neighboring sites. If yes, notify with a polygon.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However, check if a street address is provided by the news sources</a:t>
            </a:r>
            <a:endPar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a fire breaks out at a non-mapped factory/warehouse, notify if the product line of the company is relevant to our industrial verticals. Assume it’s a possible sub-tier or a T1 yet to be mapped.</a:t>
            </a:r>
          </a:p>
          <a:p>
            <a:pPr marL="171450" indent="-1714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applications do not have a connection to our verticals? Check if its an indirect supplier, if yes, notify</a:t>
            </a:r>
          </a:p>
          <a:p>
            <a:pPr marL="171450" indent="-1714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the service sector is involved - Check if their services have applications in our vertical: logistics provider, cargo shipping, petrochemicals, specialty chemicals, IT consultancy, utility provider, farming company, and more</a:t>
            </a:r>
          </a:p>
          <a:p>
            <a:pPr marL="171450" indent="-1714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Utility or services sector? Check if there are sites mapped in the region served by the affected services </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 sites? Check if major manufacturing hubs, ports, airports, roads, and mining operations in the affected region</a:t>
            </a:r>
          </a:p>
          <a:p>
            <a:pPr marL="171450" indent="-1714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Updates may follow a fire incident that may trigger a strike, legal action, or factory shutdown by the authorities.</a:t>
            </a:r>
          </a:p>
        </p:txBody>
      </p:sp>
      <p:sp>
        <p:nvSpPr>
          <p:cNvPr id="8" name="TextBox 7">
            <a:extLst>
              <a:ext uri="{FF2B5EF4-FFF2-40B4-BE49-F238E27FC236}">
                <a16:creationId xmlns:a16="http://schemas.microsoft.com/office/drawing/2014/main" id="{B5610F2B-2AF4-ACCC-641F-7F6A8CA668E7}"/>
              </a:ext>
            </a:extLst>
          </p:cNvPr>
          <p:cNvSpPr txBox="1"/>
          <p:nvPr/>
        </p:nvSpPr>
        <p:spPr>
          <a:xfrm>
            <a:off x="5137900" y="339608"/>
            <a:ext cx="5081198" cy="2339102"/>
          </a:xfrm>
          <a:prstGeom prst="rect">
            <a:avLst/>
          </a:prstGeom>
          <a:noFill/>
        </p:spPr>
        <p:txBody>
          <a:bodyPr wrap="square" rtlCol="0">
            <a:spAutoFit/>
          </a:bodyPr>
          <a:lstStyle/>
          <a:p>
            <a:r>
              <a:rPr lang="en-US" sz="1400" b="1" u="sng" dirty="0">
                <a:latin typeface="Corbel" panose="020B0503020204020204" pitchFamily="34" charset="0"/>
                <a:cs typeface="Calibri" panose="020F0502020204030204" pitchFamily="34" charset="0"/>
              </a:rPr>
              <a:t>WarRoom Guidelines:</a:t>
            </a: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When a partner site(s) is involved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Evacuations/restrictions reported in the neighborhood. Draw a polygon around the affected region</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0.5 km radius if evacuations are reported in the region</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a radius of evacuations is mentioned in articles, go by that</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200" b="1" u="sng" dirty="0">
                <a:latin typeface="Corbel" panose="020B0503020204020204" pitchFamily="34" charset="0"/>
                <a:cs typeface="Calibri" panose="020F0502020204030204" pitchFamily="34" charset="0"/>
              </a:rPr>
              <a:t>Send Supplier Impact Confirmation? -</a:t>
            </a:r>
            <a:r>
              <a:rPr lang="en-US" sz="1200" b="1" dirty="0">
                <a:latin typeface="Corbel" panose="020B0503020204020204" pitchFamily="34" charset="0"/>
                <a:cs typeface="Calibri" panose="020F0502020204030204" pitchFamily="34" charset="0"/>
              </a:rPr>
              <a:t> YES (not for LOW severity; MEDIUM, HIGH, SEVERE only)</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562285" cy="649618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891987" y="3061418"/>
            <a:ext cx="5190205" cy="345697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E3E6688C-A4A4-EEAC-71FE-89F3CEBF6DE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3152E849-8086-EE33-530D-180C401823AB}"/>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686566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019792" y="166714"/>
            <a:ext cx="4675859" cy="255448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16498" y="320939"/>
            <a:ext cx="4650722"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FACTORY DISRUPTIONS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66676" y="1102206"/>
            <a:ext cx="4550365" cy="4703467"/>
          </a:xfrm>
          <a:prstGeom prst="rect">
            <a:avLst/>
          </a:prstGeom>
          <a:noFill/>
        </p:spPr>
        <p:txBody>
          <a:bodyPr wrap="square" rtlCol="0">
            <a:spAutoFit/>
          </a:bodyPr>
          <a:lstStyle/>
          <a:p>
            <a:r>
              <a:rPr lang="en-IN" sz="1350" b="1" u="sng" dirty="0">
                <a:solidFill>
                  <a:schemeClr val="tx1">
                    <a:lumMod val="85000"/>
                    <a:lumOff val="15000"/>
                  </a:schemeClr>
                </a:solidFill>
                <a:latin typeface="Corbel" panose="020B0503020204020204" pitchFamily="34" charset="0"/>
                <a:cs typeface="Calibri" panose="020F0502020204030204" pitchFamily="34" charset="0"/>
              </a:rPr>
              <a:t>Reporting Guidelines</a:t>
            </a:r>
            <a:r>
              <a:rPr lang="en-US" sz="1350" dirty="0">
                <a:solidFill>
                  <a:schemeClr val="tx1">
                    <a:lumMod val="85000"/>
                    <a:lumOff val="15000"/>
                  </a:schemeClr>
                </a:solidFill>
                <a:latin typeface="Corbel" panose="020B0503020204020204" pitchFamily="34" charset="0"/>
                <a:cs typeface="Calibri" panose="020F0502020204030204" pitchFamily="34" charset="0"/>
              </a:rPr>
              <a:t>:</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shutdowns, evacuations, industrial accidents, labor strikes, shooting incidents, production transfer, and other site-level disruptions that can affect the site's operations.</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a temporary/permanent closure is reported at the mapped partner site/warehouse, notify it with impact to the exact site.</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a non-mapped partner announces closure, report if the product line and applications match our verticals. Assume it’s a possible sub-tier or a T1 yet to be mapped.</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a service sector is involved - Check if their services have applications in our vertical: logistics provider, cargo shipping, petrochemicals, specialty chemicals, IT consultancy, utility provider, farming company, and more</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sites mapped in the region served by the service provider</a:t>
            </a:r>
          </a:p>
          <a:p>
            <a:pPr>
              <a:lnSpc>
                <a:spcPct val="150000"/>
              </a:lnSpc>
            </a:pPr>
            <a:endParaRPr lang="en-US" sz="1200" dirty="0">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NOTE: If the exact site(s) are mapped, send impact with the initial bulletin. Send an update a day before the shutdown happens</a:t>
            </a:r>
          </a:p>
        </p:txBody>
      </p:sp>
      <p:sp>
        <p:nvSpPr>
          <p:cNvPr id="8" name="TextBox 7">
            <a:extLst>
              <a:ext uri="{FF2B5EF4-FFF2-40B4-BE49-F238E27FC236}">
                <a16:creationId xmlns:a16="http://schemas.microsoft.com/office/drawing/2014/main" id="{B5610F2B-2AF4-ACCC-641F-7F6A8CA668E7}"/>
              </a:ext>
            </a:extLst>
          </p:cNvPr>
          <p:cNvSpPr txBox="1"/>
          <p:nvPr/>
        </p:nvSpPr>
        <p:spPr>
          <a:xfrm>
            <a:off x="5035027" y="283368"/>
            <a:ext cx="4700883" cy="2223686"/>
          </a:xfrm>
          <a:prstGeom prst="rect">
            <a:avLst/>
          </a:prstGeom>
          <a:noFill/>
        </p:spPr>
        <p:txBody>
          <a:bodyPr wrap="square" rtlCol="0">
            <a:spAutoFit/>
          </a:bodyPr>
          <a:lstStyle/>
          <a:p>
            <a:r>
              <a:rPr lang="en-US" sz="1400" b="1" u="sng">
                <a:latin typeface="Corbel" panose="020B0503020204020204" pitchFamily="34" charset="0"/>
              </a:rPr>
              <a:t>WarRoom Guidelines</a:t>
            </a:r>
          </a:p>
          <a:p>
            <a:pPr>
              <a:lnSpc>
                <a:spcPct val="150000"/>
              </a:lnSpc>
            </a:pPr>
            <a:r>
              <a:rPr lang="en-US" sz="1300" b="0" i="0" u="none" strike="noStrike" dirty="0">
                <a:solidFill>
                  <a:schemeClr val="tx1">
                    <a:lumMod val="85000"/>
                    <a:lumOff val="15000"/>
                  </a:schemeClr>
                </a:solidFill>
                <a:effectLst/>
                <a:latin typeface="Corbel" panose="020B0503020204020204" pitchFamily="34" charset="0"/>
              </a:rPr>
              <a:t>•</a:t>
            </a:r>
            <a:r>
              <a:rPr lang="en-US" sz="1200" b="0" i="0" u="none" strike="noStrike" dirty="0">
                <a:solidFill>
                  <a:schemeClr val="tx1">
                    <a:lumMod val="85000"/>
                    <a:lumOff val="15000"/>
                  </a:schemeClr>
                </a:solidFill>
                <a:effectLst/>
                <a:latin typeface="Corbel" panose="020B0503020204020204" pitchFamily="34"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on the announcement (UNCHECK SUPPLIER IMPACT BOX)</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Send impact when partner involved</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Site(s) being shut mapped</a:t>
            </a:r>
          </a:p>
          <a:p>
            <a:endParaRPr lang="en-US" sz="1300" b="1" u="sng">
              <a:solidFill>
                <a:schemeClr val="tx1">
                  <a:lumMod val="85000"/>
                  <a:lumOff val="15000"/>
                </a:schemeClr>
              </a:solidFill>
              <a:latin typeface="Corbel" panose="020B0503020204020204" pitchFamily="34" charset="0"/>
              <a:cs typeface="Calibri" panose="020F0502020204030204" pitchFamily="34" charset="0"/>
            </a:endParaRPr>
          </a:p>
          <a:p>
            <a:r>
              <a:rPr lang="en-US" sz="13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3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Send Supplier Impact with an update, when the site finally gets shut</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200" b="1"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66715"/>
            <a:ext cx="4761520" cy="651037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035027" y="2981739"/>
            <a:ext cx="4951377" cy="370954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TextBox 3">
            <a:extLst>
              <a:ext uri="{FF2B5EF4-FFF2-40B4-BE49-F238E27FC236}">
                <a16:creationId xmlns:a16="http://schemas.microsoft.com/office/drawing/2014/main" id="{BACF0A14-98EE-E23E-017B-00BC8131F45F}"/>
              </a:ext>
            </a:extLst>
          </p:cNvPr>
          <p:cNvSpPr txBox="1"/>
          <p:nvPr/>
        </p:nvSpPr>
        <p:spPr>
          <a:xfrm>
            <a:off x="5137699" y="3095059"/>
            <a:ext cx="4557952" cy="3262432"/>
          </a:xfrm>
          <a:prstGeom prst="rect">
            <a:avLst/>
          </a:prstGeom>
          <a:noFill/>
        </p:spPr>
        <p:txBody>
          <a:bodyPr wrap="square">
            <a:spAutoFit/>
          </a:bodyPr>
          <a:lstStyle/>
          <a:p>
            <a:r>
              <a:rPr lang="en-IN" sz="1400" b="1" u="sng" dirty="0">
                <a:latin typeface="Corbel" panose="020B0503020204020204" pitchFamily="34" charset="0"/>
              </a:rPr>
              <a:t>Sub-Types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Unplanned Shutdowns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Future/scheduled shutdowns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Partial c</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ompany or plant closure</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Temporary/long-term evacuations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Lockdowns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Production halt, cuts,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or</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freeze</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Warnings/citation/quality issues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Machinery or Software Errors</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Changes in consumer demand</a:t>
            </a: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Labor Accidents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Shooting/terrorism incidents at factories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Blocked access/road blocked</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Police activity/investigations at factories </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Explosive device found in the region</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Labor unrest/violations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Theft Investigation</a:t>
            </a:r>
            <a:endParaRPr lang="en-IN" sz="14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graphicFrame>
        <p:nvGraphicFramePr>
          <p:cNvPr id="3" name="Table 2">
            <a:extLst>
              <a:ext uri="{FF2B5EF4-FFF2-40B4-BE49-F238E27FC236}">
                <a16:creationId xmlns:a16="http://schemas.microsoft.com/office/drawing/2014/main" id="{97DD53EA-EA77-CEC2-288D-5F889208A1F0}"/>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0411AB9E-77A5-FC37-D681-00B8B7A63357}"/>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530293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086712" y="2637183"/>
            <a:ext cx="4933304" cy="409004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84281" y="2900675"/>
            <a:ext cx="4606184" cy="3293209"/>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Fines from legal actions, violations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Health and safety fines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Cost of Recalls/Withdrawals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Testing concerns/data manipulation</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Fines due to late/Missed payments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Illegal trading/Trading against sanctions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Settlements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Falsifying information on financial statements.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Bank fraud, phony securities fraud, bankruptcy fraud</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Investment Scams</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Tax-evasion	</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Bribery and corruption</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Forgery</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False claims in advertising</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Damage caused to the environment due to negligence.</a:t>
            </a:r>
            <a:endPar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73316" y="277923"/>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FINE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84530" y="836605"/>
            <a:ext cx="4510318" cy="3816429"/>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Companies receive fines for various reasons, including health and safety violations, GMP violations, frauds, briberies, neglect, inspections, etc.</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a mapped partner or its site is fined, notify with customer impact</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We notify if the product line and applications of the company match our verticals</a:t>
            </a:r>
          </a:p>
          <a:p>
            <a:pPr marL="285750" indent="-2857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Notify case settlements for partners only for mapped partners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or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major companies from our verticals</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59005" y="259457"/>
            <a:ext cx="4600720" cy="1877437"/>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Settlement/fine? The impact is not needed unless financial hazards expected</a:t>
            </a: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Fine due to violations at a mapped site? Send impact </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endParaRPr lang="en-US" sz="12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795676" cy="654631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072211" y="180906"/>
            <a:ext cx="4795676" cy="223656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14D8A36A-FEE2-90BC-CCFB-63882D619E64}"/>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C2D701E-16E5-360E-0FC9-D0D3B63C2238}"/>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196286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086712" y="2637183"/>
            <a:ext cx="4933304" cy="409004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84281" y="2900675"/>
            <a:ext cx="4606184" cy="1600438"/>
          </a:xfrm>
          <a:prstGeom prst="rect">
            <a:avLst/>
          </a:prstGeom>
          <a:noFill/>
        </p:spPr>
        <p:txBody>
          <a:bodyPr wrap="square" rtlCol="0">
            <a:spAutoFit/>
          </a:bodyPr>
          <a:lstStyle/>
          <a:p>
            <a:r>
              <a:rPr lang="en-IN" sz="1400" b="1" u="sng" dirty="0">
                <a:latin typeface="Corbel" panose="020B0503020204020204" pitchFamily="34" charset="0"/>
              </a:rPr>
              <a:t>Sub-Types:</a:t>
            </a:r>
            <a:br>
              <a:rPr lang="en-IN" sz="1400" b="1" u="sng" dirty="0">
                <a:latin typeface="Corbel" panose="020B0503020204020204" pitchFamily="34" charset="0"/>
              </a:rPr>
            </a:br>
            <a:endParaRPr lang="en-IN" sz="1400" b="1" u="sng" dirty="0">
              <a:latin typeface="Corbel" panose="020B0503020204020204" pitchFamily="34" charset="0"/>
            </a:endParaRPr>
          </a:p>
          <a:p>
            <a:pPr marL="171450" indent="-171450">
              <a:buFont typeface="Arial" panose="020B0604020202020204" pitchFamily="34" charset="0"/>
              <a:buChar char="•"/>
            </a:pPr>
            <a:r>
              <a:rPr lang="en-IN" sz="1400" dirty="0">
                <a:latin typeface="Corbel" panose="020B0503020204020204" pitchFamily="34" charset="0"/>
              </a:rPr>
              <a:t>Major Shareholder Withdrawal</a:t>
            </a:r>
            <a:br>
              <a:rPr lang="en-IN" sz="1400" dirty="0">
                <a:latin typeface="Corbel" panose="020B0503020204020204" pitchFamily="34" charset="0"/>
              </a:rPr>
            </a:br>
            <a:endParaRPr lang="en-IN" sz="1400" dirty="0">
              <a:latin typeface="Corbel" panose="020B0503020204020204" pitchFamily="34" charset="0"/>
            </a:endParaRPr>
          </a:p>
          <a:p>
            <a:pPr marL="171450" indent="-171450">
              <a:buFont typeface="Arial" panose="020B0604020202020204" pitchFamily="34" charset="0"/>
              <a:buChar char="•"/>
            </a:pPr>
            <a:r>
              <a:rPr lang="en-IN" sz="1400" dirty="0">
                <a:latin typeface="Corbel" panose="020B0503020204020204" pitchFamily="34" charset="0"/>
              </a:rPr>
              <a:t>Debt Refinancing</a:t>
            </a:r>
            <a:br>
              <a:rPr lang="en-IN" sz="1400" dirty="0">
                <a:latin typeface="Corbel" panose="020B0503020204020204" pitchFamily="34" charset="0"/>
              </a:rPr>
            </a:br>
            <a:endParaRPr lang="en-IN" sz="1400" dirty="0">
              <a:latin typeface="Corbel" panose="020B0503020204020204" pitchFamily="34" charset="0"/>
            </a:endParaRPr>
          </a:p>
          <a:p>
            <a:pPr marL="171450" indent="-171450">
              <a:buFont typeface="Arial" panose="020B0604020202020204" pitchFamily="34" charset="0"/>
              <a:buChar char="•"/>
            </a:pPr>
            <a:r>
              <a:rPr lang="en-IN" sz="1400" dirty="0">
                <a:latin typeface="Corbel" panose="020B0503020204020204" pitchFamily="34" charset="0"/>
              </a:rPr>
              <a:t>Changes in Credit Rating</a:t>
            </a:r>
            <a:endParaRPr lang="en-IN"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73316" y="277923"/>
            <a:ext cx="4169967" cy="461665"/>
          </a:xfrm>
          <a:prstGeom prst="rect">
            <a:avLst/>
          </a:prstGeom>
          <a:noFill/>
        </p:spPr>
        <p:txBody>
          <a:bodyPr wrap="square" rtlCol="0">
            <a:spAutoFit/>
          </a:bodyPr>
          <a:lstStyle/>
          <a:p>
            <a:r>
              <a:rPr lang="en-IN" sz="2400" b="1">
                <a:solidFill>
                  <a:srgbClr val="0070C0"/>
                </a:solidFill>
                <a:latin typeface="Corbel" panose="020B0503020204020204" pitchFamily="34" charset="0"/>
              </a:rPr>
              <a:t>FINANCIAL DISTRESS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84530" y="836605"/>
            <a:ext cx="4510318" cy="440120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br>
              <a:rPr lang="en-IN" sz="1400" b="1" u="sng" dirty="0">
                <a:solidFill>
                  <a:schemeClr val="tx1">
                    <a:lumMod val="85000"/>
                    <a:lumOff val="15000"/>
                  </a:schemeClr>
                </a:solidFill>
                <a:latin typeface="Corbel" panose="020B0503020204020204" pitchFamily="34" charset="0"/>
                <a:cs typeface="Calibri" panose="020F0502020204030204" pitchFamily="34" charset="0"/>
              </a:rPr>
            </a:br>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IN" sz="1400" dirty="0">
                <a:solidFill>
                  <a:schemeClr val="tx1">
                    <a:lumMod val="65000"/>
                    <a:lumOff val="35000"/>
                  </a:schemeClr>
                </a:solidFill>
                <a:latin typeface="Corbel" panose="020B0503020204020204" pitchFamily="34" charset="0"/>
                <a:cs typeface="Calibri" panose="020F0502020204030204" pitchFamily="34" charset="0"/>
              </a:rPr>
              <a:t>We notify financial distress/ risks/hazards when:</a:t>
            </a:r>
          </a:p>
          <a:p>
            <a:endParaRPr lang="en-IN" sz="1400" b="1" u="sng"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400" b="1" u="sng" dirty="0">
                <a:solidFill>
                  <a:schemeClr val="tx1">
                    <a:lumMod val="65000"/>
                    <a:lumOff val="35000"/>
                  </a:schemeClr>
                </a:solidFill>
                <a:latin typeface="Corbel" panose="020B0503020204020204" pitchFamily="34" charset="0"/>
                <a:cs typeface="Calibri" panose="020F0502020204030204" pitchFamily="34" charset="0"/>
              </a:rPr>
              <a:t>Major Shareholder Withdrawal:</a:t>
            </a:r>
            <a:br>
              <a:rPr lang="en-IN" sz="1400" b="1" u="sng" dirty="0">
                <a:solidFill>
                  <a:schemeClr val="tx1">
                    <a:lumMod val="65000"/>
                    <a:lumOff val="35000"/>
                  </a:schemeClr>
                </a:solidFill>
                <a:latin typeface="Corbel" panose="020B0503020204020204" pitchFamily="34" charset="0"/>
                <a:cs typeface="Calibri" panose="020F0502020204030204" pitchFamily="34" charset="0"/>
              </a:rPr>
            </a:br>
            <a:r>
              <a:rPr lang="en-IN" sz="1400" dirty="0">
                <a:solidFill>
                  <a:schemeClr val="tx1">
                    <a:lumMod val="65000"/>
                    <a:lumOff val="35000"/>
                  </a:schemeClr>
                </a:solidFill>
                <a:latin typeface="Corbel" panose="020B0503020204020204" pitchFamily="34" charset="0"/>
                <a:cs typeface="Calibri" panose="020F0502020204030204" pitchFamily="34" charset="0"/>
              </a:rPr>
              <a:t>Notify when a major shareholder walks away from a plan to rescue the troubled company. This could significantly impact on the company's financial stability and restructuring efforts.</a:t>
            </a:r>
          </a:p>
          <a:p>
            <a:pPr marL="171450" indent="-171450">
              <a:buFont typeface="Arial" panose="020B0604020202020204" pitchFamily="34" charset="0"/>
              <a:buChar char="•"/>
            </a:pPr>
            <a:endParaRPr lang="en-IN" sz="1400" b="1" u="sng"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400" b="1" u="sng" dirty="0">
                <a:solidFill>
                  <a:schemeClr val="tx1">
                    <a:lumMod val="65000"/>
                    <a:lumOff val="35000"/>
                  </a:schemeClr>
                </a:solidFill>
                <a:latin typeface="Corbel" panose="020B0503020204020204" pitchFamily="34" charset="0"/>
                <a:cs typeface="Calibri" panose="020F0502020204030204" pitchFamily="34" charset="0"/>
              </a:rPr>
              <a:t>Cancelation of Rights Issue &amp; Debt Refinancing: </a:t>
            </a:r>
            <a:br>
              <a:rPr lang="en-IN" sz="1400" dirty="0">
                <a:solidFill>
                  <a:schemeClr val="tx1">
                    <a:lumMod val="65000"/>
                    <a:lumOff val="35000"/>
                  </a:schemeClr>
                </a:solidFill>
                <a:latin typeface="Corbel" panose="020B0503020204020204" pitchFamily="34" charset="0"/>
                <a:cs typeface="Calibri" panose="020F0502020204030204" pitchFamily="34" charset="0"/>
              </a:rPr>
            </a:br>
            <a:r>
              <a:rPr lang="en-IN" sz="1400" dirty="0">
                <a:solidFill>
                  <a:schemeClr val="tx1">
                    <a:lumMod val="65000"/>
                    <a:lumOff val="35000"/>
                  </a:schemeClr>
                </a:solidFill>
                <a:latin typeface="Corbel" panose="020B0503020204020204" pitchFamily="34" charset="0"/>
                <a:cs typeface="Calibri" panose="020F0502020204030204" pitchFamily="34" charset="0"/>
              </a:rPr>
              <a:t>Notify when a company cancels a rights issue and seeks debt refinancing, as this indicates severe financial distress and potential restructuring needs.</a:t>
            </a:r>
            <a:br>
              <a:rPr lang="en-IN" sz="1400" dirty="0">
                <a:solidFill>
                  <a:schemeClr val="tx1">
                    <a:lumMod val="65000"/>
                    <a:lumOff val="35000"/>
                  </a:schemeClr>
                </a:solidFill>
                <a:latin typeface="Corbel" panose="020B0503020204020204" pitchFamily="34" charset="0"/>
                <a:cs typeface="Calibri" panose="020F0502020204030204" pitchFamily="34" charset="0"/>
              </a:rPr>
            </a:br>
            <a:endParaRPr lang="en-IN"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400" b="1" u="sng" dirty="0">
                <a:solidFill>
                  <a:schemeClr val="tx1">
                    <a:lumMod val="65000"/>
                    <a:lumOff val="35000"/>
                  </a:schemeClr>
                </a:solidFill>
                <a:latin typeface="Corbel" panose="020B0503020204020204" pitchFamily="34" charset="0"/>
                <a:cs typeface="Calibri" panose="020F0502020204030204" pitchFamily="34" charset="0"/>
              </a:rPr>
              <a:t>Changes in Credit Rating: </a:t>
            </a:r>
            <a:br>
              <a:rPr lang="en-IN" sz="1400" dirty="0">
                <a:solidFill>
                  <a:schemeClr val="tx1">
                    <a:lumMod val="65000"/>
                    <a:lumOff val="35000"/>
                  </a:schemeClr>
                </a:solidFill>
                <a:latin typeface="Corbel" panose="020B0503020204020204" pitchFamily="34" charset="0"/>
                <a:cs typeface="Calibri" panose="020F0502020204030204" pitchFamily="34" charset="0"/>
              </a:rPr>
            </a:br>
            <a:r>
              <a:rPr lang="en-IN" sz="1400" dirty="0">
                <a:solidFill>
                  <a:schemeClr val="tx1">
                    <a:lumMod val="65000"/>
                    <a:lumOff val="35000"/>
                  </a:schemeClr>
                </a:solidFill>
                <a:latin typeface="Corbel" panose="020B0503020204020204" pitchFamily="34" charset="0"/>
                <a:cs typeface="Calibri" panose="020F0502020204030204" pitchFamily="34" charset="0"/>
              </a:rPr>
              <a:t>Downgrades by credit rating agencies that reflect deteriorating financial health and increased risk.</a:t>
            </a:r>
            <a:br>
              <a:rPr lang="en-IN" sz="1400" dirty="0">
                <a:solidFill>
                  <a:schemeClr val="tx1">
                    <a:lumMod val="65000"/>
                    <a:lumOff val="35000"/>
                  </a:schemeClr>
                </a:solidFill>
                <a:latin typeface="Corbel" panose="020B0503020204020204" pitchFamily="34" charset="0"/>
                <a:cs typeface="Calibri" panose="020F0502020204030204" pitchFamily="34" charset="0"/>
              </a:rPr>
            </a:br>
            <a:endParaRPr lang="en-IN"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400" dirty="0">
                <a:solidFill>
                  <a:schemeClr val="tx1">
                    <a:lumMod val="65000"/>
                    <a:lumOff val="35000"/>
                  </a:schemeClr>
                </a:solidFill>
                <a:latin typeface="Corbel" panose="020B0503020204020204" pitchFamily="34" charset="0"/>
                <a:cs typeface="Calibri" panose="020F0502020204030204" pitchFamily="34" charset="0"/>
              </a:rPr>
              <a:t>Classify it as "Other.</a:t>
            </a:r>
            <a:r>
              <a:rPr lang="en-IN" sz="1400" u="sng" dirty="0">
                <a:solidFill>
                  <a:schemeClr val="tx1">
                    <a:lumMod val="65000"/>
                    <a:lumOff val="35000"/>
                  </a:schemeClr>
                </a:solidFill>
                <a:latin typeface="Corbel" panose="020B0503020204020204" pitchFamily="34" charset="0"/>
                <a:cs typeface="Calibri" panose="020F0502020204030204" pitchFamily="34" charset="0"/>
              </a:rPr>
              <a:t>"</a:t>
            </a:r>
            <a:endParaRPr lang="en-IN" sz="1400"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59005" y="259457"/>
            <a:ext cx="4600720" cy="1384995"/>
          </a:xfrm>
          <a:prstGeom prst="rect">
            <a:avLst/>
          </a:prstGeom>
          <a:noFill/>
        </p:spPr>
        <p:txBody>
          <a:bodyPr wrap="square" rtlCol="0">
            <a:spAutoFit/>
          </a:bodyPr>
          <a:lstStyle/>
          <a:p>
            <a:r>
              <a:rPr lang="en-IN" sz="1400" b="1" u="sng" dirty="0">
                <a:latin typeface="Corbel" panose="020B0503020204020204" pitchFamily="34" charset="0"/>
                <a:cs typeface="Calibri" panose="020F0502020204030204" pitchFamily="34" charset="0"/>
              </a:rPr>
              <a:t>WarRoom Guidelines</a:t>
            </a:r>
            <a:br>
              <a:rPr lang="en-IN" sz="1400" b="1" u="sng" dirty="0">
                <a:latin typeface="Corbel" panose="020B0503020204020204" pitchFamily="34" charset="0"/>
                <a:cs typeface="Calibri" panose="020F0502020204030204" pitchFamily="34" charset="0"/>
              </a:rPr>
            </a:br>
            <a:endParaRPr lang="en-IN" sz="1400" b="1" u="sng" dirty="0">
              <a:latin typeface="Corbel" panose="020B0503020204020204" pitchFamily="34" charset="0"/>
              <a:cs typeface="Calibri" panose="020F0502020204030204" pitchFamily="34" charset="0"/>
            </a:endParaRPr>
          </a:p>
          <a:p>
            <a:r>
              <a:rPr lang="en-IN" sz="1400" dirty="0">
                <a:solidFill>
                  <a:schemeClr val="tx1">
                    <a:lumMod val="65000"/>
                    <a:lumOff val="35000"/>
                  </a:schemeClr>
                </a:solidFill>
                <a:latin typeface="Corbel" panose="020B0503020204020204" pitchFamily="34" charset="0"/>
                <a:cs typeface="Calibri" panose="020F0502020204030204" pitchFamily="34" charset="0"/>
              </a:rPr>
              <a:t>We create a WarRoom when Partner(s) involved</a:t>
            </a:r>
            <a:br>
              <a:rPr lang="en-IN" sz="1400" dirty="0">
                <a:solidFill>
                  <a:schemeClr val="tx1">
                    <a:lumMod val="65000"/>
                    <a:lumOff val="35000"/>
                  </a:schemeClr>
                </a:solidFill>
                <a:latin typeface="Corbel" panose="020B0503020204020204" pitchFamily="34" charset="0"/>
                <a:cs typeface="Calibri" panose="020F0502020204030204" pitchFamily="34" charset="0"/>
              </a:rPr>
            </a:br>
            <a:endParaRPr lang="en-IN" sz="1400" dirty="0">
              <a:solidFill>
                <a:schemeClr val="tx1">
                  <a:lumMod val="65000"/>
                  <a:lumOff val="35000"/>
                </a:schemeClr>
              </a:solidFill>
              <a:latin typeface="Corbel" panose="020B0503020204020204" pitchFamily="34" charset="0"/>
              <a:cs typeface="Calibri" panose="020F0502020204030204" pitchFamily="34" charset="0"/>
            </a:endParaRPr>
          </a:p>
          <a:p>
            <a:r>
              <a:rPr lang="en-IN" sz="1400" b="1" u="sng"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IN" sz="1400" dirty="0">
                <a:solidFill>
                  <a:schemeClr val="tx1">
                    <a:lumMod val="65000"/>
                    <a:lumOff val="35000"/>
                  </a:schemeClr>
                </a:solidFill>
                <a:latin typeface="Corbel" panose="020B0503020204020204" pitchFamily="34" charset="0"/>
                <a:cs typeface="Calibri" panose="020F0502020204030204" pitchFamily="34" charset="0"/>
              </a:rPr>
              <a:t>- YES (not for LOW severity; MEDIUM, HIGH, SEVERE only)</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795676" cy="654631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072211" y="180906"/>
            <a:ext cx="4795676" cy="223656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14D8A36A-FEE2-90BC-CCFB-63882D619E64}"/>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a:solidFill>
                          <a:schemeClr val="accent2"/>
                        </a:solidFill>
                        <a:effectLst/>
                      </a:endParaRPr>
                    </a:p>
                    <a:p>
                      <a:pPr marL="0" algn="ctr" defTabSz="914400" rtl="0" eaLnBrk="1" fontAlgn="ctr" latinLnBrk="0" hangingPunct="1"/>
                      <a:r>
                        <a:rPr lang="en-US" sz="900" b="0" u="none" strike="noStrike" kern="120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C2D701E-16E5-360E-0FC9-D0D3B63C2238}"/>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a:solidFill>
                <a:schemeClr val="bg1"/>
              </a:solidFill>
              <a:latin typeface="Corbel" panose="020B0503020204020204" pitchFamily="34" charset="0"/>
            </a:endParaRPr>
          </a:p>
        </p:txBody>
      </p:sp>
    </p:spTree>
    <p:extLst>
      <p:ext uri="{BB962C8B-B14F-4D97-AF65-F5344CB8AC3E}">
        <p14:creationId xmlns:p14="http://schemas.microsoft.com/office/powerpoint/2010/main" val="2101751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713190" y="219121"/>
            <a:ext cx="5333366" cy="395531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811113" y="4653224"/>
            <a:ext cx="5276254" cy="1631216"/>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r>
              <a:rPr lang="en-IN" sz="1200" b="0" i="0" u="none" strike="noStrike" dirty="0">
                <a:solidFill>
                  <a:schemeClr val="tx1">
                    <a:lumMod val="85000"/>
                    <a:lumOff val="15000"/>
                  </a:schemeClr>
                </a:solidFill>
                <a:effectLst/>
                <a:latin typeface="Corbel" panose="020B0503020204020204" pitchFamily="34" charset="0"/>
              </a:rPr>
              <a:t>Site flooding |Region flooding | Flash flooding | Flash flood warning | Dam collapse risk | Flood Warning | Landslides | Major Road closures | industrial park flooding | Major border crossing affected |  Post-hurricane/storm flooding | Localized flooding | Widespread power outages | Evacuations</a:t>
            </a:r>
            <a:r>
              <a:rPr lang="en-IN" sz="1200" dirty="0">
                <a:solidFill>
                  <a:schemeClr val="tx1">
                    <a:lumMod val="85000"/>
                    <a:lumOff val="15000"/>
                  </a:schemeClr>
                </a:solidFill>
                <a:latin typeface="Corbel" panose="020B0503020204020204" pitchFamily="34" charset="0"/>
              </a:rPr>
              <a:t> | Airport/Port inundated</a:t>
            </a:r>
            <a:endParaRPr lang="en-IN" sz="1200" b="1" u="sng" dirty="0">
              <a:solidFill>
                <a:schemeClr val="tx1">
                  <a:lumMod val="85000"/>
                  <a:lumOff val="15000"/>
                </a:schemeClr>
              </a:solidFill>
              <a:latin typeface="Corbel" panose="020B050302020402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26152" y="243555"/>
            <a:ext cx="4282071"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FLOOD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83911" y="676545"/>
            <a:ext cx="4366554" cy="6247864"/>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r>
              <a:rPr lang="en-US" sz="1400" dirty="0">
                <a:solidFill>
                  <a:schemeClr val="tx1">
                    <a:lumMod val="85000"/>
                    <a:lumOff val="15000"/>
                  </a:schemeClr>
                </a:solidFill>
                <a:latin typeface="Corbel" panose="020B0503020204020204" pitchFamily="34" charset="0"/>
                <a:cs typeface="Calibri" panose="020F0502020204030204" pitchFamily="34" charset="0"/>
              </a:rPr>
              <a:t>:</a:t>
            </a:r>
          </a:p>
          <a:p>
            <a:endParaRPr lang="en-US" sz="1400" b="0" i="0" u="none"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our customers about flooding and flash flooding events because structural damages and transportation restrictions can cause supply chain disruptions. </a:t>
            </a:r>
          </a:p>
          <a:p>
            <a:pPr marL="171450" indent="-171450">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Flooding events should be notified as soon reported in public domain. We should be notifying flooding events pro-actively if there are warnings and evacuations in the region.</a:t>
            </a:r>
          </a:p>
          <a:p>
            <a:pPr marL="171450" indent="-171450">
              <a:buFont typeface="Arial" panose="020B0604020202020204" pitchFamily="34" charset="0"/>
              <a:buChar char="•"/>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flooding events if we have supplier sites(s) in the region of impact</a:t>
            </a:r>
          </a:p>
          <a:p>
            <a:pPr marL="171450" indent="-171450">
              <a:buFont typeface="Arial" panose="020B0604020202020204" pitchFamily="34" charset="0"/>
              <a:buChar char="•"/>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Other than supplier sites, we also check if any services or any of the following operations are affected:</a:t>
            </a:r>
          </a:p>
          <a:p>
            <a:pPr marL="171450" indent="-171450">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Logistics providers, cargo shipping, utility provider, farming, ports, airports, postal services, train &amp; freight, mining, data centers, power grids, nuclear power plants and more</a:t>
            </a:r>
          </a:p>
          <a:p>
            <a:pPr marL="171450" indent="-171450">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NOTE: </a:t>
            </a:r>
          </a:p>
          <a:p>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a dam is expected to burst or a river is expected to break its banks, we should analyze which regions could get flooded due to the excessive water</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should geofence those regions proactively and create WarRooms</a:t>
            </a:r>
          </a:p>
          <a:p>
            <a:pPr marL="171450" indent="-1714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disruptions and damages reported, send an update every 6 to </a:t>
            </a:r>
            <a:r>
              <a:rPr lang="en-US" sz="1200" i="0" u="none" strike="noStrike" dirty="0">
                <a:effectLst/>
                <a:latin typeface="Corbel" panose="020B0503020204020204" pitchFamily="34" charset="0"/>
                <a:ea typeface="Roboto" panose="02000000000000000000" pitchFamily="2" charset="0"/>
                <a:cs typeface="Roboto" panose="02000000000000000000" pitchFamily="2" charset="0"/>
              </a:rPr>
              <a:t>8 hours</a:t>
            </a:r>
          </a:p>
          <a:p>
            <a:pPr marL="171450" indent="-171450">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We can</a:t>
            </a:r>
            <a:r>
              <a:rPr lang="en-US" sz="1200" i="0" u="none" strike="noStrike" dirty="0">
                <a:effectLst/>
                <a:latin typeface="Corbel" panose="020B0503020204020204" pitchFamily="34" charset="0"/>
                <a:ea typeface="Roboto" panose="02000000000000000000" pitchFamily="2" charset="0"/>
                <a:cs typeface="Roboto" panose="02000000000000000000" pitchFamily="2" charset="0"/>
              </a:rPr>
              <a:t> report Flood Warning but DO NOT report Flood Watch or Flood Advisory</a:t>
            </a: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811113" y="474387"/>
            <a:ext cx="4734211" cy="3816429"/>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solidFill>
                <a:schemeClr val="tx1">
                  <a:lumMod val="85000"/>
                  <a:lumOff val="15000"/>
                </a:schemeClr>
              </a:solidFill>
              <a:latin typeface="Corbel" panose="020B0503020204020204" pitchFamily="34" charset="0"/>
              <a:cs typeface="Calibri" panose="020F0502020204030204" pitchFamily="34" charset="0"/>
            </a:endParaRPr>
          </a:p>
          <a:p>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Regions where supplier sites are present, create a WarRoom via geofencing the region. The size of the polygon depends on:</a:t>
            </a:r>
            <a:b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b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Radius:</a:t>
            </a:r>
            <a:b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b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Check if we have reports of a predicted path of the flood </a:t>
            </a:r>
          </a:p>
          <a:p>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Check which regions are mentioned in the reports of disruptions </a:t>
            </a:r>
          </a:p>
          <a:p>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Flooding event polygon should cover the most affected regions (in major floods cover neighboring regions as well)</a:t>
            </a: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Note: Update the impacted region if further damages are reported in the extended region, outside the initial polygon.</a:t>
            </a:r>
          </a:p>
          <a:p>
            <a:endParaRPr lang="en-US" sz="1400" b="1" u="sng">
              <a:solidFill>
                <a:schemeClr val="tx1">
                  <a:lumMod val="85000"/>
                  <a:lumOff val="15000"/>
                </a:schemeClr>
              </a:solidFill>
              <a:latin typeface="Corbel" panose="020B0503020204020204" pitchFamily="34" charset="0"/>
              <a:cs typeface="Calibri" panose="020F0502020204030204" pitchFamily="34" charset="0"/>
            </a:endParaRPr>
          </a:p>
          <a:p>
            <a:endParaRPr lang="en-US" sz="1400" b="1" u="sng">
              <a:solidFill>
                <a:schemeClr val="tx1">
                  <a:lumMod val="85000"/>
                  <a:lumOff val="15000"/>
                </a:schemeClr>
              </a:solidFill>
              <a:latin typeface="Corbel" panose="020B0503020204020204" pitchFamily="34" charset="0"/>
              <a:cs typeface="Calibri" panose="020F0502020204030204" pitchFamily="34" charset="0"/>
            </a:endParaRPr>
          </a:p>
          <a:p>
            <a:endParaRPr lang="en-US" sz="1400" b="1" u="sng">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413277" cy="649618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713190" y="4465207"/>
            <a:ext cx="5385093" cy="217367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40D5DC05-B590-6259-F71F-F59DCB1BE913}"/>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8F1B8CF7-9420-DE26-8F08-A699D23E8A79}"/>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552553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603299" y="180904"/>
            <a:ext cx="5465086" cy="268156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700333" y="3399962"/>
            <a:ext cx="5365977" cy="2985433"/>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Force majeure on Commodities/ Minerals/chemicals</a:t>
            </a:r>
            <a:endParaRPr lang="en-IN"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Force majeure on services/utilities</a:t>
            </a:r>
          </a:p>
          <a:p>
            <a:pPr marL="285750" indent="-285750">
              <a:lnSpc>
                <a:spcPct val="150000"/>
              </a:lnSpc>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Subsequent Force majeure</a:t>
            </a:r>
          </a:p>
          <a:p>
            <a:pPr marL="285750" indent="-285750">
              <a:lnSpc>
                <a:spcPct val="150000"/>
              </a:lnSpc>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Planned activity leading to Force majeure </a:t>
            </a:r>
          </a:p>
          <a:p>
            <a:pPr marL="285750" indent="-285750">
              <a:lnSpc>
                <a:spcPct val="150000"/>
              </a:lnSpc>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Transportation force majeure</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Force Majeure due to natural calamities, including floods, earthquakes, storms, droughts, tornadoes/hurricanes, volcanic eruptions, and more</a:t>
            </a:r>
          </a:p>
          <a:p>
            <a:pPr marL="285750" indent="-2857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Force Majeure due to human catastrophes, including facility fire, explosion, chemical spill, industrial accident, war, terrorism, etc.</a:t>
            </a:r>
            <a:endParaRPr lang="en-IN" sz="1200" b="1" u="sng" dirty="0">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53950" y="350549"/>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FORCE MAJEURE (FM)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67266" y="771598"/>
            <a:ext cx="4074972" cy="584775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endParaRPr lang="en-US" sz="1400" b="0" i="0" u="none" strike="noStrike" dirty="0">
              <a:effectLst/>
              <a:latin typeface="Corbel" panose="020B0503020204020204" pitchFamily="34"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We notify Force Majeure as soon as it is announced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FM is a clause that is included in legal contracts to remove liability for unforeseeable and unavoidable catastrophes that prevent suppliers/partners from fulfilling obligations.</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These clauses generally cover both natural disasters and catastrophes created by humans.</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We notify if the affected commodity has applications in our verticals, including petrochemicals, specialty chemicals, APIs, general manufacturing, plastics, glass, coatings, resins, adhesives, foam, packaging, metals, and more</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An open-source public feed is available (login not required)</a:t>
            </a:r>
          </a:p>
          <a:p>
            <a:pPr marL="285750" indent="-285750">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A paid source feed is available (login required), we can use the available information. If we know the material impacted, and the location of the facility, notify the event.</a:t>
            </a: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Send an update when the force majeure duration is extended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FMs due to maintenance activities or preplanned activities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71775" y="306551"/>
            <a:ext cx="5059925" cy="2616101"/>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if partner site(s) involved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to just the site which declared FM. </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FM declared due to an accident at another company or site? Send impact to that company/site as well</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1" u="sng">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1" u="sng">
                <a:latin typeface="Corbel" panose="020B0503020204020204" pitchFamily="34" charset="0"/>
                <a:cs typeface="Calibri" panose="020F0502020204030204" pitchFamily="34" charset="0"/>
              </a:rPr>
              <a:t>Send Supplier Impact Confirmation? -</a:t>
            </a:r>
            <a:r>
              <a:rPr lang="en-US" sz="1200" b="1">
                <a:latin typeface="Corbel" panose="020B0503020204020204" pitchFamily="34" charset="0"/>
                <a:cs typeface="Calibri" panose="020F0502020204030204" pitchFamily="34" charset="0"/>
              </a:rPr>
              <a:t> YES (not for LOW severity; MEDIUM, HIGH, SEVERE only)</a:t>
            </a:r>
            <a:endParaRPr lang="en-IN" sz="12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6"/>
            <a:ext cx="4225740" cy="649618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61243" y="3260035"/>
            <a:ext cx="5443199" cy="341705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B297397D-FD4A-1CC1-BF09-092C632934E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0E8F2507-9421-7DDB-F48F-5E676CDC50A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32927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180906"/>
            <a:ext cx="5465086"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597089" y="3993563"/>
            <a:ext cx="5390240" cy="2754600"/>
          </a:xfrm>
          <a:prstGeom prst="rect">
            <a:avLst/>
          </a:prstGeom>
          <a:noFill/>
        </p:spPr>
        <p:txBody>
          <a:bodyPr wrap="square" rtlCol="0">
            <a:spAutoFit/>
          </a:bodyPr>
          <a:lstStyle/>
          <a:p>
            <a:r>
              <a:rPr lang="en-IN" sz="1400" b="1" u="sng" dirty="0">
                <a:latin typeface="Corbel" panose="020B0503020204020204" pitchFamily="34" charset="0"/>
              </a:rPr>
              <a:t>Sub-Types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near supplier sites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heading toward the important manufacturing region</a:t>
            </a:r>
            <a:endPar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 causing major road closures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causing air traffic disruptions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affecting utility services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leading to evacuations</a:t>
            </a:r>
          </a:p>
          <a:p>
            <a:pPr marL="171450" indent="-171450">
              <a:lnSpc>
                <a:spcPct val="150000"/>
              </a:lnSpc>
              <a:buFont typeface="Arial" panose="020B0604020202020204" pitchFamily="34" charset="0"/>
              <a:buChar char="•"/>
            </a:pP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Wildfires affecting mining regions</a:t>
            </a:r>
            <a:r>
              <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4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57637" y="378602"/>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FOREST FIRE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51239" y="894788"/>
            <a:ext cx="4169967" cy="5047536"/>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Notify only if partner site(s) in the region of impact</a:t>
            </a:r>
            <a:br>
              <a:rPr lang="en-US" sz="1400" dirty="0">
                <a:solidFill>
                  <a:schemeClr val="tx1">
                    <a:lumMod val="65000"/>
                    <a:lumOff val="35000"/>
                  </a:schemeClr>
                </a:solidFill>
                <a:latin typeface="Corbel" panose="020B0503020204020204" pitchFamily="34" charset="0"/>
                <a:cs typeface="Calibri" panose="020F0502020204030204" pitchFamily="34" charset="0"/>
              </a:rPr>
            </a:br>
            <a:endParaRPr lang="en-US"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Is the fire still growing? Also, check expanded regions that    are on fire watch or warnings (figure out which direction the fire is expanding)</a:t>
            </a:r>
            <a:br>
              <a:rPr lang="en-US" sz="1400" dirty="0">
                <a:solidFill>
                  <a:schemeClr val="tx1">
                    <a:lumMod val="65000"/>
                    <a:lumOff val="35000"/>
                  </a:schemeClr>
                </a:solidFill>
                <a:latin typeface="Corbel" panose="020B0503020204020204" pitchFamily="34" charset="0"/>
                <a:cs typeface="Calibri" panose="020F0502020204030204" pitchFamily="34" charset="0"/>
              </a:rPr>
            </a:br>
            <a:r>
              <a:rPr lang="en-US" sz="1400" dirty="0">
                <a:solidFill>
                  <a:schemeClr val="tx1">
                    <a:lumMod val="65000"/>
                    <a:lumOff val="35000"/>
                  </a:schemeClr>
                </a:solidFill>
                <a:latin typeface="Corbel" panose="020B0503020204020204" pitchFamily="34" charset="0"/>
                <a:cs typeface="Calibri" panose="020F0502020204030204" pitchFamily="34" charset="0"/>
              </a:rPr>
              <a:t> </a:t>
            </a: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Check if any industrial parks, mines, major roads, port(s) and airport(s), etc. are potentially affected and notify</a:t>
            </a:r>
          </a:p>
          <a:p>
            <a:pPr marL="171450" indent="-171450">
              <a:buFont typeface="Arial" panose="020B0604020202020204" pitchFamily="34" charset="0"/>
              <a:buChar char="•"/>
            </a:pPr>
            <a:endParaRPr lang="en-US"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Check if evacuations, power outages, road closures, or flight cancelations are announced because of the wildfire.</a:t>
            </a:r>
            <a:br>
              <a:rPr lang="en-US" sz="1400" dirty="0">
                <a:solidFill>
                  <a:schemeClr val="tx1">
                    <a:lumMod val="65000"/>
                    <a:lumOff val="35000"/>
                  </a:schemeClr>
                </a:solidFill>
                <a:latin typeface="Corbel" panose="020B0503020204020204" pitchFamily="34" charset="0"/>
                <a:cs typeface="Calibri" panose="020F0502020204030204" pitchFamily="34" charset="0"/>
              </a:rPr>
            </a:br>
            <a:endParaRPr lang="en-US"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Check if a service or utility provider(s) potentially affected</a:t>
            </a:r>
            <a:br>
              <a:rPr lang="en-US" sz="1400" dirty="0">
                <a:solidFill>
                  <a:schemeClr val="tx1">
                    <a:lumMod val="65000"/>
                    <a:lumOff val="35000"/>
                  </a:schemeClr>
                </a:solidFill>
                <a:latin typeface="Corbel" panose="020B0503020204020204" pitchFamily="34" charset="0"/>
                <a:cs typeface="Calibri" panose="020F0502020204030204" pitchFamily="34" charset="0"/>
              </a:rPr>
            </a:br>
            <a:endParaRPr lang="en-US"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Notify if potential freight/cargo disruptions expected </a:t>
            </a:r>
          </a:p>
          <a:p>
            <a:pPr marL="171450" indent="-171450">
              <a:buFont typeface="Arial" panose="020B0604020202020204" pitchFamily="34" charset="0"/>
              <a:buChar char="•"/>
            </a:pPr>
            <a:endParaRPr lang="en-US" sz="14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400" dirty="0">
                <a:solidFill>
                  <a:schemeClr val="tx1">
                    <a:lumMod val="65000"/>
                    <a:lumOff val="35000"/>
                  </a:schemeClr>
                </a:solidFill>
                <a:latin typeface="Corbel" panose="020B0503020204020204" pitchFamily="34" charset="0"/>
                <a:cs typeface="Calibri" panose="020F0502020204030204" pitchFamily="34" charset="0"/>
              </a:rPr>
              <a:t>Send updates if the situation worsens</a:t>
            </a:r>
            <a:endParaRPr lang="en-IN" sz="1400" dirty="0">
              <a:solidFill>
                <a:schemeClr val="tx1">
                  <a:lumMod val="65000"/>
                  <a:lumOff val="35000"/>
                </a:schemeClr>
              </a:solidFill>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709093" y="378602"/>
            <a:ext cx="5359290" cy="3108543"/>
          </a:xfrm>
          <a:prstGeom prst="rect">
            <a:avLst/>
          </a:prstGeom>
          <a:noFill/>
        </p:spPr>
        <p:txBody>
          <a:bodyPr wrap="square" rtlCol="0">
            <a:spAutoFit/>
          </a:bodyPr>
          <a:lstStyle/>
          <a:p>
            <a:r>
              <a:rPr lang="en-IN" sz="1400" b="1" u="sng" dirty="0">
                <a:latin typeface="Corbel" panose="020B0503020204020204" pitchFamily="34" charset="0"/>
                <a:cs typeface="Calibri" panose="020F0502020204030204" pitchFamily="34" charset="0"/>
              </a:rPr>
              <a:t>WarRoom Guidelines:</a:t>
            </a:r>
          </a:p>
          <a:p>
            <a:r>
              <a:rPr lang="en-IN" sz="1400" b="1" dirty="0">
                <a:solidFill>
                  <a:schemeClr val="tx1">
                    <a:lumMod val="65000"/>
                    <a:lumOff val="35000"/>
                  </a:schemeClr>
                </a:solidFill>
                <a:latin typeface="Corbel" panose="020B0503020204020204" pitchFamily="34" charset="0"/>
                <a:cs typeface="Calibri" panose="020F0502020204030204" pitchFamily="34" charset="0"/>
              </a:rPr>
              <a:t>Send impact when:</a:t>
            </a:r>
          </a:p>
          <a:p>
            <a:r>
              <a:rPr lang="en-IN" sz="1400" dirty="0">
                <a:solidFill>
                  <a:schemeClr val="tx1">
                    <a:lumMod val="65000"/>
                    <a:lumOff val="35000"/>
                  </a:schemeClr>
                </a:solidFill>
                <a:latin typeface="Corbel" panose="020B0503020204020204" pitchFamily="34" charset="0"/>
                <a:cs typeface="Calibri" panose="020F0502020204030204" pitchFamily="34" charset="0"/>
              </a:rPr>
              <a:t>Evacuations reported/ high alerts issued for the region</a:t>
            </a:r>
          </a:p>
          <a:p>
            <a:r>
              <a:rPr lang="en-IN" sz="1400" dirty="0">
                <a:solidFill>
                  <a:schemeClr val="tx1">
                    <a:lumMod val="65000"/>
                    <a:lumOff val="35000"/>
                  </a:schemeClr>
                </a:solidFill>
                <a:latin typeface="Corbel" panose="020B0503020204020204" pitchFamily="34" charset="0"/>
                <a:cs typeface="Calibri" panose="020F0502020204030204" pitchFamily="34" charset="0"/>
              </a:rPr>
              <a:t>Partner site(s) in the region of evacuations/warnings</a:t>
            </a:r>
            <a:br>
              <a:rPr lang="en-IN" sz="1400" dirty="0">
                <a:solidFill>
                  <a:schemeClr val="tx1">
                    <a:lumMod val="65000"/>
                    <a:lumOff val="35000"/>
                  </a:schemeClr>
                </a:solidFill>
                <a:latin typeface="Corbel" panose="020B0503020204020204" pitchFamily="34" charset="0"/>
                <a:cs typeface="Calibri" panose="020F0502020204030204" pitchFamily="34" charset="0"/>
              </a:rPr>
            </a:br>
            <a:endParaRPr lang="en-IN" sz="1400" dirty="0">
              <a:solidFill>
                <a:schemeClr val="tx1">
                  <a:lumMod val="65000"/>
                  <a:lumOff val="35000"/>
                </a:schemeClr>
              </a:solidFill>
              <a:latin typeface="Corbel" panose="020B0503020204020204" pitchFamily="34" charset="0"/>
              <a:cs typeface="Calibri" panose="020F0502020204030204" pitchFamily="34" charset="0"/>
            </a:endParaRPr>
          </a:p>
          <a:p>
            <a:r>
              <a:rPr lang="en-IN" sz="1400" b="1" dirty="0">
                <a:solidFill>
                  <a:schemeClr val="tx1">
                    <a:lumMod val="65000"/>
                    <a:lumOff val="35000"/>
                  </a:schemeClr>
                </a:solidFill>
                <a:latin typeface="Corbel" panose="020B0503020204020204" pitchFamily="34" charset="0"/>
                <a:cs typeface="Calibri" panose="020F0502020204030204" pitchFamily="34" charset="0"/>
              </a:rPr>
              <a:t>Radius:</a:t>
            </a:r>
          </a:p>
          <a:p>
            <a:r>
              <a:rPr lang="en-IN" sz="1400" dirty="0">
                <a:solidFill>
                  <a:schemeClr val="tx1">
                    <a:lumMod val="65000"/>
                    <a:lumOff val="35000"/>
                  </a:schemeClr>
                </a:solidFill>
                <a:latin typeface="Corbel" panose="020B0503020204020204" pitchFamily="34" charset="0"/>
                <a:cs typeface="Calibri" panose="020F0502020204030204" pitchFamily="34" charset="0"/>
              </a:rPr>
              <a:t>Low = No impact needed</a:t>
            </a:r>
          </a:p>
          <a:p>
            <a:r>
              <a:rPr lang="en-IN" sz="1400" dirty="0">
                <a:solidFill>
                  <a:schemeClr val="tx1">
                    <a:lumMod val="65000"/>
                    <a:lumOff val="35000"/>
                  </a:schemeClr>
                </a:solidFill>
                <a:latin typeface="Corbel" panose="020B0503020204020204" pitchFamily="34" charset="0"/>
                <a:cs typeface="Calibri" panose="020F0502020204030204" pitchFamily="34" charset="0"/>
              </a:rPr>
              <a:t>Medium = Affected region</a:t>
            </a:r>
          </a:p>
          <a:p>
            <a:r>
              <a:rPr lang="en-IN" sz="1400" dirty="0">
                <a:solidFill>
                  <a:schemeClr val="tx1">
                    <a:lumMod val="65000"/>
                    <a:lumOff val="35000"/>
                  </a:schemeClr>
                </a:solidFill>
                <a:latin typeface="Corbel" panose="020B0503020204020204" pitchFamily="34" charset="0"/>
                <a:cs typeface="Calibri" panose="020F0502020204030204" pitchFamily="34" charset="0"/>
              </a:rPr>
              <a:t>High = Affected + 10 km</a:t>
            </a:r>
          </a:p>
          <a:p>
            <a:r>
              <a:rPr lang="en-IN" sz="1400" dirty="0">
                <a:solidFill>
                  <a:schemeClr val="tx1">
                    <a:lumMod val="65000"/>
                    <a:lumOff val="35000"/>
                  </a:schemeClr>
                </a:solidFill>
                <a:latin typeface="Corbel" panose="020B0503020204020204" pitchFamily="34" charset="0"/>
                <a:cs typeface="Calibri" panose="020F0502020204030204" pitchFamily="34" charset="0"/>
              </a:rPr>
              <a:t>Severe = Affected + 30 km</a:t>
            </a:r>
          </a:p>
          <a:p>
            <a:r>
              <a:rPr lang="en-IN" sz="1400" dirty="0">
                <a:solidFill>
                  <a:schemeClr val="tx1">
                    <a:lumMod val="65000"/>
                    <a:lumOff val="35000"/>
                  </a:schemeClr>
                </a:solidFill>
                <a:latin typeface="Corbel" panose="020B0503020204020204" pitchFamily="34" charset="0"/>
                <a:cs typeface="Calibri" panose="020F0502020204030204" pitchFamily="34" charset="0"/>
              </a:rPr>
              <a:t>Follow the radius given in the public domain</a:t>
            </a:r>
            <a:br>
              <a:rPr lang="en-IN" sz="1400" dirty="0">
                <a:solidFill>
                  <a:schemeClr val="tx1">
                    <a:lumMod val="65000"/>
                    <a:lumOff val="35000"/>
                  </a:schemeClr>
                </a:solidFill>
                <a:latin typeface="Corbel" panose="020B0503020204020204" pitchFamily="34" charset="0"/>
                <a:cs typeface="Calibri" panose="020F0502020204030204" pitchFamily="34" charset="0"/>
              </a:rPr>
            </a:br>
            <a:endParaRPr lang="en-IN" sz="1400" dirty="0">
              <a:solidFill>
                <a:schemeClr val="tx1">
                  <a:lumMod val="65000"/>
                  <a:lumOff val="35000"/>
                </a:schemeClr>
              </a:solidFill>
              <a:latin typeface="Corbel" panose="020B0503020204020204" pitchFamily="34" charset="0"/>
              <a:cs typeface="Calibri" panose="020F0502020204030204" pitchFamily="34" charset="0"/>
            </a:endParaRPr>
          </a:p>
          <a:p>
            <a:r>
              <a:rPr lang="en-IN" sz="1400" b="1" u="sng"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IN" sz="1400" dirty="0">
                <a:solidFill>
                  <a:schemeClr val="tx1">
                    <a:lumMod val="65000"/>
                    <a:lumOff val="35000"/>
                  </a:schemeClr>
                </a:solidFill>
                <a:latin typeface="Corbel" panose="020B0503020204020204" pitchFamily="34" charset="0"/>
                <a:cs typeface="Calibri" panose="020F0502020204030204" pitchFamily="34" charset="0"/>
              </a:rPr>
              <a:t>- YES (not for LOW severity; MEDIUM, HIGH, SEVERE only)</a:t>
            </a: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6"/>
            <a:ext cx="4225740" cy="649618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543504" y="3900371"/>
            <a:ext cx="5409911" cy="277672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A2FF8D13-4BFB-E0CD-83B1-5889267F22F9}"/>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1732E4A-361C-F751-5451-12468154A6C2}"/>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671135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543505" y="229429"/>
            <a:ext cx="5465086" cy="412624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648026" y="4653560"/>
            <a:ext cx="5322734" cy="1231106"/>
          </a:xfrm>
          <a:prstGeom prst="rect">
            <a:avLst/>
          </a:prstGeom>
          <a:noFill/>
        </p:spPr>
        <p:txBody>
          <a:bodyPr wrap="square" rtlCol="0">
            <a:spAutoFit/>
          </a:bodyPr>
          <a:lstStyle/>
          <a:p>
            <a:r>
              <a:rPr lang="en-IN" sz="1400" b="1" u="sng" dirty="0">
                <a:latin typeface="Corbel" panose="020B0503020204020204" pitchFamily="34" charset="0"/>
              </a:rPr>
              <a:t>Sub-Types</a:t>
            </a:r>
          </a:p>
          <a:p>
            <a:r>
              <a:rPr lang="en-US" sz="1200" b="0" i="0" u="none" strike="noStrike" dirty="0">
                <a:solidFill>
                  <a:schemeClr val="tx1">
                    <a:lumMod val="65000"/>
                    <a:lumOff val="35000"/>
                  </a:schemeClr>
                </a:solidFill>
                <a:effectLst/>
                <a:latin typeface="Corbel" panose="020B0503020204020204" pitchFamily="34" charset="0"/>
              </a:rPr>
              <a:t>Geo Conflicts | War | Terrorist activity/bombing |</a:t>
            </a:r>
            <a:r>
              <a:rPr lang="en-US" sz="1200" dirty="0">
                <a:solidFill>
                  <a:schemeClr val="tx1">
                    <a:lumMod val="65000"/>
                    <a:lumOff val="35000"/>
                  </a:schemeClr>
                </a:solidFill>
                <a:latin typeface="Corbel" panose="020B0503020204020204" pitchFamily="34" charset="0"/>
              </a:rPr>
              <a:t> Coup |Territorial Disputes |</a:t>
            </a:r>
            <a:r>
              <a:rPr lang="en-US" sz="1200" b="0" i="0" u="none" strike="noStrike" dirty="0">
                <a:solidFill>
                  <a:schemeClr val="tx1">
                    <a:lumMod val="65000"/>
                    <a:lumOff val="35000"/>
                  </a:schemeClr>
                </a:solidFill>
                <a:effectLst/>
                <a:latin typeface="Corbel" panose="020B0503020204020204" pitchFamily="34" charset="0"/>
              </a:rPr>
              <a:t> New/revised Treaties | Trade deals/ agreements | New laws and regulations |Geo Leadership transitions | Major/controversial Political changes | Boundaries/customs |World Regulatory changes</a:t>
            </a:r>
            <a:r>
              <a:rPr lang="en-US" sz="1200" dirty="0">
                <a:solidFill>
                  <a:schemeClr val="tx1">
                    <a:lumMod val="65000"/>
                    <a:lumOff val="35000"/>
                  </a:schemeClr>
                </a:solidFill>
                <a:latin typeface="Corbel" panose="020B0503020204020204" pitchFamily="34" charset="0"/>
              </a:rPr>
              <a:t> |</a:t>
            </a:r>
            <a:endParaRPr lang="en-IN" sz="1200" b="1" u="sng" dirty="0">
              <a:solidFill>
                <a:schemeClr val="tx1">
                  <a:lumMod val="65000"/>
                  <a:lumOff val="35000"/>
                </a:schemeClr>
              </a:solidFill>
              <a:latin typeface="Corbel" panose="020B050302020402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13111" y="344688"/>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GEOPOLITICAL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94545" y="806353"/>
            <a:ext cx="4007097" cy="3385542"/>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p>
          <a:p>
            <a:endParaRPr lang="en-US" sz="1400" b="0" i="0" u="none" strike="noStrike" dirty="0">
              <a:solidFill>
                <a:schemeClr val="tx1">
                  <a:lumMod val="65000"/>
                  <a:lumOff val="35000"/>
                </a:schemeClr>
              </a:solidFill>
              <a:effectLst/>
              <a:latin typeface="Corbel" panose="020B0503020204020204" pitchFamily="34" charset="0"/>
            </a:endParaRPr>
          </a:p>
          <a:p>
            <a:r>
              <a:rPr lang="en-US" sz="1400" b="1" i="0"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Geopolitical Event: </a:t>
            </a:r>
            <a:endParaRPr lang="en-US" sz="14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Notify if sites mapped in the country/City/State involved</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Notify major trade deals and agreements </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Notify unrest/protests/riots due to geopolitical events </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Political unrest/Economic crises/state of emergency/military unrest/Brexit etc.</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Political changes/bribery and corruption cases/leader passed away/leader got arrested etc. (send impact if tensions escalate)</a:t>
            </a:r>
          </a:p>
          <a:p>
            <a:endParaRPr lang="en-US" sz="14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400" b="1" i="0"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Terror Attacks/Shooting Incidents: </a:t>
            </a:r>
            <a:endParaRPr lang="en-US" sz="14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Check if the Partner site(s) in the region of impact</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Major roads/ports/airports in the region</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Transportation/Freight disruptions expected </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Subsequent Unrest/protests/riots reported </a:t>
            </a:r>
            <a:endParaRPr lang="en-IN" sz="1200" b="1"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607090" y="372174"/>
            <a:ext cx="5359290" cy="3477875"/>
          </a:xfrm>
          <a:prstGeom prst="rect">
            <a:avLst/>
          </a:prstGeom>
          <a:noFill/>
        </p:spPr>
        <p:txBody>
          <a:bodyPr wrap="square" rtlCol="0">
            <a:spAutoFit/>
          </a:bodyPr>
          <a:lstStyle/>
          <a:p>
            <a:r>
              <a:rPr lang="en-US" sz="1400" b="1" u="sng" dirty="0">
                <a:solidFill>
                  <a:schemeClr val="tx1">
                    <a:lumMod val="65000"/>
                    <a:lumOff val="35000"/>
                  </a:schemeClr>
                </a:solidFill>
                <a:latin typeface="Corbel" panose="020B0503020204020204" pitchFamily="34" charset="0"/>
                <a:cs typeface="Calibri" panose="020F0502020204030204" pitchFamily="34" charset="0"/>
              </a:rPr>
              <a:t>WarRoom Guidelines</a:t>
            </a:r>
          </a:p>
          <a:p>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Partner site(s) in the region of impact</a:t>
            </a:r>
          </a:p>
          <a:p>
            <a:endPar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200" b="1"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Geopolitical </a:t>
            </a:r>
            <a:br>
              <a:rPr lang="en-US" sz="1200" b="1"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Send impact to the affected region if any of the following happens:</a:t>
            </a:r>
            <a:b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Unrest reported | Protests riots | Manufacturing halt | Major economic change or crisis expected | Conflicts</a:t>
            </a:r>
            <a:b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1" i="0" u="sng"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Radius:</a:t>
            </a:r>
            <a:br>
              <a:rPr lang="en-US" sz="1200" b="1" i="0" u="sng"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Terror Attack</a:t>
            </a:r>
            <a:b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Affected region + 2 KM</a:t>
            </a:r>
          </a:p>
          <a:p>
            <a:endPar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400" b="1" u="sng"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US" sz="1400" b="1" dirty="0">
                <a:solidFill>
                  <a:schemeClr val="tx1">
                    <a:lumMod val="65000"/>
                    <a:lumOff val="35000"/>
                  </a:schemeClr>
                </a:solidFill>
                <a:latin typeface="Corbel" panose="020B0503020204020204" pitchFamily="34" charset="0"/>
                <a:cs typeface="Calibri" panose="020F0502020204030204" pitchFamily="34" charset="0"/>
              </a:rPr>
              <a:t> YES</a:t>
            </a:r>
          </a:p>
          <a:p>
            <a:r>
              <a:rPr lang="en-US" sz="1200" dirty="0">
                <a:solidFill>
                  <a:schemeClr val="tx1">
                    <a:lumMod val="65000"/>
                    <a:lumOff val="35000"/>
                  </a:schemeClr>
                </a:solidFill>
                <a:latin typeface="Corbel" panose="020B0503020204020204" pitchFamily="34" charset="0"/>
                <a:cs typeface="Calibri" panose="020F0502020204030204" pitchFamily="34" charset="0"/>
              </a:rPr>
              <a:t>DO NOT send Supplier Impact Confirmation for Geopolitical issues arising due to new Tariffs announced.</a:t>
            </a:r>
            <a:br>
              <a:rPr lang="en-US" sz="1200" dirty="0">
                <a:solidFill>
                  <a:schemeClr val="tx1">
                    <a:lumMod val="65000"/>
                    <a:lumOff val="35000"/>
                  </a:schemeClr>
                </a:solidFill>
                <a:latin typeface="Corbel" panose="020B0503020204020204" pitchFamily="34" charset="0"/>
                <a:cs typeface="Calibri" panose="020F0502020204030204" pitchFamily="34" charset="0"/>
              </a:rPr>
            </a:br>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r>
              <a:rPr lang="en-US" sz="1200" dirty="0">
                <a:solidFill>
                  <a:schemeClr val="tx1">
                    <a:lumMod val="65000"/>
                    <a:lumOff val="35000"/>
                  </a:schemeClr>
                </a:solidFill>
                <a:latin typeface="Corbel" panose="020B0503020204020204" pitchFamily="34" charset="0"/>
                <a:cs typeface="Calibri" panose="020F0502020204030204" pitchFamily="34" charset="0"/>
              </a:rPr>
              <a:t>Note: Do not send Supplier Impact Confirmation for LOW severity events.</a:t>
            </a:r>
          </a:p>
        </p:txBody>
      </p:sp>
      <p:sp>
        <p:nvSpPr>
          <p:cNvPr id="7" name="Rectangle 6">
            <a:extLst>
              <a:ext uri="{FF2B5EF4-FFF2-40B4-BE49-F238E27FC236}">
                <a16:creationId xmlns:a16="http://schemas.microsoft.com/office/drawing/2014/main" id="{A2088183-0A2C-167E-E74A-31D85D338D69}"/>
              </a:ext>
            </a:extLst>
          </p:cNvPr>
          <p:cNvSpPr/>
          <p:nvPr/>
        </p:nvSpPr>
        <p:spPr>
          <a:xfrm>
            <a:off x="116498" y="180906"/>
            <a:ext cx="4225740" cy="417477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143004" y="4519459"/>
            <a:ext cx="4199234" cy="215763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15" name="Rectangle 14">
            <a:extLst>
              <a:ext uri="{FF2B5EF4-FFF2-40B4-BE49-F238E27FC236}">
                <a16:creationId xmlns:a16="http://schemas.microsoft.com/office/drawing/2014/main" id="{8C551A71-2465-0764-9E45-9C14C0FC310E}"/>
              </a:ext>
            </a:extLst>
          </p:cNvPr>
          <p:cNvSpPr/>
          <p:nvPr/>
        </p:nvSpPr>
        <p:spPr>
          <a:xfrm>
            <a:off x="4576850" y="4519459"/>
            <a:ext cx="5465086" cy="210911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8" name="TextBox 17">
            <a:extLst>
              <a:ext uri="{FF2B5EF4-FFF2-40B4-BE49-F238E27FC236}">
                <a16:creationId xmlns:a16="http://schemas.microsoft.com/office/drawing/2014/main" id="{476E391D-7B6D-B77D-DBA3-7ECBAED051B4}"/>
              </a:ext>
            </a:extLst>
          </p:cNvPr>
          <p:cNvSpPr txBox="1"/>
          <p:nvPr/>
        </p:nvSpPr>
        <p:spPr>
          <a:xfrm>
            <a:off x="322011" y="4653560"/>
            <a:ext cx="3825919" cy="2000548"/>
          </a:xfrm>
          <a:prstGeom prst="rect">
            <a:avLst/>
          </a:prstGeom>
          <a:noFill/>
        </p:spPr>
        <p:txBody>
          <a:bodyPr wrap="square">
            <a:spAutoFit/>
          </a:bodyPr>
          <a:lstStyle/>
          <a:p>
            <a:r>
              <a:rPr lang="en-IN" sz="1400" b="1" dirty="0">
                <a:solidFill>
                  <a:schemeClr val="tx1">
                    <a:lumMod val="65000"/>
                    <a:lumOff val="35000"/>
                  </a:schemeClr>
                </a:solidFill>
                <a:latin typeface="Corbel" panose="020B0503020204020204" pitchFamily="34" charset="0"/>
              </a:rPr>
              <a:t>Recent Geopolitical Events: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Russia-Ukraine Invasion</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Russia Cutting Off Gas to Europe</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China-Taiwan Conflict</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China-Us trade War</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Myanmar Military Coup</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Soaring Energy Costs in the US and UK</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Sri Lanka Debt Crisis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Taliban Afghanistan War</a:t>
            </a:r>
          </a:p>
          <a:p>
            <a:endParaRPr lang="en-IN" sz="1400" b="1" dirty="0">
              <a:latin typeface="Corbel" panose="020B0503020204020204" pitchFamily="34" charset="0"/>
            </a:endParaRPr>
          </a:p>
        </p:txBody>
      </p:sp>
      <p:graphicFrame>
        <p:nvGraphicFramePr>
          <p:cNvPr id="3" name="Table 2">
            <a:extLst>
              <a:ext uri="{FF2B5EF4-FFF2-40B4-BE49-F238E27FC236}">
                <a16:creationId xmlns:a16="http://schemas.microsoft.com/office/drawing/2014/main" id="{652963E9-1672-A616-86B1-384F79E81D7B}"/>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C822E964-7734-DDA0-12A7-B43938DEDF6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188691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354167" y="229429"/>
            <a:ext cx="5654424" cy="303584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421229" y="3590304"/>
            <a:ext cx="5587362" cy="2800767"/>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Sub-Types</a:t>
            </a:r>
          </a:p>
          <a:p>
            <a:pPr>
              <a:lnSpc>
                <a:spcPct val="150000"/>
              </a:lnSpc>
            </a:pPr>
            <a:r>
              <a:rPr lang="en-IN" sz="1200" b="1" dirty="0">
                <a:solidFill>
                  <a:schemeClr val="tx1">
                    <a:lumMod val="65000"/>
                    <a:lumOff val="35000"/>
                  </a:schemeClr>
                </a:solidFill>
                <a:latin typeface="Corbel" panose="020B0503020204020204" pitchFamily="34" charset="0"/>
                <a:cs typeface="Calibri" panose="020F0502020204030204" pitchFamily="34" charset="0"/>
              </a:rPr>
              <a:t>Escalated Military Drills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Live-Fire Exercises near international waters or sensitive areas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Aerial Combat and Air </a:t>
            </a:r>
            <a:r>
              <a:rPr lang="en-IN" sz="1200" dirty="0" err="1">
                <a:solidFill>
                  <a:schemeClr val="tx1">
                    <a:lumMod val="65000"/>
                    <a:lumOff val="35000"/>
                  </a:schemeClr>
                </a:solidFill>
                <a:latin typeface="Corbel" panose="020B0503020204020204" pitchFamily="34" charset="0"/>
                <a:cs typeface="Calibri" panose="020F0502020204030204" pitchFamily="34" charset="0"/>
              </a:rPr>
              <a:t>Defense</a:t>
            </a:r>
            <a:r>
              <a:rPr lang="en-IN" sz="1200" dirty="0">
                <a:solidFill>
                  <a:schemeClr val="tx1">
                    <a:lumMod val="65000"/>
                    <a:lumOff val="35000"/>
                  </a:schemeClr>
                </a:solidFill>
                <a:latin typeface="Corbel" panose="020B0503020204020204" pitchFamily="34" charset="0"/>
                <a:cs typeface="Calibri" panose="020F0502020204030204" pitchFamily="34" charset="0"/>
              </a:rPr>
              <a:t> Drills near contested airspace or commercial air routes (e.g., Air drills in the Baltic region amid NATO-Russian tensions)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Naval Blockade Simulations - Exercises focused on controlling maritime access in strategic locations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Missile Deployment or Testing Drills near international borders </a:t>
            </a:r>
            <a:br>
              <a:rPr lang="en-IN" sz="1200" dirty="0">
                <a:solidFill>
                  <a:schemeClr val="tx1">
                    <a:lumMod val="65000"/>
                    <a:lumOff val="35000"/>
                  </a:schemeClr>
                </a:solidFill>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dirty="0">
                <a:solidFill>
                  <a:schemeClr val="tx1">
                    <a:lumMod val="65000"/>
                    <a:lumOff val="35000"/>
                  </a:schemeClr>
                </a:solidFill>
                <a:latin typeface="Corbel" panose="020B0503020204020204" pitchFamily="34" charset="0"/>
                <a:cs typeface="Calibri" panose="020F0502020204030204" pitchFamily="34" charset="0"/>
              </a:rPr>
              <a:t>Nuclear Preparedness Drills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Rapid Mobilization Drills - rapid deployment of military forces in response to aggressive movements by a </a:t>
            </a:r>
            <a:r>
              <a:rPr lang="en-IN" sz="1200" dirty="0" err="1">
                <a:solidFill>
                  <a:schemeClr val="tx1">
                    <a:lumMod val="65000"/>
                    <a:lumOff val="35000"/>
                  </a:schemeClr>
                </a:solidFill>
                <a:latin typeface="Corbel" panose="020B0503020204020204" pitchFamily="34" charset="0"/>
                <a:cs typeface="Calibri" panose="020F0502020204030204" pitchFamily="34" charset="0"/>
              </a:rPr>
              <a:t>neighboring</a:t>
            </a:r>
            <a:r>
              <a:rPr lang="en-IN" sz="1200" dirty="0">
                <a:solidFill>
                  <a:schemeClr val="tx1">
                    <a:lumMod val="65000"/>
                    <a:lumOff val="35000"/>
                  </a:schemeClr>
                </a:solidFill>
                <a:latin typeface="Corbel" panose="020B0503020204020204" pitchFamily="34" charset="0"/>
                <a:cs typeface="Calibri" panose="020F0502020204030204" pitchFamily="34" charset="0"/>
              </a:rPr>
              <a:t> country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Special Forces Operations Training - Exercises simulating sensitive operations in conflict-prone areas</a:t>
            </a:r>
          </a:p>
        </p:txBody>
      </p:sp>
      <p:sp>
        <p:nvSpPr>
          <p:cNvPr id="10" name="TextBox 9">
            <a:extLst>
              <a:ext uri="{FF2B5EF4-FFF2-40B4-BE49-F238E27FC236}">
                <a16:creationId xmlns:a16="http://schemas.microsoft.com/office/drawing/2014/main" id="{B90C778B-9D44-B70A-F699-FDAFA36BDB03}"/>
              </a:ext>
            </a:extLst>
          </p:cNvPr>
          <p:cNvSpPr txBox="1"/>
          <p:nvPr/>
        </p:nvSpPr>
        <p:spPr>
          <a:xfrm>
            <a:off x="213111" y="344688"/>
            <a:ext cx="4169967" cy="461665"/>
          </a:xfrm>
          <a:prstGeom prst="rect">
            <a:avLst/>
          </a:prstGeom>
          <a:noFill/>
        </p:spPr>
        <p:txBody>
          <a:bodyPr wrap="square" rtlCol="0">
            <a:spAutoFit/>
          </a:bodyPr>
          <a:lstStyle/>
          <a:p>
            <a:r>
              <a:rPr lang="en-IN" sz="2400" b="1">
                <a:solidFill>
                  <a:srgbClr val="0070C0"/>
                </a:solidFill>
                <a:latin typeface="Corbel" panose="020B0503020204020204" pitchFamily="34" charset="0"/>
              </a:rPr>
              <a:t>MILITARY DRILLS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94545" y="970135"/>
            <a:ext cx="4007097" cy="4093428"/>
          </a:xfrm>
          <a:prstGeom prst="rect">
            <a:avLst/>
          </a:prstGeom>
          <a:noFill/>
        </p:spPr>
        <p:txBody>
          <a:bodyPr wrap="square" rtlCol="0">
            <a:spAutoFit/>
          </a:bodyPr>
          <a:lstStyle/>
          <a:p>
            <a:r>
              <a:rPr lang="en-IN" sz="1200" dirty="0">
                <a:solidFill>
                  <a:schemeClr val="tx1">
                    <a:lumMod val="65000"/>
                    <a:lumOff val="35000"/>
                  </a:schemeClr>
                </a:solidFill>
                <a:latin typeface="Corbel" panose="020B0503020204020204" pitchFamily="34" charset="0"/>
                <a:cs typeface="Calibri" panose="020F0502020204030204" pitchFamily="34" charset="0"/>
              </a:rPr>
              <a:t>Reporting Guidelines: </a:t>
            </a:r>
          </a:p>
          <a:p>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Do NOT report regular, anticipated exercises with standard </a:t>
            </a:r>
            <a:r>
              <a:rPr lang="en-IN" sz="1200" dirty="0" err="1">
                <a:solidFill>
                  <a:schemeClr val="tx1">
                    <a:lumMod val="65000"/>
                    <a:lumOff val="35000"/>
                  </a:schemeClr>
                </a:solidFill>
                <a:latin typeface="Corbel" panose="020B0503020204020204" pitchFamily="34" charset="0"/>
                <a:cs typeface="Calibri" panose="020F0502020204030204" pitchFamily="34" charset="0"/>
              </a:rPr>
              <a:t>maneuvers</a:t>
            </a:r>
            <a:r>
              <a:rPr lang="en-IN" sz="1200" dirty="0">
                <a:solidFill>
                  <a:schemeClr val="tx1">
                    <a:lumMod val="65000"/>
                    <a:lumOff val="35000"/>
                  </a:schemeClr>
                </a:solidFill>
                <a:latin typeface="Corbel" panose="020B0503020204020204" pitchFamily="34" charset="0"/>
                <a:cs typeface="Calibri" panose="020F0502020204030204" pitchFamily="34" charset="0"/>
              </a:rPr>
              <a:t> that occur periodically (e.g., quarterly or annually) and pose no immediate changes to security or supply routes. </a:t>
            </a:r>
            <a:br>
              <a:rPr lang="en-IN" sz="1200" dirty="0">
                <a:solidFill>
                  <a:schemeClr val="tx1">
                    <a:lumMod val="65000"/>
                    <a:lumOff val="35000"/>
                  </a:schemeClr>
                </a:solidFill>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b="1" dirty="0">
                <a:solidFill>
                  <a:schemeClr val="tx1">
                    <a:lumMod val="65000"/>
                    <a:lumOff val="35000"/>
                  </a:schemeClr>
                </a:solidFill>
                <a:latin typeface="Corbel" panose="020B0503020204020204" pitchFamily="34" charset="0"/>
                <a:cs typeface="Calibri" panose="020F0502020204030204" pitchFamily="34" charset="0"/>
              </a:rPr>
              <a:t>Report in case of</a:t>
            </a:r>
            <a:br>
              <a:rPr lang="en-IN" sz="1200" dirty="0">
                <a:solidFill>
                  <a:schemeClr val="tx1">
                    <a:lumMod val="65000"/>
                    <a:lumOff val="35000"/>
                  </a:schemeClr>
                </a:solidFill>
                <a:latin typeface="Corbel" panose="020B0503020204020204" pitchFamily="34" charset="0"/>
                <a:cs typeface="Calibri" panose="020F0502020204030204" pitchFamily="34" charset="0"/>
              </a:rPr>
            </a:br>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1200" b="1" dirty="0">
                <a:solidFill>
                  <a:schemeClr val="tx1">
                    <a:lumMod val="65000"/>
                    <a:lumOff val="35000"/>
                  </a:schemeClr>
                </a:solidFill>
                <a:latin typeface="Corbel" panose="020B0503020204020204" pitchFamily="34" charset="0"/>
                <a:cs typeface="Calibri" panose="020F0502020204030204" pitchFamily="34" charset="0"/>
              </a:rPr>
              <a:t>Escalating Military Presence or Border Presence: </a:t>
            </a:r>
            <a:r>
              <a:rPr lang="en-IN" sz="1200" dirty="0">
                <a:solidFill>
                  <a:schemeClr val="tx1">
                    <a:lumMod val="65000"/>
                    <a:lumOff val="35000"/>
                  </a:schemeClr>
                </a:solidFill>
                <a:latin typeface="Corbel" panose="020B0503020204020204" pitchFamily="34" charset="0"/>
                <a:cs typeface="Calibri" panose="020F0502020204030204" pitchFamily="34" charset="0"/>
              </a:rPr>
              <a:t>Increased regional deployment or shift in military readiness by </a:t>
            </a:r>
            <a:r>
              <a:rPr lang="en-IN" sz="1200" dirty="0" err="1">
                <a:solidFill>
                  <a:schemeClr val="tx1">
                    <a:lumMod val="65000"/>
                    <a:lumOff val="35000"/>
                  </a:schemeClr>
                </a:solidFill>
                <a:latin typeface="Corbel" panose="020B0503020204020204" pitchFamily="34" charset="0"/>
                <a:cs typeface="Calibri" panose="020F0502020204030204" pitchFamily="34" charset="0"/>
              </a:rPr>
              <a:t>neighboring</a:t>
            </a:r>
            <a:r>
              <a:rPr lang="en-IN" sz="1200" dirty="0">
                <a:solidFill>
                  <a:schemeClr val="tx1">
                    <a:lumMod val="65000"/>
                    <a:lumOff val="35000"/>
                  </a:schemeClr>
                </a:solidFill>
                <a:latin typeface="Corbel" panose="020B0503020204020204" pitchFamily="34" charset="0"/>
                <a:cs typeface="Calibri" panose="020F0502020204030204" pitchFamily="34" charset="0"/>
              </a:rPr>
              <a:t> countries or allies, border invasion during drill, indicating heightened security concerns. </a:t>
            </a:r>
            <a:br>
              <a:rPr lang="en-IN" sz="1200" dirty="0">
                <a:solidFill>
                  <a:schemeClr val="tx1">
                    <a:lumMod val="65000"/>
                    <a:lumOff val="35000"/>
                  </a:schemeClr>
                </a:solidFill>
                <a:latin typeface="Corbel" panose="020B0503020204020204" pitchFamily="34" charset="0"/>
                <a:cs typeface="Calibri" panose="020F0502020204030204" pitchFamily="34" charset="0"/>
              </a:rPr>
            </a:br>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1200" dirty="0">
                <a:solidFill>
                  <a:schemeClr val="tx1">
                    <a:lumMod val="65000"/>
                    <a:lumOff val="35000"/>
                  </a:schemeClr>
                </a:solidFill>
                <a:latin typeface="Corbel" panose="020B0503020204020204" pitchFamily="34" charset="0"/>
                <a:cs typeface="Calibri" panose="020F0502020204030204" pitchFamily="34" charset="0"/>
              </a:rPr>
              <a:t>Political or Trade Policy Changes: Statements from governments, trade sanctions, or policy shifts related to the region that could disrupt trade flows. </a:t>
            </a:r>
            <a:br>
              <a:rPr lang="en-IN" sz="1200" dirty="0">
                <a:solidFill>
                  <a:schemeClr val="tx1">
                    <a:lumMod val="65000"/>
                    <a:lumOff val="35000"/>
                  </a:schemeClr>
                </a:solidFill>
                <a:latin typeface="Corbel" panose="020B0503020204020204" pitchFamily="34" charset="0"/>
                <a:cs typeface="Calibri" panose="020F0502020204030204" pitchFamily="34" charset="0"/>
              </a:rPr>
            </a:br>
            <a:br>
              <a:rPr lang="en-IN" sz="1200" dirty="0">
                <a:solidFill>
                  <a:schemeClr val="tx1">
                    <a:lumMod val="65000"/>
                    <a:lumOff val="35000"/>
                  </a:schemeClr>
                </a:solidFill>
                <a:latin typeface="Corbel" panose="020B0503020204020204" pitchFamily="34" charset="0"/>
                <a:cs typeface="Calibri" panose="020F0502020204030204" pitchFamily="34" charset="0"/>
              </a:rPr>
            </a:br>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2000" dirty="0">
                <a:solidFill>
                  <a:schemeClr val="tx1">
                    <a:lumMod val="65000"/>
                    <a:lumOff val="35000"/>
                  </a:schemeClr>
                </a:solidFill>
                <a:latin typeface="Corbel" panose="020B0503020204020204" pitchFamily="34" charset="0"/>
                <a:cs typeface="Calibri" panose="020F0502020204030204" pitchFamily="34" charset="0"/>
              </a:rPr>
              <a:t>Report it under “Geopolitical”</a:t>
            </a:r>
          </a:p>
        </p:txBody>
      </p:sp>
      <p:sp>
        <p:nvSpPr>
          <p:cNvPr id="8" name="TextBox 7">
            <a:extLst>
              <a:ext uri="{FF2B5EF4-FFF2-40B4-BE49-F238E27FC236}">
                <a16:creationId xmlns:a16="http://schemas.microsoft.com/office/drawing/2014/main" id="{B5610F2B-2AF4-ACCC-641F-7F6A8CA668E7}"/>
              </a:ext>
            </a:extLst>
          </p:cNvPr>
          <p:cNvSpPr txBox="1"/>
          <p:nvPr/>
        </p:nvSpPr>
        <p:spPr>
          <a:xfrm>
            <a:off x="4502665" y="372174"/>
            <a:ext cx="5463715" cy="2893100"/>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WarRoom Guidelines</a:t>
            </a:r>
          </a:p>
          <a:p>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1200" dirty="0">
                <a:solidFill>
                  <a:schemeClr val="tx1">
                    <a:lumMod val="65000"/>
                    <a:lumOff val="35000"/>
                  </a:schemeClr>
                </a:solidFill>
                <a:latin typeface="Corbel" panose="020B0503020204020204" pitchFamily="34" charset="0"/>
                <a:cs typeface="Calibri" panose="020F0502020204030204" pitchFamily="34" charset="0"/>
              </a:rPr>
              <a:t>Geofence the area where drills are directly conducted, plus a surrounding radius of 50 nautical miles (57.5 miles). </a:t>
            </a:r>
          </a:p>
          <a:p>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Generally, we DO NOT issue supplier impact confirmations for military drills. Issue supplier impact confirmation only if </a:t>
            </a:r>
          </a:p>
          <a:p>
            <a:pPr marL="171450" indent="-171450">
              <a:buFont typeface="Arial" panose="020B0604020202020204" pitchFamily="34" charset="0"/>
              <a:buChar char="•"/>
            </a:pP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The drills have already caused documented disruptions in logistics, such as restricted shipping lanes, increased customs checks, or delays in transport services </a:t>
            </a:r>
          </a:p>
          <a:p>
            <a:pPr marL="171450" indent="-171450">
              <a:buFont typeface="Arial" panose="020B0604020202020204" pitchFamily="34" charset="0"/>
              <a:buChar char="•"/>
            </a:pP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There’s an official statement or diplomatic action (e.g., sanctions or trade restrictions) that may directly impact the flow of goods in the area</a:t>
            </a:r>
          </a:p>
        </p:txBody>
      </p:sp>
      <p:sp>
        <p:nvSpPr>
          <p:cNvPr id="7" name="Rectangle 6">
            <a:extLst>
              <a:ext uri="{FF2B5EF4-FFF2-40B4-BE49-F238E27FC236}">
                <a16:creationId xmlns:a16="http://schemas.microsoft.com/office/drawing/2014/main" id="{A2088183-0A2C-167E-E74A-31D85D338D69}"/>
              </a:ext>
            </a:extLst>
          </p:cNvPr>
          <p:cNvSpPr/>
          <p:nvPr/>
        </p:nvSpPr>
        <p:spPr>
          <a:xfrm>
            <a:off x="116499" y="180906"/>
            <a:ext cx="4059622" cy="652823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15" name="Rectangle 14">
            <a:extLst>
              <a:ext uri="{FF2B5EF4-FFF2-40B4-BE49-F238E27FC236}">
                <a16:creationId xmlns:a16="http://schemas.microsoft.com/office/drawing/2014/main" id="{8C551A71-2465-0764-9E45-9C14C0FC310E}"/>
              </a:ext>
            </a:extLst>
          </p:cNvPr>
          <p:cNvSpPr/>
          <p:nvPr/>
        </p:nvSpPr>
        <p:spPr>
          <a:xfrm>
            <a:off x="4361437" y="3429000"/>
            <a:ext cx="5680499" cy="319957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graphicFrame>
        <p:nvGraphicFramePr>
          <p:cNvPr id="3" name="Table 2">
            <a:extLst>
              <a:ext uri="{FF2B5EF4-FFF2-40B4-BE49-F238E27FC236}">
                <a16:creationId xmlns:a16="http://schemas.microsoft.com/office/drawing/2014/main" id="{652963E9-1672-A616-86B1-384F79E81D7B}"/>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a:solidFill>
                          <a:schemeClr val="accent2"/>
                        </a:solidFill>
                        <a:effectLst/>
                      </a:endParaRPr>
                    </a:p>
                    <a:p>
                      <a:pPr marL="0" algn="ctr" defTabSz="914400" rtl="0" eaLnBrk="1" fontAlgn="ctr" latinLnBrk="0" hangingPunct="1"/>
                      <a:r>
                        <a:rPr lang="en-US" sz="900" b="0" u="none" strike="noStrike" kern="120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C822E964-7734-DDA0-12A7-B43938DEDF6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a:solidFill>
                <a:schemeClr val="bg1"/>
              </a:solidFill>
              <a:latin typeface="Corbel" panose="020B0503020204020204" pitchFamily="34" charset="0"/>
            </a:endParaRPr>
          </a:p>
        </p:txBody>
      </p:sp>
    </p:spTree>
    <p:extLst>
      <p:ext uri="{BB962C8B-B14F-4D97-AF65-F5344CB8AC3E}">
        <p14:creationId xmlns:p14="http://schemas.microsoft.com/office/powerpoint/2010/main" val="1857301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086415" y="180906"/>
            <a:ext cx="4922175" cy="427728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39246" y="4855967"/>
            <a:ext cx="4319659" cy="1785104"/>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Outbreaks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Pandemics / Epidemics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Health emergencies/crisis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Lockdowns/curfews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Travel advisories/restrictions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Leadership health issues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Regional restrictions/no-entry zones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5593" y="394982"/>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HUMAN HEALTH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65593" y="873771"/>
            <a:ext cx="4650961" cy="4341830"/>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171450" indent="-171450">
              <a:lnSpc>
                <a:spcPct val="150000"/>
              </a:lnSpc>
              <a:buFont typeface="Arial" panose="020B0604020202020204" pitchFamily="34" charset="0"/>
              <a:buChar char="•"/>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Major outbreak, pandemic, or epidemic declared</a:t>
            </a:r>
          </a:p>
          <a:p>
            <a:pPr marL="171450" indent="-171450">
              <a:lnSpc>
                <a:spcPct val="150000"/>
              </a:lnSpc>
              <a:buFont typeface="Arial" panose="020B0604020202020204" pitchFamily="34" charset="0"/>
              <a:buChar char="•"/>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Partner site(s) in the region of impact</a:t>
            </a:r>
          </a:p>
          <a:p>
            <a:pPr marL="171450" indent="-171450">
              <a:lnSpc>
                <a:spcPct val="150000"/>
              </a:lnSpc>
              <a:buFont typeface="Arial" panose="020B0604020202020204" pitchFamily="34" charset="0"/>
              <a:buChar char="•"/>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The important manufacturing region, travel restrictions, labor disruptions, etc.</a:t>
            </a:r>
          </a:p>
          <a:p>
            <a:pPr marL="171450" indent="-171450">
              <a:lnSpc>
                <a:spcPct val="150000"/>
              </a:lnSpc>
              <a:buFont typeface="Arial" panose="020B0604020202020204" pitchFamily="34" charset="0"/>
              <a:buChar char="•"/>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(Bird flu, Ebola, MERS, Zika, dengue fever, cholera, SARS, plague, malaria, hepatitis B, etc.)</a:t>
            </a:r>
          </a:p>
          <a:p>
            <a:pPr marL="171450" indent="-171450">
              <a:lnSpc>
                <a:spcPct val="150000"/>
              </a:lnSpc>
              <a:buFont typeface="Arial" panose="020B0604020202020204" pitchFamily="34" charset="0"/>
              <a:buChar char="•"/>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Notify if a leader of a supplier company is severely sick</a:t>
            </a:r>
          </a:p>
          <a:p>
            <a:pPr algn="l"/>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algn="l"/>
            <a:r>
              <a:rPr lang="en-IN" sz="1200" b="1" dirty="0">
                <a:solidFill>
                  <a:srgbClr val="000000"/>
                </a:solidFill>
                <a:latin typeface="Corbel" panose="020B0503020204020204" pitchFamily="34" charset="0"/>
                <a:ea typeface="Roboto" panose="02000000000000000000" pitchFamily="2" charset="0"/>
                <a:cs typeface="Roboto" panose="02000000000000000000" pitchFamily="2" charset="0"/>
              </a:rPr>
              <a:t>List of epidemics</a:t>
            </a:r>
          </a:p>
          <a:p>
            <a:pPr algn="l"/>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https://en.wikipedia.org/wiki/List_of_epidemics </a:t>
            </a:r>
          </a:p>
          <a:p>
            <a:pPr algn="l"/>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algn="l">
              <a:lnSpc>
                <a:spcPct val="150000"/>
              </a:lnSpc>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COVID UPDATE? Once verified for supply chain disruptions, Covid updates should be alerted within 6 hours.</a:t>
            </a:r>
          </a:p>
          <a:p>
            <a:pPr algn="l">
              <a:lnSpc>
                <a:spcPct val="150000"/>
              </a:lnSpc>
            </a:pPr>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algn="l">
              <a:lnSpc>
                <a:spcPct val="150000"/>
              </a:lnSpc>
            </a:pPr>
            <a:r>
              <a:rPr lang="en-IN" sz="1200" dirty="0">
                <a:solidFill>
                  <a:srgbClr val="000000"/>
                </a:solidFill>
                <a:latin typeface="Corbel" panose="020B0503020204020204" pitchFamily="34" charset="0"/>
                <a:ea typeface="Roboto" panose="02000000000000000000" pitchFamily="2" charset="0"/>
                <a:cs typeface="Roboto" panose="02000000000000000000" pitchFamily="2" charset="0"/>
              </a:rPr>
              <a:t>Restrictions, Lockdowns, shutdowns, warnings, red zones, spikes, etc. reported and verified on credible sources, and notify within 6 hours.</a:t>
            </a:r>
          </a:p>
        </p:txBody>
      </p:sp>
      <p:sp>
        <p:nvSpPr>
          <p:cNvPr id="8" name="TextBox 7">
            <a:extLst>
              <a:ext uri="{FF2B5EF4-FFF2-40B4-BE49-F238E27FC236}">
                <a16:creationId xmlns:a16="http://schemas.microsoft.com/office/drawing/2014/main" id="{B5610F2B-2AF4-ACCC-641F-7F6A8CA668E7}"/>
              </a:ext>
            </a:extLst>
          </p:cNvPr>
          <p:cNvSpPr txBox="1"/>
          <p:nvPr/>
        </p:nvSpPr>
        <p:spPr>
          <a:xfrm>
            <a:off x="5327087" y="394982"/>
            <a:ext cx="4165318" cy="4062651"/>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when:</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 the region of impact</a:t>
            </a:r>
          </a:p>
          <a:p>
            <a:pPr marL="171450" indent="-1714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Supplier company declares spike in infections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sym typeface="Wingdings" panose="05000000000000000000" pitchFamily="2" charset="2"/>
              </a:rPr>
              <a: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Send impact to the sites in the affected city/state/country only</a:t>
            </a:r>
          </a:p>
          <a:p>
            <a:pPr marL="285750" indent="-285750">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A country, state, or city declares a spike in infections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sym typeface="Wingdings" panose="05000000000000000000" pitchFamily="2" charset="2"/>
              </a:rPr>
              <a:t></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Send impact to all sites involved in the regions.</a:t>
            </a: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7"/>
            <a:ext cx="4800057" cy="6460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4638260"/>
            <a:ext cx="4773550" cy="203883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8D1DFC60-2C4E-B02B-7676-3D8A51EBCBE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0982D78-5060-EB85-D01F-C31E064AC06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291976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4900013" y="180905"/>
            <a:ext cx="5108577" cy="511656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4968604" y="5560459"/>
            <a:ext cx="4807791" cy="1231106"/>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Sub-Types</a:t>
            </a:r>
          </a:p>
          <a:p>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Named storms | Category storms | Unnamed major storms with high potential | No category storms with high potential | Developing storms | Developed storms | Hurricane/ Typhoon/Cyclone | Tropical storms with potential to grow</a:t>
            </a:r>
            <a:endParaRPr lang="en-IN"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32994" y="325354"/>
            <a:ext cx="4964340" cy="738664"/>
          </a:xfrm>
          <a:prstGeom prst="rect">
            <a:avLst/>
          </a:prstGeom>
          <a:noFill/>
        </p:spPr>
        <p:txBody>
          <a:bodyPr wrap="square" rtlCol="0">
            <a:spAutoFit/>
          </a:bodyPr>
          <a:lstStyle/>
          <a:p>
            <a:r>
              <a:rPr lang="en-IN" sz="2100" b="1" dirty="0">
                <a:solidFill>
                  <a:srgbClr val="0070C0"/>
                </a:solidFill>
                <a:latin typeface="Corbel" panose="020B0503020204020204" pitchFamily="34" charset="0"/>
              </a:rPr>
              <a:t>HURRICANE/TYPHOON</a:t>
            </a:r>
          </a:p>
          <a:p>
            <a:r>
              <a:rPr lang="en-IN" sz="2100" b="1" dirty="0">
                <a:solidFill>
                  <a:srgbClr val="0070C0"/>
                </a:solidFill>
                <a:latin typeface="Corbel" panose="020B0503020204020204" pitchFamily="34" charset="0"/>
              </a:rPr>
              <a:t>(PRE-LANDFALL)</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2694" y="1208466"/>
            <a:ext cx="4541924" cy="4955203"/>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INITIAL BULLETIN</a:t>
            </a:r>
            <a:r>
              <a:rPr lang="en-US" sz="1200" b="1" i="0"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a:t>
            </a: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When the storm starts shaping and landfall is certain</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Possibly a named major storm</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Threatening important manufacturing region</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Sites/Ports/airports in its path</a:t>
            </a:r>
            <a:b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endParaRPr lang="en-US" sz="1200" b="0" i="0" u="sng"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200" b="1" i="0"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UPDATE</a:t>
            </a:r>
            <a:r>
              <a:rPr lang="en-US" sz="1200" b="1"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 </a:t>
            </a: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Forecasted path is known now on GDACS</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If sites are mapped in its path, send customer impact </a:t>
            </a:r>
            <a:b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(do not send supplier impact at this point)</a:t>
            </a:r>
          </a:p>
          <a:p>
            <a:pPr marL="285750" indent="-285750">
              <a:buFont typeface="Arial" panose="020B0604020202020204" pitchFamily="34" charset="0"/>
              <a:buChar char="•"/>
            </a:pPr>
            <a:endParaRPr lang="en-US" sz="1200" b="0" i="0" u="sng"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200" b="1" i="0"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NEXT UPDATE:</a:t>
            </a:r>
          </a:p>
          <a:p>
            <a:pPr marL="285750" indent="-285750">
              <a:buFont typeface="Arial" panose="020B0604020202020204" pitchFamily="34" charset="0"/>
              <a:buChar char="•"/>
            </a:pPr>
            <a:r>
              <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If/when the storm changes its category or path, send an update. (do not send supplier impact until landfall)</a:t>
            </a: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200" b="0"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endParaRPr>
          </a:p>
          <a:p>
            <a:r>
              <a:rPr lang="en-US" sz="1200" b="1" i="0" u="none" strike="noStrike" dirty="0">
                <a:solidFill>
                  <a:schemeClr val="tx1">
                    <a:lumMod val="65000"/>
                    <a:lumOff val="35000"/>
                  </a:schemeClr>
                </a:solidFill>
                <a:effectLst/>
                <a:latin typeface="Corbel" panose="020B0503020204020204" pitchFamily="34" charset="0"/>
                <a:ea typeface="Roboto" panose="02000000000000000000" pitchFamily="2" charset="0"/>
                <a:cs typeface="Roboto" panose="02000000000000000000" pitchFamily="2" charset="0"/>
              </a:rPr>
              <a:t>Note</a:t>
            </a:r>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a:t>
            </a:r>
            <a:b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b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EventWatch sends updates when</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A hurricane changes its category/path</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Emergency or Evacuation warnings issued</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Businesses start shutting down </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New damages and disruption reports emerge</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Warnings are lifted</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Storm starts degrading</a:t>
            </a:r>
            <a:endParaRPr lang="en-IN" sz="1200" b="1"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4972131" y="238276"/>
            <a:ext cx="4964340" cy="5139869"/>
          </a:xfrm>
          <a:prstGeom prst="rect">
            <a:avLst/>
          </a:prstGeom>
          <a:noFill/>
        </p:spPr>
        <p:txBody>
          <a:bodyPr wrap="square" rtlCol="0">
            <a:spAutoFit/>
          </a:bodyPr>
          <a:lstStyle/>
          <a:p>
            <a:r>
              <a:rPr lang="en-US" sz="1400" b="1" u="sng" dirty="0">
                <a:solidFill>
                  <a:schemeClr val="tx1">
                    <a:lumMod val="65000"/>
                    <a:lumOff val="35000"/>
                  </a:schemeClr>
                </a:solidFill>
                <a:latin typeface="Corbel" panose="020B0503020204020204" pitchFamily="34" charset="0"/>
                <a:cs typeface="Calibri" panose="020F0502020204030204" pitchFamily="34" charset="0"/>
              </a:rPr>
              <a:t>WarRoom Guidelines</a:t>
            </a:r>
            <a:br>
              <a:rPr lang="en-US" sz="1400" b="1" u="sng" dirty="0">
                <a:solidFill>
                  <a:schemeClr val="tx1">
                    <a:lumMod val="65000"/>
                    <a:lumOff val="35000"/>
                  </a:schemeClr>
                </a:solidFill>
                <a:latin typeface="Corbel" panose="020B0503020204020204" pitchFamily="34" charset="0"/>
                <a:cs typeface="Calibri" panose="020F0502020204030204" pitchFamily="34" charset="0"/>
              </a:rPr>
            </a:br>
            <a:endParaRPr lang="en-US" sz="1400" b="1" u="sng" dirty="0">
              <a:solidFill>
                <a:schemeClr val="tx1">
                  <a:lumMod val="65000"/>
                  <a:lumOff val="35000"/>
                </a:schemeClr>
              </a:solidFill>
              <a:latin typeface="Corbel" panose="020B0503020204020204" pitchFamily="34" charset="0"/>
              <a:cs typeface="Calibri" panose="020F0502020204030204" pitchFamily="34" charset="0"/>
            </a:endParaRPr>
          </a:p>
          <a:p>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Category 1 or above:</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Send customer impact when the path becomes known</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Send supplier impact when it makes landfall</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Follow the path provided by forecasters (GDACS)</a:t>
            </a:r>
          </a:p>
          <a:p>
            <a:pPr marL="285750" indent="-2857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Tropical storm/No Name/No category</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Send impact on landfall</a:t>
            </a:r>
          </a:p>
          <a:p>
            <a:pPr marL="285750" indent="-2857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Send supplier impact </a:t>
            </a:r>
          </a:p>
          <a:p>
            <a:pPr marL="285750" indent="-2857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NOTE: </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If a storm changes its path pre-landfall, create a new polygon based on a new path. Include the entire path in the new polygon</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If the hurricane is projected to impact a new state within the same country, continue updating the existing WarRoom.</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If the hurricane is projected to impact a new country, or more than one countries, create a separate WarRoom for each country.</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Country name should be mentioned in the title</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If a region already impacted by a hurricane is likely to be hit again by a new hurricane, create a separate WarRoom for the new hurricane. </a:t>
            </a:r>
          </a:p>
          <a:p>
            <a:endPar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r>
              <a:rPr lang="en-US" sz="1200" b="1"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Send Supplier Impact Confirmation? </a:t>
            </a:r>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 YES (not for LOW severity; MEDIUM, HIGH, SEVERE only)</a:t>
            </a:r>
          </a:p>
          <a:p>
            <a:r>
              <a:rPr lang="en-US"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rPr>
              <a:t>YES, as soon as authorities start shutting down businesses in preparation for an approaching storm (a storm is several days away from making landfall)</a:t>
            </a:r>
            <a:endParaRPr lang="en-IN"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628121" cy="649618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4936326" y="5458824"/>
            <a:ext cx="4967866" cy="121826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3BCA47A2-9587-FDCE-22C1-4B865E9E62C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9" name="Rectangle: Rounded Corners 8">
            <a:hlinkClick r:id="rId46" action="ppaction://hlinksldjump"/>
            <a:extLst>
              <a:ext uri="{FF2B5EF4-FFF2-40B4-BE49-F238E27FC236}">
                <a16:creationId xmlns:a16="http://schemas.microsoft.com/office/drawing/2014/main" id="{A1F2E6BF-AC12-6CD1-7090-EDE05AE7D32F}"/>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56885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02578" y="4216088"/>
            <a:ext cx="4557078" cy="2185214"/>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Sub-Types</a:t>
            </a:r>
          </a:p>
          <a:p>
            <a:endParaRPr lang="en-IN" sz="1400" b="1" u="sng" dirty="0">
              <a:latin typeface="Corbel" panose="020B0503020204020204" pitchFamily="34" charset="0"/>
            </a:endParaRP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Named storms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Category storms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Unnamed major storms with high potential</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No category storms with high potential</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Developing storms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Developed storms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Hurricane/ Typhoon/Cyclone</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Tropical storms with potential to grow</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32592" y="360740"/>
            <a:ext cx="4865698" cy="707886"/>
          </a:xfrm>
          <a:prstGeom prst="rect">
            <a:avLst/>
          </a:prstGeom>
          <a:noFill/>
        </p:spPr>
        <p:txBody>
          <a:bodyPr wrap="square" rtlCol="0">
            <a:spAutoFit/>
          </a:bodyPr>
          <a:lstStyle/>
          <a:p>
            <a:r>
              <a:rPr lang="en-IN" sz="2000" b="1" dirty="0">
                <a:solidFill>
                  <a:srgbClr val="0070C0"/>
                </a:solidFill>
                <a:latin typeface="Corbel" panose="020B0503020204020204" pitchFamily="34" charset="0"/>
              </a:rPr>
              <a:t>HURRICANE/TYPHOON</a:t>
            </a:r>
          </a:p>
          <a:p>
            <a:r>
              <a:rPr lang="en-IN" sz="2000" b="1" dirty="0">
                <a:solidFill>
                  <a:srgbClr val="0070C0"/>
                </a:solidFill>
                <a:latin typeface="Corbel" panose="020B0503020204020204" pitchFamily="34" charset="0"/>
              </a:rPr>
              <a:t>(POST-LANDFALL)</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0465" y="1182219"/>
            <a:ext cx="4636113" cy="4832092"/>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endParaRPr lang="en-US" sz="1400" b="0" i="0" u="none" strike="noStrike" dirty="0">
              <a:effectLst/>
              <a:latin typeface="Corbel" panose="020B0503020204020204" pitchFamily="34" charset="0"/>
            </a:endParaRPr>
          </a:p>
          <a:p>
            <a:pPr marL="171450" indent="-171450">
              <a:lnSpc>
                <a:spcPct val="15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UPDATE: when it makes landfall (send supplier impact)</a:t>
            </a:r>
            <a:br>
              <a:rPr lang="en-US" sz="1200" dirty="0">
                <a:solidFill>
                  <a:schemeClr val="tx1">
                    <a:lumMod val="65000"/>
                    <a:lumOff val="35000"/>
                  </a:schemeClr>
                </a:solidFill>
                <a:latin typeface="Corbel" panose="020B0503020204020204" pitchFamily="34" charset="0"/>
                <a:cs typeface="Calibri" panose="020F0502020204030204" pitchFamily="34" charset="0"/>
              </a:rPr>
            </a:br>
            <a:br>
              <a:rPr lang="en-US" sz="1200"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UPDATE: Post-landfall destruction reported</a:t>
            </a:r>
            <a:br>
              <a:rPr lang="en-US" sz="1200"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Evacuations | Structural damages | Transportation/Cargo Disruptions | Manufacturing Disruptions | Power outages | Flight disruptions | Port disruptions and more</a:t>
            </a:r>
            <a:br>
              <a:rPr lang="en-US" sz="1200" dirty="0">
                <a:solidFill>
                  <a:schemeClr val="tx1">
                    <a:lumMod val="65000"/>
                    <a:lumOff val="35000"/>
                  </a:schemeClr>
                </a:solidFill>
                <a:latin typeface="Corbel" panose="020B0503020204020204" pitchFamily="34" charset="0"/>
                <a:cs typeface="Calibri" panose="020F0502020204030204" pitchFamily="34" charset="0"/>
              </a:rPr>
            </a:br>
            <a:br>
              <a:rPr lang="en-US" sz="1200"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NOTE: </a:t>
            </a:r>
          </a:p>
          <a:p>
            <a:pPr marL="171450" indent="-171450">
              <a:lnSpc>
                <a:spcPct val="15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Send further updates when:</a:t>
            </a:r>
          </a:p>
          <a:p>
            <a:pPr marL="171450" indent="-171450">
              <a:lnSpc>
                <a:spcPct val="15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Escalated damages reported structural damage, power outages, flights cancellation, flooded roadways, port disruptions</a:t>
            </a:r>
          </a:p>
          <a:p>
            <a:pPr marL="171450" indent="-171450">
              <a:lnSpc>
                <a:spcPct val="15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Industrial parks affected in the region</a:t>
            </a:r>
          </a:p>
          <a:p>
            <a:pPr marL="171450" indent="-171450">
              <a:lnSpc>
                <a:spcPct val="15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Nuclear plants etc. affected in the region</a:t>
            </a:r>
          </a:p>
          <a:p>
            <a:pPr marL="171450" indent="-1714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IF THE STORM CHANGES ITS PATH OR CATEGORY ::</a:t>
            </a:r>
            <a:br>
              <a:rPr lang="en-US" sz="1200" dirty="0">
                <a:solidFill>
                  <a:schemeClr val="tx1">
                    <a:lumMod val="65000"/>
                    <a:lumOff val="35000"/>
                  </a:schemeClr>
                </a:solidFill>
                <a:latin typeface="Corbel" panose="020B0503020204020204" pitchFamily="34" charset="0"/>
                <a:cs typeface="Calibri" panose="020F0502020204030204" pitchFamily="34" charset="0"/>
              </a:rPr>
            </a:br>
            <a:r>
              <a:rPr lang="en-US" sz="1200" dirty="0">
                <a:solidFill>
                  <a:schemeClr val="tx1">
                    <a:lumMod val="65000"/>
                    <a:lumOff val="35000"/>
                  </a:schemeClr>
                </a:solidFill>
                <a:latin typeface="Corbel" panose="020B0503020204020204" pitchFamily="34" charset="0"/>
                <a:cs typeface="Calibri" panose="020F0502020204030204" pitchFamily="34" charset="0"/>
              </a:rPr>
              <a:t>Send update with impact to extended (new) regions only</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02578" y="329962"/>
            <a:ext cx="4701614" cy="2923877"/>
          </a:xfrm>
          <a:prstGeom prst="rect">
            <a:avLst/>
          </a:prstGeom>
          <a:noFill/>
        </p:spPr>
        <p:txBody>
          <a:bodyPr wrap="square" rtlCol="0">
            <a:spAutoFit/>
          </a:bodyPr>
          <a:lstStyle/>
          <a:p>
            <a:r>
              <a:rPr lang="en-IN" sz="1400" b="1" u="sng" dirty="0">
                <a:latin typeface="Corbel" panose="020B0503020204020204" pitchFamily="34" charset="0"/>
                <a:cs typeface="Calibri" panose="020F0502020204030204" pitchFamily="34" charset="0"/>
              </a:rPr>
              <a:t>WarRoom Guidelines</a:t>
            </a:r>
            <a:br>
              <a:rPr lang="en-IN" sz="1400" b="1" u="sng" dirty="0">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If the storm further intensifies or changes path, send a new impact</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After sending supplier impact, if a new polygon is needed, make sure we do not include the regions included in the initial polygon</a:t>
            </a:r>
            <a:br>
              <a:rPr lang="en-IN" sz="1200" dirty="0">
                <a:solidFill>
                  <a:schemeClr val="tx1">
                    <a:lumMod val="65000"/>
                    <a:lumOff val="35000"/>
                  </a:schemeClr>
                </a:solidFill>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Category 1: Only issue WarRoom to red and orange region as per GDACS</a:t>
            </a:r>
            <a:br>
              <a:rPr lang="en-IN" sz="1200" dirty="0">
                <a:solidFill>
                  <a:schemeClr val="tx1">
                    <a:lumMod val="65000"/>
                    <a:lumOff val="35000"/>
                  </a:schemeClr>
                </a:solidFill>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Category 2 and above: issue WarRoom including the green region asper GDACS</a:t>
            </a:r>
            <a:br>
              <a:rPr lang="en-IN" sz="1400" u="sng" dirty="0">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u="sng" dirty="0">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IN" sz="1200" b="1" dirty="0">
                <a:solidFill>
                  <a:schemeClr val="tx1">
                    <a:lumMod val="65000"/>
                    <a:lumOff val="35000"/>
                  </a:schemeClr>
                </a:solidFill>
                <a:latin typeface="Corbel" panose="020B0503020204020204" pitchFamily="34" charset="0"/>
                <a:cs typeface="Calibri" panose="020F0502020204030204" pitchFamily="34" charset="0"/>
              </a:rPr>
              <a:t>- </a:t>
            </a:r>
            <a:r>
              <a:rPr lang="en-IN" sz="1200" dirty="0">
                <a:solidFill>
                  <a:schemeClr val="tx1">
                    <a:lumMod val="65000"/>
                    <a:lumOff val="35000"/>
                  </a:schemeClr>
                </a:solidFill>
                <a:latin typeface="Corbel" panose="020B0503020204020204" pitchFamily="34" charset="0"/>
                <a:cs typeface="Calibri" panose="020F0502020204030204" pitchFamily="34" charset="0"/>
              </a:rPr>
              <a:t>YES (not for LOW severity; MEDIUM, HIGH, SEVERE only)</a:t>
            </a:r>
          </a:p>
          <a:p>
            <a:r>
              <a:rPr lang="en-IN" sz="1200" dirty="0">
                <a:solidFill>
                  <a:schemeClr val="tx1">
                    <a:lumMod val="65000"/>
                    <a:lumOff val="35000"/>
                  </a:schemeClr>
                </a:solidFill>
                <a:latin typeface="Corbel" panose="020B0503020204020204" pitchFamily="34" charset="0"/>
                <a:cs typeface="Calibri" panose="020F0502020204030204" pitchFamily="34" charset="0"/>
              </a:rPr>
              <a:t>Only send impact to the projected path as per GDACS</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54822"/>
            <a:ext cx="4812672" cy="634243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908235"/>
            <a:ext cx="4786165" cy="259858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9B0B43D0-7FD8-71D1-6C35-CB539A9ED8F8}"/>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ACBADAE1-6A78-818B-4B4F-74636879347B}"/>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76829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001657" y="159026"/>
            <a:ext cx="5006933" cy="541158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88003" y="328655"/>
            <a:ext cx="416996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LABOR DISRUPTIONS	</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51956" y="748498"/>
            <a:ext cx="4443357" cy="5926622"/>
          </a:xfrm>
          <a:prstGeom prst="rect">
            <a:avLst/>
          </a:prstGeom>
          <a:noFill/>
        </p:spPr>
        <p:txBody>
          <a:bodyPr wrap="square" rtlCol="0">
            <a:spAutoFit/>
          </a:bodyPr>
          <a:lstStyle/>
          <a:p>
            <a:pPr>
              <a:lnSpc>
                <a:spcPct val="150000"/>
              </a:lnSpc>
            </a:pPr>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a:lnSpc>
                <a:spcPct val="150000"/>
              </a:lnSpc>
            </a:pPr>
            <a:r>
              <a:rPr lang="en-IN" sz="1200" dirty="0">
                <a:solidFill>
                  <a:schemeClr val="tx1">
                    <a:lumMod val="65000"/>
                    <a:lumOff val="35000"/>
                  </a:schemeClr>
                </a:solidFill>
              </a:rPr>
              <a:t>Send Pre-Alert immediately upon receiving the first credible signal or media feed, even if: </a:t>
            </a:r>
          </a:p>
          <a:p>
            <a:pPr marL="342900" indent="-342900">
              <a:lnSpc>
                <a:spcPct val="150000"/>
              </a:lnSpc>
              <a:buAutoNum type="alphaLcPeriod"/>
            </a:pPr>
            <a:r>
              <a:rPr lang="en-IN" sz="1200" dirty="0">
                <a:solidFill>
                  <a:schemeClr val="tx1">
                    <a:lumMod val="65000"/>
                    <a:lumOff val="35000"/>
                  </a:schemeClr>
                </a:solidFill>
              </a:rPr>
              <a:t>The strike date is unspecified </a:t>
            </a:r>
          </a:p>
          <a:p>
            <a:pPr marL="342900" indent="-342900">
              <a:lnSpc>
                <a:spcPct val="150000"/>
              </a:lnSpc>
              <a:buAutoNum type="alphaLcPeriod"/>
            </a:pPr>
            <a:r>
              <a:rPr lang="en-IN" sz="1200" dirty="0">
                <a:solidFill>
                  <a:schemeClr val="tx1">
                    <a:lumMod val="65000"/>
                    <a:lumOff val="35000"/>
                  </a:schemeClr>
                </a:solidFill>
              </a:rPr>
              <a:t>Union votes confirming a strike (even without disclosed locations)</a:t>
            </a:r>
          </a:p>
          <a:p>
            <a:pPr marL="342900" indent="-342900">
              <a:lnSpc>
                <a:spcPct val="150000"/>
              </a:lnSpc>
              <a:buAutoNum type="alphaLcPeriod"/>
            </a:pPr>
            <a:r>
              <a:rPr lang="en-IN" sz="1200" dirty="0">
                <a:solidFill>
                  <a:schemeClr val="tx1">
                    <a:lumMod val="65000"/>
                    <a:lumOff val="35000"/>
                  </a:schemeClr>
                </a:solidFill>
              </a:rPr>
              <a:t>Announcements of strike intention even if voting is pending </a:t>
            </a:r>
          </a:p>
          <a:p>
            <a:pPr marL="342900" indent="-342900">
              <a:lnSpc>
                <a:spcPct val="150000"/>
              </a:lnSpc>
              <a:buAutoNum type="alphaLcPeriod"/>
            </a:pPr>
            <a:r>
              <a:rPr lang="en-IN" sz="1200" dirty="0">
                <a:solidFill>
                  <a:schemeClr val="tx1">
                    <a:lumMod val="65000"/>
                    <a:lumOff val="35000"/>
                  </a:schemeClr>
                </a:solidFill>
              </a:rPr>
              <a:t>The strike is tentatively scheduled for a future date</a:t>
            </a:r>
            <a:endParaRPr lang="en-IN" sz="1200" dirty="0"/>
          </a:p>
          <a:p>
            <a:pPr>
              <a:lnSpc>
                <a:spcPct val="150000"/>
              </a:lnSpc>
            </a:pPr>
            <a:r>
              <a:rPr lang="en-IN" sz="1200" b="1" dirty="0">
                <a:solidFill>
                  <a:schemeClr val="tx1">
                    <a:lumMod val="65000"/>
                    <a:lumOff val="35000"/>
                  </a:schemeClr>
                </a:solidFill>
              </a:rPr>
              <a:t>Notify:</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a supplier is involved </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important utility services involved including major ports/airports</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product lines and applications match our verticals. Possible sub tier or Tier 1 yet to be mapped (decide on product line)</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For Services sector, check if the company is serving the verticals we cover, including logistics, cargo shipping, port, airport, petrochemicals, specialty chemicals provider, IT company, utility provider, postal services, freight, rail, metal, mining, regulatory bodies, data center, etc. </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a strike has already started</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Contract negotiations are ON</a:t>
            </a:r>
          </a:p>
          <a:p>
            <a:pPr marL="285750" indent="-285750">
              <a:lnSpc>
                <a:spcPct val="150000"/>
              </a:lnSpc>
              <a:buFont typeface="Arial" panose="020B0604020202020204" pitchFamily="34" charset="0"/>
              <a:buChar char="•"/>
            </a:pPr>
            <a:r>
              <a:rPr lang="en-IN" sz="1200" dirty="0">
                <a:solidFill>
                  <a:schemeClr val="tx1">
                    <a:lumMod val="65000"/>
                    <a:lumOff val="35000"/>
                  </a:schemeClr>
                </a:solidFill>
              </a:rPr>
              <a:t>If partner involved but applications don’t match</a:t>
            </a:r>
            <a:endParaRPr lang="en-IN" sz="1200" b="1"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5759" y="250952"/>
            <a:ext cx="4794669" cy="5324535"/>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WarRoom Guidelines:</a:t>
            </a:r>
            <a:br>
              <a:rPr lang="en-IN" sz="1400" b="1" u="sng" dirty="0">
                <a:solidFill>
                  <a:schemeClr val="tx1">
                    <a:lumMod val="65000"/>
                    <a:lumOff val="35000"/>
                  </a:schemeClr>
                </a:solidFill>
                <a:latin typeface="Corbel" panose="020B0503020204020204" pitchFamily="34" charset="0"/>
              </a:rPr>
            </a:br>
            <a:endParaRPr lang="en-IN" sz="1400" b="1" u="sng" dirty="0">
              <a:solidFill>
                <a:schemeClr val="tx1">
                  <a:lumMod val="65000"/>
                  <a:lumOff val="35000"/>
                </a:schemeClr>
              </a:solidFill>
              <a:latin typeface="Corbel" panose="020B050302020402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rPr>
              <a:t>Partner site(s) involved: create a WarRoom within the Pre-Alert as soon as a potential strike is reported and send the supplier impact.</a:t>
            </a:r>
          </a:p>
          <a:p>
            <a:pPr marL="171450" indent="-171450">
              <a:buFont typeface="Arial" panose="020B0604020202020204" pitchFamily="34" charset="0"/>
              <a:buChar char="•"/>
            </a:pPr>
            <a:r>
              <a:rPr lang="en-IN" sz="1200" dirty="0">
                <a:solidFill>
                  <a:schemeClr val="tx1">
                    <a:lumMod val="65000"/>
                    <a:lumOff val="35000"/>
                  </a:schemeClr>
                </a:solidFill>
              </a:rPr>
              <a:t>A day before the strike: post a Pre-Strike reminder update and re-send the supplier impact.</a:t>
            </a:r>
          </a:p>
          <a:p>
            <a:pPr marL="171450" indent="-171450">
              <a:buFont typeface="Arial" panose="020B0604020202020204" pitchFamily="34" charset="0"/>
              <a:buChar char="•"/>
            </a:pPr>
            <a:r>
              <a:rPr lang="en-IN" sz="1200" dirty="0">
                <a:solidFill>
                  <a:schemeClr val="tx1">
                    <a:lumMod val="65000"/>
                    <a:lumOff val="35000"/>
                  </a:schemeClr>
                </a:solidFill>
              </a:rPr>
              <a:t>Mark partner sites in the impact region (Polygon/Radius) as affected; verify impacted locations (plant, port, city, state) using official sources or union communication.</a:t>
            </a:r>
          </a:p>
          <a:p>
            <a:pPr marL="171450" indent="-171450">
              <a:buFont typeface="Arial" panose="020B0604020202020204" pitchFamily="34" charset="0"/>
              <a:buChar char="•"/>
            </a:pPr>
            <a:r>
              <a:rPr lang="en-IN" sz="1200" dirty="0">
                <a:solidFill>
                  <a:schemeClr val="tx1">
                    <a:lumMod val="65000"/>
                    <a:lumOff val="35000"/>
                  </a:schemeClr>
                </a:solidFill>
              </a:rPr>
              <a:t>If specific sites aren't disclosed, include all mapped supplier sites within the union's jurisdiction (e.g. IG Metall targets ABC Ltd. in Germany without disclosing plants -&gt; include all ABC Ltd. sites in Germany).</a:t>
            </a:r>
            <a:br>
              <a:rPr lang="en-IN" sz="1200" dirty="0">
                <a:solidFill>
                  <a:schemeClr val="tx1">
                    <a:lumMod val="65000"/>
                    <a:lumOff val="35000"/>
                  </a:schemeClr>
                </a:solidFill>
              </a:rPr>
            </a:br>
            <a:endParaRPr lang="en-IN" sz="1200" dirty="0">
              <a:solidFill>
                <a:schemeClr val="tx1">
                  <a:lumMod val="65000"/>
                  <a:lumOff val="35000"/>
                </a:schemeClr>
              </a:solidFill>
            </a:endParaRPr>
          </a:p>
          <a:p>
            <a:r>
              <a:rPr lang="en-IN" sz="1400" b="1" u="sng" dirty="0">
                <a:solidFill>
                  <a:schemeClr val="tx1">
                    <a:lumMod val="65000"/>
                    <a:lumOff val="35000"/>
                  </a:schemeClr>
                </a:solidFill>
              </a:rPr>
              <a:t>Strike Alert Protocol: </a:t>
            </a:r>
          </a:p>
          <a:p>
            <a:pPr marL="171450" indent="-171450">
              <a:buFont typeface="Arial" panose="020B0604020202020204" pitchFamily="34" charset="0"/>
              <a:buChar char="•"/>
            </a:pPr>
            <a:r>
              <a:rPr lang="en-IN" sz="1200" dirty="0">
                <a:solidFill>
                  <a:schemeClr val="tx1">
                    <a:lumMod val="65000"/>
                    <a:lumOff val="35000"/>
                  </a:schemeClr>
                </a:solidFill>
              </a:rPr>
              <a:t>future-dated strike -&gt; create a monitoring story due one day before the strike begins; if the strike is still on, send a verification update one day before.</a:t>
            </a:r>
          </a:p>
          <a:p>
            <a:pPr marL="171450" indent="-171450">
              <a:buFont typeface="Arial" panose="020B0604020202020204" pitchFamily="34" charset="0"/>
              <a:buChar char="•"/>
            </a:pPr>
            <a:r>
              <a:rPr lang="en-IN" sz="1200" dirty="0">
                <a:solidFill>
                  <a:schemeClr val="tx1">
                    <a:lumMod val="65000"/>
                    <a:lumOff val="35000"/>
                  </a:schemeClr>
                </a:solidFill>
              </a:rPr>
              <a:t>Provide updates for major developments (scale increases, changes in impacted areas, confirmed extensions). Use only one WarRoom per strike; attach all updates to the original.</a:t>
            </a:r>
          </a:p>
          <a:p>
            <a:pPr marL="171450" indent="-171450">
              <a:buFont typeface="Arial" panose="020B0604020202020204" pitchFamily="34" charset="0"/>
              <a:buChar char="•"/>
            </a:pPr>
            <a:r>
              <a:rPr lang="en-IN" sz="1200" dirty="0">
                <a:solidFill>
                  <a:schemeClr val="tx1">
                    <a:lumMod val="65000"/>
                    <a:lumOff val="35000"/>
                  </a:schemeClr>
                </a:solidFill>
              </a:rPr>
              <a:t>Strike Called Off? Mark as Not Impactful. Strikes likely to affect ports or airports -&gt; classify as PORT/AIRPORT DISRUPTION. Do NOT send alerts for commuter-only disruptions. If unions expand the strike, escalate coverage and update the WarRoom promptly.</a:t>
            </a:r>
            <a:br>
              <a:rPr lang="en-IN" sz="1200" dirty="0">
                <a:solidFill>
                  <a:schemeClr val="tx1">
                    <a:lumMod val="65000"/>
                    <a:lumOff val="35000"/>
                  </a:schemeClr>
                </a:solidFill>
              </a:rPr>
            </a:br>
            <a:endParaRPr lang="en-IN" sz="1400" b="1" u="sng" dirty="0">
              <a:solidFill>
                <a:schemeClr val="tx1">
                  <a:lumMod val="65000"/>
                  <a:lumOff val="35000"/>
                </a:schemeClr>
              </a:solidFill>
            </a:endParaRPr>
          </a:p>
          <a:p>
            <a:r>
              <a:rPr lang="en-IN" sz="1400" b="1" u="sng" dirty="0">
                <a:solidFill>
                  <a:schemeClr val="tx1">
                    <a:lumMod val="65000"/>
                    <a:lumOff val="35000"/>
                  </a:schemeClr>
                </a:solidFill>
              </a:rPr>
              <a:t>Send Supplier Impact Confirmation? </a:t>
            </a:r>
            <a:r>
              <a:rPr lang="en-IN" sz="1200" dirty="0">
                <a:solidFill>
                  <a:schemeClr val="tx1">
                    <a:lumMod val="65000"/>
                    <a:lumOff val="35000"/>
                  </a:schemeClr>
                </a:solidFill>
              </a:rPr>
              <a:t>- YES (not for LOW severity; MEDIUM, HIGH, SEVERE only)</a:t>
            </a:r>
          </a:p>
        </p:txBody>
      </p:sp>
      <p:sp>
        <p:nvSpPr>
          <p:cNvPr id="7" name="Rectangle 6">
            <a:extLst>
              <a:ext uri="{FF2B5EF4-FFF2-40B4-BE49-F238E27FC236}">
                <a16:creationId xmlns:a16="http://schemas.microsoft.com/office/drawing/2014/main" id="{A2088183-0A2C-167E-E74A-31D85D338D69}"/>
              </a:ext>
            </a:extLst>
          </p:cNvPr>
          <p:cNvSpPr/>
          <p:nvPr/>
        </p:nvSpPr>
        <p:spPr>
          <a:xfrm>
            <a:off x="116498" y="127321"/>
            <a:ext cx="4721392" cy="659266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001658" y="5745274"/>
            <a:ext cx="5064670" cy="92984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TextBox 3">
            <a:extLst>
              <a:ext uri="{FF2B5EF4-FFF2-40B4-BE49-F238E27FC236}">
                <a16:creationId xmlns:a16="http://schemas.microsoft.com/office/drawing/2014/main" id="{BACF0A14-98EE-E23E-017B-00BC8131F45F}"/>
              </a:ext>
            </a:extLst>
          </p:cNvPr>
          <p:cNvSpPr txBox="1"/>
          <p:nvPr/>
        </p:nvSpPr>
        <p:spPr>
          <a:xfrm>
            <a:off x="5037439" y="5745274"/>
            <a:ext cx="4971151" cy="861774"/>
          </a:xfrm>
          <a:prstGeom prst="rect">
            <a:avLst/>
          </a:prstGeom>
          <a:noFill/>
        </p:spPr>
        <p:txBody>
          <a:bodyPr wrap="square">
            <a:spAutoFit/>
          </a:bodyPr>
          <a:lstStyle/>
          <a:p>
            <a:r>
              <a:rPr lang="en-IN" sz="1400" b="1" u="sng" dirty="0">
                <a:solidFill>
                  <a:schemeClr val="tx1">
                    <a:lumMod val="65000"/>
                    <a:lumOff val="35000"/>
                  </a:schemeClr>
                </a:solidFill>
                <a:latin typeface="Corbel" panose="020B0503020204020204" pitchFamily="34" charset="0"/>
              </a:rPr>
              <a:t>Sub-Types</a:t>
            </a:r>
          </a:p>
          <a:p>
            <a:r>
              <a:rPr lang="en-IN" sz="1200" dirty="0">
                <a:solidFill>
                  <a:schemeClr val="tx1">
                    <a:lumMod val="65000"/>
                    <a:lumOff val="35000"/>
                  </a:schemeClr>
                </a:solidFill>
              </a:rPr>
              <a:t>Company/site level strike | National strike | Transportation strike | Union contracts and strike | Utility services strike| Cargo strike | Border authorities strike | Postal strike | Layoffs | Labor walkouts | Labor protests</a:t>
            </a:r>
          </a:p>
        </p:txBody>
      </p:sp>
      <p:graphicFrame>
        <p:nvGraphicFramePr>
          <p:cNvPr id="3" name="Table 2">
            <a:extLst>
              <a:ext uri="{FF2B5EF4-FFF2-40B4-BE49-F238E27FC236}">
                <a16:creationId xmlns:a16="http://schemas.microsoft.com/office/drawing/2014/main" id="{0D4E8F12-AEA5-1EED-3FAC-2FBFE7EF3DD8}"/>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397E526B-64DA-D2D8-6179-404A0E5C071C}"/>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700073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59301" y="4051804"/>
            <a:ext cx="4662455" cy="1600438"/>
          </a:xfrm>
          <a:prstGeom prst="rect">
            <a:avLst/>
          </a:prstGeom>
          <a:noFill/>
        </p:spPr>
        <p:txBody>
          <a:bodyPr wrap="square" rtlCol="0">
            <a:spAutoFit/>
          </a:bodyPr>
          <a:lstStyle/>
          <a:p>
            <a:r>
              <a:rPr lang="en-IN" sz="1400" b="1" u="sng" dirty="0">
                <a:latin typeface="Corbel" panose="020B0503020204020204" pitchFamily="34" charset="0"/>
              </a:rPr>
              <a:t>Sub-Types</a:t>
            </a: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Child labor  | Underage labor | Trafficked labor | Slave Labor | Forced labor  | Illegal workforce | Undocumented workforce | Discrimination | Ethnic inequality | Race inequality | Gender inequality | Illegal overtime | Poor working conditions | Health and safety violations | Businesses in Conflict zones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Rights abuses/concerns | Criminal violations | Unpaid wages | Contract disputes | Speech Restriction | Wrongful termination</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6713" y="315631"/>
            <a:ext cx="4230216"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LABOR VIOLATION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45733" y="784368"/>
            <a:ext cx="4580704" cy="4647426"/>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child labor, underage labor, slave labor, forced labor, criminal violations, human trafficking, poor labor conditions, illegal workforce, undocumented workforce, hyper overtime, health &amp; safety violations, etc.</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if a partner involved or a major company from our verticals is involved</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Unmapped sub-tier or T1 involved (based on product line and applications)</a:t>
            </a:r>
          </a:p>
          <a:p>
            <a:pPr marL="171450" indent="-1714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Cargo/Freight Companies, Utility providers, Mining Companies, etc. involved</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 state/country is involved</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9" y="262544"/>
            <a:ext cx="4557220" cy="3354765"/>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When Partner involved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mapped in the region of impact</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child labor or illegal labor or trafficked labor is reported at 1 site, in impact include all sites in that country</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31265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4037659"/>
            <a:ext cx="4786165" cy="245590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41F254CE-5519-C42A-2482-E0E7C4AA3289}"/>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C3174F3F-E453-C78B-B0ED-2280952381AC}"/>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378119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15415" y="4029682"/>
            <a:ext cx="4662455" cy="2215991"/>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buFont typeface="Arial" panose="020B0604020202020204" pitchFamily="34" charset="0"/>
              <a:buChar char="•"/>
            </a:pPr>
            <a:r>
              <a:rPr lang="en-US" sz="1400" b="0" i="0" u="none" strike="noStrike" dirty="0">
                <a:effectLst/>
                <a:latin typeface="Corbel" panose="020B0503020204020204" pitchFamily="34" charset="0"/>
              </a:rPr>
              <a:t>CEO/CFO/COO </a:t>
            </a:r>
          </a:p>
          <a:p>
            <a:pPr marL="285750" indent="-285750">
              <a:buFont typeface="Arial" panose="020B0604020202020204" pitchFamily="34" charset="0"/>
              <a:buChar char="•"/>
            </a:pPr>
            <a:r>
              <a:rPr lang="en-US" sz="1400" b="0" i="0" u="none" strike="noStrike" dirty="0">
                <a:effectLst/>
                <a:latin typeface="Corbel" panose="020B0503020204020204" pitchFamily="34" charset="0"/>
              </a:rPr>
              <a:t>Retires</a:t>
            </a:r>
            <a:endParaRPr lang="en-US" sz="1400" dirty="0">
              <a:latin typeface="Corbel" panose="020B0503020204020204" pitchFamily="34" charset="0"/>
            </a:endParaRPr>
          </a:p>
          <a:p>
            <a:pPr marL="285750" indent="-285750">
              <a:buFont typeface="Arial" panose="020B0604020202020204" pitchFamily="34" charset="0"/>
              <a:buChar char="•"/>
            </a:pPr>
            <a:r>
              <a:rPr lang="en-US" sz="1400" b="0" i="0" u="none" strike="noStrike" dirty="0">
                <a:effectLst/>
                <a:latin typeface="Corbel" panose="020B0503020204020204" pitchFamily="34" charset="0"/>
              </a:rPr>
              <a:t>Resigns</a:t>
            </a:r>
            <a:endParaRPr lang="en-US" sz="1400" dirty="0">
              <a:latin typeface="Corbel" panose="020B0503020204020204" pitchFamily="34" charset="0"/>
            </a:endParaRPr>
          </a:p>
          <a:p>
            <a:pPr marL="285750" indent="-285750">
              <a:buFont typeface="Arial" panose="020B0604020202020204" pitchFamily="34" charset="0"/>
              <a:buChar char="•"/>
            </a:pPr>
            <a:r>
              <a:rPr lang="en-US" sz="1400" b="0" i="0" u="none" strike="noStrike" dirty="0">
                <a:effectLst/>
                <a:latin typeface="Corbel" panose="020B0503020204020204" pitchFamily="34" charset="0"/>
              </a:rPr>
              <a:t>Joins</a:t>
            </a:r>
            <a:endParaRPr lang="en-US" sz="1400" dirty="0">
              <a:latin typeface="Corbel" panose="020B0503020204020204" pitchFamily="34" charset="0"/>
            </a:endParaRPr>
          </a:p>
          <a:p>
            <a:pPr marL="285750" indent="-285750">
              <a:buFont typeface="Arial" panose="020B0604020202020204" pitchFamily="34" charset="0"/>
              <a:buChar char="•"/>
            </a:pPr>
            <a:r>
              <a:rPr lang="en-US" sz="1400" b="0" i="0" u="none" strike="noStrike" dirty="0">
                <a:effectLst/>
                <a:latin typeface="Corbel" panose="020B0503020204020204" pitchFamily="34" charset="0"/>
              </a:rPr>
              <a:t>Removed/Let go</a:t>
            </a:r>
          </a:p>
          <a:p>
            <a:pPr marL="285750" indent="-285750">
              <a:buFont typeface="Arial" panose="020B0604020202020204" pitchFamily="34" charset="0"/>
              <a:buChar char="•"/>
            </a:pPr>
            <a:r>
              <a:rPr lang="en-US" sz="1400" b="0" i="0" u="none" strike="noStrike" dirty="0">
                <a:effectLst/>
                <a:latin typeface="Corbel" panose="020B0503020204020204" pitchFamily="34" charset="0"/>
              </a:rPr>
              <a:t>Investigated/Arrested</a:t>
            </a:r>
          </a:p>
          <a:p>
            <a:pPr marL="285750" indent="-285750">
              <a:buFont typeface="Arial" panose="020B0604020202020204" pitchFamily="34" charset="0"/>
              <a:buChar char="•"/>
            </a:pPr>
            <a:r>
              <a:rPr lang="en-US" sz="1400" b="0" i="0" u="none" strike="noStrike" dirty="0">
                <a:effectLst/>
                <a:latin typeface="Corbel" panose="020B0503020204020204" pitchFamily="34" charset="0"/>
              </a:rPr>
              <a:t>Fraudulent</a:t>
            </a:r>
            <a:endParaRPr lang="en-US" sz="1400" dirty="0">
              <a:latin typeface="Corbel" panose="020B0503020204020204" pitchFamily="34" charset="0"/>
            </a:endParaRPr>
          </a:p>
          <a:p>
            <a:pPr marL="285750" indent="-285750">
              <a:buFont typeface="Arial" panose="020B0604020202020204" pitchFamily="34" charset="0"/>
              <a:buChar char="•"/>
            </a:pPr>
            <a:r>
              <a:rPr lang="en-US" sz="1400" b="0" i="0" u="none" strike="noStrike" dirty="0">
                <a:effectLst/>
                <a:latin typeface="Corbel" panose="020B0503020204020204" pitchFamily="34" charset="0"/>
              </a:rPr>
              <a:t>Health issues</a:t>
            </a:r>
            <a:r>
              <a:rPr lang="en-US" sz="1400" dirty="0">
                <a:latin typeface="Corbel" panose="020B0503020204020204" pitchFamily="34" charset="0"/>
              </a:rPr>
              <a:t> </a:t>
            </a:r>
            <a:endParaRPr lang="en-IN" sz="1400" b="1" u="sng" dirty="0">
              <a:latin typeface="Corbel" panose="020B050302020402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00499" y="406423"/>
            <a:ext cx="4212475"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LEADERSHIP TRANSITION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41883" y="942354"/>
            <a:ext cx="4542152" cy="3908762"/>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only when a partner is involved, and sites are mapped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when announced</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o</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nly CEO/CFO/COO change</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Executive level changes (only if it can lead to changes in the supply chain department)</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Leader resigns/leader joins/leader retires/Leader sacked/Leader arrested etc.</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4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4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NOTE:</a:t>
            </a:r>
            <a:endParaRPr lang="en-US" sz="14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FYI event. Always gauged Low.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only for mapped companies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Send update when a new leader found</a:t>
            </a:r>
          </a:p>
        </p:txBody>
      </p:sp>
      <p:sp>
        <p:nvSpPr>
          <p:cNvPr id="8" name="TextBox 7">
            <a:extLst>
              <a:ext uri="{FF2B5EF4-FFF2-40B4-BE49-F238E27FC236}">
                <a16:creationId xmlns:a16="http://schemas.microsoft.com/office/drawing/2014/main" id="{B5610F2B-2AF4-ACCC-641F-7F6A8CA668E7}"/>
              </a:ext>
            </a:extLst>
          </p:cNvPr>
          <p:cNvSpPr txBox="1"/>
          <p:nvPr/>
        </p:nvSpPr>
        <p:spPr>
          <a:xfrm>
            <a:off x="5215415" y="379161"/>
            <a:ext cx="4067267" cy="3293209"/>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customer impact. </a:t>
            </a:r>
          </a:p>
          <a:p>
            <a:endPar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4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400"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19484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29742" y="3899601"/>
            <a:ext cx="4786165" cy="247615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9413566F-A261-2424-0738-5D7F2D5756AA}"/>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6D57EEA8-231B-B96A-A32B-7BA6D2FA6EBA}"/>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279197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41320" y="2475363"/>
            <a:ext cx="4890564" cy="421881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75002" y="2796669"/>
            <a:ext cx="4662455" cy="4031873"/>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i="0" u="sng" strike="noStrike" dirty="0">
              <a:solidFill>
                <a:schemeClr val="tx1">
                  <a:lumMod val="85000"/>
                  <a:lumOff val="15000"/>
                </a:schemeClr>
              </a:solidFill>
              <a:effectLst/>
              <a:latin typeface="Corbel" panose="020B0503020204020204" pitchFamily="34"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Lawsuits involving Site and/or company</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Intellectual property disputes involving trade secrets and </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atents infringement </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reach of contract cases</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Breach of fiduciary duty </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Environmental Lawsuits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Lawsuits involving tax or loans  </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Lawsuits involving products, marketing, labeling, etc.</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Lawsuits involving leadership, strategies, etc. </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Regional lawsuits by City, State, Country</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Agreed or potential fines, payments, settlements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Corruption Lawsuits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Anti-corruption/Bribery Lawsuits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Employment Dispute- Wrongful termination, workplace harassment, discrimination, and a hostile work environment </a:t>
            </a:r>
          </a:p>
          <a:p>
            <a:pPr marL="171450" indent="-1714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Personal injury lawsuits, including premises liability claims for injuries to customers on business property, products liability for defective products</a:t>
            </a:r>
            <a:endPar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2863" y="363061"/>
            <a:ext cx="4511317"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LEGAL ACTION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73140" y="1006881"/>
            <a:ext cx="4501040" cy="4370427"/>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 </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IN" sz="1200" dirty="0">
                <a:latin typeface="Corbel" panose="020B0503020204020204" pitchFamily="34" charset="0"/>
                <a:ea typeface="Roboto" panose="02000000000000000000" pitchFamily="2" charset="0"/>
                <a:cs typeface="Roboto" panose="02000000000000000000" pitchFamily="2" charset="0"/>
              </a:rPr>
              <a:t>We notify a </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lawsuit, legal proceeding, litigation, court case, or trial.</a:t>
            </a:r>
            <a:endPar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when a </a:t>
            </a:r>
            <a:r>
              <a:rPr lang="en-US" sz="1200" dirty="0">
                <a:latin typeface="Corbel" panose="020B0503020204020204" pitchFamily="34" charset="0"/>
                <a:ea typeface="Roboto" panose="02000000000000000000" pitchFamily="2" charset="0"/>
                <a:cs typeface="Roboto" panose="02000000000000000000" pitchFamily="2" charset="0"/>
              </a:rPr>
              <a:t>mapped company (</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supplier) is involved in a lawsuit, getting sued, settling a claim or lawsuit, paying </a:t>
            </a:r>
            <a:r>
              <a:rPr lang="en-US" sz="1200" dirty="0">
                <a:latin typeface="Corbel" panose="020B0503020204020204" pitchFamily="34" charset="0"/>
                <a:ea typeface="Roboto" panose="02000000000000000000" pitchFamily="2" charset="0"/>
                <a:cs typeface="Roboto" panose="02000000000000000000" pitchFamily="2" charset="0"/>
              </a:rPr>
              <a:t>a fine due </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to the legal action, etc.</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Do not wait till the outcome, notify as soon as the trial becomes public</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even if it’s a potential legal action</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if a possible T1 is involved. Not mapped but a big supplier company</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an update when the result of the lawsuit </a:t>
            </a:r>
            <a:r>
              <a:rPr lang="en-US" sz="1200" dirty="0">
                <a:latin typeface="Corbel" panose="020B0503020204020204" pitchFamily="34" charset="0"/>
                <a:ea typeface="Roboto" panose="02000000000000000000" pitchFamily="2" charset="0"/>
                <a:cs typeface="Roboto" panose="02000000000000000000" pitchFamily="2" charset="0"/>
              </a:rPr>
              <a:t>is declared</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if a supplier is getting a lawsuit against them </a:t>
            </a:r>
          </a:p>
          <a:p>
            <a:pPr marL="171450" indent="-17145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Send impact to that exact site that is involved in the legal proceedings</a:t>
            </a:r>
            <a:endParaRPr lang="en-IN" sz="11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319161" y="363061"/>
            <a:ext cx="4419024" cy="1938992"/>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i="0" u="sng" strike="noStrike">
              <a:solidFill>
                <a:schemeClr val="tx1">
                  <a:lumMod val="85000"/>
                  <a:lumOff val="15000"/>
                </a:schemeClr>
              </a:solidFill>
              <a:effectLst/>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if a company(s)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is</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mapped. </a:t>
            </a:r>
          </a:p>
          <a:p>
            <a:pPr marL="285750" indent="-285750">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 a specific site is involved, send impact to the affected site only</a:t>
            </a: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812672" cy="651327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173698"/>
            <a:ext cx="4786165" cy="209232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1FCBD046-D3D7-E0D9-0628-28B75995446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DDAD447C-47D1-728B-A3FF-BD04976CAD9E}"/>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566974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72295" y="4275892"/>
            <a:ext cx="4662455" cy="1077218"/>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Acquisition | Merger | Partial acquisition | Partial merger | Asset swap | Joint venture  | </a:t>
            </a:r>
            <a:r>
              <a:rPr lang="en-US" sz="1200" dirty="0">
                <a:latin typeface="Corbel" panose="020B0503020204020204" pitchFamily="34" charset="0"/>
                <a:ea typeface="Roboto" panose="02000000000000000000" pitchFamily="2" charset="0"/>
                <a:cs typeface="Roboto" panose="02000000000000000000" pitchFamily="2" charset="0"/>
              </a:rPr>
              <a:t>C</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ontrolling stakes | Announcement and Completion</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100" b="1" u="sng" dirty="0">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6713" y="385653"/>
            <a:ext cx="4031203" cy="473116"/>
          </a:xfrm>
          <a:prstGeom prst="rect">
            <a:avLst/>
          </a:prstGeom>
          <a:noFill/>
        </p:spPr>
        <p:txBody>
          <a:bodyPr wrap="square" rtlCol="0">
            <a:normAutofit/>
          </a:bodyPr>
          <a:lstStyle/>
          <a:p>
            <a:r>
              <a:rPr lang="en-IN" sz="2400" b="1" dirty="0">
                <a:solidFill>
                  <a:srgbClr val="0070C0"/>
                </a:solidFill>
                <a:latin typeface="Corbel" panose="020B0503020204020204" pitchFamily="34" charset="0"/>
              </a:rPr>
              <a:t>MERGER AND ACQUISITION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66710" y="886201"/>
            <a:ext cx="4703841" cy="4739759"/>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when the initial deal is announced - pre-regulatory approvals</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Product line and applications must be relevant to our verticals. Possible sub-tier or Tier 1 supplier yet to be mapped (decide based on product connection)</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If a service sector is involved</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 c</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heck if their services have applications in our industrial verticals - logistics company, cargo shipping, travel, IT firm, agrochemicals, petrochemicals or specialty chemicals, construction, manufacturing, recycling, communications, utility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upplier (Electricity, Water, Gas).</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teel company (only if applications match or a partner is  involved)</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R</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etail, consulting &amp; staffing, hospitality, investment &amp; Finance group, insurance firm,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c</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rude oil, or mining company- Notify if a mapped company/partner is involved.</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r>
              <a:rPr lang="en-US" sz="1200" b="1"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Completion</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Do not send completion if the initial announcement has been notified to the customers.</a:t>
            </a:r>
            <a:b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If a mapped partner sells the business, notify it as a business sale.</a:t>
            </a:r>
            <a:br>
              <a:rPr lang="en-US" sz="14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19665" y="385653"/>
            <a:ext cx="4867131" cy="3354765"/>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when the transaction is announced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to all involved mapped companies. Do not send supplier impact </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Supplier impact is not needed if the supplier is acquiring</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both involved companies are mapped, focus on the one selling. It will be a business sale event that will follow different criteria</a:t>
            </a:r>
            <a:endParaRPr lang="en-US" sz="1200" dirty="0">
              <a:latin typeface="Corbel" panose="020B0503020204020204" pitchFamily="34" charset="0"/>
              <a:ea typeface="Roboto" panose="02000000000000000000" pitchFamily="2" charset="0"/>
              <a:cs typeface="Roboto" panose="02000000000000000000" pitchFamily="2"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19339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4275892"/>
            <a:ext cx="4786165" cy="209840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23634F2D-EF60-E168-BEB0-17E5E1BEBF8E}"/>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6CC07BF-4BE8-2021-673B-08CF69D19529}"/>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668556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59301" y="4091239"/>
            <a:ext cx="4662455" cy="1261884"/>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Mining Strikes | Mine Shutdowns | Mine Fire/Explosion | Mine M&amp;A | Mining Accidents | Mining force Majeure | Fine / Legal Action | licensing / Revokes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26664" y="317030"/>
            <a:ext cx="3913492"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MINE SHUTDOWN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10366" y="886201"/>
            <a:ext cx="4660073" cy="4647426"/>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400" b="0" i="0" u="none" strike="noStrike" dirty="0">
              <a:effectLst/>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only if the applications of affected commodity match our verticals</a:t>
            </a: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the mine is mapped</a:t>
            </a: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 a mapped site? (decide based on applications)</a:t>
            </a: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Coal? Notify only if disruptions to the power industry are expected OR disruptions expected for our verticals </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If the exact mine is mapped, send the impact with the initial bulletin </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NOTE: Pre-announced shutdown? Notify today and send an update later when it shuts down</a:t>
            </a: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3398303"/>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a:lnSpc>
                <a:spcPct val="150000"/>
              </a:lnSpc>
            </a:pPr>
            <a:r>
              <a:rPr lang="en-US" sz="1400" b="0" i="0" u="none" strike="noStrike" dirty="0">
                <a:solidFill>
                  <a:schemeClr val="tx1">
                    <a:lumMod val="85000"/>
                    <a:lumOff val="15000"/>
                  </a:schemeClr>
                </a:solidFill>
                <a:effectLst/>
                <a:latin typeface="Corbel" panose="020B0503020204020204" pitchFamily="34" charset="0"/>
              </a:rPr>
              <a:t>• </a:t>
            </a: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involved? Send impact</a:t>
            </a:r>
            <a:b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4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Is Shutdown expected in the future? Send impact today</a:t>
            </a:r>
            <a:br>
              <a:rPr lang="en-US" sz="1400" b="0" i="0" u="none" strike="noStrike">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400" b="0" i="0" u="none" strike="noStrike" dirty="0">
              <a:solidFill>
                <a:schemeClr val="tx1">
                  <a:lumMod val="85000"/>
                  <a:lumOff val="15000"/>
                </a:schemeClr>
              </a:solidFill>
              <a:effectLst/>
              <a:latin typeface="Corbel" panose="020B0503020204020204" pitchFamily="34" charset="0"/>
            </a:endParaRPr>
          </a:p>
          <a:p>
            <a:pPr>
              <a:lnSpc>
                <a:spcPct val="150000"/>
              </a:lnSpc>
            </a:pPr>
            <a:endParaRPr lang="en-US" sz="1400" dirty="0">
              <a:solidFill>
                <a:schemeClr val="tx1">
                  <a:lumMod val="85000"/>
                  <a:lumOff val="15000"/>
                </a:schemeClr>
              </a:solidFill>
              <a:latin typeface="Corbel" panose="020B0503020204020204" pitchFamily="34" charset="0"/>
            </a:endParaRPr>
          </a:p>
          <a:p>
            <a:pPr>
              <a:lnSpc>
                <a:spcPct val="150000"/>
              </a:lnSpc>
            </a:pPr>
            <a:endParaRPr lang="en-US" sz="1400" b="0" i="0" u="none" strike="noStrike" dirty="0">
              <a:solidFill>
                <a:schemeClr val="tx1">
                  <a:lumMod val="85000"/>
                  <a:lumOff val="15000"/>
                </a:schemeClr>
              </a:solidFill>
              <a:effectLst/>
              <a:latin typeface="Corbel" panose="020B0503020204020204" pitchFamily="34" charset="0"/>
            </a:endParaRPr>
          </a:p>
          <a:p>
            <a:pPr>
              <a:lnSpc>
                <a:spcPct val="150000"/>
              </a:lnSpc>
            </a:pPr>
            <a:endParaRPr lang="en-US" sz="1400" dirty="0">
              <a:solidFill>
                <a:schemeClr val="tx1">
                  <a:lumMod val="85000"/>
                  <a:lumOff val="15000"/>
                </a:schemeClr>
              </a:solidFill>
              <a:latin typeface="Corbel" panose="020B0503020204020204" pitchFamily="34" charset="0"/>
            </a:endParaRPr>
          </a:p>
          <a:p>
            <a:pPr>
              <a:lnSpc>
                <a:spcPct val="150000"/>
              </a:lnSpc>
            </a:pPr>
            <a:br>
              <a:rPr lang="en-US" sz="1400" b="0" i="0" u="none" strike="noStrike" dirty="0">
                <a:solidFill>
                  <a:schemeClr val="tx1">
                    <a:lumMod val="85000"/>
                    <a:lumOff val="15000"/>
                  </a:schemeClr>
                </a:solidFill>
                <a:effectLst/>
                <a:latin typeface="Corbel" panose="020B0503020204020204" pitchFamily="34" charset="0"/>
              </a:rPr>
            </a:br>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11904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3975408"/>
            <a:ext cx="4786165" cy="232454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A3CF45AB-83D3-BD28-3610-6F2E3872AFF0}"/>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DFE41529-D9E8-D2BC-11F7-AB28C1074F9C}"/>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212481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798756" cy="407962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2168" y="4439793"/>
            <a:ext cx="4662455" cy="1631216"/>
          </a:xfrm>
          <a:prstGeom prst="rect">
            <a:avLst/>
          </a:prstGeom>
          <a:noFill/>
        </p:spPr>
        <p:txBody>
          <a:bodyPr wrap="square" rtlCol="0">
            <a:spAutoFit/>
          </a:bodyPr>
          <a:lstStyle/>
          <a:p>
            <a:r>
              <a:rPr lang="en-IN" sz="1400" b="1" u="sng" dirty="0">
                <a:latin typeface="Corbel" panose="020B0503020204020204" pitchFamily="34" charset="0"/>
              </a:rPr>
              <a:t>Sub-Types:</a:t>
            </a:r>
            <a:br>
              <a:rPr lang="en-IN" sz="1400" b="1" u="sng" dirty="0">
                <a:latin typeface="Corbel" panose="020B0503020204020204" pitchFamily="34" charset="0"/>
              </a:rPr>
            </a:br>
            <a:endParaRPr lang="en-IN" sz="1400" b="1" u="sng" dirty="0">
              <a:latin typeface="Corbel" panose="020B0503020204020204" pitchFamily="34" charset="0"/>
            </a:endParaRPr>
          </a:p>
          <a:p>
            <a:pPr marL="171450" indent="-171450">
              <a:buFont typeface="Arial" panose="020B0604020202020204" pitchFamily="34" charset="0"/>
              <a:buChar char="•"/>
            </a:pPr>
            <a:r>
              <a:rPr lang="en-IN" sz="1200" dirty="0">
                <a:latin typeface="Corbel" panose="020B0503020204020204" pitchFamily="34" charset="0"/>
              </a:rPr>
              <a:t>Power Outages due to extreme weather</a:t>
            </a:r>
          </a:p>
          <a:p>
            <a:pPr marL="171450" indent="-171450">
              <a:buFont typeface="Arial" panose="020B0604020202020204" pitchFamily="34" charset="0"/>
              <a:buChar char="•"/>
            </a:pPr>
            <a:r>
              <a:rPr lang="en-IN" sz="1200" dirty="0">
                <a:latin typeface="Corbel" panose="020B0503020204020204" pitchFamily="34" charset="0"/>
              </a:rPr>
              <a:t>Blackout at manufacturing facility/industrial park/transportation hub</a:t>
            </a:r>
          </a:p>
          <a:p>
            <a:pPr marL="171450" indent="-171450">
              <a:buFont typeface="Arial" panose="020B0604020202020204" pitchFamily="34" charset="0"/>
              <a:buChar char="•"/>
            </a:pPr>
            <a:r>
              <a:rPr lang="en-IN" sz="1200" dirty="0">
                <a:latin typeface="Corbel" panose="020B0503020204020204" pitchFamily="34" charset="0"/>
              </a:rPr>
              <a:t>Internet outages</a:t>
            </a:r>
          </a:p>
          <a:p>
            <a:pPr marL="171450" indent="-171450">
              <a:buFont typeface="Arial" panose="020B0604020202020204" pitchFamily="34" charset="0"/>
              <a:buChar char="•"/>
            </a:pPr>
            <a:r>
              <a:rPr lang="en-IN" sz="1200" dirty="0">
                <a:latin typeface="Corbel" panose="020B0503020204020204" pitchFamily="34" charset="0"/>
              </a:rPr>
              <a:t>Planned</a:t>
            </a:r>
          </a:p>
          <a:p>
            <a:pPr marL="171450" indent="-171450">
              <a:buFont typeface="Arial" panose="020B0604020202020204" pitchFamily="34" charset="0"/>
              <a:buChar char="•"/>
            </a:pPr>
            <a:r>
              <a:rPr lang="en-IN" sz="1200" dirty="0">
                <a:latin typeface="Corbel" panose="020B0503020204020204" pitchFamily="34" charset="0"/>
              </a:rPr>
              <a:t>Site level</a:t>
            </a:r>
          </a:p>
          <a:p>
            <a:pPr marL="171450" indent="-171450">
              <a:buFont typeface="Arial" panose="020B0604020202020204" pitchFamily="34" charset="0"/>
              <a:buChar char="•"/>
            </a:pPr>
            <a:r>
              <a:rPr lang="en-IN" sz="1200" dirty="0">
                <a:latin typeface="Corbel" panose="020B0503020204020204" pitchFamily="34" charset="0"/>
              </a:rPr>
              <a:t>Regional level =&gt;6 hours for ROW</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6713" y="288503"/>
            <a:ext cx="4451061"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POWER OUTAGE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37348" y="857765"/>
            <a:ext cx="4509789" cy="5203604"/>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i="0" u="sng"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power outages only in a region with sites mapped.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if Expected Recovery Time is not provided</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For regions with semiconductor fabs, including Taiwan, South Korea, China, Japan, USA, Singapore, Germany, Israel, Netherlands, Malaysia etc. – report all power outages even if the expected recovery time is less than 6 hours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Rest of the World - If the outage lasts or is expected to last longer than 6 hours</a:t>
            </a: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Power out at a site, warehouse, port, airport, mine, industrial park, etc.</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Important manufacturing regions affected</a:t>
            </a:r>
            <a:endParaRPr lang="en-US" sz="1200" dirty="0">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NOTE: It is recommended that we check Power Service Provider’s Twitter and website for the most recent updates and outage maps</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59374" y="391417"/>
            <a:ext cx="4686772" cy="3447098"/>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Send impact if partner site(s) in the region</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Polygon Radius: Affected region (follow outage map on provider's website)</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Note: If an Explosion/Fire at a power grid, send impact to the region served by the grid</a:t>
            </a:r>
          </a:p>
          <a:p>
            <a:pPr marL="171450" indent="-171450">
              <a:buFont typeface="Arial" panose="020B0604020202020204" pitchFamily="34" charset="0"/>
              <a:buChar char="•"/>
            </a:pPr>
            <a:endParaRPr lang="en-US" sz="1200" b="1" u="sng">
              <a:solidFill>
                <a:schemeClr val="tx1">
                  <a:lumMod val="65000"/>
                  <a:lumOff val="35000"/>
                </a:schemeClr>
              </a:solidFill>
              <a:latin typeface="Corbel" panose="020B0503020204020204" pitchFamily="34" charset="0"/>
              <a:cs typeface="Calibri" panose="020F0502020204030204" pitchFamily="34" charset="0"/>
            </a:endParaRPr>
          </a:p>
          <a:p>
            <a:r>
              <a:rPr lang="en-US" sz="1200" b="1" u="sng">
                <a:solidFill>
                  <a:schemeClr val="tx1">
                    <a:lumMod val="65000"/>
                    <a:lumOff val="35000"/>
                  </a:schemeClr>
                </a:solidFill>
                <a:latin typeface="Corbel" panose="020B0503020204020204" pitchFamily="34" charset="0"/>
                <a:cs typeface="Calibri" panose="020F0502020204030204" pitchFamily="34" charset="0"/>
              </a:rPr>
              <a:t>Send Supplier Impact Confirmation? </a:t>
            </a:r>
            <a:r>
              <a:rPr lang="en-US" sz="1200">
                <a:solidFill>
                  <a:schemeClr val="tx1">
                    <a:lumMod val="65000"/>
                    <a:lumOff val="35000"/>
                  </a:schemeClr>
                </a:solidFill>
                <a:latin typeface="Corbel" panose="020B0503020204020204" pitchFamily="34" charset="0"/>
                <a:cs typeface="Calibri" panose="020F0502020204030204" pitchFamily="34" charset="0"/>
              </a:rPr>
              <a:t>- YES</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Global Rule: Do not send Supplier Impact Confirmation for LOW severity events.</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For regions known for Semi Conductor fabs, issue Supplier Impact ASAP</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If there is a Man-made (due to glitch) power outage at supplier location, request impact confirmation ASAP</a:t>
            </a: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Planned power outages, request impact confirmation only if the outage lasts/expected to last longer than 24 hours</a:t>
            </a:r>
            <a:endParaRPr lang="en-US" sz="120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a:solidFill>
                  <a:schemeClr val="tx1">
                    <a:lumMod val="65000"/>
                    <a:lumOff val="35000"/>
                  </a:schemeClr>
                </a:solidFill>
                <a:latin typeface="Corbel" panose="020B0503020204020204" pitchFamily="34" charset="0"/>
                <a:cs typeface="Calibri" panose="020F0502020204030204" pitchFamily="34" charset="0"/>
              </a:rPr>
              <a:t>For Power Outage caused by extreme weather/storms, issue impact if the outage lasts/expected to last longer than 6 hours</a:t>
            </a:r>
            <a:endParaRPr lang="en-IN"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27290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458" y="4367361"/>
            <a:ext cx="4786165" cy="209922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43BCC653-6A8E-7DD7-6E46-616F3AE7E0B0}"/>
              </a:ext>
            </a:extLst>
          </p:cNvPr>
          <p:cNvGraphicFramePr>
            <a:graphicFrameLocks noGrp="1"/>
          </p:cNvGraphicFramePr>
          <p:nvPr>
            <p:extLst>
              <p:ext uri="{D42A27DB-BD31-4B8C-83A1-F6EECF244321}">
                <p14:modId xmlns:p14="http://schemas.microsoft.com/office/powerpoint/2010/main" val="1418107148"/>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2"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5" action="ppaction://hlinksldjump"/>
            <a:extLst>
              <a:ext uri="{FF2B5EF4-FFF2-40B4-BE49-F238E27FC236}">
                <a16:creationId xmlns:a16="http://schemas.microsoft.com/office/drawing/2014/main" id="{75CF1D6C-FA6F-0168-AED6-3E10429327E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5"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667442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474205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80819" y="5241439"/>
            <a:ext cx="4411304" cy="1384995"/>
          </a:xfrm>
          <a:prstGeom prst="rect">
            <a:avLst/>
          </a:prstGeom>
          <a:noFill/>
        </p:spPr>
        <p:txBody>
          <a:bodyPr wrap="square" rtlCol="0">
            <a:spAutoFit/>
          </a:bodyPr>
          <a:lstStyle/>
          <a:p>
            <a:r>
              <a:rPr lang="en-IN" sz="1200" b="1" u="sng" dirty="0">
                <a:solidFill>
                  <a:schemeClr val="tx1">
                    <a:lumMod val="65000"/>
                    <a:lumOff val="35000"/>
                  </a:schemeClr>
                </a:solidFill>
                <a:latin typeface="Corbel" panose="020B0503020204020204" pitchFamily="34" charset="0"/>
              </a:rPr>
              <a:t>Sub-Types:</a:t>
            </a:r>
          </a:p>
          <a:p>
            <a:r>
              <a:rPr lang="en-IN" sz="1200" dirty="0">
                <a:solidFill>
                  <a:schemeClr val="tx1">
                    <a:lumMod val="65000"/>
                    <a:lumOff val="35000"/>
                  </a:schemeClr>
                </a:solidFill>
              </a:rPr>
              <a:t>Ports / Dry ports | Border crossings | World trade bridges | Port Fire/Explosion | Labor Union strikes and protests | Train derailments | Congestions | Regulations | Customs | Traffic jams | Container ship accidents / cargo disruptions | High jacking | Ports M&amp;A |Labor accidents/practices | Damages/maintenance</a:t>
            </a: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43003" y="295912"/>
            <a:ext cx="4812672"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PORT DISRUPTION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6764" y="909394"/>
            <a:ext cx="4685149" cy="3754874"/>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65000"/>
                  <a:lumOff val="3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IN" sz="1400" dirty="0">
                <a:solidFill>
                  <a:schemeClr val="tx1">
                    <a:lumMod val="65000"/>
                    <a:lumOff val="35000"/>
                  </a:schemeClr>
                </a:solidFill>
              </a:rPr>
              <a:t>We notify disruptions at ports with container activities </a:t>
            </a:r>
          </a:p>
          <a:p>
            <a:pPr marL="285750" indent="-285750">
              <a:buFont typeface="Arial" panose="020B0604020202020204" pitchFamily="34" charset="0"/>
              <a:buChar char="•"/>
            </a:pPr>
            <a:endParaRPr lang="en-IN" sz="1400" dirty="0">
              <a:solidFill>
                <a:schemeClr val="tx1">
                  <a:lumMod val="65000"/>
                  <a:lumOff val="35000"/>
                </a:schemeClr>
              </a:solidFill>
            </a:endParaRPr>
          </a:p>
          <a:p>
            <a:pPr marL="285750" indent="-285750">
              <a:buFont typeface="Arial" panose="020B0604020202020204" pitchFamily="34" charset="0"/>
              <a:buChar char="•"/>
            </a:pPr>
            <a:r>
              <a:rPr lang="en-IN" sz="1400" dirty="0">
                <a:solidFill>
                  <a:schemeClr val="tx1">
                    <a:lumMod val="65000"/>
                    <a:lumOff val="35000"/>
                  </a:schemeClr>
                </a:solidFill>
              </a:rPr>
              <a:t>Ports can face congestion, labor strikes, shutdowns, terrorist attacks, maintenance issues, technical glitches, protests, spills, regulatory changes, etc.</a:t>
            </a:r>
          </a:p>
          <a:p>
            <a:pPr marL="285750" indent="-285750">
              <a:buFont typeface="Arial" panose="020B0604020202020204" pitchFamily="34" charset="0"/>
              <a:buChar char="•"/>
            </a:pPr>
            <a:endParaRPr lang="en-IN" sz="1400" dirty="0">
              <a:solidFill>
                <a:schemeClr val="tx1">
                  <a:lumMod val="65000"/>
                  <a:lumOff val="35000"/>
                </a:schemeClr>
              </a:solidFill>
            </a:endParaRPr>
          </a:p>
          <a:p>
            <a:pPr marL="285750" indent="-285750">
              <a:buFont typeface="Arial" panose="020B0604020202020204" pitchFamily="34" charset="0"/>
              <a:buChar char="•"/>
            </a:pPr>
            <a:r>
              <a:rPr lang="en-IN" sz="1400" dirty="0">
                <a:solidFill>
                  <a:schemeClr val="tx1">
                    <a:lumMod val="65000"/>
                    <a:lumOff val="35000"/>
                  </a:schemeClr>
                </a:solidFill>
              </a:rPr>
              <a:t>Expected disruptions in the future? Notify today and send an update later </a:t>
            </a:r>
          </a:p>
          <a:p>
            <a:pPr marL="285750" indent="-285750">
              <a:buFont typeface="Arial" panose="020B0604020202020204" pitchFamily="34" charset="0"/>
              <a:buChar char="•"/>
            </a:pPr>
            <a:endParaRPr lang="en-IN" sz="1400" dirty="0">
              <a:solidFill>
                <a:schemeClr val="tx1">
                  <a:lumMod val="65000"/>
                  <a:lumOff val="35000"/>
                </a:schemeClr>
              </a:solidFill>
            </a:endParaRPr>
          </a:p>
          <a:p>
            <a:pPr marL="285750" indent="-285750">
              <a:buFont typeface="Arial" panose="020B0604020202020204" pitchFamily="34" charset="0"/>
              <a:buChar char="•"/>
            </a:pPr>
            <a:r>
              <a:rPr lang="en-IN" sz="1400" dirty="0">
                <a:solidFill>
                  <a:schemeClr val="tx1">
                    <a:lumMod val="65000"/>
                    <a:lumOff val="35000"/>
                  </a:schemeClr>
                </a:solidFill>
              </a:rPr>
              <a:t>Cargo activity disrupted? Notify straightaway </a:t>
            </a:r>
          </a:p>
          <a:p>
            <a:pPr marL="285750" indent="-285750">
              <a:buFont typeface="Arial" panose="020B0604020202020204" pitchFamily="34" charset="0"/>
              <a:buChar char="•"/>
            </a:pPr>
            <a:endParaRPr lang="en-IN" sz="1400" dirty="0">
              <a:solidFill>
                <a:schemeClr val="tx1">
                  <a:lumMod val="65000"/>
                  <a:lumOff val="35000"/>
                </a:schemeClr>
              </a:solidFill>
            </a:endParaRPr>
          </a:p>
          <a:p>
            <a:pPr marL="285750" indent="-285750">
              <a:buFont typeface="Arial" panose="020B0604020202020204" pitchFamily="34" charset="0"/>
              <a:buChar char="•"/>
            </a:pPr>
            <a:r>
              <a:rPr lang="en-IN" sz="1400" dirty="0">
                <a:solidFill>
                  <a:schemeClr val="tx1">
                    <a:lumMod val="65000"/>
                    <a:lumOff val="35000"/>
                  </a:schemeClr>
                </a:solidFill>
              </a:rPr>
              <a:t>Under port disruptions, we also notify container ship accidents and labor strikes threatening a port. </a:t>
            </a:r>
          </a:p>
          <a:p>
            <a:pPr marL="285750" indent="-285750">
              <a:buFont typeface="Arial" panose="020B0604020202020204" pitchFamily="34" charset="0"/>
              <a:buChar char="•"/>
            </a:pPr>
            <a:endParaRPr lang="en-IN" sz="1400" dirty="0">
              <a:solidFill>
                <a:schemeClr val="tx1">
                  <a:lumMod val="65000"/>
                  <a:lumOff val="35000"/>
                </a:schemeClr>
              </a:solidFill>
            </a:endParaRPr>
          </a:p>
          <a:p>
            <a:pPr marL="285750" indent="-285750">
              <a:buFont typeface="Arial" panose="020B0604020202020204" pitchFamily="34" charset="0"/>
              <a:buChar char="•"/>
            </a:pPr>
            <a:r>
              <a:rPr lang="en-IN" sz="1400" dirty="0">
                <a:solidFill>
                  <a:schemeClr val="tx1">
                    <a:lumMod val="65000"/>
                    <a:lumOff val="35000"/>
                  </a:schemeClr>
                </a:solidFill>
              </a:rPr>
              <a:t>Local port with no logistics movement, we do not report it</a:t>
            </a:r>
            <a:endParaRPr lang="en-IN" sz="1200" b="1" u="sng"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62097" y="183203"/>
            <a:ext cx="4644898" cy="4555093"/>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WarRoom Guidelines:</a:t>
            </a:r>
            <a:br>
              <a:rPr lang="en-IN" sz="1400" b="1" u="sng" dirty="0">
                <a:solidFill>
                  <a:schemeClr val="tx1">
                    <a:lumMod val="65000"/>
                    <a:lumOff val="35000"/>
                  </a:schemeClr>
                </a:solidFill>
                <a:latin typeface="Corbel" panose="020B0503020204020204" pitchFamily="34" charset="0"/>
                <a:cs typeface="Calibri" panose="020F0502020204030204" pitchFamily="34" charset="0"/>
              </a:rPr>
            </a:br>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1200" b="1" dirty="0">
                <a:solidFill>
                  <a:schemeClr val="tx1">
                    <a:lumMod val="65000"/>
                    <a:lumOff val="35000"/>
                  </a:schemeClr>
                </a:solidFill>
              </a:rPr>
              <a:t>We create a WarRoom:</a:t>
            </a:r>
          </a:p>
          <a:p>
            <a:pPr marL="171450" indent="-171450">
              <a:buFont typeface="Arial" panose="020B0604020202020204" pitchFamily="34" charset="0"/>
              <a:buChar char="•"/>
            </a:pPr>
            <a:r>
              <a:rPr lang="en-IN" sz="1200" dirty="0">
                <a:solidFill>
                  <a:schemeClr val="tx1">
                    <a:lumMod val="65000"/>
                    <a:lumOff val="35000"/>
                  </a:schemeClr>
                </a:solidFill>
              </a:rPr>
              <a:t>If a partner confirms impact in the public domain</a:t>
            </a:r>
          </a:p>
          <a:p>
            <a:pPr marL="171450" indent="-171450">
              <a:buFont typeface="Arial" panose="020B0604020202020204" pitchFamily="34" charset="0"/>
              <a:buChar char="•"/>
            </a:pPr>
            <a:r>
              <a:rPr lang="en-IN" sz="1200" dirty="0">
                <a:solidFill>
                  <a:schemeClr val="tx1">
                    <a:lumMod val="65000"/>
                    <a:lumOff val="35000"/>
                  </a:schemeClr>
                </a:solidFill>
              </a:rPr>
              <a:t>If sites are mapped in the vicinity of the port</a:t>
            </a:r>
          </a:p>
          <a:p>
            <a:pPr marL="171450" indent="-171450">
              <a:buFont typeface="Arial" panose="020B0604020202020204" pitchFamily="34" charset="0"/>
              <a:buChar char="•"/>
            </a:pPr>
            <a:r>
              <a:rPr lang="en-IN" sz="1200" dirty="0">
                <a:solidFill>
                  <a:schemeClr val="tx1">
                    <a:lumMod val="65000"/>
                    <a:lumOff val="35000"/>
                  </a:schemeClr>
                </a:solidFill>
              </a:rPr>
              <a:t>Create a 100-KM radius around the affected port</a:t>
            </a:r>
          </a:p>
          <a:p>
            <a:endParaRPr lang="en-IN" sz="1200" dirty="0">
              <a:solidFill>
                <a:schemeClr val="tx1">
                  <a:lumMod val="65000"/>
                  <a:lumOff val="35000"/>
                </a:schemeClr>
              </a:solidFill>
            </a:endParaRPr>
          </a:p>
          <a:p>
            <a:r>
              <a:rPr lang="en-IN" sz="1200" b="1" dirty="0">
                <a:solidFill>
                  <a:schemeClr val="tx1">
                    <a:lumMod val="65000"/>
                    <a:lumOff val="35000"/>
                  </a:schemeClr>
                </a:solidFill>
              </a:rPr>
              <a:t>Nationwide port strike</a:t>
            </a:r>
          </a:p>
          <a:p>
            <a:pPr marL="171450" indent="-171450">
              <a:buFont typeface="Arial" panose="020B0604020202020204" pitchFamily="34" charset="0"/>
              <a:buChar char="•"/>
            </a:pPr>
            <a:r>
              <a:rPr lang="en-IN" sz="1200" dirty="0">
                <a:solidFill>
                  <a:schemeClr val="tx1">
                    <a:lumMod val="65000"/>
                    <a:lumOff val="35000"/>
                  </a:schemeClr>
                </a:solidFill>
              </a:rPr>
              <a:t>Strike longer than 3 days -&gt; full-country polygon </a:t>
            </a:r>
          </a:p>
          <a:p>
            <a:pPr marL="171450" indent="-171450">
              <a:buFont typeface="Arial" panose="020B0604020202020204" pitchFamily="34" charset="0"/>
              <a:buChar char="•"/>
            </a:pPr>
            <a:r>
              <a:rPr lang="en-IN" sz="1200" dirty="0">
                <a:solidFill>
                  <a:schemeClr val="tx1">
                    <a:lumMod val="65000"/>
                    <a:lumOff val="35000"/>
                  </a:schemeClr>
                </a:solidFill>
              </a:rPr>
              <a:t>Strike less than 3 days -&gt; 100-km radius polygons around major cargo ports</a:t>
            </a:r>
            <a:br>
              <a:rPr lang="en-IN" sz="1200" dirty="0">
                <a:solidFill>
                  <a:schemeClr val="tx1">
                    <a:lumMod val="65000"/>
                    <a:lumOff val="35000"/>
                  </a:schemeClr>
                </a:solidFill>
              </a:rPr>
            </a:br>
            <a:endParaRPr lang="en-IN" sz="1200" dirty="0">
              <a:solidFill>
                <a:schemeClr val="tx1">
                  <a:lumMod val="65000"/>
                  <a:lumOff val="35000"/>
                </a:schemeClr>
              </a:solidFill>
            </a:endParaRPr>
          </a:p>
          <a:p>
            <a:r>
              <a:rPr lang="en-IN" sz="1200" b="1" dirty="0">
                <a:solidFill>
                  <a:schemeClr val="tx1">
                    <a:lumMod val="65000"/>
                    <a:lumOff val="35000"/>
                  </a:schemeClr>
                </a:solidFill>
              </a:rPr>
              <a:t>Future-Dated Port Strikes: </a:t>
            </a:r>
          </a:p>
          <a:p>
            <a:r>
              <a:rPr lang="en-IN" sz="1200" dirty="0">
                <a:solidFill>
                  <a:schemeClr val="tx1">
                    <a:lumMod val="65000"/>
                    <a:lumOff val="35000"/>
                  </a:schemeClr>
                </a:solidFill>
              </a:rPr>
              <a:t>Union planning a strike ballot, no date confirmed -&gt; send as bulletin only, no WarRoom</a:t>
            </a:r>
          </a:p>
          <a:p>
            <a:r>
              <a:rPr lang="en-IN" sz="1200" dirty="0">
                <a:solidFill>
                  <a:schemeClr val="tx1">
                    <a:lumMod val="65000"/>
                    <a:lumOff val="35000"/>
                  </a:schemeClr>
                </a:solidFill>
              </a:rPr>
              <a:t>Once the strike date is confirmed by vote -&gt; Send update and create a WarRoom</a:t>
            </a:r>
          </a:p>
          <a:p>
            <a:br>
              <a:rPr lang="en-IN" sz="1200" b="1" dirty="0">
                <a:solidFill>
                  <a:schemeClr val="tx1">
                    <a:lumMod val="65000"/>
                    <a:lumOff val="35000"/>
                  </a:schemeClr>
                </a:solidFill>
              </a:rPr>
            </a:br>
            <a:r>
              <a:rPr lang="en-IN" sz="1200" b="1" dirty="0">
                <a:solidFill>
                  <a:schemeClr val="tx1">
                    <a:lumMod val="65000"/>
                    <a:lumOff val="35000"/>
                  </a:schemeClr>
                </a:solidFill>
              </a:rPr>
              <a:t>Send Supplier Impact Confirmation? </a:t>
            </a:r>
            <a:r>
              <a:rPr lang="en-IN" sz="1200" dirty="0">
                <a:solidFill>
                  <a:schemeClr val="tx1">
                    <a:lumMod val="65000"/>
                    <a:lumOff val="35000"/>
                  </a:schemeClr>
                </a:solidFill>
              </a:rPr>
              <a:t>- YES (not for LOW severity; MEDIUM, HIGH, SEVERE only)</a:t>
            </a:r>
          </a:p>
          <a:p>
            <a:pPr marL="171450" indent="-171450">
              <a:buFont typeface="Arial" panose="020B0604020202020204" pitchFamily="34" charset="0"/>
              <a:buChar char="•"/>
            </a:pPr>
            <a:r>
              <a:rPr lang="en-IN" sz="1200" dirty="0">
                <a:solidFill>
                  <a:schemeClr val="tx1">
                    <a:lumMod val="65000"/>
                    <a:lumOff val="35000"/>
                  </a:schemeClr>
                </a:solidFill>
              </a:rPr>
              <a:t>For strikes - With Initial alert: as soon as the strike or disruption is announced</a:t>
            </a:r>
          </a:p>
          <a:p>
            <a:pPr marL="171450" indent="-171450">
              <a:buFont typeface="Arial" panose="020B0604020202020204" pitchFamily="34" charset="0"/>
              <a:buChar char="•"/>
            </a:pPr>
            <a:r>
              <a:rPr lang="en-IN" sz="1200" dirty="0">
                <a:solidFill>
                  <a:schemeClr val="tx1">
                    <a:lumMod val="65000"/>
                    <a:lumOff val="35000"/>
                  </a:schemeClr>
                </a:solidFill>
              </a:rPr>
              <a:t>1 day before the strike: follow-up impact</a:t>
            </a:r>
          </a:p>
          <a:p>
            <a:pPr marL="171450" indent="-171450">
              <a:buFont typeface="Arial" panose="020B0604020202020204" pitchFamily="34" charset="0"/>
              <a:buChar char="•"/>
            </a:pPr>
            <a:r>
              <a:rPr lang="en-IN" sz="1200" dirty="0">
                <a:solidFill>
                  <a:schemeClr val="tx1">
                    <a:lumMod val="65000"/>
                    <a:lumOff val="35000"/>
                  </a:schemeClr>
                </a:solidFill>
              </a:rPr>
              <a:t>For future-dated strikes: with update when strike date is confirmed</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38118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5146314"/>
            <a:ext cx="4786165" cy="141577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8617B583-572E-6D39-3AC7-A38AD50E5A84}"/>
              </a:ext>
            </a:extLst>
          </p:cNvPr>
          <p:cNvGraphicFramePr>
            <a:graphicFrameLocks noGrp="1"/>
          </p:cNvGraphicFramePr>
          <p:nvPr>
            <p:extLst>
              <p:ext uri="{D42A27DB-BD31-4B8C-83A1-F6EECF244321}">
                <p14:modId xmlns:p14="http://schemas.microsoft.com/office/powerpoint/2010/main" val="3193857468"/>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2"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5" action="ppaction://hlinksldjump"/>
            <a:extLst>
              <a:ext uri="{FF2B5EF4-FFF2-40B4-BE49-F238E27FC236}">
                <a16:creationId xmlns:a16="http://schemas.microsoft.com/office/drawing/2014/main" id="{46CFEFE2-05E1-32EF-75A6-295A13D625E2}"/>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5"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207558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59302" y="4055874"/>
            <a:ext cx="4504070" cy="1877437"/>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Hyper increases</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Hyper decreases</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Prices of products and brands</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Suppliers increasing prices of their products and services</a:t>
            </a: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Raw materials/Ingredient/part/sub-part</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71633" y="304702"/>
            <a:ext cx="4378169"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PRICE FLUCTUATION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25293" y="842960"/>
            <a:ext cx="4424509" cy="4062651"/>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US" sz="1200" b="0" i="0" u="none" strike="noStrike" dirty="0">
              <a:effectLst/>
              <a:latin typeface="Corbel" panose="020B0503020204020204" pitchFamily="34"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if the affected product/commodity/ mineral has applications in our verticals</a:t>
            </a:r>
          </a:p>
          <a:p>
            <a:pPr marL="171450" indent="-1714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If companies report product price hikes. Create a WarRoom if a partner is involved.</a:t>
            </a:r>
          </a:p>
          <a:p>
            <a:pPr marL="171450" indent="-1714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Report only significant increase or decrease in prices occurs OR expected (sharp increase, price hike, price fall)</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Try to find the source and cause of the change in prices</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Also, research about effects on connecting commodities, building blocks, and markets</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44877" y="436591"/>
            <a:ext cx="4518495" cy="3046988"/>
          </a:xfrm>
          <a:prstGeom prst="rect">
            <a:avLst/>
          </a:prstGeom>
          <a:noFill/>
        </p:spPr>
        <p:txBody>
          <a:bodyPr wrap="square" rtlCol="0">
            <a:spAutoFit/>
          </a:bodyPr>
          <a:lstStyle/>
          <a:p>
            <a:r>
              <a:rPr lang="en-US" sz="1400" b="1" u="sng" dirty="0">
                <a:latin typeface="Corbel" panose="020B0503020204020204" pitchFamily="34" charset="0"/>
                <a:cs typeface="Calibri" panose="020F0502020204030204" pitchFamily="34" charset="0"/>
              </a:rPr>
              <a:t>WarRoom Guidelines</a:t>
            </a:r>
          </a:p>
          <a:p>
            <a:endParaRPr lang="en-US" sz="1400" b="1" u="sng" dirty="0">
              <a:latin typeface="Corbel" panose="020B0503020204020204" pitchFamily="34" charset="0"/>
              <a:cs typeface="Calibri" panose="020F0502020204030204" pitchFamily="34" charset="0"/>
            </a:endParaRPr>
          </a:p>
          <a:p>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when a partner is directly involved</a:t>
            </a: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br>
              <a:rPr lang="en-US" sz="1400" b="0" i="0" u="none" strike="noStrike" dirty="0">
                <a:solidFill>
                  <a:schemeClr val="tx1">
                    <a:lumMod val="85000"/>
                    <a:lumOff val="15000"/>
                  </a:schemeClr>
                </a:solidFill>
                <a:effectLst/>
                <a:latin typeface="Corbel" panose="020B0503020204020204" pitchFamily="34" charset="0"/>
              </a:rPr>
            </a:br>
            <a:br>
              <a:rPr lang="en-US" sz="1400" b="0" i="0" u="none" strike="noStrike" dirty="0">
                <a:solidFill>
                  <a:schemeClr val="tx1">
                    <a:lumMod val="85000"/>
                    <a:lumOff val="15000"/>
                  </a:schemeClr>
                </a:solidFill>
                <a:effectLst/>
                <a:latin typeface="Corbel" panose="020B0503020204020204" pitchFamily="34" charset="0"/>
              </a:rPr>
            </a:br>
            <a:r>
              <a:rPr lang="en-US" sz="1200" b="1" u="sng" dirty="0">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200" u="sng" dirty="0">
                <a:solidFill>
                  <a:schemeClr val="tx1">
                    <a:lumMod val="65000"/>
                    <a:lumOff val="35000"/>
                  </a:schemeClr>
                </a:solidFill>
                <a:latin typeface="Corbel" panose="020B0503020204020204" pitchFamily="34" charset="0"/>
                <a:cs typeface="Calibri" panose="020F0502020204030204" pitchFamily="34" charset="0"/>
              </a:rPr>
              <a:t>-</a:t>
            </a:r>
            <a:r>
              <a:rPr lang="en-US" sz="1200" dirty="0">
                <a:solidFill>
                  <a:schemeClr val="tx1">
                    <a:lumMod val="65000"/>
                    <a:lumOff val="35000"/>
                  </a:schemeClr>
                </a:solidFill>
                <a:latin typeface="Corbel" panose="020B0503020204020204" pitchFamily="34" charset="0"/>
                <a:cs typeface="Calibri" panose="020F0502020204030204" pitchFamily="34" charset="0"/>
              </a:rPr>
              <a:t> YES (not for LOW severity; MEDIUM, HIGH, SEVERE only)</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7"/>
            <a:ext cx="4812672" cy="622135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3873097"/>
            <a:ext cx="4786165" cy="252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58E6E4E6-8FDF-99BB-C63D-A352ECF835EA}"/>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D558941D-E9A9-00B3-3B29-48E21B98E1DB}"/>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167914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5285" y="180906"/>
            <a:ext cx="4890564" cy="450574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38996" y="5022606"/>
            <a:ext cx="4628638" cy="1384995"/>
          </a:xfrm>
          <a:prstGeom prst="rect">
            <a:avLst/>
          </a:prstGeom>
          <a:noFill/>
        </p:spPr>
        <p:txBody>
          <a:bodyPr wrap="square" rtlCol="0">
            <a:spAutoFit/>
          </a:bodyPr>
          <a:lstStyle/>
          <a:p>
            <a:r>
              <a:rPr lang="en-IN" sz="1200" dirty="0">
                <a:solidFill>
                  <a:schemeClr val="tx1">
                    <a:lumMod val="65000"/>
                    <a:lumOff val="35000"/>
                  </a:schemeClr>
                </a:solidFill>
                <a:latin typeface="Corbel" panose="020B0503020204020204" pitchFamily="34" charset="0"/>
                <a:cs typeface="Calibri" panose="020F0502020204030204" pitchFamily="34" charset="0"/>
              </a:rPr>
              <a:t>Sub-Types:</a:t>
            </a:r>
          </a:p>
          <a:p>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US" sz="1200" dirty="0">
                <a:solidFill>
                  <a:schemeClr val="tx1">
                    <a:lumMod val="65000"/>
                    <a:lumOff val="35000"/>
                  </a:schemeClr>
                </a:solidFill>
                <a:latin typeface="Corbel" panose="020B0503020204020204" pitchFamily="34" charset="0"/>
                <a:cs typeface="Calibri" panose="020F0502020204030204" pitchFamily="34" charset="0"/>
              </a:rPr>
              <a:t>Localized Site level labor protest | Villagers Protest | large area protests  | Anti-emissions protests | Regional-level riots | Looting/Blockades | Protests affecting transportation and other services | Stampede | Police activity</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3746" y="338846"/>
            <a:ext cx="4504070"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PROTEST/RIOT</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63746" y="882149"/>
            <a:ext cx="4504070" cy="3908762"/>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br>
              <a:rPr lang="en-IN" sz="1400" b="1" u="sng" dirty="0">
                <a:solidFill>
                  <a:schemeClr val="tx1">
                    <a:lumMod val="65000"/>
                    <a:lumOff val="35000"/>
                  </a:schemeClr>
                </a:solidFill>
                <a:latin typeface="Corbel" panose="020B0503020204020204" pitchFamily="34" charset="0"/>
                <a:cs typeface="Calibri" panose="020F0502020204030204" pitchFamily="34" charset="0"/>
              </a:rPr>
            </a:br>
            <a:endParaRPr lang="en-IN" sz="1400" b="1" u="sng" dirty="0">
              <a:solidFill>
                <a:schemeClr val="tx1">
                  <a:lumMod val="65000"/>
                  <a:lumOff val="35000"/>
                </a:schemeClr>
              </a:solidFill>
              <a:latin typeface="Corbel" panose="020B0503020204020204" pitchFamily="34" charset="0"/>
              <a:cs typeface="Calibri" panose="020F0502020204030204" pitchFamily="34" charset="0"/>
            </a:endParaRPr>
          </a:p>
          <a:p>
            <a:r>
              <a:rPr lang="en-IN" sz="1400" b="1" dirty="0">
                <a:solidFill>
                  <a:schemeClr val="tx1">
                    <a:lumMod val="65000"/>
                    <a:lumOff val="35000"/>
                  </a:schemeClr>
                </a:solidFill>
                <a:latin typeface="Corbel" panose="020B0503020204020204" pitchFamily="34" charset="0"/>
                <a:cs typeface="Calibri" panose="020F0502020204030204" pitchFamily="34" charset="0"/>
              </a:rPr>
              <a:t>Regional level event</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Notify if sites are mapped in the region. </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Update if unrest/looting/road blockage/business closures/school closures etc.</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Check if important manufacturing regions/major roads/ports/airports/business parks/utility providers are potentially impacted</a:t>
            </a:r>
          </a:p>
          <a:p>
            <a:pPr marL="171450" indent="-171450">
              <a:buFont typeface="Arial" panose="020B0604020202020204" pitchFamily="34" charset="0"/>
              <a:buChar char="•"/>
            </a:pP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r>
              <a:rPr lang="en-IN" sz="1400" b="1" dirty="0">
                <a:solidFill>
                  <a:schemeClr val="tx1">
                    <a:lumMod val="65000"/>
                    <a:lumOff val="35000"/>
                  </a:schemeClr>
                </a:solidFill>
                <a:latin typeface="Corbel" panose="020B0503020204020204" pitchFamily="34" charset="0"/>
                <a:cs typeface="Calibri" panose="020F0502020204030204" pitchFamily="34" charset="0"/>
              </a:rPr>
              <a:t>Site Level Event</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Notify if the partner site involved</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Affected site not mapped? Check the product line, could be a T1/T2 site yet to be mapped</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Services provider? Check applications of their services and the industries that they serve</a:t>
            </a:r>
          </a:p>
          <a:p>
            <a:pPr marL="171450" indent="-171450">
              <a:buFont typeface="Arial" panose="020B0604020202020204" pitchFamily="34" charset="0"/>
              <a:buChar char="•"/>
            </a:pP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b="1" dirty="0">
                <a:solidFill>
                  <a:schemeClr val="tx1">
                    <a:lumMod val="65000"/>
                    <a:lumOff val="35000"/>
                  </a:schemeClr>
                </a:solidFill>
                <a:latin typeface="Corbel" panose="020B0503020204020204" pitchFamily="34" charset="0"/>
                <a:cs typeface="Calibri" panose="020F0502020204030204" pitchFamily="34" charset="0"/>
              </a:rPr>
              <a:t>If Martial Law is introduced, we should create a new series under Geopolitical</a:t>
            </a:r>
          </a:p>
        </p:txBody>
      </p:sp>
      <p:sp>
        <p:nvSpPr>
          <p:cNvPr id="8" name="TextBox 7">
            <a:extLst>
              <a:ext uri="{FF2B5EF4-FFF2-40B4-BE49-F238E27FC236}">
                <a16:creationId xmlns:a16="http://schemas.microsoft.com/office/drawing/2014/main" id="{B5610F2B-2AF4-ACCC-641F-7F6A8CA668E7}"/>
              </a:ext>
            </a:extLst>
          </p:cNvPr>
          <p:cNvSpPr txBox="1"/>
          <p:nvPr/>
        </p:nvSpPr>
        <p:spPr>
          <a:xfrm>
            <a:off x="5159409" y="338846"/>
            <a:ext cx="4708225" cy="3785652"/>
          </a:xfrm>
          <a:prstGeom prst="rect">
            <a:avLst/>
          </a:prstGeom>
          <a:noFill/>
        </p:spPr>
        <p:txBody>
          <a:bodyPr wrap="square" rtlCol="0">
            <a:spAutoFit/>
          </a:bodyPr>
          <a:lstStyle/>
          <a:p>
            <a:r>
              <a:rPr lang="en-IN" sz="1200" b="1" u="sng" dirty="0">
                <a:solidFill>
                  <a:schemeClr val="tx1">
                    <a:lumMod val="65000"/>
                    <a:lumOff val="35000"/>
                  </a:schemeClr>
                </a:solidFill>
                <a:latin typeface="Corbel" panose="020B0503020204020204" pitchFamily="34" charset="0"/>
                <a:cs typeface="Calibri" panose="020F0502020204030204" pitchFamily="34" charset="0"/>
              </a:rPr>
              <a:t>WarRoom Guidelines:</a:t>
            </a:r>
            <a:br>
              <a:rPr lang="en-IN" sz="1200" b="1" dirty="0">
                <a:solidFill>
                  <a:schemeClr val="tx1">
                    <a:lumMod val="65000"/>
                    <a:lumOff val="35000"/>
                  </a:schemeClr>
                </a:solidFill>
                <a:latin typeface="Corbel" panose="020B0503020204020204" pitchFamily="34" charset="0"/>
                <a:cs typeface="Calibri" panose="020F0502020204030204" pitchFamily="34" charset="0"/>
              </a:rPr>
            </a:b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Partner site(s) in the affected region</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Mapped site directly involved</a:t>
            </a:r>
            <a:br>
              <a:rPr lang="en-IN" sz="1200" b="1" dirty="0">
                <a:solidFill>
                  <a:schemeClr val="tx1">
                    <a:lumMod val="65000"/>
                    <a:lumOff val="35000"/>
                  </a:schemeClr>
                </a:solidFill>
                <a:latin typeface="Corbel" panose="020B0503020204020204" pitchFamily="34" charset="0"/>
                <a:cs typeface="Calibri" panose="020F0502020204030204" pitchFamily="34" charset="0"/>
              </a:rPr>
            </a:b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dirty="0">
                <a:solidFill>
                  <a:schemeClr val="tx1">
                    <a:lumMod val="65000"/>
                    <a:lumOff val="35000"/>
                  </a:schemeClr>
                </a:solidFill>
                <a:latin typeface="Corbel" panose="020B0503020204020204" pitchFamily="34" charset="0"/>
                <a:cs typeface="Calibri" panose="020F0502020204030204" pitchFamily="34" charset="0"/>
              </a:rPr>
              <a:t>Regional event?</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Low = Impact not needed</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Medium = Affected region + 5 km</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High = Affected region + 10 km</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Severe = Affected region + 50 km</a:t>
            </a:r>
            <a:br>
              <a:rPr lang="en-IN" sz="1200" b="1" dirty="0">
                <a:solidFill>
                  <a:schemeClr val="tx1">
                    <a:lumMod val="65000"/>
                    <a:lumOff val="35000"/>
                  </a:schemeClr>
                </a:solidFill>
                <a:latin typeface="Corbel" panose="020B0503020204020204" pitchFamily="34" charset="0"/>
                <a:cs typeface="Calibri" panose="020F0502020204030204" pitchFamily="34" charset="0"/>
              </a:rPr>
            </a:br>
            <a:endParaRPr lang="en-IN" sz="1200" b="1"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dirty="0">
                <a:solidFill>
                  <a:schemeClr val="tx1">
                    <a:lumMod val="65000"/>
                    <a:lumOff val="35000"/>
                  </a:schemeClr>
                </a:solidFill>
                <a:latin typeface="Corbel" panose="020B0503020204020204" pitchFamily="34" charset="0"/>
                <a:cs typeface="Calibri" panose="020F0502020204030204" pitchFamily="34" charset="0"/>
              </a:rPr>
              <a:t>Site level?</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Send impact to the exact site OR draw a radius on the affected </a:t>
            </a:r>
            <a:r>
              <a:rPr lang="en-IN" sz="1200" dirty="0" err="1">
                <a:solidFill>
                  <a:schemeClr val="tx1">
                    <a:lumMod val="65000"/>
                    <a:lumOff val="35000"/>
                  </a:schemeClr>
                </a:solidFill>
                <a:latin typeface="Corbel" panose="020B0503020204020204" pitchFamily="34" charset="0"/>
                <a:cs typeface="Calibri" panose="020F0502020204030204" pitchFamily="34" charset="0"/>
              </a:rPr>
              <a:t>neighborhood</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Move to HIGH when disruptions have been confirmed by companies</a:t>
            </a:r>
            <a:br>
              <a:rPr lang="en-IN" sz="1200" dirty="0">
                <a:solidFill>
                  <a:schemeClr val="tx1">
                    <a:lumMod val="65000"/>
                    <a:lumOff val="35000"/>
                  </a:schemeClr>
                </a:solidFill>
                <a:latin typeface="Corbel" panose="020B0503020204020204" pitchFamily="34" charset="0"/>
                <a:cs typeface="Calibri" panose="020F0502020204030204" pitchFamily="34" charset="0"/>
              </a:rPr>
            </a:br>
            <a:r>
              <a:rPr lang="en-IN" sz="1200" dirty="0">
                <a:solidFill>
                  <a:schemeClr val="tx1">
                    <a:lumMod val="65000"/>
                    <a:lumOff val="35000"/>
                  </a:schemeClr>
                </a:solidFill>
                <a:latin typeface="Corbel" panose="020B0503020204020204" pitchFamily="34" charset="0"/>
                <a:cs typeface="Calibri" panose="020F0502020204030204" pitchFamily="34" charset="0"/>
              </a:rPr>
              <a:t>.</a:t>
            </a:r>
          </a:p>
          <a:p>
            <a:r>
              <a:rPr lang="en-IN" sz="1200" b="1" dirty="0">
                <a:solidFill>
                  <a:schemeClr val="tx1">
                    <a:lumMod val="65000"/>
                    <a:lumOff val="35000"/>
                  </a:schemeClr>
                </a:solidFill>
                <a:latin typeface="Corbel" panose="020B0503020204020204" pitchFamily="34" charset="0"/>
                <a:cs typeface="Calibri" panose="020F0502020204030204" pitchFamily="34" charset="0"/>
              </a:rPr>
              <a:t>Send Supplier Impact Confirmation? – YES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Global Rule: Do not send Supplier Impact Confirmation for LOW severity events.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Send supplier impact as soon as WarRoom is created.</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33824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5285" y="4790911"/>
            <a:ext cx="4890564" cy="167824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EFE66124-0042-A271-FD63-901331760911}"/>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0F99C694-834D-47F3-D695-E883C4196735}"/>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282796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1736" y="4055874"/>
            <a:ext cx="4662455" cy="2431435"/>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Recall of product / Ingredient/part / subpart</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Recall Faulty components recalled</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Faulty Devices/ Software/ingredients</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Recalls due to malfunctioning / poor quality</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Recalls due to labeling/packaging issues </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Contaminated products</a:t>
            </a:r>
          </a:p>
          <a:p>
            <a:pPr marL="285750" indent="-285750">
              <a:lnSpc>
                <a:spcPct val="150000"/>
              </a:lnSpc>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GMP issues/security concerns</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28794" y="392777"/>
            <a:ext cx="4554313"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RECALL</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28794" y="986799"/>
            <a:ext cx="4740802" cy="2772169"/>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endParaRPr lang="en-IN" sz="1400" b="1" u="sng" dirty="0">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We notify recalls based on applications and </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hlinkClick r:id="rId2" action="ppaction://hlinksldjump"/>
              </a:rPr>
              <a:t>industrial connections </a:t>
            </a: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(supplier recalling a faulty part, company recalling a product with applications in our verticals)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 product recalled due to a faulty part/component used in it? Find out who supplied the faulty part and send the impact if it’s a mapped supplier</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A major recall by a company that operates in our verticals, notify</a:t>
            </a:r>
          </a:p>
        </p:txBody>
      </p:sp>
      <p:sp>
        <p:nvSpPr>
          <p:cNvPr id="8" name="TextBox 7">
            <a:extLst>
              <a:ext uri="{FF2B5EF4-FFF2-40B4-BE49-F238E27FC236}">
                <a16:creationId xmlns:a16="http://schemas.microsoft.com/office/drawing/2014/main" id="{B5610F2B-2AF4-ACCC-641F-7F6A8CA668E7}"/>
              </a:ext>
            </a:extLst>
          </p:cNvPr>
          <p:cNvSpPr txBox="1"/>
          <p:nvPr/>
        </p:nvSpPr>
        <p:spPr>
          <a:xfrm>
            <a:off x="5181886" y="370691"/>
            <a:ext cx="4867131" cy="3170099"/>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a:lnSpc>
                <a:spcPct val="150000"/>
              </a:lnSpc>
            </a:pPr>
            <a:r>
              <a:rPr lang="en-US" sz="1400" b="0" i="0" u="none" strike="noStrike" dirty="0">
                <a:solidFill>
                  <a:schemeClr val="tx1">
                    <a:lumMod val="85000"/>
                    <a:lumOff val="15000"/>
                  </a:schemeClr>
                </a:solidFill>
                <a:effectLst/>
                <a:latin typeface="Corbel" panose="020B0503020204020204" pitchFamily="34"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recalling faulty part</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Parts supplied by a supplier  triggered recalls</a:t>
            </a:r>
            <a:br>
              <a:rPr lang="en-US" sz="1200" b="0" i="0" u="none" strike="noStrike">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400" b="0" i="0" u="none" strike="noStrike" dirty="0">
              <a:solidFill>
                <a:schemeClr val="tx1">
                  <a:lumMod val="85000"/>
                  <a:lumOff val="15000"/>
                </a:schemeClr>
              </a:solidFill>
              <a:effectLst/>
              <a:latin typeface="Corbel" panose="020B0503020204020204" pitchFamily="34" charset="0"/>
            </a:endParaRPr>
          </a:p>
          <a:p>
            <a:pPr>
              <a:lnSpc>
                <a:spcPct val="150000"/>
              </a:lnSpc>
            </a:pPr>
            <a:endParaRPr lang="en-US" sz="1400" dirty="0">
              <a:solidFill>
                <a:schemeClr val="tx1">
                  <a:lumMod val="85000"/>
                  <a:lumOff val="15000"/>
                </a:schemeClr>
              </a:solidFill>
              <a:latin typeface="Corbel" panose="020B0503020204020204" pitchFamily="34" charset="0"/>
              <a:cs typeface="Calibri" panose="020F0502020204030204" pitchFamily="34" charset="0"/>
            </a:endParaRPr>
          </a:p>
          <a:p>
            <a:pPr>
              <a:lnSpc>
                <a:spcPct val="150000"/>
              </a:lnSpc>
            </a:pPr>
            <a:endParaRPr lang="en-US" sz="1400" b="1" i="0" u="sng"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a:lnSpc>
                <a:spcPct val="150000"/>
              </a:lnSpc>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a:lnSpc>
                <a:spcPct val="150000"/>
              </a:lnSpc>
            </a:pPr>
            <a:endParaRPr lang="en-US" sz="1400" b="1" i="0" u="sng" strike="noStrike">
              <a:solidFill>
                <a:schemeClr val="tx1">
                  <a:lumMod val="85000"/>
                  <a:lumOff val="15000"/>
                </a:schemeClr>
              </a:solidFill>
              <a:effectLst/>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7"/>
            <a:ext cx="4812672" cy="622135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873097"/>
            <a:ext cx="4890564" cy="252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3F262C6B-7C05-DD59-2E2E-018B802BD7A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7" action="ppaction://hlinksldjump"/>
            <a:extLst>
              <a:ext uri="{FF2B5EF4-FFF2-40B4-BE49-F238E27FC236}">
                <a16:creationId xmlns:a16="http://schemas.microsoft.com/office/drawing/2014/main" id="{04A0F421-54FA-FA8B-A6D9-4623C38C6C4A}"/>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7"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87246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7"/>
            <a:ext cx="4890564" cy="3283376"/>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77820" y="3687578"/>
            <a:ext cx="4890564" cy="3151632"/>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rPr>
              <a:t>Sub-Types</a:t>
            </a:r>
          </a:p>
          <a:p>
            <a:pPr marL="285750" indent="-285750">
              <a:lnSpc>
                <a:spcPct val="12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Laws/Treaties/Regulations</a:t>
            </a:r>
          </a:p>
          <a:p>
            <a:pPr marL="285750" indent="-285750">
              <a:lnSpc>
                <a:spcPct val="12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Regulation Revisions/Updates, Trade/Duties/Tariffs/Levy</a:t>
            </a:r>
          </a:p>
          <a:p>
            <a:pPr marL="285750" indent="-285750">
              <a:lnSpc>
                <a:spcPct val="12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Commodity/materials / Regional /Site-level regulations</a:t>
            </a:r>
          </a:p>
          <a:p>
            <a:pPr marL="285750" indent="-285750">
              <a:lnSpc>
                <a:spcPct val="120000"/>
              </a:lnSpc>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Commodity Compliance / Quality Emissions / Pollution / Environmental / Import / Export regulations/Bans and Waste management regulations</a:t>
            </a:r>
          </a:p>
          <a:p>
            <a:pPr marL="285750" indent="-285750">
              <a:lnSpc>
                <a:spcPct val="120000"/>
              </a:lnSpc>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Supply Chain Transparency Laws (e.g., the UK Modern Slavery Act, California Transparency in Supply Chains Act, etc.), Data Protection Laws (e.g., GDPR), Environmental Regulations, Labor Laws, Customs and Trade Laws, Product Safety and Standards, Contractual Obligations, Anti-Corruption Laws, and Consumer Protection Laws, among others. </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77813" y="271220"/>
            <a:ext cx="3463844"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REGULATORY CHANGE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72900" y="823199"/>
            <a:ext cx="4786166" cy="4585871"/>
          </a:xfrm>
          <a:prstGeom prst="rect">
            <a:avLst/>
          </a:prstGeom>
          <a:noFill/>
        </p:spPr>
        <p:txBody>
          <a:bodyPr wrap="square" rtlCol="0">
            <a:spAutoFit/>
          </a:bodyPr>
          <a:lstStyle/>
          <a:p>
            <a:r>
              <a:rPr lang="en-IN" sz="1400" b="1" u="sng" dirty="0">
                <a:solidFill>
                  <a:schemeClr val="tx1">
                    <a:lumMod val="65000"/>
                    <a:lumOff val="3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65000"/>
                  <a:lumOff val="35000"/>
                </a:schemeClr>
              </a:solidFill>
              <a:latin typeface="Corbel" panose="020B0503020204020204" pitchFamily="34" charset="0"/>
              <a:cs typeface="Calibri" panose="020F0502020204030204" pitchFamily="34" charset="0"/>
            </a:endParaRPr>
          </a:p>
          <a:p>
            <a:r>
              <a:rPr lang="en-IN" sz="1200" dirty="0">
                <a:solidFill>
                  <a:schemeClr val="tx1">
                    <a:lumMod val="65000"/>
                    <a:lumOff val="35000"/>
                  </a:schemeClr>
                </a:solidFill>
                <a:latin typeface="Corbel" panose="020B0503020204020204" pitchFamily="34" charset="0"/>
                <a:cs typeface="Calibri" panose="020F0502020204030204" pitchFamily="34" charset="0"/>
              </a:rPr>
              <a:t>We notify regulatory changes when there are reports of:</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New laws, rules, or regulations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existing rules or regulations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product compliance</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New guidelines for product compliance</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New controls &amp; certifications on commodities and ingredients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tax laws/labor laws/trade laws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customs duty</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import-export regulations</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Changes in tariffs, duties, and levied</a:t>
            </a:r>
          </a:p>
          <a:p>
            <a:pPr marL="171450" indent="-171450">
              <a:buFont typeface="Arial" panose="020B0604020202020204" pitchFamily="34" charset="0"/>
              <a:buChar char="•"/>
            </a:pPr>
            <a:r>
              <a:rPr lang="en-IN" sz="1200" dirty="0">
                <a:solidFill>
                  <a:schemeClr val="tx1">
                    <a:lumMod val="65000"/>
                    <a:lumOff val="35000"/>
                  </a:schemeClr>
                </a:solidFill>
                <a:latin typeface="Corbel" panose="020B0503020204020204" pitchFamily="34" charset="0"/>
                <a:cs typeface="Calibri" panose="020F0502020204030204" pitchFamily="34" charset="0"/>
              </a:rPr>
              <a:t>Bans on commodities, companies, and regions + many more</a:t>
            </a:r>
          </a:p>
          <a:p>
            <a:pPr marL="171450" indent="-171450">
              <a:buFont typeface="Arial" panose="020B0604020202020204" pitchFamily="34" charset="0"/>
              <a:buChar char="•"/>
            </a:pP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IN" sz="1200" dirty="0">
                <a:solidFill>
                  <a:schemeClr val="tx1">
                    <a:lumMod val="65000"/>
                    <a:lumOff val="35000"/>
                  </a:schemeClr>
                </a:solidFill>
                <a:latin typeface="Corbel" panose="020B0503020204020204" pitchFamily="34" charset="0"/>
                <a:cs typeface="Calibri" panose="020F0502020204030204" pitchFamily="34" charset="0"/>
              </a:rPr>
              <a:t>Send update when a proposal gets signed into law.</a:t>
            </a:r>
          </a:p>
          <a:p>
            <a:r>
              <a:rPr lang="en-IN" sz="1200" dirty="0">
                <a:solidFill>
                  <a:schemeClr val="tx1">
                    <a:lumMod val="65000"/>
                    <a:lumOff val="35000"/>
                  </a:schemeClr>
                </a:solidFill>
                <a:latin typeface="Corbel" panose="020B0503020204020204" pitchFamily="34" charset="0"/>
                <a:cs typeface="Calibri" panose="020F0502020204030204" pitchFamily="34" charset="0"/>
              </a:rPr>
              <a:t>Initial bulletin to be shared when the bill passes by simple majority and moves to the Senate (or equivalent)</a:t>
            </a:r>
            <a:br>
              <a:rPr lang="en-IN" sz="1200" dirty="0">
                <a:solidFill>
                  <a:schemeClr val="tx1">
                    <a:lumMod val="65000"/>
                    <a:lumOff val="35000"/>
                  </a:schemeClr>
                </a:solidFill>
                <a:latin typeface="Corbel" panose="020B0503020204020204" pitchFamily="34" charset="0"/>
                <a:cs typeface="Calibri" panose="020F0502020204030204" pitchFamily="34" charset="0"/>
              </a:rPr>
            </a:br>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IN" sz="1200" b="1" dirty="0">
                <a:solidFill>
                  <a:schemeClr val="tx1">
                    <a:lumMod val="65000"/>
                    <a:lumOff val="35000"/>
                  </a:schemeClr>
                </a:solidFill>
                <a:latin typeface="Corbel" panose="020B0503020204020204" pitchFamily="34" charset="0"/>
                <a:cs typeface="Calibri" panose="020F0502020204030204" pitchFamily="34" charset="0"/>
              </a:rPr>
              <a:t>Bills during proposal stage </a:t>
            </a:r>
            <a:r>
              <a:rPr lang="en-IN" sz="1200" dirty="0">
                <a:solidFill>
                  <a:schemeClr val="tx1">
                    <a:lumMod val="65000"/>
                    <a:lumOff val="35000"/>
                  </a:schemeClr>
                </a:solidFill>
                <a:latin typeface="Corbel" panose="020B0503020204020204" pitchFamily="34" charset="0"/>
                <a:cs typeface="Calibri" panose="020F0502020204030204" pitchFamily="34" charset="0"/>
              </a:rPr>
              <a:t>- Report bills during the proposal stage if reputable sources indicate significant impact on the supply chain and business operations. (Create a customer WarRoom, no supplier impact)</a:t>
            </a:r>
          </a:p>
          <a:p>
            <a:endParaRPr lang="en-IN" sz="1200" dirty="0">
              <a:solidFill>
                <a:schemeClr val="tx1">
                  <a:lumMod val="65000"/>
                  <a:lumOff val="35000"/>
                </a:schemeClr>
              </a:solidFill>
              <a:latin typeface="Corbel" panose="020B0503020204020204" pitchFamily="34" charset="0"/>
              <a:cs typeface="Calibri" panose="020F0502020204030204" pitchFamily="34" charset="0"/>
            </a:endParaRPr>
          </a:p>
          <a:p>
            <a:r>
              <a:rPr lang="en-IN" sz="1200" dirty="0">
                <a:solidFill>
                  <a:schemeClr val="tx1">
                    <a:lumMod val="65000"/>
                    <a:lumOff val="35000"/>
                  </a:schemeClr>
                </a:solidFill>
                <a:latin typeface="Corbel" panose="020B0503020204020204" pitchFamily="34" charset="0"/>
                <a:cs typeface="Calibri" panose="020F0502020204030204" pitchFamily="34" charset="0"/>
              </a:rPr>
              <a:t>NOTE: Always check products and applications made by the company involved and notify if applications match our verticals</a:t>
            </a:r>
            <a:endParaRPr lang="en-IN" sz="1200" dirty="0">
              <a:solidFill>
                <a:schemeClr val="tx1">
                  <a:lumMod val="65000"/>
                  <a:lumOff val="3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70915" y="272494"/>
            <a:ext cx="4650841" cy="3108543"/>
          </a:xfrm>
          <a:prstGeom prst="rect">
            <a:avLst/>
          </a:prstGeom>
          <a:noFill/>
        </p:spPr>
        <p:txBody>
          <a:bodyPr wrap="square" rtlCol="0">
            <a:spAutoFit/>
          </a:bodyPr>
          <a:lstStyle/>
          <a:p>
            <a:r>
              <a:rPr lang="en-US" sz="1400" b="1" u="sng" dirty="0">
                <a:latin typeface="Corbel" panose="020B0503020204020204" pitchFamily="34" charset="0"/>
                <a:cs typeface="Calibri" panose="020F0502020204030204" pitchFamily="34" charset="0"/>
              </a:rPr>
              <a:t>WarRoom Guidelines:</a:t>
            </a:r>
          </a:p>
          <a:p>
            <a:endParaRPr lang="en-US" sz="1400" b="1" u="sng" dirty="0">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Partner involved? Send impact</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 Partner site(s) in the region of impact? Send impact to all</a:t>
            </a:r>
          </a:p>
          <a:p>
            <a:pPr marL="171450" indent="-171450">
              <a:buFont typeface="Arial" panose="020B0604020202020204" pitchFamily="34" charset="0"/>
              <a:buChar char="•"/>
            </a:pPr>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r>
              <a:rPr lang="en-US" sz="1200" b="1" dirty="0">
                <a:solidFill>
                  <a:schemeClr val="tx1">
                    <a:lumMod val="65000"/>
                    <a:lumOff val="35000"/>
                  </a:schemeClr>
                </a:solidFill>
                <a:latin typeface="Corbel" panose="020B0503020204020204" pitchFamily="34" charset="0"/>
                <a:cs typeface="Calibri" panose="020F0502020204030204" pitchFamily="34" charset="0"/>
              </a:rPr>
              <a:t>Send Supplier Impact Confirmation? -  YES</a:t>
            </a:r>
          </a:p>
          <a:p>
            <a:r>
              <a:rPr lang="en-US" sz="1200" dirty="0">
                <a:solidFill>
                  <a:schemeClr val="tx1">
                    <a:lumMod val="65000"/>
                    <a:lumOff val="35000"/>
                  </a:schemeClr>
                </a:solidFill>
                <a:latin typeface="Corbel" panose="020B0503020204020204" pitchFamily="34" charset="0"/>
                <a:cs typeface="Calibri" panose="020F0502020204030204" pitchFamily="34" charset="0"/>
              </a:rPr>
              <a:t>Global Rule: Do not send Supplier Impact Confirmation for LOW severity events.</a:t>
            </a:r>
          </a:p>
          <a:p>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Send supplier impact only when it is certain, not merely a possibility.</a:t>
            </a:r>
          </a:p>
          <a:p>
            <a:endParaRPr lang="en-US" sz="1200" dirty="0">
              <a:solidFill>
                <a:schemeClr val="tx1">
                  <a:lumMod val="65000"/>
                  <a:lumOff val="35000"/>
                </a:schemeClr>
              </a:solidFill>
              <a:latin typeface="Corbel" panose="020B0503020204020204" pitchFamily="34" charset="0"/>
              <a:cs typeface="Calibri" panose="020F0502020204030204" pitchFamily="34" charset="0"/>
            </a:endParaRPr>
          </a:p>
          <a:p>
            <a:r>
              <a:rPr lang="en-US" sz="1200" b="1" dirty="0">
                <a:solidFill>
                  <a:schemeClr val="tx1">
                    <a:lumMod val="65000"/>
                    <a:lumOff val="35000"/>
                  </a:schemeClr>
                </a:solidFill>
                <a:latin typeface="Corbel" panose="020B0503020204020204" pitchFamily="34" charset="0"/>
                <a:cs typeface="Calibri" panose="020F0502020204030204" pitchFamily="34" charset="0"/>
              </a:rPr>
              <a:t>Examples:</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We notified Brexit and sent customer impact to the entire UK (supplier impact not sent)</a:t>
            </a:r>
          </a:p>
          <a:p>
            <a:pPr marL="171450" indent="-171450">
              <a:buFont typeface="Arial" panose="020B0604020202020204" pitchFamily="34" charset="0"/>
              <a:buChar char="•"/>
            </a:pPr>
            <a:r>
              <a:rPr lang="en-US" sz="1200" dirty="0">
                <a:solidFill>
                  <a:schemeClr val="tx1">
                    <a:lumMod val="65000"/>
                    <a:lumOff val="35000"/>
                  </a:schemeClr>
                </a:solidFill>
                <a:latin typeface="Corbel" panose="020B0503020204020204" pitchFamily="34" charset="0"/>
                <a:cs typeface="Calibri" panose="020F0502020204030204" pitchFamily="34" charset="0"/>
              </a:rPr>
              <a:t>We notified possible US-Mexico border closure and sent impact to the entire Mexico and USA (supplier impact not issued)</a:t>
            </a:r>
            <a:endParaRPr lang="en-IN" sz="1200" dirty="0">
              <a:solidFill>
                <a:schemeClr val="tx1">
                  <a:lumMod val="65000"/>
                  <a:lumOff val="3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49618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3644348"/>
            <a:ext cx="4786165" cy="303274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F9FBAC7C-ED8E-6992-47A5-189AFB371524}"/>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1AA3800C-83EA-9444-0D06-A86B96E5CBA7}"/>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581941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1736" y="3859956"/>
            <a:ext cx="4662455" cy="2462213"/>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Component/Material/Chemicals shortage</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Utility shortage</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Mining and minerals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Expected shortages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Planned shortages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Shortage speculations</a:t>
            </a:r>
          </a:p>
          <a:p>
            <a:pPr marL="285750" indent="-2857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Subsequent shortages</a:t>
            </a:r>
            <a:endParaRPr lang="en-IN" sz="1200" b="1" u="sng" dirty="0">
              <a:latin typeface="Corbel" panose="020B0503020204020204" pitchFamily="34" charset="0"/>
              <a:ea typeface="Roboto" panose="02000000000000000000" pitchFamily="2" charset="0"/>
              <a:cs typeface="Roboto" panose="02000000000000000000" pitchFamily="2" charset="0"/>
            </a:endParaRPr>
          </a:p>
          <a:p>
            <a:endParaRPr lang="en-IN" sz="14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66713" y="277254"/>
            <a:ext cx="4451061"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SUPPLY SHORTAGE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66713" y="867044"/>
            <a:ext cx="4595480" cy="5357492"/>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if the applications of the commodity involved match our verticals</a:t>
            </a:r>
          </a:p>
          <a:p>
            <a:pPr marL="171450" indent="-171450">
              <a:lnSpc>
                <a:spcPct val="15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Notify if a company reports products shortages</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Connect the dots to multi-tier verticals.</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dirty="0">
                <a:latin typeface="Corbel" panose="020B0503020204020204" pitchFamily="34" charset="0"/>
                <a:ea typeface="Roboto" panose="02000000000000000000" pitchFamily="2" charset="0"/>
                <a:cs typeface="Roboto" panose="02000000000000000000" pitchFamily="2" charset="0"/>
              </a:rPr>
              <a:t>Several semiconductor process materials in the petroleum supply chain are running short, including acetone, NMP, IPA, and solvents. Thus, affecting the customers from our verticals.</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Identify the source of the shortage</a:t>
            </a: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a supplier or a mapped site is involved</a:t>
            </a:r>
            <a:endParaRPr lang="en-US" sz="1200" dirty="0">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companies have confirmed impact in the public domain</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400" b="0" i="0" u="none" strike="noStrike" dirty="0">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400" b="1" i="0" u="none" strike="noStrike" dirty="0">
                <a:effectLst/>
                <a:latin typeface="Corbel" panose="020B0503020204020204" pitchFamily="34" charset="0"/>
                <a:ea typeface="Roboto" panose="02000000000000000000" pitchFamily="2" charset="0"/>
                <a:cs typeface="Roboto" panose="02000000000000000000" pitchFamily="2" charset="0"/>
              </a:rPr>
              <a:t>NOTE: </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It's important to understand which customer is concerned and which industry is affected</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Keep looking for companies confirming impact in the public domain</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Companies declaring Force Majeure etc. due to shortages, we should try to get to the roots of the shortage</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60570" y="364435"/>
            <a:ext cx="4656214" cy="3200876"/>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involved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involved</a:t>
            </a:r>
          </a:p>
          <a:p>
            <a:endParaRPr lang="en-US" sz="1400" b="0" i="0" u="none" strike="noStrike" dirty="0">
              <a:solidFill>
                <a:schemeClr val="tx1">
                  <a:lumMod val="85000"/>
                  <a:lumOff val="15000"/>
                </a:schemeClr>
              </a:solidFill>
              <a:effectLst/>
              <a:latin typeface="Corbel" panose="020B0503020204020204" pitchFamily="34" charset="0"/>
            </a:endParaRPr>
          </a:p>
          <a:p>
            <a:endParaRPr lang="en-US" sz="1400" dirty="0">
              <a:solidFill>
                <a:schemeClr val="tx1">
                  <a:lumMod val="85000"/>
                  <a:lumOff val="15000"/>
                </a:schemeClr>
              </a:solidFill>
              <a:latin typeface="Corbel" panose="020B0503020204020204" pitchFamily="34" charset="0"/>
            </a:endParaRPr>
          </a:p>
          <a:p>
            <a:endParaRPr lang="en-US" sz="1400" b="0" i="0" u="none" strike="noStrike" dirty="0">
              <a:solidFill>
                <a:schemeClr val="tx1">
                  <a:lumMod val="85000"/>
                  <a:lumOff val="15000"/>
                </a:schemeClr>
              </a:solidFill>
              <a:effectLst/>
              <a:latin typeface="Corbel" panose="020B0503020204020204" pitchFamily="34" charset="0"/>
            </a:endParaRPr>
          </a:p>
          <a:p>
            <a:endParaRPr lang="en-US" sz="1400" dirty="0">
              <a:solidFill>
                <a:schemeClr val="tx1">
                  <a:lumMod val="85000"/>
                  <a:lumOff val="15000"/>
                </a:schemeClr>
              </a:solidFill>
              <a:latin typeface="Corbel" panose="020B0503020204020204" pitchFamily="34" charset="0"/>
            </a:endParaRPr>
          </a:p>
          <a:p>
            <a:endParaRPr lang="en-US" sz="1400" b="0" i="0" u="none" strike="noStrike" dirty="0">
              <a:solidFill>
                <a:schemeClr val="tx1">
                  <a:lumMod val="85000"/>
                  <a:lumOff val="15000"/>
                </a:schemeClr>
              </a:solidFill>
              <a:effectLst/>
              <a:latin typeface="Corbel" panose="020B0503020204020204" pitchFamily="34" charset="0"/>
            </a:endParaRPr>
          </a:p>
          <a:p>
            <a:br>
              <a:rPr lang="en-US" sz="1400" b="0" i="0" u="none" strike="noStrike" dirty="0">
                <a:solidFill>
                  <a:schemeClr val="tx1">
                    <a:lumMod val="85000"/>
                    <a:lumOff val="15000"/>
                  </a:schemeClr>
                </a:solidFill>
                <a:effectLst/>
                <a:latin typeface="Corbel" panose="020B0503020204020204" pitchFamily="34" charset="0"/>
              </a:rPr>
            </a:br>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YES</a:t>
            </a:r>
          </a:p>
          <a:p>
            <a:endParaRPr lang="en-US" sz="1200">
              <a:latin typeface="Corbel" panose="020B0503020204020204" pitchFamily="34" charset="0"/>
              <a:ea typeface="Roboto" panose="02000000000000000000" pitchFamily="2" charset="0"/>
              <a:cs typeface="Roboto" panose="02000000000000000000" pitchFamily="2" charset="0"/>
            </a:endParaRPr>
          </a:p>
          <a:p>
            <a:r>
              <a:rPr lang="en-US" sz="1400" b="1">
                <a:latin typeface="Corbel" panose="020B0503020204020204" pitchFamily="34" charset="0"/>
                <a:ea typeface="Roboto" panose="02000000000000000000" pitchFamily="2" charset="0"/>
                <a:cs typeface="Roboto" panose="02000000000000000000" pitchFamily="2" charset="0"/>
              </a:rPr>
              <a:t> YES (not for LOW severity; MEDIUM, HIGH, SEVERE only)</a:t>
            </a:r>
            <a:r>
              <a:rPr lang="en-US" sz="1200">
                <a:latin typeface="Corbel" panose="020B0503020204020204" pitchFamily="34" charset="0"/>
                <a:ea typeface="Roboto" panose="02000000000000000000" pitchFamily="2" charset="0"/>
                <a:cs typeface="Roboto" panose="02000000000000000000" pitchFamily="2" charset="0"/>
              </a:rPr>
              <a:t>,</a:t>
            </a:r>
            <a:r>
              <a:rPr lang="en-US" sz="1200" dirty="0">
                <a:latin typeface="Corbel" panose="020B0503020204020204" pitchFamily="34" charset="0"/>
                <a:ea typeface="Roboto" panose="02000000000000000000" pitchFamily="2" charset="0"/>
                <a:cs typeface="Roboto" panose="02000000000000000000" pitchFamily="2" charset="0"/>
              </a:rPr>
              <a:t> incase of any utility shortage like water, electricity, gas, and chemicals.</a:t>
            </a: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3126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738995"/>
            <a:ext cx="4786165" cy="275457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16E46283-AC22-EEE1-0980-BFAC30CCCF1A}"/>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C3C854B0-3C56-76F5-2351-324AC9D833D2}"/>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213491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1737" y="3991681"/>
            <a:ext cx="4504070" cy="2431435"/>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lnSpc>
                <a:spcPct val="150000"/>
              </a:lnSpc>
              <a:buFont typeface="Arial" panose="020B0604020202020204" pitchFamily="34" charset="0"/>
              <a:buChar char="•"/>
            </a:pPr>
            <a:r>
              <a:rPr lang="en-US" sz="1200" dirty="0">
                <a:latin typeface="Corbel" panose="020B0503020204020204" pitchFamily="34" charset="0"/>
              </a:rPr>
              <a:t>Tornadoes touchdown</a:t>
            </a:r>
          </a:p>
          <a:p>
            <a:pPr marL="285750" indent="-285750">
              <a:lnSpc>
                <a:spcPct val="150000"/>
              </a:lnSpc>
              <a:buFont typeface="Arial" panose="020B0604020202020204" pitchFamily="34" charset="0"/>
              <a:buChar char="•"/>
            </a:pPr>
            <a:r>
              <a:rPr lang="en-US" sz="1200" dirty="0">
                <a:latin typeface="Corbel" panose="020B0503020204020204" pitchFamily="34" charset="0"/>
              </a:rPr>
              <a:t>Power Outages</a:t>
            </a:r>
          </a:p>
          <a:p>
            <a:pPr marL="285750" indent="-285750">
              <a:lnSpc>
                <a:spcPct val="150000"/>
              </a:lnSpc>
              <a:buFont typeface="Arial" panose="020B0604020202020204" pitchFamily="34" charset="0"/>
              <a:buChar char="•"/>
            </a:pPr>
            <a:r>
              <a:rPr lang="en-US" sz="1200" dirty="0">
                <a:latin typeface="Corbel" panose="020B0503020204020204" pitchFamily="34" charset="0"/>
              </a:rPr>
              <a:t>Site level impacts</a:t>
            </a:r>
          </a:p>
          <a:p>
            <a:pPr marL="285750" indent="-285750">
              <a:lnSpc>
                <a:spcPct val="150000"/>
              </a:lnSpc>
              <a:buFont typeface="Arial" panose="020B0604020202020204" pitchFamily="34" charset="0"/>
              <a:buChar char="•"/>
            </a:pPr>
            <a:r>
              <a:rPr lang="en-US" sz="1200" dirty="0">
                <a:latin typeface="Corbel" panose="020B0503020204020204" pitchFamily="34" charset="0"/>
              </a:rPr>
              <a:t>Vicinity level impacts</a:t>
            </a:r>
          </a:p>
          <a:p>
            <a:pPr marL="285750" indent="-285750">
              <a:lnSpc>
                <a:spcPct val="150000"/>
              </a:lnSpc>
              <a:buFont typeface="Arial" panose="020B0604020202020204" pitchFamily="34" charset="0"/>
              <a:buChar char="•"/>
            </a:pPr>
            <a:r>
              <a:rPr lang="en-US" sz="1200" dirty="0">
                <a:latin typeface="Corbel" panose="020B0503020204020204" pitchFamily="34" charset="0"/>
              </a:rPr>
              <a:t>Cargo/Utility impacts</a:t>
            </a:r>
          </a:p>
          <a:p>
            <a:pPr marL="285750" indent="-285750">
              <a:lnSpc>
                <a:spcPct val="150000"/>
              </a:lnSpc>
              <a:buFont typeface="Arial" panose="020B0604020202020204" pitchFamily="34" charset="0"/>
              <a:buChar char="•"/>
            </a:pPr>
            <a:r>
              <a:rPr lang="en-US" sz="1200" dirty="0">
                <a:latin typeface="Corbel" panose="020B0503020204020204" pitchFamily="34" charset="0"/>
              </a:rPr>
              <a:t>Major roads in the region</a:t>
            </a:r>
          </a:p>
          <a:p>
            <a:pPr marL="285750" indent="-285750">
              <a:lnSpc>
                <a:spcPct val="150000"/>
              </a:lnSpc>
              <a:buFont typeface="Arial" panose="020B0604020202020204" pitchFamily="34" charset="0"/>
              <a:buChar char="•"/>
            </a:pPr>
            <a:r>
              <a:rPr lang="en-US" sz="1200" dirty="0">
                <a:latin typeface="Corbel" panose="020B0503020204020204" pitchFamily="34" charset="0"/>
              </a:rPr>
              <a:t>Infrastructure Impact </a:t>
            </a:r>
            <a:endParaRPr lang="en-IN" sz="1200" b="1" u="sng" dirty="0">
              <a:latin typeface="Corbel" panose="020B0503020204020204" pitchFamily="34"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28067" y="386679"/>
            <a:ext cx="4542716"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TORNADO</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28067" y="885027"/>
            <a:ext cx="4662453" cy="4093428"/>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Warnings issued? Check if the site(s) are mapped in the region and keep an eye (Monitor)</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Tornado hits, cause structural damages? Notify if the site(s) mapped in the exact vicinity/village/community</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if road closures, business closures, power outages, airport/port disruptions, or utility disruptions reported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1"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Note: </a:t>
            </a: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Unlike major storms, tornadoes affect smaller vicinities. We cannot flag an entire state or city for a Tornado event e.g., if a tornado hits Milpitas, California, we should find the exact region in Milpitas where it caused damages</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02577" y="395986"/>
            <a:ext cx="4867131" cy="3293209"/>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Partner site(s) in the region of impact</a:t>
            </a:r>
            <a:br>
              <a:rPr lang="en-US" sz="1200" b="0" i="0" u="none" strike="noStrike">
                <a:effectLst/>
                <a:latin typeface="Corbel" panose="020B0503020204020204" pitchFamily="34" charset="0"/>
                <a:ea typeface="Roboto" panose="02000000000000000000" pitchFamily="2" charset="0"/>
                <a:cs typeface="Roboto" panose="02000000000000000000" pitchFamily="2" charset="0"/>
              </a:rPr>
            </a:br>
            <a:endParaRPr lang="en-US" sz="1400" b="0" i="0" u="none" strike="noStrike" dirty="0">
              <a:effectLst/>
              <a:latin typeface="Corbel" panose="020B0503020204020204" pitchFamily="34" charset="0"/>
            </a:endParaRPr>
          </a:p>
          <a:p>
            <a:endParaRPr lang="en-US" sz="1400" dirty="0">
              <a:latin typeface="Corbel" panose="020B0503020204020204" pitchFamily="34" charset="0"/>
            </a:endParaRPr>
          </a:p>
          <a:p>
            <a:endParaRPr lang="en-US" sz="1400" b="0" i="0" u="none" strike="noStrike" dirty="0">
              <a:effectLst/>
              <a:latin typeface="Corbel" panose="020B0503020204020204" pitchFamily="34" charset="0"/>
            </a:endParaRPr>
          </a:p>
          <a:p>
            <a:endParaRPr lang="en-US" sz="1400" dirty="0">
              <a:latin typeface="Corbel" panose="020B0503020204020204" pitchFamily="34" charset="0"/>
            </a:endParaRPr>
          </a:p>
          <a:p>
            <a:endParaRPr lang="en-US" sz="1400" b="0" i="0" u="none" strike="noStrike" dirty="0">
              <a:effectLst/>
              <a:latin typeface="Corbel" panose="020B0503020204020204" pitchFamily="34" charset="0"/>
            </a:endParaRPr>
          </a:p>
          <a:p>
            <a:endParaRPr lang="en-US" sz="1400" dirty="0">
              <a:latin typeface="Corbel" panose="020B0503020204020204" pitchFamily="34" charset="0"/>
            </a:endParaRPr>
          </a:p>
          <a:p>
            <a:endParaRPr lang="en-US" sz="1400" b="0" i="0" u="none" strike="noStrike" dirty="0">
              <a:effectLst/>
              <a:latin typeface="Corbel" panose="020B0503020204020204" pitchFamily="34" charset="0"/>
            </a:endParaRPr>
          </a:p>
          <a:p>
            <a:endParaRPr lang="en-US" sz="1400" dirty="0">
              <a:latin typeface="Corbel" panose="020B0503020204020204" pitchFamily="34" charset="0"/>
            </a:endParaRPr>
          </a:p>
          <a:p>
            <a:endParaRPr lang="en-US" sz="1400" b="0" i="0" u="none" strike="noStrike" dirty="0">
              <a:effectLst/>
              <a:latin typeface="Corbel" panose="020B0503020204020204" pitchFamily="34" charset="0"/>
            </a:endParaRPr>
          </a:p>
          <a:p>
            <a:br>
              <a:rPr lang="en-US" sz="1400" b="0" i="0" u="none" strike="noStrike" dirty="0">
                <a:effectLst/>
                <a:latin typeface="Corbel" panose="020B0503020204020204" pitchFamily="34" charset="0"/>
              </a:rPr>
            </a:br>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15716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808904"/>
            <a:ext cx="4786165" cy="252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818AE39F-1721-B4DF-CD56-2E17CC5A41DD}"/>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D692C25C-9405-3B14-8147-88A9739FC33A}"/>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733261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75799" y="3941549"/>
            <a:ext cx="4461067" cy="2154436"/>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All eruptions </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Air disruptions/Port disruptions</a:t>
            </a:r>
          </a:p>
          <a:p>
            <a:pPr marL="285750" indent="-2857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Earthquakes/Seismic activities</a:t>
            </a:r>
            <a:endPar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Evacuations/alerts/advisories</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Poor visibility</a:t>
            </a:r>
          </a:p>
          <a:p>
            <a:pPr marL="285750" indent="-285750">
              <a:buFont typeface="Arial" panose="020B0604020202020204" pitchFamily="34" charset="0"/>
              <a:buChar char="•"/>
            </a:pPr>
            <a:r>
              <a:rPr lang="en-IN"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Tsunami</a:t>
            </a: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due to volcano</a:t>
            </a:r>
          </a:p>
          <a:p>
            <a:pPr marL="285750" indent="-2857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Wildfires due to volcano</a:t>
            </a:r>
          </a:p>
          <a:p>
            <a:pPr marL="285750" indent="-2857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Power outages amid eruption</a:t>
            </a:r>
          </a:p>
          <a:p>
            <a:pPr marL="285750" indent="-2857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Mudslides due to eruption</a:t>
            </a:r>
          </a:p>
          <a:p>
            <a:pPr marL="285750" indent="-285750">
              <a:buFont typeface="Arial" panose="020B0604020202020204" pitchFamily="34" charset="0"/>
              <a:buChar char="•"/>
            </a:pPr>
            <a:r>
              <a:rPr lang="en-IN"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Water contamination/shortages</a:t>
            </a:r>
            <a:endParaRPr lang="en-IN" sz="1200" dirty="0">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83211" y="414660"/>
            <a:ext cx="3790218"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VOLCANO</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83211" y="1029509"/>
            <a:ext cx="4728669" cy="3323987"/>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a:t>
            </a:r>
            <a:endParaRPr lang="en-IN" sz="1400" b="1" u="sng" dirty="0">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even if no sites in the region</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Possible aviation disruptions  </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as soon as Signs of Eruptions reported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Reports of volcanic activity/evacuations/high-alert</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Partner site(s) mapped in the region</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Check if important manufacturing hubs/mining/ports/ airports are present in the region.</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Transportation and power disruptions expected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NOTE: Send frequent updates when additional information becomes available </a:t>
            </a:r>
            <a:endParaRPr lang="en-IN" sz="14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30831" y="286723"/>
            <a:ext cx="4867131" cy="3539430"/>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When warnings are issued/evacuations ordered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Partner site(s) in the region of impact</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400" b="1" i="0" u="sng" strike="noStrike" dirty="0">
              <a:solidFill>
                <a:schemeClr val="tx1">
                  <a:lumMod val="85000"/>
                  <a:lumOff val="15000"/>
                </a:schemeClr>
              </a:solidFill>
              <a:effectLst/>
              <a:latin typeface="Corbel" panose="020B0503020204020204" pitchFamily="34" charset="0"/>
            </a:endParaRPr>
          </a:p>
          <a:p>
            <a:r>
              <a:rPr lang="en-US" sz="1400" b="1" i="0" u="sng" strike="noStrike" dirty="0">
                <a:solidFill>
                  <a:schemeClr val="tx1">
                    <a:lumMod val="85000"/>
                    <a:lumOff val="15000"/>
                  </a:schemeClr>
                </a:solidFill>
                <a:effectLst/>
                <a:latin typeface="Corbel" panose="020B0503020204020204" pitchFamily="34" charset="0"/>
              </a:rPr>
              <a:t>Radius:</a:t>
            </a:r>
            <a:endParaRPr lang="en-US" sz="1400" dirty="0">
              <a:solidFill>
                <a:schemeClr val="tx1">
                  <a:lumMod val="85000"/>
                  <a:lumOff val="15000"/>
                </a:schemeClr>
              </a:solidFill>
              <a:latin typeface="Corbel" panose="020B0503020204020204" pitchFamily="34"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Low = No impact needed</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Medium = Affected region</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High = Affected + 50 km</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Severe = Affected + 200 km</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buFont typeface="Arial" panose="020B0604020202020204" pitchFamily="34" charset="0"/>
              <a:buChar char="•"/>
            </a:pPr>
            <a:endParaRPr lang="en-US" sz="1400" b="1" u="sng" dirty="0">
              <a:solidFill>
                <a:schemeClr val="tx1">
                  <a:lumMod val="85000"/>
                  <a:lumOff val="15000"/>
                </a:schemeClr>
              </a:solidFill>
              <a:latin typeface="Corbel" panose="020B0503020204020204" pitchFamily="34" charset="0"/>
              <a:cs typeface="Calibri" panose="020F0502020204030204" pitchFamily="34" charset="0"/>
            </a:endParaRPr>
          </a:p>
          <a:p>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7"/>
            <a:ext cx="4812672" cy="613521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3786957"/>
            <a:ext cx="4786165" cy="252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8FA59EB4-CFD9-4069-4BCA-D048B25F10F6}"/>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F8CCF85E-3ABF-8F41-4AB1-5DB1DE0E0394}"/>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295360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251088" y="180906"/>
            <a:ext cx="4757501"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374798" y="4055875"/>
            <a:ext cx="4662455" cy="1046440"/>
          </a:xfrm>
          <a:prstGeom prst="rect">
            <a:avLst/>
          </a:prstGeom>
          <a:noFill/>
        </p:spPr>
        <p:txBody>
          <a:bodyPr wrap="square" rtlCol="0">
            <a:spAutoFit/>
          </a:bodyPr>
          <a:lstStyle/>
          <a:p>
            <a:r>
              <a:rPr lang="en-IN" sz="1400" b="1" u="sng" dirty="0">
                <a:latin typeface="Corbel" panose="020B0503020204020204" pitchFamily="34" charset="0"/>
              </a:rPr>
              <a:t>Sub-Types</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Revised profit forecast</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Profit warning issued or expected</a:t>
            </a:r>
          </a:p>
          <a:p>
            <a:pPr marL="285750" indent="-285750">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Profit report withdrawal</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200" b="1" u="sng" dirty="0">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317956" y="331198"/>
            <a:ext cx="4611212"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PROFIT WARNING</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304163" y="884252"/>
            <a:ext cx="4611211" cy="3818609"/>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a:t>
            </a:r>
          </a:p>
          <a:p>
            <a:endParaRPr lang="en-IN" sz="1400" b="1" i="0" u="sng"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Profit warnings are an adjustment to a listed company's publicly available expected results.</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dirty="0">
                <a:solidFill>
                  <a:srgbClr val="111111"/>
                </a:solidFill>
                <a:effectLst/>
                <a:latin typeface="Corbel" panose="020B0503020204020204" pitchFamily="34" charset="0"/>
                <a:ea typeface="Roboto" panose="02000000000000000000" pitchFamily="2" charset="0"/>
                <a:cs typeface="Roboto" panose="02000000000000000000" pitchFamily="2" charset="0"/>
              </a:rPr>
              <a:t>During a profit warning the company might mention issues related to key growth</a:t>
            </a:r>
            <a:r>
              <a:rPr lang="en-US" sz="1200" dirty="0">
                <a:solidFill>
                  <a:srgbClr val="111111"/>
                </a:solidFill>
                <a:latin typeface="Corbel" panose="020B0503020204020204" pitchFamily="34" charset="0"/>
                <a:ea typeface="Roboto" panose="02000000000000000000" pitchFamily="2" charset="0"/>
                <a:cs typeface="Roboto" panose="02000000000000000000" pitchFamily="2" charset="0"/>
              </a:rPr>
              <a:t> drivers like </a:t>
            </a:r>
            <a:r>
              <a:rPr lang="en-US" sz="1200" b="0" i="0" dirty="0">
                <a:solidFill>
                  <a:srgbClr val="111111"/>
                </a:solidFill>
                <a:effectLst/>
                <a:latin typeface="Corbel" panose="020B0503020204020204" pitchFamily="34" charset="0"/>
                <a:ea typeface="Roboto" panose="02000000000000000000" pitchFamily="2" charset="0"/>
                <a:cs typeface="Roboto" panose="02000000000000000000" pitchFamily="2" charset="0"/>
              </a:rPr>
              <a:t>sales and margins, its supply chain, new customers, and more.</a:t>
            </a: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when a supplier is reevaluating the profit forecast for a year</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when a supplier is withdrawing profit report</a:t>
            </a: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When a supplier company is reducing the profit forecast for the year</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381988" y="397016"/>
            <a:ext cx="3863880" cy="3447098"/>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when Partner(s) involved</a:t>
            </a:r>
          </a:p>
          <a:p>
            <a:endParaRPr lang="en-US" sz="1200" dirty="0">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endParaRPr lang="en-US" sz="1200" dirty="0">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endParaRPr lang="en-US" sz="1200" dirty="0">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endParaRPr lang="en-US" sz="1200" dirty="0">
              <a:latin typeface="Corbel" panose="020B0503020204020204" pitchFamily="34" charset="0"/>
              <a:ea typeface="Roboto" panose="02000000000000000000" pitchFamily="2" charset="0"/>
              <a:cs typeface="Roboto" panose="02000000000000000000" pitchFamily="2" charset="0"/>
            </a:endParaRPr>
          </a:p>
          <a:p>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br>
              <a:rPr lang="en-US" sz="1400" b="0" i="0" u="none" strike="noStrike" dirty="0">
                <a:effectLst/>
                <a:latin typeface="Corbel" panose="020B0503020204020204" pitchFamily="34" charset="0"/>
              </a:rPr>
            </a:br>
            <a:r>
              <a:rPr lang="en-US" sz="1400" b="0" i="0" u="none" strike="noStrike" dirty="0">
                <a:effectLst/>
                <a:latin typeface="Corbel" panose="020B0503020204020204" pitchFamily="34" charset="0"/>
              </a:rPr>
              <a:t> </a:t>
            </a:r>
            <a:endParaRPr lang="en-US" sz="1400" b="1" u="sng">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6" y="180907"/>
            <a:ext cx="4963867" cy="622135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251088" y="3873097"/>
            <a:ext cx="4937361" cy="2529164"/>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24A2E681-D5F4-08E1-5AD9-78A1C7D8A2C9}"/>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CFB56E93-6806-8602-B382-E4F9A5964ECB}"/>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274204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402777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65045" y="4550336"/>
            <a:ext cx="4662455" cy="2000548"/>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Service disruptions at major hubs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Service/delivery alerts</a:t>
            </a: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Postal strikes/disruptions</a:t>
            </a: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National strikes</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Notified under (Labor disruptions OR port disruptions OR factory disruptions)</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165652" y="228564"/>
            <a:ext cx="4653998" cy="1200329"/>
          </a:xfrm>
          <a:prstGeom prst="rect">
            <a:avLst/>
          </a:prstGeom>
          <a:noFill/>
        </p:spPr>
        <p:txBody>
          <a:bodyPr wrap="square" rtlCol="0">
            <a:spAutoFit/>
          </a:bodyPr>
          <a:lstStyle/>
          <a:p>
            <a:r>
              <a:rPr lang="en-IN" sz="2400" b="1" dirty="0">
                <a:solidFill>
                  <a:srgbClr val="0070C0"/>
                </a:solidFill>
                <a:latin typeface="Corbel" panose="020B0503020204020204" pitchFamily="34" charset="0"/>
              </a:rPr>
              <a:t>MAIL/POSTAL/PACKAGE DELIVERY SERVICES DISRUPTIONS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21190" y="1781293"/>
            <a:ext cx="4465109" cy="4370427"/>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if we have sites in the country</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service disruptions/delays </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expected delays in deliveries </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service shutdowns due to whatever reason</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Notify fires/explosions/spills and other events that can potentially shut down the cargo/postal hub(s)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National strikes affecting postal services</a:t>
            </a:r>
          </a:p>
          <a:p>
            <a:pPr marL="285750" indent="-285750">
              <a:lnSpc>
                <a:spcPct val="15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Major postal service going bankrupt or getting sold</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1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247606" y="425858"/>
            <a:ext cx="3975907" cy="3971536"/>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a:lnSpc>
                <a:spcPct val="200000"/>
              </a:lnSpc>
            </a:pPr>
            <a:r>
              <a:rPr lang="en-US" sz="1400" b="0" i="0" u="none" strike="noStrike" dirty="0">
                <a:solidFill>
                  <a:schemeClr val="tx1">
                    <a:lumMod val="85000"/>
                    <a:lumOff val="15000"/>
                  </a:schemeClr>
                </a:solidFill>
                <a:effectLst/>
                <a:latin typeface="Corbel" panose="020B0503020204020204" pitchFamily="34" charset="0"/>
              </a:rPr>
              <a:t>• </a:t>
            </a: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if the affected site is mapped</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 Send impact to all sites if the entire postal company is affected</a:t>
            </a:r>
            <a:b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a:lnSpc>
                <a:spcPct val="200000"/>
              </a:lnSpc>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a:lnSpc>
                <a:spcPct val="200000"/>
              </a:lnSpc>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a:lnSpc>
                <a:spcPct val="200000"/>
              </a:lnSpc>
            </a:pPr>
            <a:br>
              <a:rPr lang="en-US" sz="1200" b="0" i="0" u="none" strike="noStrike" dirty="0">
                <a:solidFill>
                  <a:schemeClr val="tx1">
                    <a:lumMod val="85000"/>
                    <a:lumOff val="15000"/>
                  </a:schemeClr>
                </a:solidFill>
                <a:effectLst/>
                <a:latin typeface="Corbel" panose="020B0503020204020204" pitchFamily="34" charset="0"/>
              </a:rPr>
            </a:br>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41039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1467" y="4334892"/>
            <a:ext cx="4786165" cy="221599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6534CDFD-DB7D-141E-AB02-BE2EC41C21BD}"/>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5859494-2676-04DD-AA16-C1FA1F7569D3}"/>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816035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80237" y="4036401"/>
            <a:ext cx="4662455" cy="923330"/>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r>
              <a:rPr lang="en-IN" sz="1400" b="0" i="0" u="none" strike="noStrike" dirty="0">
                <a:effectLst/>
                <a:latin typeface="Corbel" panose="020B0503020204020204" pitchFamily="34" charset="0"/>
                <a:ea typeface="Roboto" panose="02000000000000000000" pitchFamily="2" charset="0"/>
                <a:cs typeface="Roboto" panose="02000000000000000000" pitchFamily="2" charset="0"/>
              </a:rPr>
              <a:t>Notify under Compliance</a:t>
            </a:r>
            <a:endParaRPr lang="en-IN" sz="1400" b="1" u="sng" dirty="0">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05214" y="459339"/>
            <a:ext cx="4360061"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AIRWORTHINESS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137108" y="1199435"/>
            <a:ext cx="4886489" cy="243143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every AD on a daily basis</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via 1 consolidated bulletin </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Send the bulletin out at around midday PST</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Notify even if the company receiving the AD is not mapped</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3354765"/>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Customer Impact is not needed</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a:t>
            </a:r>
            <a:endParaRPr lang="en-US" sz="1200" b="1" i="0" u="sng" strike="noStrike">
              <a:effectLst/>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endParaRPr lang="en-US" sz="1200" b="1" u="sng">
              <a:latin typeface="Corbel" panose="020B0503020204020204" pitchFamily="34" charset="0"/>
              <a:ea typeface="Roboto" panose="02000000000000000000" pitchFamily="2" charset="0"/>
              <a:cs typeface="Roboto" panose="02000000000000000000" pitchFamily="2"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596609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931014"/>
            <a:ext cx="4786165" cy="221599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078AA55A-31EB-40DC-EAD8-41431FE93C31}"/>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8BF57C6F-5335-45A8-5456-1A524BB8354C}"/>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2484393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92726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59301" y="4476151"/>
            <a:ext cx="4662455" cy="1446550"/>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Temporary and permanent layoffs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Future layoffs</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Furlough</a:t>
            </a:r>
          </a:p>
          <a:p>
            <a:pPr marL="285750" indent="-285750">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Notify under labor disruptions</a:t>
            </a: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 </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51751" y="324784"/>
            <a:ext cx="4529799"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LAYOFFS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78863" y="1010890"/>
            <a:ext cx="4399153" cy="2985433"/>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u="sng" dirty="0">
              <a:solidFill>
                <a:schemeClr val="tx1">
                  <a:lumMod val="85000"/>
                  <a:lumOff val="15000"/>
                </a:schemeClr>
              </a:solidFill>
              <a:latin typeface="Corbel" panose="020B0503020204020204" pitchFamily="34" charset="0"/>
              <a:cs typeface="Calibri" panose="020F0502020204030204" pitchFamily="34" charset="0"/>
            </a:endParaRP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Only notify if a supplier is making layoffs</a:t>
            </a:r>
          </a:p>
          <a:p>
            <a:pPr>
              <a:lnSpc>
                <a:spcPct val="150000"/>
              </a:lnSpc>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Send impact if the exact site is mapped</a:t>
            </a:r>
          </a:p>
          <a:p>
            <a:pPr>
              <a:lnSpc>
                <a:spcPct val="150000"/>
              </a:lnSpc>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If layoffs happening globally, send impact to all sites</a:t>
            </a:r>
          </a:p>
          <a:p>
            <a:pPr>
              <a:lnSpc>
                <a:spcPct val="150000"/>
              </a:lnSpc>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 Notify even if layoffs are scheduled for future</a:t>
            </a:r>
            <a:endParaRPr lang="en-US" sz="1200" dirty="0">
              <a:latin typeface="Corbel" panose="020B0503020204020204" pitchFamily="34" charset="0"/>
              <a:ea typeface="Roboto" panose="02000000000000000000" pitchFamily="2" charset="0"/>
              <a:cs typeface="Roboto" panose="02000000000000000000" pitchFamily="2" charset="0"/>
            </a:endParaRPr>
          </a:p>
          <a:p>
            <a:pPr>
              <a:lnSpc>
                <a:spcPct val="150000"/>
              </a:lnSpc>
            </a:pP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a:lnSpc>
                <a:spcPct val="150000"/>
              </a:lnSpc>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Don't Send supplier impact emails</a:t>
            </a:r>
            <a:r>
              <a:rPr lang="en-US" sz="1200" dirty="0">
                <a:latin typeface="Corbel" panose="020B0503020204020204" pitchFamily="34" charset="0"/>
                <a:ea typeface="Roboto" panose="02000000000000000000" pitchFamily="2" charset="0"/>
                <a:cs typeface="Roboto" panose="02000000000000000000" pitchFamily="2" charset="0"/>
              </a:rPr>
              <a:t> </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3952300"/>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Send impact if exact site is mapped</a:t>
            </a:r>
          </a:p>
          <a:p>
            <a:pPr marL="171450" indent="-1714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rPr>
              <a:t>If global layoff, send impact to all sites</a:t>
            </a:r>
          </a:p>
          <a:p>
            <a:pPr marL="171450" indent="-171450">
              <a:lnSpc>
                <a:spcPct val="150000"/>
              </a:lnSpc>
              <a:buFont typeface="Arial" panose="020B0604020202020204" pitchFamily="34" charset="0"/>
              <a:buChar char="•"/>
            </a:pPr>
            <a:endPar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If a company has announced job cuts in a specific division or subsidiary, do research  to identify the sites that are affected the decision. Send impact exclusively to those affected sites.</a:t>
            </a:r>
          </a:p>
          <a:p>
            <a:pPr marL="171450" indent="-171450">
              <a:lnSpc>
                <a:spcPct val="150000"/>
              </a:lnSpc>
              <a:buFont typeface="Arial" panose="020B0604020202020204" pitchFamily="34" charset="0"/>
              <a:buChar char="•"/>
            </a:pPr>
            <a:endParaRPr lang="en-US" sz="1200" b="0" i="0" u="none" strike="noStrike" dirty="0">
              <a:solidFill>
                <a:schemeClr val="tx1">
                  <a:lumMod val="85000"/>
                  <a:lumOff val="15000"/>
                </a:schemeClr>
              </a:solidFill>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r>
              <a:rPr lang="en-US" sz="1200"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rPr>
              <a:t>Cannot identify business divisions- Send impact to all sites. </a:t>
            </a:r>
          </a:p>
          <a:p>
            <a:pPr marL="171450" indent="-171450">
              <a:lnSpc>
                <a:spcPct val="150000"/>
              </a:lnSpc>
              <a:buFont typeface="Arial" panose="020B0604020202020204" pitchFamily="34" charset="0"/>
              <a:buChar char="•"/>
            </a:pPr>
            <a:endParaRPr lang="en-US" sz="1400" b="0" i="0" u="none" strike="noStrike" dirty="0">
              <a:solidFill>
                <a:schemeClr val="tx1">
                  <a:lumMod val="85000"/>
                  <a:lumOff val="15000"/>
                </a:schemeClr>
              </a:solidFill>
              <a:effectLst/>
              <a:latin typeface="Corbel" panose="020B0503020204020204" pitchFamily="34" charset="0"/>
            </a:endParaRPr>
          </a:p>
          <a:p>
            <a:pPr marL="171450" indent="-171450">
              <a:lnSpc>
                <a:spcPct val="150000"/>
              </a:lnSpc>
              <a:buFont typeface="Arial" panose="020B0604020202020204" pitchFamily="34" charset="0"/>
              <a:buChar char="•"/>
            </a:pPr>
            <a:r>
              <a:rPr lang="en-US" sz="1400" b="1" u="sng">
                <a:solidFill>
                  <a:schemeClr val="tx1">
                    <a:lumMod val="85000"/>
                    <a:lumOff val="15000"/>
                  </a:schemeClr>
                </a:solidFill>
                <a:latin typeface="Corbel" panose="020B0503020204020204" pitchFamily="34" charset="0"/>
                <a:cs typeface="Calibri" panose="020F0502020204030204" pitchFamily="34" charset="0"/>
              </a:rPr>
              <a:t>Send Supplier Impact Confirmation? -</a:t>
            </a:r>
            <a:r>
              <a:rPr lang="en-US" sz="1400" b="1">
                <a:solidFill>
                  <a:schemeClr val="tx1">
                    <a:lumMod val="85000"/>
                    <a:lumOff val="15000"/>
                  </a:schemeClr>
                </a:solidFill>
                <a:latin typeface="Corbel" panose="020B0503020204020204" pitchFamily="34" charset="0"/>
                <a:cs typeface="Calibri" panose="020F0502020204030204" pitchFamily="34" charset="0"/>
              </a:rPr>
              <a:t> YES (not for LOW severity; MEDIUM, HIGH, SEVERE only)</a:t>
            </a:r>
            <a:endParaRPr lang="en-IN" sz="1400" b="1" dirty="0">
              <a:solidFill>
                <a:schemeClr val="tx1">
                  <a:lumMod val="85000"/>
                  <a:lumOff val="15000"/>
                </a:schemeClr>
              </a:solidFill>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587123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1" y="4346712"/>
            <a:ext cx="4786165" cy="170542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E86AFA23-FF00-4A10-5350-C92C9E3FF8A9}"/>
              </a:ext>
            </a:extLst>
          </p:cNvPr>
          <p:cNvGraphicFramePr>
            <a:graphicFrameLocks noGrp="1"/>
          </p:cNvGraphicFramePr>
          <p:nvPr>
            <p:extLst>
              <p:ext uri="{D42A27DB-BD31-4B8C-83A1-F6EECF244321}">
                <p14:modId xmlns:p14="http://schemas.microsoft.com/office/powerpoint/2010/main" val="2055809436"/>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45"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7" action="ppaction://hlinksldjump"/>
            <a:extLst>
              <a:ext uri="{FF2B5EF4-FFF2-40B4-BE49-F238E27FC236}">
                <a16:creationId xmlns:a16="http://schemas.microsoft.com/office/drawing/2014/main" id="{AE7C32A5-BB04-D3E1-B879-C8107CD34D01}"/>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7"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238531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401096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1736" y="4386322"/>
            <a:ext cx="4662455" cy="923330"/>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buFont typeface="Arial" panose="020B0604020202020204" pitchFamily="34" charset="0"/>
              <a:buChar char="•"/>
            </a:pPr>
            <a:r>
              <a:rPr lang="en-IN" sz="1200" b="0" i="0" u="none" strike="noStrike" dirty="0">
                <a:effectLst/>
                <a:latin typeface="Corbel" panose="020B0503020204020204" pitchFamily="34" charset="0"/>
                <a:ea typeface="Roboto" panose="02000000000000000000" pitchFamily="2" charset="0"/>
                <a:cs typeface="Roboto" panose="02000000000000000000" pitchFamily="2" charset="0"/>
              </a:rPr>
              <a:t>Possible shortage</a:t>
            </a:r>
            <a:endParaRPr lang="en-IN" sz="1200" b="1" u="sng" dirty="0">
              <a:latin typeface="Corbel" panose="020B0503020204020204" pitchFamily="34" charset="0"/>
              <a:ea typeface="Roboto" panose="02000000000000000000" pitchFamily="2" charset="0"/>
              <a:cs typeface="Roboto" panose="02000000000000000000" pitchFamily="2" charset="0"/>
            </a:endParaRP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42281" y="321305"/>
            <a:ext cx="5605670"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CONTAINER SHIP ACCIDENTS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77625" y="1097295"/>
            <a:ext cx="4616414" cy="492442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i="0" u="sng"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Container ships involved in an accident</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Container ship capsized/drowned</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Ship damaged/cargo damaged</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Major delays/cancelations/congestions</a:t>
            </a: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Ship hijacked/Cargo lost</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Check if the cargo onboard is relevant to our verticals? Notify</a:t>
            </a:r>
          </a:p>
          <a:p>
            <a:pPr marL="285750" indent="-2857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Unknown cargo?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Still notify and mention the information  under investigation</a:t>
            </a:r>
          </a:p>
          <a:p>
            <a:pPr marL="285750" indent="-285750">
              <a:lnSpc>
                <a:spcPct val="150000"/>
              </a:lnSpc>
              <a:buFont typeface="Arial" panose="020B0604020202020204" pitchFamily="34" charset="0"/>
              <a:buChar char="•"/>
            </a:pPr>
            <a:endParaRPr lang="en-US" sz="1200" b="1" u="sng"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marL="285750" indent="-285750">
              <a:lnSpc>
                <a:spcPct val="150000"/>
              </a:lnSpc>
              <a:buFont typeface="Arial" panose="020B0604020202020204" pitchFamily="34" charset="0"/>
              <a:buChar char="•"/>
            </a:pPr>
            <a:r>
              <a:rPr lang="en-US" sz="1200" b="1" u="sng" dirty="0">
                <a:solidFill>
                  <a:srgbClr val="000000"/>
                </a:solidFill>
                <a:latin typeface="Corbel" panose="020B0503020204020204" pitchFamily="34" charset="0"/>
                <a:ea typeface="Roboto" panose="02000000000000000000" pitchFamily="2" charset="0"/>
                <a:cs typeface="Roboto" panose="02000000000000000000" pitchFamily="2" charset="0"/>
              </a:rPr>
              <a:t>Report under Port Disruption</a:t>
            </a:r>
            <a:endParaRPr lang="en-IN" sz="1200" b="1" u="sng" dirty="0">
              <a:solidFill>
                <a:schemeClr val="tx1">
                  <a:lumMod val="85000"/>
                  <a:lumOff val="15000"/>
                </a:schemeClr>
              </a:solidFill>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3908762"/>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lnSpc>
                <a:spcPct val="20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when Partner(s) involved</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Partner confirms impact in public domain</a:t>
            </a: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Ship company website suggests a partner is affected </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endParaRPr lang="en-US" sz="1200" dirty="0">
              <a:latin typeface="Corbel" panose="020B0503020204020204" pitchFamily="34" charset="0"/>
              <a:ea typeface="Roboto" panose="02000000000000000000" pitchFamily="2" charset="0"/>
              <a:cs typeface="Roboto" panose="02000000000000000000" pitchFamily="2" charset="0"/>
            </a:endParaRPr>
          </a:p>
          <a:p>
            <a:pPr>
              <a:lnSpc>
                <a:spcPct val="200000"/>
              </a:lnSpc>
            </a:pPr>
            <a:endParaRPr lang="en-US" sz="1200" dirty="0">
              <a:latin typeface="Corbel" panose="020B0503020204020204" pitchFamily="34" charset="0"/>
              <a:ea typeface="Roboto" panose="02000000000000000000" pitchFamily="2" charset="0"/>
              <a:cs typeface="Roboto" panose="02000000000000000000" pitchFamily="2"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35578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4326487"/>
            <a:ext cx="4786165" cy="221599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7E53B539-F71A-7780-1DC5-3FF84E17C96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66CBFDAE-16B7-FD7F-CD63-619F3D9F30FC}"/>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62204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41736" y="3943278"/>
            <a:ext cx="4662455" cy="738664"/>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171450" indent="-171450">
              <a:buFont typeface="Arial" panose="020B0604020202020204" pitchFamily="34" charset="0"/>
              <a:buChar char="•"/>
            </a:pPr>
            <a:r>
              <a:rPr lang="en-US" sz="1400" b="0" i="0" u="none" strike="noStrike" dirty="0">
                <a:effectLst/>
                <a:latin typeface="Corbel" panose="020B0503020204020204" pitchFamily="34" charset="0"/>
                <a:ea typeface="Roboto" panose="02000000000000000000" pitchFamily="2" charset="0"/>
                <a:cs typeface="Roboto" panose="02000000000000000000" pitchFamily="2" charset="0"/>
              </a:rPr>
              <a:t>Any events that do not have an assigned type yet</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10847" y="346200"/>
            <a:ext cx="4494504"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OTHERS</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10846" y="1247348"/>
            <a:ext cx="4494504" cy="2318199"/>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algn="just"/>
            <a:endParaRPr lang="en-IN" sz="1400" b="1" u="sng" dirty="0">
              <a:latin typeface="Corbel" panose="020B0503020204020204" pitchFamily="34" charset="0"/>
              <a:cs typeface="Calibri" panose="020F0502020204030204" pitchFamily="34" charset="0"/>
            </a:endParaRPr>
          </a:p>
          <a:p>
            <a:pPr marL="171450" indent="-1714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These events are mostly new event types that we never covered before.</a:t>
            </a:r>
          </a:p>
          <a:p>
            <a:pPr marL="171450" indent="-1714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We notify events under OTHERs when we do not have a specific type to select </a:t>
            </a:r>
          </a:p>
          <a:p>
            <a:pPr marL="171450" indent="-1714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Customers should always select other in their notification settings</a:t>
            </a:r>
            <a:endParaRPr lang="en-IN" sz="1200" b="1" u="sng"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49053" y="418705"/>
            <a:ext cx="4867131" cy="3046988"/>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Don't Send supplier impact emails (unless manufacturing is confirmed affected) </a:t>
            </a:r>
            <a:br>
              <a:rPr lang="en-US" sz="1200" b="0" i="0" u="none" strike="noStrike">
                <a:effectLst/>
                <a:latin typeface="Corbel" panose="020B0503020204020204" pitchFamily="34" charset="0"/>
                <a:ea typeface="Roboto" panose="02000000000000000000" pitchFamily="2" charset="0"/>
                <a:cs typeface="Roboto" panose="02000000000000000000" pitchFamily="2" charset="0"/>
              </a:rPr>
            </a:br>
            <a:endParaRPr lang="en-US" sz="1400" b="0" i="0" u="none" strike="noStrike" dirty="0">
              <a:effectLst/>
              <a:latin typeface="Corbel" panose="020B0503020204020204" pitchFamily="34" charset="0"/>
            </a:endParaRPr>
          </a:p>
          <a:p>
            <a:endParaRPr lang="en-US" sz="1400"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dirty="0">
              <a:latin typeface="Corbel" panose="020B0503020204020204" pitchFamily="34" charset="0"/>
              <a:cs typeface="Calibri" panose="020F0502020204030204" pitchFamily="34" charset="0"/>
            </a:endParaRPr>
          </a:p>
          <a:p>
            <a:endParaRPr lang="en-US" sz="1400" b="1" u="sng">
              <a:latin typeface="Corbel" panose="020B0503020204020204" pitchFamily="34" charset="0"/>
              <a:cs typeface="Calibri" panose="020F0502020204030204" pitchFamily="34"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5"/>
            <a:ext cx="4812672" cy="559504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3943277"/>
            <a:ext cx="4786165" cy="1832668"/>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graphicFrame>
        <p:nvGraphicFramePr>
          <p:cNvPr id="3" name="Table 2">
            <a:extLst>
              <a:ext uri="{FF2B5EF4-FFF2-40B4-BE49-F238E27FC236}">
                <a16:creationId xmlns:a16="http://schemas.microsoft.com/office/drawing/2014/main" id="{71A07E34-708A-A1CA-BA95-C1F340482F11}"/>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2"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6"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2"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6"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3"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2"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Rectangle: Rounded Corners 1">
            <a:hlinkClick r:id="rId46" action="ppaction://hlinksldjump"/>
            <a:extLst>
              <a:ext uri="{FF2B5EF4-FFF2-40B4-BE49-F238E27FC236}">
                <a16:creationId xmlns:a16="http://schemas.microsoft.com/office/drawing/2014/main" id="{B6640A27-2C61-DF0F-D91A-925EE19DDB99}"/>
              </a:ext>
            </a:extLst>
          </p:cNvPr>
          <p:cNvSpPr/>
          <p:nvPr/>
        </p:nvSpPr>
        <p:spPr>
          <a:xfrm>
            <a:off x="9351818" y="6573415"/>
            <a:ext cx="716565" cy="276371"/>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46" action="ppaction://hlinksldjump">
                  <a:extLst>
                    <a:ext uri="{A12FA001-AC4F-418D-AE19-62706E023703}">
                      <ahyp:hlinkClr xmlns:ahyp="http://schemas.microsoft.com/office/drawing/2018/hyperlinkcolor" val="tx"/>
                    </a:ext>
                  </a:extLst>
                </a:hlinkClick>
              </a:rPr>
              <a:t>Home</a:t>
            </a:r>
            <a:endParaRPr lang="en-US" sz="1400" dirty="0">
              <a:solidFill>
                <a:schemeClr val="bg1"/>
              </a:solidFill>
              <a:latin typeface="Corbel" panose="020B0503020204020204" pitchFamily="34" charset="0"/>
            </a:endParaRPr>
          </a:p>
        </p:txBody>
      </p:sp>
    </p:spTree>
    <p:extLst>
      <p:ext uri="{BB962C8B-B14F-4D97-AF65-F5344CB8AC3E}">
        <p14:creationId xmlns:p14="http://schemas.microsoft.com/office/powerpoint/2010/main" val="6230848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2D92-E895-4E22-5B43-311039D9C176}"/>
              </a:ext>
            </a:extLst>
          </p:cNvPr>
          <p:cNvSpPr>
            <a:spLocks noGrp="1"/>
          </p:cNvSpPr>
          <p:nvPr>
            <p:ph type="title"/>
          </p:nvPr>
        </p:nvSpPr>
        <p:spPr>
          <a:xfrm>
            <a:off x="2324378" y="2449285"/>
            <a:ext cx="7543244" cy="979715"/>
          </a:xfrm>
        </p:spPr>
        <p:txBody>
          <a:bodyPr>
            <a:normAutofit/>
          </a:bodyPr>
          <a:lstStyle/>
          <a:p>
            <a:pPr algn="ctr"/>
            <a:r>
              <a:rPr lang="en-US" sz="4800" dirty="0">
                <a:latin typeface="Corbel" panose="020B0503020204020204" pitchFamily="34" charset="0"/>
              </a:rPr>
              <a:t>Other Relevant Situations</a:t>
            </a:r>
          </a:p>
        </p:txBody>
      </p:sp>
    </p:spTree>
    <p:extLst>
      <p:ext uri="{BB962C8B-B14F-4D97-AF65-F5344CB8AC3E}">
        <p14:creationId xmlns:p14="http://schemas.microsoft.com/office/powerpoint/2010/main" val="1485395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341735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259300" y="3921633"/>
            <a:ext cx="4662455" cy="2369880"/>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Beef export ban</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Beef import restriction</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Inter-Country trade implications</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Beef recall due to Mad Cow Disease</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Beef price hyper-increase/hyper-decrease</a:t>
            </a:r>
          </a:p>
          <a:p>
            <a:pPr marL="285750" indent="-285750">
              <a:lnSpc>
                <a:spcPct val="15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Meat Processors/Companies increasing or decreasing beef prices</a:t>
            </a:r>
          </a:p>
          <a:p>
            <a:endParaRPr lang="en-IN" sz="1200" b="1" u="sng" dirty="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242281" y="321305"/>
            <a:ext cx="5605670" cy="461665"/>
          </a:xfrm>
          <a:prstGeom prst="rect">
            <a:avLst/>
          </a:prstGeom>
          <a:noFill/>
        </p:spPr>
        <p:txBody>
          <a:bodyPr wrap="square" rtlCol="0">
            <a:spAutoFit/>
          </a:bodyPr>
          <a:lstStyle/>
          <a:p>
            <a:r>
              <a:rPr lang="en-IN" sz="2400" b="1" dirty="0">
                <a:solidFill>
                  <a:srgbClr val="0070C0"/>
                </a:solidFill>
                <a:latin typeface="Corbel" panose="020B0503020204020204" pitchFamily="34" charset="0"/>
              </a:rPr>
              <a:t>MAD COW DISEASE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10315" y="857379"/>
            <a:ext cx="4616414" cy="5730095"/>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endParaRPr lang="en-IN" sz="1400" b="1" i="0" u="sng" strike="noStrike" dirty="0">
              <a:solidFill>
                <a:schemeClr val="tx1">
                  <a:lumMod val="85000"/>
                  <a:lumOff val="15000"/>
                </a:schemeClr>
              </a:solidFill>
              <a:effectLst/>
              <a:latin typeface="Corbel" panose="020B0503020204020204" pitchFamily="34" charset="0"/>
              <a:cs typeface="Calibri" panose="020F0502020204030204" pitchFamily="34" charset="0"/>
            </a:endParaRPr>
          </a:p>
          <a:p>
            <a:pPr marL="285750" indent="-2857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Panic or emergencies in response to Mad Cow Disease at the city/state/country level</a:t>
            </a:r>
          </a:p>
          <a:p>
            <a:pPr marL="285750" indent="-2857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Beef export ban or import restrictions amid Mad Cow Disease Concerns</a:t>
            </a:r>
          </a:p>
          <a:p>
            <a:pPr marL="285750" indent="-2857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Beef recalls specifically attributed to Mad Cow Disease</a:t>
            </a:r>
          </a:p>
          <a:p>
            <a:pPr marL="285750" indent="-2857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Significant price fluctuations in the beef market caused by Mad Cow Disease-related incidents</a:t>
            </a:r>
          </a:p>
          <a:p>
            <a:pPr marL="285750" indent="-285750">
              <a:lnSpc>
                <a:spcPct val="20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285750" indent="-285750">
              <a:lnSpc>
                <a:spcPct val="200000"/>
              </a:lnSpc>
              <a:buFont typeface="Arial" panose="020B0604020202020204" pitchFamily="34" charset="0"/>
              <a:buChar char="•"/>
            </a:pPr>
            <a:r>
              <a:rPr lang="en-US" sz="1250" b="1"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Please select the appropriate event type based on the subject of the news</a:t>
            </a:r>
            <a:r>
              <a:rPr lang="en-US" sz="125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 </a:t>
            </a:r>
            <a:r>
              <a:rPr lang="en-US" sz="120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For example, if a country enforces a ban on beef exports due to Mad Cow Disease, it can be reported as a Regulatory Change. Similarly, if there is a recurring occurrence of Mad Cow Disease cases in cow farms or humans, it can be categorized as Human Health.</a:t>
            </a: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2431435"/>
          </a:xfrm>
          <a:prstGeom prst="rect">
            <a:avLst/>
          </a:prstGeom>
          <a:noFill/>
        </p:spPr>
        <p:txBody>
          <a:bodyPr wrap="square" rtlCol="0">
            <a:spAutoFit/>
          </a:bodyPr>
          <a:lstStyle/>
          <a:p>
            <a:r>
              <a:rPr lang="en-US" sz="1400" b="1" u="sng">
                <a:latin typeface="Corbel" panose="020B0503020204020204" pitchFamily="34" charset="0"/>
                <a:cs typeface="Calibri" panose="020F0502020204030204" pitchFamily="34" charset="0"/>
              </a:rPr>
              <a:t>WarRoom Guidelines</a:t>
            </a:r>
          </a:p>
          <a:p>
            <a:endParaRPr lang="en-US" sz="1400" b="1" u="sng">
              <a:latin typeface="Corbel" panose="020B0503020204020204" pitchFamily="34" charset="0"/>
              <a:cs typeface="Calibri" panose="020F0502020204030204" pitchFamily="34" charset="0"/>
            </a:endParaRPr>
          </a:p>
          <a:p>
            <a:pPr marL="285750" indent="-285750">
              <a:lnSpc>
                <a:spcPct val="200000"/>
              </a:lnSpc>
              <a:buFont typeface="Arial" panose="020B0604020202020204" pitchFamily="34" charset="0"/>
              <a:buChar char="•"/>
            </a:pPr>
            <a: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t>Send impact when a partner is directly involved</a:t>
            </a: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endParaRPr lang="en-US" sz="1200" b="0" i="0" u="none" strike="noStrike" dirty="0">
              <a:effectLst/>
              <a:latin typeface="Corbel" panose="020B0503020204020204" pitchFamily="34" charset="0"/>
              <a:ea typeface="Roboto" panose="02000000000000000000" pitchFamily="2" charset="0"/>
              <a:cs typeface="Roboto" panose="02000000000000000000" pitchFamily="2" charset="0"/>
            </a:endParaRPr>
          </a:p>
          <a:p>
            <a:pPr>
              <a:lnSpc>
                <a:spcPct val="200000"/>
              </a:lnSpc>
            </a:pPr>
            <a:br>
              <a:rPr lang="en-US" sz="1200" b="0" i="0" u="none" strike="noStrike" dirty="0">
                <a:effectLst/>
                <a:latin typeface="Corbel" panose="020B0503020204020204" pitchFamily="34" charset="0"/>
                <a:ea typeface="Roboto" panose="02000000000000000000" pitchFamily="2" charset="0"/>
                <a:cs typeface="Roboto" panose="02000000000000000000" pitchFamily="2" charset="0"/>
              </a:rPr>
            </a:br>
            <a:endParaRPr lang="en-US" sz="1200" dirty="0">
              <a:latin typeface="Corbel" panose="020B0503020204020204" pitchFamily="34" charset="0"/>
              <a:ea typeface="Roboto" panose="02000000000000000000" pitchFamily="2" charset="0"/>
              <a:cs typeface="Roboto" panose="02000000000000000000" pitchFamily="2" charset="0"/>
            </a:endParaRPr>
          </a:p>
          <a:p>
            <a:r>
              <a:rPr lang="en-US" sz="1400" b="1" u="sng">
                <a:latin typeface="Corbel" panose="020B0503020204020204" pitchFamily="34" charset="0"/>
                <a:cs typeface="Calibri" panose="020F0502020204030204" pitchFamily="34" charset="0"/>
              </a:rPr>
              <a:t>Send Supplier Impact Confirmation? -</a:t>
            </a:r>
            <a:r>
              <a:rPr lang="en-US" sz="1400" b="1">
                <a:latin typeface="Corbel" panose="020B0503020204020204" pitchFamily="34" charset="0"/>
                <a:cs typeface="Calibri" panose="020F0502020204030204" pitchFamily="34" charset="0"/>
              </a:rPr>
              <a:t> YES (not for LOW severity; MEDIUM, HIGH, SEVERE only)</a:t>
            </a:r>
            <a:endParaRPr lang="en-IN" sz="1400" b="1" dirty="0">
              <a:latin typeface="Corbel" panose="020B050302020402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6"/>
            <a:ext cx="4812672" cy="6496187"/>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35590" y="3861797"/>
            <a:ext cx="4786165" cy="2815295"/>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Rectangle: Rounded Corners 3">
            <a:hlinkClick r:id="rId2" action="ppaction://hlinksldjump"/>
            <a:extLst>
              <a:ext uri="{FF2B5EF4-FFF2-40B4-BE49-F238E27FC236}">
                <a16:creationId xmlns:a16="http://schemas.microsoft.com/office/drawing/2014/main" id="{16CB0F59-4C83-09EA-5364-4D0B9A4922A0}"/>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dirty="0">
              <a:solidFill>
                <a:schemeClr val="bg1"/>
              </a:solidFill>
              <a:latin typeface="Corbel" panose="020B0503020204020204" pitchFamily="34" charset="0"/>
            </a:endParaRPr>
          </a:p>
        </p:txBody>
      </p:sp>
      <p:graphicFrame>
        <p:nvGraphicFramePr>
          <p:cNvPr id="3" name="Table 2">
            <a:extLst>
              <a:ext uri="{FF2B5EF4-FFF2-40B4-BE49-F238E27FC236}">
                <a16:creationId xmlns:a16="http://schemas.microsoft.com/office/drawing/2014/main" id="{7E53B539-F71A-7780-1DC5-3FF84E17C962}"/>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Tree>
    <p:extLst>
      <p:ext uri="{BB962C8B-B14F-4D97-AF65-F5344CB8AC3E}">
        <p14:creationId xmlns:p14="http://schemas.microsoft.com/office/powerpoint/2010/main" val="13191735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260205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53156" y="3188248"/>
            <a:ext cx="4662455" cy="707886"/>
          </a:xfrm>
          <a:prstGeom prst="rect">
            <a:avLst/>
          </a:prstGeom>
          <a:noFill/>
        </p:spPr>
        <p:txBody>
          <a:bodyPr wrap="square" rtlCol="0">
            <a:spAutoFit/>
          </a:bodyPr>
          <a:lstStyle/>
          <a:p>
            <a:r>
              <a:rPr lang="en-IN" sz="1400" b="1" u="sng" dirty="0">
                <a:latin typeface="Corbel" panose="020B0503020204020204" pitchFamily="34" charset="0"/>
              </a:rPr>
              <a:t>Sub-Types</a:t>
            </a:r>
          </a:p>
          <a:p>
            <a:endParaRPr lang="en-IN" sz="1400" b="1" u="sng" dirty="0">
              <a:latin typeface="Corbel" panose="020B0503020204020204" pitchFamily="34" charset="0"/>
            </a:endParaRPr>
          </a:p>
          <a:p>
            <a:pPr marL="171450" indent="-171450">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Stories available only on blocked sources</a:t>
            </a:r>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43099" y="279534"/>
            <a:ext cx="5085273" cy="461665"/>
          </a:xfrm>
          <a:prstGeom prst="rect">
            <a:avLst/>
          </a:prstGeom>
          <a:noFill/>
        </p:spPr>
        <p:txBody>
          <a:bodyPr wrap="square" rtlCol="0">
            <a:spAutoFit/>
          </a:bodyPr>
          <a:lstStyle/>
          <a:p>
            <a:pPr algn="ctr"/>
            <a:r>
              <a:rPr lang="en-IN" sz="2400" b="1">
                <a:solidFill>
                  <a:srgbClr val="0070C0"/>
                </a:solidFill>
                <a:latin typeface="Corbel" panose="020B0503020204020204" pitchFamily="34" charset="0"/>
              </a:rPr>
              <a:t>RESTRICTED ACCESS</a:t>
            </a:r>
            <a:endParaRPr lang="en-IN" sz="2400" b="1" dirty="0">
              <a:solidFill>
                <a:srgbClr val="0070C0"/>
              </a:solidFill>
              <a:latin typeface="Corbel" panose="020B0503020204020204" pitchFamily="34" charset="0"/>
            </a:endParaRP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7985" y="1082204"/>
            <a:ext cx="4667920" cy="3949414"/>
          </a:xfrm>
          <a:prstGeom prst="rect">
            <a:avLst/>
          </a:prstGeom>
          <a:noFill/>
        </p:spPr>
        <p:txBody>
          <a:bodyPr wrap="square" rtlCol="0">
            <a:spAutoFit/>
          </a:bodyPr>
          <a:lstStyle/>
          <a:p>
            <a:r>
              <a:rPr lang="en-IN" sz="1400" b="1" u="sng" dirty="0">
                <a:solidFill>
                  <a:schemeClr val="tx1">
                    <a:lumMod val="85000"/>
                    <a:lumOff val="15000"/>
                  </a:schemeClr>
                </a:solidFill>
                <a:latin typeface="Corbel" panose="020B0503020204020204" pitchFamily="34" charset="0"/>
                <a:cs typeface="Calibri" panose="020F0502020204030204" pitchFamily="34" charset="0"/>
              </a:rPr>
              <a:t>Reporting Guidelines</a:t>
            </a:r>
          </a:p>
          <a:p>
            <a:pPr marL="171450" indent="-1714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Follow the below criteria when </a:t>
            </a: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the news or information is exclusively available on a blocked source, with no open-source availability</a:t>
            </a:r>
          </a:p>
          <a:p>
            <a:pPr marL="171450" indent="-171450">
              <a:lnSpc>
                <a:spcPct val="200000"/>
              </a:lnSpc>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Write-up Preparation: Compile a report using the visible information from the blocked news source. </a:t>
            </a:r>
          </a:p>
          <a:p>
            <a:pPr marL="171450" indent="-171450">
              <a:lnSpc>
                <a:spcPct val="200000"/>
              </a:lnSpc>
              <a:buFont typeface="Arial" panose="020B0604020202020204" pitchFamily="34" charset="0"/>
              <a:buChar char="•"/>
            </a:pPr>
            <a:r>
              <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rPr>
              <a:t>Event Overview: Use a generic statement at the end of the Event Overview section to highlight the blocked-source information</a:t>
            </a:r>
          </a:p>
          <a:p>
            <a:pPr marL="171450" indent="-171450">
              <a:lnSpc>
                <a:spcPct val="200000"/>
              </a:lnSpc>
              <a:buFont typeface="Arial" panose="020B0604020202020204" pitchFamily="34" charset="0"/>
              <a:buChar char="•"/>
            </a:pPr>
            <a:r>
              <a:rPr lang="en-US" sz="1200" dirty="0">
                <a:latin typeface="Corbel" panose="020B0503020204020204" pitchFamily="34" charset="0"/>
                <a:ea typeface="Roboto" panose="02000000000000000000" pitchFamily="2" charset="0"/>
                <a:cs typeface="Roboto" panose="02000000000000000000" pitchFamily="2" charset="0"/>
              </a:rPr>
              <a:t>If no information is visible on the blocked source, move the story to the "Monitoring" bucket for ongoing tracking</a:t>
            </a:r>
          </a:p>
          <a:p>
            <a:pPr marL="171450" indent="-171450">
              <a:lnSpc>
                <a:spcPct val="200000"/>
              </a:lnSpc>
              <a:buFont typeface="Arial" panose="020B0604020202020204" pitchFamily="34" charset="0"/>
              <a:buChar char="•"/>
            </a:pPr>
            <a:r>
              <a:rPr lang="en-IN" sz="1200" i="1" dirty="0">
                <a:latin typeface="Corbel" panose="020B0503020204020204" pitchFamily="34" charset="0"/>
                <a:ea typeface="Roboto" panose="02000000000000000000" pitchFamily="2" charset="0"/>
                <a:cs typeface="Roboto" panose="02000000000000000000" pitchFamily="2" charset="0"/>
              </a:rPr>
              <a:t>For </a:t>
            </a:r>
            <a:r>
              <a:rPr lang="en-IN" sz="1200" b="1" i="1" dirty="0">
                <a:latin typeface="Corbel" panose="020B0503020204020204" pitchFamily="34" charset="0"/>
                <a:ea typeface="Roboto" panose="02000000000000000000" pitchFamily="2" charset="0"/>
                <a:cs typeface="Roboto" panose="02000000000000000000" pitchFamily="2" charset="0"/>
              </a:rPr>
              <a:t>Force Majeure-</a:t>
            </a:r>
            <a:r>
              <a:rPr lang="en-IN" sz="1200" i="1" dirty="0">
                <a:latin typeface="Corbel" panose="020B0503020204020204" pitchFamily="34" charset="0"/>
                <a:ea typeface="Roboto" panose="02000000000000000000" pitchFamily="2" charset="0"/>
                <a:cs typeface="Roboto" panose="02000000000000000000" pitchFamily="2" charset="0"/>
              </a:rPr>
              <a:t> </a:t>
            </a:r>
            <a:r>
              <a:rPr lang="en-US" sz="1200" dirty="0">
                <a:latin typeface="Corbel" panose="020B0503020204020204" pitchFamily="34" charset="0"/>
                <a:ea typeface="Roboto" panose="02000000000000000000" pitchFamily="2" charset="0"/>
                <a:cs typeface="Roboto" panose="02000000000000000000" pitchFamily="2" charset="0"/>
              </a:rPr>
              <a:t>Prepare the write-up using the visible information available, even if it’s only the news headline</a:t>
            </a:r>
            <a:endParaRPr lang="en-IN" sz="1200" dirty="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2139047"/>
          </a:xfrm>
          <a:prstGeom prst="rect">
            <a:avLst/>
          </a:prstGeom>
          <a:noFill/>
        </p:spPr>
        <p:txBody>
          <a:bodyPr wrap="square" rtlCol="0">
            <a:spAutoFit/>
          </a:bodyPr>
          <a:lstStyle/>
          <a:p>
            <a:r>
              <a:rPr lang="en-US" sz="1400" b="1" u="sng">
                <a:latin typeface="Corbel" panose="020B0503020204020204" pitchFamily="34" charset="0"/>
              </a:rPr>
              <a:t>WarRoom Guidelines:</a:t>
            </a:r>
          </a:p>
          <a:p>
            <a:endParaRPr lang="en-US" sz="1600" b="1" u="sng">
              <a:latin typeface="Corbel" panose="020B050302020402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200" dirty="0">
                <a:solidFill>
                  <a:srgbClr val="000000"/>
                </a:solidFill>
                <a:latin typeface="Corbel" panose="020B0503020204020204" pitchFamily="34" charset="0"/>
                <a:ea typeface="Roboto" panose="02000000000000000000" pitchFamily="2" charset="0"/>
                <a:cs typeface="Roboto" panose="02000000000000000000" pitchFamily="2" charset="0"/>
              </a:rPr>
              <a:t>Follow WarRoom guidelines for the respective event type</a:t>
            </a:r>
          </a:p>
          <a:p>
            <a:pPr marL="171450" indent="-171450">
              <a:lnSpc>
                <a:spcPct val="150000"/>
              </a:lnSpc>
              <a:buFont typeface="Arial" panose="020B0604020202020204" pitchFamily="34" charset="0"/>
              <a:buChar char="•"/>
            </a:pPr>
            <a:endParaRPr lang="en-US" sz="1200" b="0" i="0" u="none" strike="noStrike" dirty="0">
              <a:solidFill>
                <a:srgbClr val="000000"/>
              </a:solidFill>
              <a:effectLst/>
              <a:latin typeface="Corbel" panose="020B0503020204020204" pitchFamily="34" charset="0"/>
              <a:ea typeface="Roboto" panose="02000000000000000000" pitchFamily="2" charset="0"/>
              <a:cs typeface="Roboto" panose="02000000000000000000" pitchFamily="2" charset="0"/>
            </a:endParaRPr>
          </a:p>
          <a:p>
            <a:pPr marL="171450" indent="-171450">
              <a:lnSpc>
                <a:spcPct val="150000"/>
              </a:lnSpc>
              <a:buFont typeface="Arial" panose="020B0604020202020204" pitchFamily="34" charset="0"/>
              <a:buChar char="•"/>
            </a:pPr>
            <a:endParaRPr lang="en-US" sz="1200" dirty="0">
              <a:solidFill>
                <a:srgbClr val="000000"/>
              </a:solidFill>
              <a:latin typeface="Corbel" panose="020B0503020204020204" pitchFamily="34" charset="0"/>
              <a:ea typeface="Roboto" panose="02000000000000000000" pitchFamily="2" charset="0"/>
              <a:cs typeface="Roboto" panose="02000000000000000000" pitchFamily="2" charset="0"/>
            </a:endParaRPr>
          </a:p>
          <a:p>
            <a:pPr>
              <a:lnSpc>
                <a:spcPct val="150000"/>
              </a:lnSpc>
            </a:pPr>
            <a:endParaRPr lang="en-US" sz="1400" b="1" u="sng">
              <a:latin typeface="Corbel" panose="020B0503020204020204" pitchFamily="34"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400" b="1" u="sng">
                <a:latin typeface="Corbel" panose="020B0503020204020204" pitchFamily="34" charset="0"/>
              </a:rPr>
              <a:t>Send Supplier Impact Confirmation?</a:t>
            </a:r>
            <a:r>
              <a:rPr lang="en-US" sz="1400" b="1">
                <a:latin typeface="Corbel" panose="020B0503020204020204" pitchFamily="34" charset="0"/>
              </a:rPr>
              <a:t> - </a:t>
            </a:r>
            <a:r>
              <a:rPr lang="en-US" sz="1200">
                <a:solidFill>
                  <a:srgbClr val="000000"/>
                </a:solidFill>
                <a:latin typeface="Corbel" panose="020B0503020204020204" pitchFamily="34" charset="0"/>
                <a:ea typeface="Roboto" panose="02000000000000000000" pitchFamily="2" charset="0"/>
                <a:cs typeface="Roboto" panose="02000000000000000000" pitchFamily="2" charset="0"/>
              </a:rPr>
              <a:t>Refer to the relevant Event Type</a:t>
            </a:r>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4"/>
            <a:ext cx="4872874" cy="601468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2994991"/>
            <a:ext cx="4786165" cy="108005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Rectangle: Rounded Corners 3">
            <a:hlinkClick r:id="rId2" action="ppaction://hlinksldjump"/>
            <a:extLst>
              <a:ext uri="{FF2B5EF4-FFF2-40B4-BE49-F238E27FC236}">
                <a16:creationId xmlns:a16="http://schemas.microsoft.com/office/drawing/2014/main" id="{F0E87FA6-92BC-4122-5B6B-722A9A2D95B1}"/>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dirty="0">
              <a:solidFill>
                <a:schemeClr val="bg1"/>
              </a:solidFill>
              <a:latin typeface="Corbel" panose="020B0503020204020204" pitchFamily="34" charset="0"/>
            </a:endParaRPr>
          </a:p>
        </p:txBody>
      </p:sp>
      <p:graphicFrame>
        <p:nvGraphicFramePr>
          <p:cNvPr id="3" name="Table 2">
            <a:extLst>
              <a:ext uri="{FF2B5EF4-FFF2-40B4-BE49-F238E27FC236}">
                <a16:creationId xmlns:a16="http://schemas.microsoft.com/office/drawing/2014/main" id="{71A07E34-708A-A1CA-BA95-C1F340482F11}"/>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TextBox 1">
            <a:extLst>
              <a:ext uri="{FF2B5EF4-FFF2-40B4-BE49-F238E27FC236}">
                <a16:creationId xmlns:a16="http://schemas.microsoft.com/office/drawing/2014/main" id="{0D1E4084-0F23-279B-5A30-17D103BD169B}"/>
              </a:ext>
            </a:extLst>
          </p:cNvPr>
          <p:cNvSpPr txBox="1"/>
          <p:nvPr/>
        </p:nvSpPr>
        <p:spPr>
          <a:xfrm>
            <a:off x="5197446" y="4369899"/>
            <a:ext cx="4662455" cy="1600438"/>
          </a:xfrm>
          <a:prstGeom prst="rect">
            <a:avLst/>
          </a:prstGeom>
          <a:noFill/>
        </p:spPr>
        <p:txBody>
          <a:bodyPr wrap="square" rtlCol="0">
            <a:spAutoFit/>
          </a:bodyPr>
          <a:lstStyle/>
          <a:p>
            <a:r>
              <a:rPr lang="en-IN" sz="1400" b="1" u="sng" dirty="0">
                <a:latin typeface="Corbel" panose="020B0503020204020204" pitchFamily="34" charset="0"/>
              </a:rPr>
              <a:t>Generic Statement to be used at the end of Event Overview:</a:t>
            </a:r>
          </a:p>
          <a:p>
            <a:r>
              <a:rPr lang="en-IN" sz="1400" b="1" u="sng">
                <a:latin typeface="Corbel" panose="020B0503020204020204" pitchFamily="34" charset="0"/>
              </a:rPr>
              <a:t>"Due to limited publicly available data, we are currently unable to confirm all details. While we will continue to monitor and provide updates, we recommend independently verifying whether this event could affect your supply chain."</a:t>
            </a:r>
            <a:endParaRPr lang="en-IN" sz="1200" dirty="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9FEB5DDA-31CE-9EE0-4514-D33BEC155DAC}"/>
              </a:ext>
            </a:extLst>
          </p:cNvPr>
          <p:cNvSpPr/>
          <p:nvPr/>
        </p:nvSpPr>
        <p:spPr>
          <a:xfrm>
            <a:off x="5108959" y="4246681"/>
            <a:ext cx="4786165" cy="194891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Tree>
    <p:extLst>
      <p:ext uri="{BB962C8B-B14F-4D97-AF65-F5344CB8AC3E}">
        <p14:creationId xmlns:p14="http://schemas.microsoft.com/office/powerpoint/2010/main" val="2135595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260205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53156" y="3188248"/>
            <a:ext cx="4662455" cy="707886"/>
          </a:xfrm>
          <a:prstGeom prst="rect">
            <a:avLst/>
          </a:prstGeom>
          <a:noFill/>
        </p:spPr>
        <p:txBody>
          <a:bodyPr wrap="square" rtlCol="0">
            <a:spAutoFit/>
          </a:bodyPr>
          <a:lstStyle/>
          <a:p>
            <a:r>
              <a:rPr lang="en-IN" sz="1400" b="1" u="sng">
                <a:latin typeface="Corbel" panose="020B0503020204020204" pitchFamily="34" charset="0"/>
              </a:rPr>
              <a:t>Sub-Types</a:t>
            </a:r>
          </a:p>
          <a:p>
            <a:r>
              <a:rPr lang="en-IN" sz="1400" b="1" u="sng">
                <a:latin typeface="Corbel" panose="020B0503020204020204" pitchFamily="34" charset="0"/>
              </a:rPr>
              <a:t>Internet/data center outages (affecting industrial or service hubs)</a:t>
            </a:r>
          </a:p>
          <a:p>
            <a:r>
              <a:rPr lang="en-IN" sz="1400" b="1" u="sng">
                <a:latin typeface="Corbel" panose="020B0503020204020204" pitchFamily="34" charset="0"/>
              </a:rPr>
              <a:t>Cloud service disruptions (Microsoft, AWS, Azure, GCP, etc.)</a:t>
            </a:r>
          </a:p>
          <a:p>
            <a:r>
              <a:rPr lang="en-IN" sz="1400" b="1" u="sng">
                <a:latin typeface="Corbel" panose="020B0503020204020204" pitchFamily="34" charset="0"/>
              </a:rPr>
              <a:t>ERP/CRM/SaaS downtime (SAP, Oracle, Salesforce, etc.)</a:t>
            </a:r>
          </a:p>
          <a:p>
            <a:r>
              <a:rPr lang="en-IN" sz="1400" b="1" u="sng">
                <a:latin typeface="Corbel" panose="020B0503020204020204" pitchFamily="34" charset="0"/>
              </a:rPr>
              <a:t>Telecom outages hitting enterprise networks</a:t>
            </a:r>
          </a:p>
          <a:p>
            <a:r>
              <a:rPr lang="en-IN" sz="1400" b="1" u="sng">
                <a:latin typeface="Corbel" panose="020B0503020204020204" pitchFamily="34" charset="0"/>
              </a:rPr>
              <a:t>DNS/CDN routing failures disrupting access</a:t>
            </a:r>
          </a:p>
          <a:p>
            <a:r>
              <a:rPr lang="en-IN" sz="1400" b="1" u="sng">
                <a:latin typeface="Corbel" panose="020B0503020204020204" pitchFamily="34" charset="0"/>
              </a:rPr>
              <a:t>Fiber cuts or backbone failures</a:t>
            </a:r>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43099" y="279534"/>
            <a:ext cx="5085273" cy="461665"/>
          </a:xfrm>
          <a:prstGeom prst="rect">
            <a:avLst/>
          </a:prstGeom>
          <a:noFill/>
        </p:spPr>
        <p:txBody>
          <a:bodyPr wrap="square" rtlCol="0">
            <a:spAutoFit/>
          </a:bodyPr>
          <a:lstStyle/>
          <a:p>
            <a:pPr algn="ctr"/>
            <a:r>
              <a:rPr lang="en-IN" sz="2400" b="1">
                <a:solidFill>
                  <a:srgbClr val="0070C0"/>
                </a:solidFill>
                <a:latin typeface="Corbel" panose="020B0503020204020204" pitchFamily="34" charset="0"/>
              </a:rPr>
              <a:t>SOFTWARE/INTERNET OUTAGE</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7985" y="1082204"/>
            <a:ext cx="4667920" cy="3949414"/>
          </a:xfrm>
          <a:prstGeom prst="rect">
            <a:avLst/>
          </a:prstGeom>
          <a:noFill/>
        </p:spPr>
        <p:txBody>
          <a:bodyPr wrap="square" rtlCol="0">
            <a:spAutoFit/>
          </a:bodyPr>
          <a:lstStyle/>
          <a:p>
            <a:r>
              <a:rPr lang="en-IN" sz="1400" b="1" u="sng">
                <a:solidFill>
                  <a:schemeClr val="tx1">
                    <a:lumMod val="85000"/>
                    <a:lumOff val="15000"/>
                  </a:schemeClr>
                </a:solidFill>
                <a:latin typeface="Corbel" panose="020B0503020204020204" pitchFamily="34" charset="0"/>
                <a:cs typeface="Calibri" panose="020F0502020204030204" pitchFamily="34" charset="0"/>
              </a:rPr>
              <a:t>Reporting Guidelines</a:t>
            </a:r>
          </a:p>
          <a:p>
            <a:r>
              <a:rPr lang="en-IN" sz="1400" b="1" u="sng">
                <a:solidFill>
                  <a:schemeClr val="tx1">
                    <a:lumMod val="85000"/>
                    <a:lumOff val="15000"/>
                  </a:schemeClr>
                </a:solidFill>
                <a:latin typeface="Corbel" panose="020B0503020204020204" pitchFamily="34" charset="0"/>
                <a:cs typeface="Calibri" panose="020F0502020204030204" pitchFamily="34" charset="0"/>
              </a:rPr>
              <a:t>Notify if:</a:t>
            </a:r>
          </a:p>
          <a:p>
            <a:r>
              <a:rPr lang="en-IN" sz="1400" b="1" u="sng">
                <a:solidFill>
                  <a:schemeClr val="tx1">
                    <a:lumMod val="85000"/>
                    <a:lumOff val="15000"/>
                  </a:schemeClr>
                </a:solidFill>
                <a:latin typeface="Corbel" panose="020B0503020204020204" pitchFamily="34" charset="0"/>
                <a:cs typeface="Calibri" panose="020F0502020204030204" pitchFamily="34" charset="0"/>
              </a:rPr>
              <a:t>Mapped/partner site confirms operational impact</a:t>
            </a:r>
          </a:p>
          <a:p>
            <a:r>
              <a:rPr lang="en-IN" sz="1400" b="1" u="sng">
                <a:solidFill>
                  <a:schemeClr val="tx1">
                    <a:lumMod val="85000"/>
                    <a:lumOff val="15000"/>
                  </a:schemeClr>
                </a:solidFill>
                <a:latin typeface="Corbel" panose="020B0503020204020204" pitchFamily="34" charset="0"/>
                <a:cs typeface="Calibri" panose="020F0502020204030204" pitchFamily="34" charset="0"/>
              </a:rPr>
              <a:t>Outage &gt;3 hrs in tech or industrial zones (Taiwan, India, Singapore, etc.)</a:t>
            </a:r>
          </a:p>
          <a:p>
            <a:r>
              <a:rPr lang="en-IN" sz="1400" b="1" u="sng">
                <a:solidFill>
                  <a:schemeClr val="tx1">
                    <a:lumMod val="85000"/>
                    <a:lumOff val="15000"/>
                  </a:schemeClr>
                </a:solidFill>
                <a:latin typeface="Corbel" panose="020B0503020204020204" pitchFamily="34" charset="0"/>
                <a:cs typeface="Calibri" panose="020F0502020204030204" pitchFamily="34" charset="0"/>
              </a:rPr>
              <a:t>Major internet or telecom outage hits multiple mapped locations</a:t>
            </a:r>
          </a:p>
          <a:p>
            <a:r>
              <a:rPr lang="en-IN" sz="1400" b="1" u="sng">
                <a:solidFill>
                  <a:schemeClr val="tx1">
                    <a:lumMod val="85000"/>
                    <a:lumOff val="15000"/>
                  </a:schemeClr>
                </a:solidFill>
                <a:latin typeface="Corbel" panose="020B0503020204020204" pitchFamily="34" charset="0"/>
                <a:cs typeface="Calibri" panose="020F0502020204030204" pitchFamily="34" charset="0"/>
              </a:rPr>
              <a:t>Global/regional SaaS outage affecting ERP/CRM/Logistics platforms</a:t>
            </a:r>
          </a:p>
          <a:p>
            <a:r>
              <a:rPr lang="en-IN" sz="1400" b="1" u="sng">
                <a:solidFill>
                  <a:schemeClr val="tx1">
                    <a:lumMod val="85000"/>
                    <a:lumOff val="15000"/>
                  </a:schemeClr>
                </a:solidFill>
                <a:latin typeface="Corbel" panose="020B0503020204020204" pitchFamily="34" charset="0"/>
                <a:cs typeface="Calibri" panose="020F0502020204030204" pitchFamily="34" charset="0"/>
              </a:rPr>
              <a:t>Confirmed disruption to manufacturing, logistics, or services</a:t>
            </a:r>
          </a:p>
          <a:p>
            <a:r>
              <a:rPr lang="en-IN" sz="1400" b="1" u="sng">
                <a:solidFill>
                  <a:schemeClr val="tx1">
                    <a:lumMod val="85000"/>
                    <a:lumOff val="15000"/>
                  </a:schemeClr>
                </a:solidFill>
                <a:latin typeface="Corbel" panose="020B0503020204020204" pitchFamily="34" charset="0"/>
                <a:cs typeface="Calibri" panose="020F0502020204030204" pitchFamily="34" charset="0"/>
              </a:rPr>
              <a:t>We notify it under Power Outages</a:t>
            </a:r>
          </a:p>
          <a:p>
            <a:r>
              <a:rPr lang="en-IN" sz="1400" b="1" u="sng">
                <a:solidFill>
                  <a:schemeClr val="tx1">
                    <a:lumMod val="85000"/>
                    <a:lumOff val="15000"/>
                  </a:schemeClr>
                </a:solidFill>
                <a:latin typeface="Corbel" panose="020B0503020204020204" pitchFamily="34" charset="0"/>
                <a:cs typeface="Calibri" panose="020F0502020204030204" pitchFamily="34" charset="0"/>
              </a:rPr>
              <a:t>Do NOT notify if:</a:t>
            </a:r>
          </a:p>
          <a:p>
            <a:r>
              <a:rPr lang="en-IN" sz="1400" b="1" u="sng">
                <a:solidFill>
                  <a:schemeClr val="tx1">
                    <a:lumMod val="85000"/>
                    <a:lumOff val="15000"/>
                  </a:schemeClr>
                </a:solidFill>
                <a:latin typeface="Corbel" panose="020B0503020204020204" pitchFamily="34" charset="0"/>
                <a:cs typeface="Calibri" panose="020F0502020204030204" pitchFamily="34" charset="0"/>
              </a:rPr>
              <a:t>Residential/local user issue</a:t>
            </a:r>
          </a:p>
          <a:p>
            <a:r>
              <a:rPr lang="en-IN" sz="1400" b="1" u="sng">
                <a:solidFill>
                  <a:schemeClr val="tx1">
                    <a:lumMod val="85000"/>
                    <a:lumOff val="15000"/>
                  </a:schemeClr>
                </a:solidFill>
                <a:latin typeface="Corbel" panose="020B0503020204020204" pitchFamily="34" charset="0"/>
                <a:cs typeface="Calibri" panose="020F0502020204030204" pitchFamily="34" charset="0"/>
              </a:rPr>
              <a:t>Recovery within 1-2 hrs without business impact</a:t>
            </a:r>
          </a:p>
          <a:p>
            <a:r>
              <a:rPr lang="en-IN" sz="1400" b="1" u="sng">
                <a:solidFill>
                  <a:schemeClr val="tx1">
                    <a:lumMod val="85000"/>
                    <a:lumOff val="15000"/>
                  </a:schemeClr>
                </a:solidFill>
                <a:latin typeface="Corbel" panose="020B0503020204020204" pitchFamily="34" charset="0"/>
                <a:cs typeface="Calibri" panose="020F0502020204030204" pitchFamily="34" charset="0"/>
              </a:rPr>
              <a:t>Services/operations have already resumed</a:t>
            </a:r>
          </a:p>
          <a:p>
            <a:r>
              <a:rPr lang="en-IN" sz="1400" b="1" u="sng">
                <a:solidFill>
                  <a:schemeClr val="tx1">
                    <a:lumMod val="85000"/>
                    <a:lumOff val="15000"/>
                  </a:schemeClr>
                </a:solidFill>
                <a:latin typeface="Corbel" panose="020B0503020204020204" pitchFamily="34" charset="0"/>
                <a:cs typeface="Calibri" panose="020F0502020204030204" pitchFamily="34" charset="0"/>
              </a:rPr>
              <a:t>System outages have recovered</a:t>
            </a:r>
            <a:endParaRPr lang="en-IN" sz="120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2139047"/>
          </a:xfrm>
          <a:prstGeom prst="rect">
            <a:avLst/>
          </a:prstGeom>
          <a:noFill/>
        </p:spPr>
        <p:txBody>
          <a:bodyPr wrap="square" rtlCol="0">
            <a:spAutoFit/>
          </a:bodyPr>
          <a:lstStyle/>
          <a:p>
            <a:r>
              <a:rPr lang="en-IN" sz="1400" b="1" u="sng">
                <a:latin typeface="Corbel" panose="020B0503020204020204" pitchFamily="34" charset="0"/>
              </a:rPr>
              <a:t>WarRoom Guidelines</a:t>
            </a:r>
          </a:p>
          <a:p>
            <a:r>
              <a:rPr lang="en-IN" sz="1400" b="1" u="sng">
                <a:latin typeface="Corbel" panose="020B0503020204020204" pitchFamily="34" charset="0"/>
              </a:rPr>
              <a:t>Geofencing: Polygon or 50 km radius around affected site/region; use separate zones for multi-region outages.</a:t>
            </a:r>
          </a:p>
          <a:p>
            <a:r>
              <a:rPr lang="en-IN" sz="1400" b="1" u="sng">
                <a:latin typeface="Corbel" panose="020B0503020204020204" pitchFamily="34" charset="0"/>
              </a:rPr>
              <a:t>Create when:</a:t>
            </a:r>
          </a:p>
          <a:p>
            <a:r>
              <a:rPr lang="en-IN" sz="1400" b="1" u="sng">
                <a:latin typeface="Corbel" panose="020B0503020204020204" pitchFamily="34" charset="0"/>
              </a:rPr>
              <a:t>Mapped site confirms production/service disruption</a:t>
            </a:r>
          </a:p>
          <a:p>
            <a:r>
              <a:rPr lang="en-IN" sz="1400" b="1" u="sng">
                <a:latin typeface="Corbel" panose="020B0503020204020204" pitchFamily="34" charset="0"/>
              </a:rPr>
              <a:t>Outage lasts &gt;3 hrs with multiple enterprise complaints</a:t>
            </a:r>
          </a:p>
          <a:p>
            <a:r>
              <a:rPr lang="en-IN" sz="1400" b="1" u="sng">
                <a:latin typeface="Corbel" panose="020B0503020204020204" pitchFamily="34" charset="0"/>
              </a:rPr>
              <a:t>Outage hits industrial zones with multiple mapped sites</a:t>
            </a:r>
          </a:p>
          <a:p>
            <a:r>
              <a:rPr lang="en-IN" sz="1400" b="1" u="sng">
                <a:latin typeface="Corbel" panose="020B0503020204020204" pitchFamily="34" charset="0"/>
              </a:rPr>
              <a:t>Send Supplier Impact Confirmation? - YES (not for LOW severity; MEDIUM, HIGH, SEVERE only)</a:t>
            </a:r>
          </a:p>
          <a:p>
            <a:r>
              <a:rPr lang="en-IN" sz="1400" b="1" u="sng">
                <a:latin typeface="Corbel" panose="020B0503020204020204" pitchFamily="34" charset="0"/>
              </a:rPr>
              <a:t>Trigger when:</a:t>
            </a:r>
          </a:p>
          <a:p>
            <a:r>
              <a:rPr lang="en-IN" sz="1400" b="1" u="sng">
                <a:latin typeface="Corbel" panose="020B0503020204020204" pitchFamily="34" charset="0"/>
              </a:rPr>
              <a:t>Site confirms delay in production/services</a:t>
            </a:r>
          </a:p>
          <a:p>
            <a:r>
              <a:rPr lang="en-IN" sz="1400" b="1" u="sng">
                <a:latin typeface="Corbel" panose="020B0503020204020204" pitchFamily="34" charset="0"/>
              </a:rPr>
              <a:t>Outage affects mapped suppliers</a:t>
            </a:r>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4"/>
            <a:ext cx="4872874" cy="601468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2994991"/>
            <a:ext cx="4786165" cy="1080053"/>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Rectangle: Rounded Corners 3">
            <a:hlinkClick r:id="rId2" action="ppaction://hlinksldjump"/>
            <a:extLst>
              <a:ext uri="{FF2B5EF4-FFF2-40B4-BE49-F238E27FC236}">
                <a16:creationId xmlns:a16="http://schemas.microsoft.com/office/drawing/2014/main" id="{F0E87FA6-92BC-4122-5B6B-722A9A2D95B1}"/>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a:solidFill>
                <a:schemeClr val="bg1"/>
              </a:solidFill>
              <a:latin typeface="Corbel" panose="020B0503020204020204" pitchFamily="34" charset="0"/>
            </a:endParaRPr>
          </a:p>
        </p:txBody>
      </p:sp>
      <p:graphicFrame>
        <p:nvGraphicFramePr>
          <p:cNvPr id="3" name="Table 2">
            <a:extLst>
              <a:ext uri="{FF2B5EF4-FFF2-40B4-BE49-F238E27FC236}">
                <a16:creationId xmlns:a16="http://schemas.microsoft.com/office/drawing/2014/main" id="{71A07E34-708A-A1CA-BA95-C1F340482F11}"/>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a:solidFill>
                          <a:schemeClr val="accent2"/>
                        </a:solidFill>
                        <a:effectLst/>
                      </a:endParaRPr>
                    </a:p>
                    <a:p>
                      <a:pPr marL="0" algn="ctr" defTabSz="914400" rtl="0" eaLnBrk="1" fontAlgn="ctr" latinLnBrk="0" hangingPunct="1"/>
                      <a:r>
                        <a:rPr lang="en-US" sz="900" b="0" u="none" strike="noStrike" kern="120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TextBox 1">
            <a:extLst>
              <a:ext uri="{FF2B5EF4-FFF2-40B4-BE49-F238E27FC236}">
                <a16:creationId xmlns:a16="http://schemas.microsoft.com/office/drawing/2014/main" id="{0D1E4084-0F23-279B-5A30-17D103BD169B}"/>
              </a:ext>
            </a:extLst>
          </p:cNvPr>
          <p:cNvSpPr txBox="1"/>
          <p:nvPr/>
        </p:nvSpPr>
        <p:spPr>
          <a:xfrm>
            <a:off x="5197446" y="4369899"/>
            <a:ext cx="4662455" cy="1323439"/>
          </a:xfrm>
          <a:prstGeom prst="rect">
            <a:avLst/>
          </a:prstGeom>
          <a:noFill/>
        </p:spPr>
        <p:txBody>
          <a:bodyPr wrap="square" rtlCol="0">
            <a:spAutoFit/>
          </a:bodyPr>
          <a:lstStyle/>
          <a:p>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9FEB5DDA-31CE-9EE0-4514-D33BEC155DAC}"/>
              </a:ext>
            </a:extLst>
          </p:cNvPr>
          <p:cNvSpPr/>
          <p:nvPr/>
        </p:nvSpPr>
        <p:spPr>
          <a:xfrm>
            <a:off x="5108959" y="4246681"/>
            <a:ext cx="4786165" cy="1948912"/>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Tree>
    <p:extLst>
      <p:ext uri="{BB962C8B-B14F-4D97-AF65-F5344CB8AC3E}">
        <p14:creationId xmlns:p14="http://schemas.microsoft.com/office/powerpoint/2010/main" val="3509813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1" name="Rectangle 10">
            <a:extLst>
              <a:ext uri="{FF2B5EF4-FFF2-40B4-BE49-F238E27FC236}">
                <a16:creationId xmlns:a16="http://schemas.microsoft.com/office/drawing/2014/main" id="{0070CA08-E8BD-559B-DB1D-11A6C83A74A8}"/>
              </a:ext>
            </a:extLst>
          </p:cNvPr>
          <p:cNvSpPr/>
          <p:nvPr/>
        </p:nvSpPr>
        <p:spPr>
          <a:xfrm>
            <a:off x="5118026" y="180906"/>
            <a:ext cx="4890564" cy="2602051"/>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5" name="TextBox 4">
            <a:extLst>
              <a:ext uri="{FF2B5EF4-FFF2-40B4-BE49-F238E27FC236}">
                <a16:creationId xmlns:a16="http://schemas.microsoft.com/office/drawing/2014/main" id="{352F5488-5FFE-EE32-7FD9-81ABF1739B12}"/>
              </a:ext>
            </a:extLst>
          </p:cNvPr>
          <p:cNvSpPr txBox="1"/>
          <p:nvPr/>
        </p:nvSpPr>
        <p:spPr>
          <a:xfrm>
            <a:off x="5153156" y="3188248"/>
            <a:ext cx="4662455" cy="1463040"/>
          </a:xfrm>
          <a:prstGeom prst="rect">
            <a:avLst/>
          </a:prstGeom>
          <a:noFill/>
        </p:spPr>
        <p:txBody>
          <a:bodyPr wrap="square" rtlCol="0">
            <a:spAutoFit/>
          </a:bodyPr>
          <a:lstStyle/>
          <a:p>
            <a:r>
              <a:rPr lang="en-IN" sz="1400" b="1" u="sng">
                <a:latin typeface="Corbel" panose="020B0503020204020204" pitchFamily="34" charset="0"/>
              </a:rPr>
              <a:t>Sub-Types</a:t>
            </a:r>
          </a:p>
          <a:p>
            <a:r>
              <a:rPr lang="en-IN" sz="1400" b="1" u="sng">
                <a:latin typeface="Corbel" panose="020B0503020204020204" pitchFamily="34" charset="0"/>
              </a:rPr>
              <a:t>Wildfires linked to forest land clearance | New or amended import/export regulations on timber, palm oil, paper, soy, or other commodities</a:t>
            </a:r>
          </a:p>
          <a:p>
            <a:r>
              <a:rPr lang="en-IN" sz="1400" b="1" u="sng">
                <a:latin typeface="Corbel" panose="020B0503020204020204" pitchFamily="34" charset="0"/>
              </a:rPr>
              <a:t>Smog, haze, or air quality impacts from slash-and-burn deforestation practices | Activist or NGO-led blockades affecting roads, ports, or supplier access</a:t>
            </a:r>
          </a:p>
          <a:p>
            <a:r>
              <a:rPr lang="en-IN" sz="1400" b="1" u="sng">
                <a:latin typeface="Corbel" panose="020B0503020204020204" pitchFamily="34" charset="0"/>
              </a:rPr>
              <a:t>Government bans/moratoriums on logging or deforestation | Certification (FSC/RSPO) suspensions due to deforestation violations</a:t>
            </a:r>
          </a:p>
          <a:p>
            <a:r>
              <a:rPr lang="en-IN" sz="1400" b="1" u="sng">
                <a:latin typeface="Corbel" panose="020B0503020204020204" pitchFamily="34" charset="0"/>
              </a:rPr>
              <a:t>Legal rulings, fines, or investigations tied to illegal logging or land clearing</a:t>
            </a:r>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43099" y="279534"/>
            <a:ext cx="5085273" cy="461665"/>
          </a:xfrm>
          <a:prstGeom prst="rect">
            <a:avLst/>
          </a:prstGeom>
          <a:noFill/>
        </p:spPr>
        <p:txBody>
          <a:bodyPr wrap="square" rtlCol="0">
            <a:spAutoFit/>
          </a:bodyPr>
          <a:lstStyle/>
          <a:p>
            <a:pPr algn="ctr"/>
            <a:r>
              <a:rPr lang="en-IN" sz="2400" b="1">
                <a:solidFill>
                  <a:srgbClr val="0070C0"/>
                </a:solidFill>
                <a:latin typeface="Corbel" panose="020B0503020204020204" pitchFamily="34" charset="0"/>
              </a:rPr>
              <a:t>DEFORESTATION</a:t>
            </a:r>
          </a:p>
        </p:txBody>
      </p:sp>
      <p:sp>
        <p:nvSpPr>
          <p:cNvPr id="12" name="TextBox 11">
            <a:extLst>
              <a:ext uri="{FF2B5EF4-FFF2-40B4-BE49-F238E27FC236}">
                <a16:creationId xmlns:a16="http://schemas.microsoft.com/office/drawing/2014/main" id="{6F3942BB-083C-F92F-F11D-CF3CE3E20391}"/>
              </a:ext>
            </a:extLst>
          </p:cNvPr>
          <p:cNvSpPr txBox="1"/>
          <p:nvPr/>
        </p:nvSpPr>
        <p:spPr>
          <a:xfrm flipH="1">
            <a:off x="207985" y="1082204"/>
            <a:ext cx="4667920" cy="3949414"/>
          </a:xfrm>
          <a:prstGeom prst="rect">
            <a:avLst/>
          </a:prstGeom>
          <a:noFill/>
        </p:spPr>
        <p:txBody>
          <a:bodyPr wrap="square" rtlCol="0">
            <a:spAutoFit/>
          </a:bodyPr>
          <a:lstStyle/>
          <a:p>
            <a:r>
              <a:rPr lang="en-IN" sz="1400" b="1" u="sng">
                <a:solidFill>
                  <a:schemeClr val="tx1">
                    <a:lumMod val="85000"/>
                    <a:lumOff val="15000"/>
                  </a:schemeClr>
                </a:solidFill>
                <a:latin typeface="Corbel" panose="020B0503020204020204" pitchFamily="34" charset="0"/>
                <a:cs typeface="Calibri" panose="020F0502020204030204" pitchFamily="34" charset="0"/>
              </a:rPr>
              <a:t>Reporting Guidelines</a:t>
            </a:r>
          </a:p>
          <a:p>
            <a:r>
              <a:rPr lang="en-IN" sz="1400" b="1" u="sng">
                <a:solidFill>
                  <a:schemeClr val="tx1">
                    <a:lumMod val="85000"/>
                    <a:lumOff val="15000"/>
                  </a:schemeClr>
                </a:solidFill>
                <a:latin typeface="Corbel" panose="020B0503020204020204" pitchFamily="34" charset="0"/>
                <a:cs typeface="Calibri" panose="020F0502020204030204" pitchFamily="34" charset="0"/>
              </a:rPr>
              <a:t>We notify deforestation-related events when:</a:t>
            </a:r>
          </a:p>
          <a:p>
            <a:r>
              <a:rPr lang="en-IN" sz="1400" b="1" u="sng">
                <a:solidFill>
                  <a:schemeClr val="tx1">
                    <a:lumMod val="85000"/>
                    <a:lumOff val="15000"/>
                  </a:schemeClr>
                </a:solidFill>
                <a:latin typeface="Corbel" panose="020B0503020204020204" pitchFamily="34" charset="0"/>
                <a:cs typeface="Calibri" panose="020F0502020204030204" pitchFamily="34" charset="0"/>
              </a:rPr>
              <a:t>Wildfires from deforestation impact supplier sites -&gt; classify under Forest Fire, notify if alerts are issued.</a:t>
            </a:r>
          </a:p>
          <a:p>
            <a:r>
              <a:rPr lang="en-IN" sz="1400" b="1" u="sng">
                <a:solidFill>
                  <a:schemeClr val="tx1">
                    <a:lumMod val="85000"/>
                    <a:lumOff val="15000"/>
                  </a:schemeClr>
                </a:solidFill>
                <a:latin typeface="Corbel" panose="020B0503020204020204" pitchFamily="34" charset="0"/>
                <a:cs typeface="Calibri" panose="020F0502020204030204" pitchFamily="34" charset="0"/>
              </a:rPr>
              <a:t>New deforestation-related import/export regulations are passed -&gt; classify under Regulatory Change, notify immediately.</a:t>
            </a:r>
          </a:p>
          <a:p>
            <a:r>
              <a:rPr lang="en-IN" sz="1400" b="1" u="sng">
                <a:solidFill>
                  <a:schemeClr val="tx1">
                    <a:lumMod val="85000"/>
                    <a:lumOff val="15000"/>
                  </a:schemeClr>
                </a:solidFill>
                <a:latin typeface="Corbel" panose="020B0503020204020204" pitchFamily="34" charset="0"/>
                <a:cs typeface="Calibri" panose="020F0502020204030204" pitchFamily="34" charset="0"/>
              </a:rPr>
              <a:t>Pollution/Smog arising from forest burning -&gt; classify under Environmental Hazard, notify if mapped sites are affected.</a:t>
            </a:r>
          </a:p>
          <a:p>
            <a:r>
              <a:rPr lang="en-IN" sz="1400" b="1" u="sng">
                <a:solidFill>
                  <a:schemeClr val="tx1">
                    <a:lumMod val="85000"/>
                    <a:lumOff val="15000"/>
                  </a:schemeClr>
                </a:solidFill>
                <a:latin typeface="Corbel" panose="020B0503020204020204" pitchFamily="34" charset="0"/>
                <a:cs typeface="Calibri" panose="020F0502020204030204" pitchFamily="34" charset="0"/>
              </a:rPr>
              <a:t>Activist blockades/protests targeting forest roads/logistics -&gt; classify under Protest/Riot, notify if sites or supply chain movement are disrupted.</a:t>
            </a:r>
          </a:p>
          <a:p>
            <a:r>
              <a:rPr lang="en-IN" sz="1400" b="1" u="sng">
                <a:solidFill>
                  <a:schemeClr val="tx1">
                    <a:lumMod val="85000"/>
                    <a:lumOff val="15000"/>
                  </a:schemeClr>
                </a:solidFill>
                <a:latin typeface="Corbel" panose="020B0503020204020204" pitchFamily="34" charset="0"/>
                <a:cs typeface="Calibri" panose="020F0502020204030204" pitchFamily="34" charset="0"/>
              </a:rPr>
              <a:t>Reforestation campaign news -&gt; classify as Not Impactful (NI), avoid notifying unless it directly disrupts mapped operations.</a:t>
            </a:r>
          </a:p>
          <a:p>
            <a:r>
              <a:rPr lang="en-IN" sz="1400" b="1" u="sng">
                <a:solidFill>
                  <a:schemeClr val="tx1">
                    <a:lumMod val="85000"/>
                    <a:lumOff val="15000"/>
                  </a:schemeClr>
                </a:solidFill>
                <a:latin typeface="Corbel" panose="020B0503020204020204" pitchFamily="34" charset="0"/>
                <a:cs typeface="Calibri" panose="020F0502020204030204" pitchFamily="34" charset="0"/>
              </a:rPr>
              <a:t>Note: Only classify "Notify" if thresholds are met for disruption, supplier site proximity, or regulatory enforcement, ensuring relevance.</a:t>
            </a:r>
            <a:endParaRPr lang="en-IN" sz="1200">
              <a:latin typeface="Corbel" panose="020B0503020204020204" pitchFamily="34"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B5610F2B-2AF4-ACCC-641F-7F6A8CA668E7}"/>
              </a:ext>
            </a:extLst>
          </p:cNvPr>
          <p:cNvSpPr txBox="1"/>
          <p:nvPr/>
        </p:nvSpPr>
        <p:spPr>
          <a:xfrm>
            <a:off x="5138718" y="262544"/>
            <a:ext cx="4867131" cy="2139047"/>
          </a:xfrm>
          <a:prstGeom prst="rect">
            <a:avLst/>
          </a:prstGeom>
          <a:noFill/>
        </p:spPr>
        <p:txBody>
          <a:bodyPr wrap="square" rtlCol="0">
            <a:spAutoFit/>
          </a:bodyPr>
          <a:lstStyle/>
          <a:p>
            <a:r>
              <a:rPr lang="en-IN" sz="1400" b="1" u="sng">
                <a:latin typeface="Corbel" panose="020B0503020204020204" pitchFamily="34" charset="0"/>
              </a:rPr>
              <a:t>WarRoom Guidelines</a:t>
            </a:r>
          </a:p>
          <a:p>
            <a:r>
              <a:rPr lang="en-IN" sz="1400" b="1" u="sng">
                <a:latin typeface="Corbel" panose="020B0503020204020204" pitchFamily="34" charset="0"/>
              </a:rPr>
              <a:t>Analysts should determine WarRoom creation and supplier impact issuance based on the respective event type's guidelines.</a:t>
            </a:r>
          </a:p>
          <a:p>
            <a:r>
              <a:rPr lang="en-IN" sz="1400" b="1" u="sng">
                <a:latin typeface="Corbel" panose="020B0503020204020204" pitchFamily="34" charset="0"/>
              </a:rPr>
              <a:t>Follow as per the below event types: Forest Fires -&gt; incase of Wildfires | Regulatory Change -&gt; for forest-based commodities | Environmental Hazard -&gt; from burning forest land | Activist Blockades -&gt; causing logistical/operational disruption.</a:t>
            </a:r>
          </a:p>
          <a:p>
            <a:r>
              <a:rPr lang="en-IN" sz="1400" b="1" u="sng">
                <a:latin typeface="Corbel" panose="020B0503020204020204" pitchFamily="34" charset="0"/>
              </a:rPr>
              <a:t>Trigger when disruptions are confirmed.</a:t>
            </a:r>
          </a:p>
          <a:p>
            <a:r>
              <a:rPr lang="en-IN" sz="1400" b="1" u="sng">
                <a:latin typeface="Corbel" panose="020B0503020204020204" pitchFamily="34" charset="0"/>
              </a:rPr>
              <a:t>Send Supplier Impact Confirmation? - YES (not for LOW severity; MEDIUM, HIGH, SEVERE only)</a:t>
            </a:r>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7" name="Rectangle 6">
            <a:extLst>
              <a:ext uri="{FF2B5EF4-FFF2-40B4-BE49-F238E27FC236}">
                <a16:creationId xmlns:a16="http://schemas.microsoft.com/office/drawing/2014/main" id="{A2088183-0A2C-167E-E74A-31D85D338D69}"/>
              </a:ext>
            </a:extLst>
          </p:cNvPr>
          <p:cNvSpPr/>
          <p:nvPr/>
        </p:nvSpPr>
        <p:spPr>
          <a:xfrm>
            <a:off x="116497" y="180904"/>
            <a:ext cx="4872874" cy="6014689"/>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3" name="Rectangle 12">
            <a:extLst>
              <a:ext uri="{FF2B5EF4-FFF2-40B4-BE49-F238E27FC236}">
                <a16:creationId xmlns:a16="http://schemas.microsoft.com/office/drawing/2014/main" id="{C2D280CF-43C0-1DAF-3BEE-0FFDA3888D30}"/>
              </a:ext>
            </a:extLst>
          </p:cNvPr>
          <p:cNvSpPr/>
          <p:nvPr/>
        </p:nvSpPr>
        <p:spPr>
          <a:xfrm>
            <a:off x="5118026" y="2994991"/>
            <a:ext cx="4786165" cy="178308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4" name="Rectangle: Rounded Corners 3">
            <a:hlinkClick r:id="rId2" action="ppaction://hlinksldjump"/>
            <a:extLst>
              <a:ext uri="{FF2B5EF4-FFF2-40B4-BE49-F238E27FC236}">
                <a16:creationId xmlns:a16="http://schemas.microsoft.com/office/drawing/2014/main" id="{F0E87FA6-92BC-4122-5B6B-722A9A2D95B1}"/>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a:solidFill>
                <a:schemeClr val="bg1"/>
              </a:solidFill>
              <a:latin typeface="Corbel" panose="020B0503020204020204" pitchFamily="34" charset="0"/>
            </a:endParaRPr>
          </a:p>
        </p:txBody>
      </p:sp>
      <p:graphicFrame>
        <p:nvGraphicFramePr>
          <p:cNvPr id="3" name="Table 2">
            <a:extLst>
              <a:ext uri="{FF2B5EF4-FFF2-40B4-BE49-F238E27FC236}">
                <a16:creationId xmlns:a16="http://schemas.microsoft.com/office/drawing/2014/main" id="{71A07E34-708A-A1CA-BA95-C1F340482F11}"/>
              </a:ext>
            </a:extLst>
          </p:cNvPr>
          <p:cNvGraphicFramePr>
            <a:graphicFrameLocks noGrp="1"/>
          </p:cNvGraphicFramePr>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a:solidFill>
                          <a:schemeClr val="accent2"/>
                        </a:solidFill>
                        <a:effectLst/>
                      </a:endParaRPr>
                    </a:p>
                    <a:p>
                      <a:pPr marL="0" algn="ctr" defTabSz="914400" rtl="0" eaLnBrk="1" fontAlgn="ctr" latinLnBrk="0" hangingPunct="1"/>
                      <a:r>
                        <a:rPr lang="en-US" sz="900" b="0" u="none" strike="noStrike" kern="120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
        <p:nvSpPr>
          <p:cNvPr id="2" name="TextBox 1">
            <a:extLst>
              <a:ext uri="{FF2B5EF4-FFF2-40B4-BE49-F238E27FC236}">
                <a16:creationId xmlns:a16="http://schemas.microsoft.com/office/drawing/2014/main" id="{0D1E4084-0F23-279B-5A30-17D103BD169B}"/>
              </a:ext>
            </a:extLst>
          </p:cNvPr>
          <p:cNvSpPr txBox="1"/>
          <p:nvPr/>
        </p:nvSpPr>
        <p:spPr>
          <a:xfrm>
            <a:off x="5197446" y="5029200"/>
            <a:ext cx="4662455" cy="1463040"/>
          </a:xfrm>
          <a:prstGeom prst="rect">
            <a:avLst/>
          </a:prstGeom>
          <a:noFill/>
        </p:spPr>
        <p:txBody>
          <a:bodyPr wrap="square" rtlCol="0">
            <a:spAutoFit/>
          </a:bodyPr>
          <a:lstStyle/>
          <a:p>
            <a:r>
              <a:rPr lang="en-IN" sz="1400" b="1" u="sng">
                <a:latin typeface="Corbel" panose="020B0503020204020204" pitchFamily="34" charset="0"/>
              </a:rPr>
              <a:t>Important Note: Deforestation- and forestation-related developments should be classified under existing Event Types based on the nature of the disruption - such as Environmental Hazard, Regulatory Change, Geopolitical, Mine Shutdown, Supply Shortage, or Force Majeure.</a:t>
            </a:r>
            <a:endParaRPr lang="en-IN" sz="1200">
              <a:solidFill>
                <a:srgbClr val="000000"/>
              </a:solidFill>
              <a:latin typeface="Corbel" panose="020B0503020204020204" pitchFamily="34"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9FEB5DDA-31CE-9EE0-4514-D33BEC155DAC}"/>
              </a:ext>
            </a:extLst>
          </p:cNvPr>
          <p:cNvSpPr/>
          <p:nvPr/>
        </p:nvSpPr>
        <p:spPr>
          <a:xfrm>
            <a:off x="5108959" y="4892040"/>
            <a:ext cx="4786165" cy="1691640"/>
          </a:xfrm>
          <a:prstGeom prst="rect">
            <a:avLst/>
          </a:prstGeom>
          <a:no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Tree>
    <p:extLst>
      <p:ext uri="{BB962C8B-B14F-4D97-AF65-F5344CB8AC3E}">
        <p14:creationId xmlns:p14="http://schemas.microsoft.com/office/powerpoint/2010/main" val="172480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2D92-E895-4E22-5B43-311039D9C176}"/>
              </a:ext>
            </a:extLst>
          </p:cNvPr>
          <p:cNvSpPr>
            <a:spLocks noGrp="1"/>
          </p:cNvSpPr>
          <p:nvPr>
            <p:ph type="title"/>
          </p:nvPr>
        </p:nvSpPr>
        <p:spPr>
          <a:xfrm>
            <a:off x="1953318" y="2314634"/>
            <a:ext cx="7349709" cy="2228732"/>
          </a:xfrm>
        </p:spPr>
        <p:txBody>
          <a:bodyPr anchor="ctr">
            <a:normAutofit/>
          </a:bodyPr>
          <a:lstStyle/>
          <a:p>
            <a:pPr algn="ctr"/>
            <a:r>
              <a:rPr lang="en-US" sz="4800" dirty="0">
                <a:latin typeface="Corbel" panose="020B0503020204020204" pitchFamily="34" charset="0"/>
              </a:rPr>
              <a:t>Additional  Information</a:t>
            </a:r>
            <a:br>
              <a:rPr lang="en-US" sz="4800" dirty="0">
                <a:latin typeface="Corbel" panose="020B0503020204020204" pitchFamily="34" charset="0"/>
              </a:rPr>
            </a:br>
            <a:r>
              <a:rPr lang="en-US" sz="4800" dirty="0">
                <a:latin typeface="Corbel" panose="020B0503020204020204" pitchFamily="34" charset="0"/>
              </a:rPr>
              <a:t> </a:t>
            </a:r>
          </a:p>
        </p:txBody>
      </p:sp>
    </p:spTree>
    <p:extLst>
      <p:ext uri="{BB962C8B-B14F-4D97-AF65-F5344CB8AC3E}">
        <p14:creationId xmlns:p14="http://schemas.microsoft.com/office/powerpoint/2010/main" val="743326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pic>
        <p:nvPicPr>
          <p:cNvPr id="3" name="Picture 2">
            <a:extLst>
              <a:ext uri="{FF2B5EF4-FFF2-40B4-BE49-F238E27FC236}">
                <a16:creationId xmlns:a16="http://schemas.microsoft.com/office/drawing/2014/main" id="{723A9496-954D-45E1-9EF8-E2200612C5F3}"/>
              </a:ext>
            </a:extLst>
          </p:cNvPr>
          <p:cNvPicPr>
            <a:picLocks noChangeAspect="1"/>
          </p:cNvPicPr>
          <p:nvPr/>
        </p:nvPicPr>
        <p:blipFill>
          <a:blip r:embed="rId2"/>
          <a:stretch>
            <a:fillRect/>
          </a:stretch>
        </p:blipFill>
        <p:spPr>
          <a:xfrm>
            <a:off x="2883818" y="576724"/>
            <a:ext cx="5061339" cy="3390053"/>
          </a:xfrm>
          <a:prstGeom prst="rect">
            <a:avLst/>
          </a:prstGeom>
        </p:spPr>
      </p:pic>
      <p:graphicFrame>
        <p:nvGraphicFramePr>
          <p:cNvPr id="4" name="Table 3">
            <a:extLst>
              <a:ext uri="{FF2B5EF4-FFF2-40B4-BE49-F238E27FC236}">
                <a16:creationId xmlns:a16="http://schemas.microsoft.com/office/drawing/2014/main" id="{B4249710-C7D7-8118-90F1-B124AD4A6FBE}"/>
              </a:ext>
            </a:extLst>
          </p:cNvPr>
          <p:cNvGraphicFramePr>
            <a:graphicFrameLocks noGrp="1"/>
          </p:cNvGraphicFramePr>
          <p:nvPr>
            <p:extLst>
              <p:ext uri="{D42A27DB-BD31-4B8C-83A1-F6EECF244321}">
                <p14:modId xmlns:p14="http://schemas.microsoft.com/office/powerpoint/2010/main" val="1839247848"/>
              </p:ext>
            </p:extLst>
          </p:nvPr>
        </p:nvGraphicFramePr>
        <p:xfrm>
          <a:off x="449759" y="3794760"/>
          <a:ext cx="9181993" cy="2971800"/>
        </p:xfrm>
        <a:graphic>
          <a:graphicData uri="http://schemas.openxmlformats.org/drawingml/2006/table">
            <a:tbl>
              <a:tblPr>
                <a:tableStyleId>{5C22544A-7EE6-4342-B048-85BDC9FD1C3A}</a:tableStyleId>
              </a:tblPr>
              <a:tblGrid>
                <a:gridCol w="9181993">
                  <a:extLst>
                    <a:ext uri="{9D8B030D-6E8A-4147-A177-3AD203B41FA5}">
                      <a16:colId xmlns:a16="http://schemas.microsoft.com/office/drawing/2014/main" val="688893906"/>
                    </a:ext>
                  </a:extLst>
                </a:gridCol>
              </a:tblGrid>
              <a:tr h="696983">
                <a:tc>
                  <a:txBody>
                    <a:bodyPr/>
                    <a:lstStyle/>
                    <a:p>
                      <a:pPr algn="l" fontAlgn="ctr"/>
                      <a:r>
                        <a:rPr lang="en-US" sz="1200" b="1" u="none" strike="noStrike">
                          <a:effectLst/>
                        </a:rPr>
                        <a:t>Supplier Impact Confirmation - Global Rule:</a:t>
                      </a:r>
                    </a:p>
                    <a:p>
                      <a:pPr algn="l" fontAlgn="ctr"/>
                      <a:r>
                        <a:rPr lang="en-US" sz="1200" b="1" u="none" strike="noStrike">
                          <a:effectLst/>
                        </a:rPr>
                        <a:t>Send Supplier Impact Confirmation? - YES for all event types.</a:t>
                      </a:r>
                    </a:p>
                    <a:p>
                      <a:pPr algn="l" fontAlgn="ctr"/>
                      <a:r>
                        <a:rPr lang="en-US" sz="1200" b="1" u="none" strike="noStrike">
                          <a:effectLst/>
                        </a:rPr>
                        <a:t>Do NOT send Supplier Impact Confirmation for LOW severity events; it may be issued for MEDIUM, HIGH, and SEVERE events. Event-specific exceptions apply only where explicitly stated.</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1487811356"/>
                  </a:ext>
                </a:extLst>
              </a:tr>
              <a:tr h="369576">
                <a:tc>
                  <a:txBody>
                    <a:bodyPr/>
                    <a:lstStyle/>
                    <a:p>
                      <a:pPr algn="l" fontAlgn="ctr"/>
                      <a:r>
                        <a:rPr lang="en-US" sz="1200" b="1" u="none" strike="noStrike">
                          <a:effectLst/>
                        </a:rPr>
                        <a:t>Quoting Foreign-Language Articles:</a:t>
                      </a:r>
                    </a:p>
                    <a:p>
                      <a:pPr algn="l" fontAlgn="ctr"/>
                      <a:r>
                        <a:rPr lang="en-US" sz="1200" b="1" u="none" strike="noStrike">
                          <a:effectLst/>
                        </a:rPr>
                        <a:t>Use local media sources for faster, more accurate reporting; prioritize verified local sources that are reputable and independently confirmed.</a:t>
                      </a:r>
                    </a:p>
                    <a:p>
                      <a:pPr algn="l" fontAlgn="ctr"/>
                      <a:r>
                        <a:rPr lang="en-US" sz="1200" b="1" u="none" strike="noStrike">
                          <a:effectLst/>
                        </a:rPr>
                        <a:t>Use key excerpts only when necessary for context and clarity, and include both English and local media sources in the bulletin for reference.</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654606770"/>
                  </a:ext>
                </a:extLst>
              </a:tr>
              <a:tr h="696983">
                <a:tc>
                  <a:txBody>
                    <a:bodyPr/>
                    <a:lstStyle/>
                    <a:p>
                      <a:pPr algn="l" fontAlgn="ctr"/>
                      <a:r>
                        <a:rPr lang="en-US" sz="1200" b="1" u="none" strike="noStrike">
                          <a:effectLst/>
                        </a:rPr>
                        <a:t>Sending an Update:</a:t>
                      </a:r>
                    </a:p>
                    <a:p>
                      <a:pPr algn="l" fontAlgn="ctr"/>
                      <a:r>
                        <a:rPr lang="en-US" sz="1200" b="1" u="none" strike="noStrike">
                          <a:effectLst/>
                        </a:rPr>
                        <a:t>Event classifications are based on the cause of disruption, not the outcome - a power outage caused by a hurricane remains under the Hurricane series.</a:t>
                      </a:r>
                    </a:p>
                    <a:p>
                      <a:pPr algn="l" fontAlgn="ctr"/>
                      <a:r>
                        <a:rPr lang="en-US" sz="1200" b="1" u="none" strike="noStrike">
                          <a:effectLst/>
                        </a:rPr>
                        <a:t>Only send updates for new developments, disruptions, or key insights that help risk mitigation: the event's status or impact changes significantly; verified updates suggest supply chain disruptions; news sources provide additional or confirmed insights; companies publicly announce disruptions.</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684489445"/>
                  </a:ext>
                </a:extLst>
              </a:tr>
              <a:tr h="696983">
                <a:tc>
                  <a:txBody>
                    <a:bodyPr/>
                    <a:lstStyle/>
                    <a:p>
                      <a:pPr algn="l" fontAlgn="ctr"/>
                      <a:r>
                        <a:rPr lang="en-US" sz="1200" b="1" u="none" strike="noStrike">
                          <a:effectLst/>
                        </a:rPr>
                        <a:t>Using Non-Secure Source Links:</a:t>
                      </a:r>
                    </a:p>
                    <a:p>
                      <a:pPr algn="l" fontAlgn="ctr"/>
                      <a:r>
                        <a:rPr lang="en-US" sz="1200" b="1" u="none" strike="noStrike">
                          <a:effectLst/>
                        </a:rPr>
                        <a:t>Do not use links from non-secure or unverified sources; ensure all sources are reputable and authenticated. Avoid user-generated content unless corroborated by reliable sources.</a:t>
                      </a:r>
                    </a:p>
                    <a:p>
                      <a:pPr algn="l" fontAlgn="ctr"/>
                      <a:r>
                        <a:rPr lang="en-US" sz="1200" b="1" u="none" strike="noStrike">
                          <a:effectLst/>
                        </a:rPr>
                        <a:t>Non-secure links may only be used if no secure sites are available in the public domain to confirm the news, or if they are the only sources confirming the event.</a:t>
                      </a:r>
                    </a:p>
                    <a:p>
                      <a:pPr algn="l" fontAlgn="ctr"/>
                      <a:r>
                        <a:rPr lang="en-US" sz="1200" b="1" u="none" strike="noStrike">
                          <a:effectLst/>
                        </a:rPr>
                        <a:t>Issue notifications only for publicly available disruptions; always follow the Priority matrix when publishing events.</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4193035676"/>
                  </a:ext>
                </a:extLst>
              </a:tr>
            </a:tbl>
          </a:graphicData>
        </a:graphic>
      </p:graphicFrame>
      <p:sp>
        <p:nvSpPr>
          <p:cNvPr id="10" name="TextBox 9">
            <a:extLst>
              <a:ext uri="{FF2B5EF4-FFF2-40B4-BE49-F238E27FC236}">
                <a16:creationId xmlns:a16="http://schemas.microsoft.com/office/drawing/2014/main" id="{B90C778B-9D44-B70A-F699-FDAFA36BDB03}"/>
              </a:ext>
            </a:extLst>
          </p:cNvPr>
          <p:cNvSpPr txBox="1"/>
          <p:nvPr/>
        </p:nvSpPr>
        <p:spPr>
          <a:xfrm>
            <a:off x="3373862" y="80593"/>
            <a:ext cx="4169967" cy="468699"/>
          </a:xfrm>
          <a:prstGeom prst="rect">
            <a:avLst/>
          </a:prstGeom>
          <a:noFill/>
        </p:spPr>
        <p:txBody>
          <a:bodyPr wrap="square" rtlCol="0">
            <a:normAutofit/>
          </a:bodyPr>
          <a:lstStyle/>
          <a:p>
            <a:pPr algn="ctr"/>
            <a:r>
              <a:rPr lang="en-IN" sz="2400" b="1">
                <a:solidFill>
                  <a:srgbClr val="0070C0"/>
                </a:solidFill>
                <a:latin typeface="Corbel" panose="020B0503020204020204" pitchFamily="34" charset="0"/>
              </a:rPr>
              <a:t>Generic</a:t>
            </a:r>
            <a:r>
              <a:rPr lang="en-IN" sz="2400" b="1" dirty="0">
                <a:solidFill>
                  <a:srgbClr val="0070C0"/>
                </a:solidFill>
                <a:latin typeface="Corbel" panose="020B0503020204020204" pitchFamily="34" charset="0"/>
              </a:rPr>
              <a:t> Guidelines</a:t>
            </a:r>
          </a:p>
        </p:txBody>
      </p:sp>
      <p:sp>
        <p:nvSpPr>
          <p:cNvPr id="7" name="Rectangle: Rounded Corners 6">
            <a:hlinkClick r:id="rId3" action="ppaction://hlinksldjump"/>
            <a:extLst>
              <a:ext uri="{FF2B5EF4-FFF2-40B4-BE49-F238E27FC236}">
                <a16:creationId xmlns:a16="http://schemas.microsoft.com/office/drawing/2014/main" id="{5495B9EF-281B-D663-DDF6-22C39AE3693A}"/>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3" action="ppaction://hlinksldjump">
                  <a:extLst>
                    <a:ext uri="{A12FA001-AC4F-418D-AE19-62706E023703}">
                      <ahyp:hlinkClr xmlns:ahyp="http://schemas.microsoft.com/office/drawing/2018/hyperlinkcolor" val="tx"/>
                    </a:ext>
                  </a:extLst>
                </a:hlinkClick>
              </a:rPr>
              <a:t>Back to Home</a:t>
            </a:r>
            <a:endParaRPr lang="en-US" sz="1400" dirty="0">
              <a:solidFill>
                <a:schemeClr val="bg1"/>
              </a:solidFill>
              <a:latin typeface="Corbel" panose="020B0503020204020204" pitchFamily="34" charset="0"/>
            </a:endParaRPr>
          </a:p>
        </p:txBody>
      </p:sp>
      <p:graphicFrame>
        <p:nvGraphicFramePr>
          <p:cNvPr id="2" name="Table 1">
            <a:extLst>
              <a:ext uri="{FF2B5EF4-FFF2-40B4-BE49-F238E27FC236}">
                <a16:creationId xmlns:a16="http://schemas.microsoft.com/office/drawing/2014/main" id="{2C763FE2-9379-C00F-16C7-0D6EF32386B8}"/>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7"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8"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3"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4"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8"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4"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4"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7"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Tree>
    <p:extLst>
      <p:ext uri="{BB962C8B-B14F-4D97-AF65-F5344CB8AC3E}">
        <p14:creationId xmlns:p14="http://schemas.microsoft.com/office/powerpoint/2010/main" val="5397277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1E80528-A1E6-7379-6D0A-B7E6FE112494}"/>
              </a:ext>
            </a:extLst>
          </p:cNvPr>
          <p:cNvGraphicFramePr>
            <a:graphicFrameLocks noGrp="1"/>
          </p:cNvGraphicFramePr>
          <p:nvPr/>
        </p:nvGraphicFramePr>
        <p:xfrm>
          <a:off x="2381431" y="758361"/>
          <a:ext cx="7289521" cy="5591895"/>
        </p:xfrm>
        <a:graphic>
          <a:graphicData uri="http://schemas.openxmlformats.org/drawingml/2006/table">
            <a:tbl>
              <a:tblPr firstRow="1" bandRow="1">
                <a:noFill/>
              </a:tblPr>
              <a:tblGrid>
                <a:gridCol w="3592323">
                  <a:extLst>
                    <a:ext uri="{9D8B030D-6E8A-4147-A177-3AD203B41FA5}">
                      <a16:colId xmlns:a16="http://schemas.microsoft.com/office/drawing/2014/main" val="2395630557"/>
                    </a:ext>
                  </a:extLst>
                </a:gridCol>
                <a:gridCol w="3697198">
                  <a:extLst>
                    <a:ext uri="{9D8B030D-6E8A-4147-A177-3AD203B41FA5}">
                      <a16:colId xmlns:a16="http://schemas.microsoft.com/office/drawing/2014/main" val="388425439"/>
                    </a:ext>
                  </a:extLst>
                </a:gridCol>
              </a:tblGrid>
              <a:tr h="299895">
                <a:tc>
                  <a:txBody>
                    <a:bodyPr/>
                    <a:lstStyle/>
                    <a:p>
                      <a:pPr algn="ctr" fontAlgn="ctr"/>
                      <a:r>
                        <a:rPr lang="en-IN" sz="1500" b="1" i="0" u="sng" strike="noStrike" cap="none" spc="30" dirty="0">
                          <a:solidFill>
                            <a:schemeClr val="bg1"/>
                          </a:solidFill>
                          <a:effectLst/>
                          <a:latin typeface="Corbel" panose="020B0503020204020204" pitchFamily="34" charset="0"/>
                          <a:cs typeface="Calibri" panose="020F0502020204030204" pitchFamily="34" charset="0"/>
                        </a:rPr>
                        <a:t>Immediate Impact:</a:t>
                      </a:r>
                    </a:p>
                  </a:txBody>
                  <a:tcPr marL="0" marR="8620" marT="5335" marB="38411" anchor="ctr">
                    <a:lnL w="12700" cmpd="sng">
                      <a:noFill/>
                    </a:lnL>
                    <a:lnR w="12700" cmpd="sng">
                      <a:noFill/>
                    </a:lnR>
                    <a:lnT w="19050" cap="flat" cmpd="sng" algn="ctr">
                      <a:solidFill>
                        <a:schemeClr val="accent1"/>
                      </a:solidFill>
                      <a:prstDash val="solid"/>
                    </a:lnT>
                    <a:lnB w="38100" cmpd="sng">
                      <a:noFill/>
                    </a:lnB>
                    <a:solidFill>
                      <a:srgbClr val="0070C0"/>
                    </a:solidFill>
                  </a:tcPr>
                </a:tc>
                <a:tc>
                  <a:txBody>
                    <a:bodyPr/>
                    <a:lstStyle/>
                    <a:p>
                      <a:pPr algn="ctr" fontAlgn="ctr"/>
                      <a:r>
                        <a:rPr lang="en-US" sz="1500" b="1" i="0" u="sng" strike="noStrike" cap="none" spc="30" dirty="0">
                          <a:solidFill>
                            <a:schemeClr val="bg1"/>
                          </a:solidFill>
                          <a:effectLst/>
                          <a:latin typeface="Corbel" panose="020B0503020204020204" pitchFamily="34" charset="0"/>
                          <a:cs typeface="Calibri" panose="020F0502020204030204" pitchFamily="34" charset="0"/>
                        </a:rPr>
                        <a:t>Mid to Long Term Impact:</a:t>
                      </a:r>
                    </a:p>
                  </a:txBody>
                  <a:tcPr marL="0" marR="8620" marT="5335" marB="38411" anchor="ctr">
                    <a:lnL w="12700" cmpd="sng">
                      <a:noFill/>
                    </a:lnL>
                    <a:lnR w="12700" cmpd="sng">
                      <a:noFill/>
                    </a:lnR>
                    <a:lnT w="19050" cap="flat" cmpd="sng" algn="ctr">
                      <a:solidFill>
                        <a:schemeClr val="accent1"/>
                      </a:solidFill>
                      <a:prstDash val="solid"/>
                    </a:lnT>
                    <a:lnB w="38100" cmpd="sng">
                      <a:noFill/>
                    </a:lnB>
                    <a:solidFill>
                      <a:srgbClr val="0070C0"/>
                    </a:solidFill>
                  </a:tcPr>
                </a:tc>
                <a:extLst>
                  <a:ext uri="{0D108BD9-81ED-4DB2-BD59-A6C34878D82A}">
                    <a16:rowId xmlns:a16="http://schemas.microsoft.com/office/drawing/2014/main" val="3483892237"/>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Airport Disruption</a:t>
                      </a:r>
                    </a:p>
                  </a:txBody>
                  <a:tcPr marL="0" marR="5335" marT="5335" marB="38411"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Bribery/Corruption</a:t>
                      </a:r>
                    </a:p>
                  </a:txBody>
                  <a:tcPr marL="0" marR="5335" marT="5335" marB="38411" anchor="ctr">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2182203176"/>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Bankruptcy</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Business Sale</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21804623"/>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Chemical Spill</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Business Spin-off</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907522428"/>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Cyber Attack</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Company Split</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411990723"/>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Earthquake</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Compliance</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186980357"/>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Extreme Weather</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Corporate Restructuring</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236256436"/>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Factory Disruption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Counterfeit</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900265774"/>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Factory Fire</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Environmental Hazard</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77404188"/>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FDA/EMA/OSHA Action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Fine</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29618687"/>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Flood</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Geopolitical</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2178465000"/>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Force Majeure</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Labor Violation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611890777"/>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Forest Fire</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Leadership Transition</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182275821"/>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Human Health</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Legal Action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506923811"/>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Hurricane/ Typhoon (Post-Landfall)</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Merger &amp; Acquisition</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897875594"/>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Hurricane/ Typhoon (Pre-Landfall)</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Mine Shutdown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525670085"/>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Labor Disruption</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Price Fluctuation</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817752475"/>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Port Disruption</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Profit Warning</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944047435"/>
                  </a:ext>
                </a:extLst>
              </a:tr>
              <a:tr h="252000">
                <a:tc>
                  <a:txBody>
                    <a:bodyPr/>
                    <a:lstStyle/>
                    <a:p>
                      <a:pPr algn="ctr" fontAlgn="ctr"/>
                      <a:r>
                        <a:rPr lang="en-IN" sz="1100" b="0" i="0" u="none" strike="noStrike" cap="none" spc="0">
                          <a:solidFill>
                            <a:schemeClr val="tx1">
                              <a:lumMod val="75000"/>
                              <a:lumOff val="25000"/>
                            </a:schemeClr>
                          </a:solidFill>
                          <a:effectLst/>
                          <a:latin typeface="Corbel" panose="020B0503020204020204" pitchFamily="34" charset="0"/>
                          <a:cs typeface="Calibri" panose="020F0502020204030204" pitchFamily="34" charset="0"/>
                        </a:rPr>
                        <a:t>Power Outage</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Recall</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601774403"/>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Protest/Riot</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Regulatory Change</a:t>
                      </a:r>
                    </a:p>
                  </a:txBody>
                  <a:tcPr marL="0" marR="5335" marT="5335" marB="38411"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744133414"/>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Tornado</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Supply Shortage</a:t>
                      </a:r>
                    </a:p>
                  </a:txBody>
                  <a:tcPr marL="43098" marR="5335" marT="5335" marB="38411"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210106129"/>
                  </a:ext>
                </a:extLst>
              </a:tr>
              <a:tr h="252000">
                <a:tc>
                  <a:txBody>
                    <a:bodyPr/>
                    <a:lstStyle/>
                    <a:p>
                      <a:pPr algn="ctr" fontAlgn="ctr"/>
                      <a:r>
                        <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rPr>
                        <a:t>Volcano</a:t>
                      </a:r>
                    </a:p>
                  </a:txBody>
                  <a:tcPr marL="0" marR="5335" marT="5335" marB="38411"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fontAlgn="ctr"/>
                      <a:endParaRPr lang="en-IN" sz="1100" b="0" i="0" u="none" strike="noStrike" cap="none" spc="0" dirty="0">
                        <a:solidFill>
                          <a:schemeClr val="tx1">
                            <a:lumMod val="75000"/>
                            <a:lumOff val="25000"/>
                          </a:schemeClr>
                        </a:solidFill>
                        <a:effectLst/>
                        <a:latin typeface="Corbel" panose="020B0503020204020204" pitchFamily="34" charset="0"/>
                        <a:cs typeface="Calibri" panose="020F0502020204030204" pitchFamily="34" charset="0"/>
                      </a:endParaRPr>
                    </a:p>
                  </a:txBody>
                  <a:tcPr marL="0" marR="5335" marT="5335" marB="38411"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11059932"/>
                  </a:ext>
                </a:extLst>
              </a:tr>
            </a:tbl>
          </a:graphicData>
        </a:graphic>
      </p:graphicFrame>
      <p:sp>
        <p:nvSpPr>
          <p:cNvPr id="6" name="Rectangle: Rounded Corners 5">
            <a:extLst>
              <a:ext uri="{FF2B5EF4-FFF2-40B4-BE49-F238E27FC236}">
                <a16:creationId xmlns:a16="http://schemas.microsoft.com/office/drawing/2014/main" id="{1CB05608-2DEF-7702-F55D-7F4B3F309CB3}"/>
              </a:ext>
            </a:extLst>
          </p:cNvPr>
          <p:cNvSpPr/>
          <p:nvPr/>
        </p:nvSpPr>
        <p:spPr>
          <a:xfrm rot="16200000">
            <a:off x="-211885" y="3186446"/>
            <a:ext cx="3605048" cy="7357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w="0"/>
              <a:solidFill>
                <a:prstClr val="black">
                  <a:lumMod val="75000"/>
                  <a:lumOff val="25000"/>
                </a:prstClr>
              </a:solidFill>
              <a:effectLst>
                <a:outerShdw blurRad="38100" dist="19050" dir="2700000" algn="tl" rotWithShape="0">
                  <a:prstClr val="black">
                    <a:alpha val="40000"/>
                  </a:prstClr>
                </a:outerShdw>
              </a:effectLst>
              <a:uLnTx/>
              <a:uFillTx/>
              <a:latin typeface="Aptos" panose="02110004020202020204"/>
              <a:ea typeface="+mn-ea"/>
              <a:cs typeface="+mn-cs"/>
            </a:endParaRPr>
          </a:p>
        </p:txBody>
      </p:sp>
      <p:sp>
        <p:nvSpPr>
          <p:cNvPr id="9" name="Title 1">
            <a:extLst>
              <a:ext uri="{FF2B5EF4-FFF2-40B4-BE49-F238E27FC236}">
                <a16:creationId xmlns:a16="http://schemas.microsoft.com/office/drawing/2014/main" id="{DDA05E13-5237-EAFD-11E6-ED6EC68CF9A6}"/>
              </a:ext>
            </a:extLst>
          </p:cNvPr>
          <p:cNvSpPr txBox="1">
            <a:spLocks/>
          </p:cNvSpPr>
          <p:nvPr/>
        </p:nvSpPr>
        <p:spPr>
          <a:xfrm>
            <a:off x="3152305" y="189756"/>
            <a:ext cx="5887389" cy="602058"/>
          </a:xfrm>
          <a:prstGeom prst="rect">
            <a:avLst/>
          </a:prstGeom>
        </p:spPr>
        <p:txBody>
          <a:bodyPr vert="horz" lIns="91440" tIns="45720" rIns="91440" bIns="45720" rtlCol="0" anchor="ctr">
            <a:normAutofit fontScale="97500"/>
          </a:bodyPr>
          <a:lstStyle>
            <a:lvl1pPr algn="l" defTabSz="853455" rtl="0" eaLnBrk="1" latinLnBrk="0" hangingPunct="1">
              <a:lnSpc>
                <a:spcPct val="90000"/>
              </a:lnSpc>
              <a:spcBef>
                <a:spcPct val="0"/>
              </a:spcBef>
              <a:buNone/>
              <a:defRPr sz="3300" b="1" kern="1200">
                <a:solidFill>
                  <a:schemeClr val="accent4"/>
                </a:solidFill>
                <a:latin typeface="+mj-lt"/>
                <a:ea typeface="+mj-ea"/>
                <a:cs typeface="+mj-cs"/>
              </a:defRPr>
            </a:lvl1pPr>
          </a:lstStyle>
          <a:p>
            <a:pPr marL="0" marR="0" lvl="0" indent="0" algn="l" defTabSz="853455"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1352A2"/>
                </a:solidFill>
                <a:effectLst/>
                <a:uLnTx/>
                <a:uFillTx/>
                <a:latin typeface="Corbel" panose="020B0503020204020204" pitchFamily="34" charset="0"/>
                <a:ea typeface="+mj-ea"/>
                <a:cs typeface="Roboto"/>
              </a:rPr>
              <a:t>Event </a:t>
            </a:r>
            <a:r>
              <a:rPr kumimoji="0" lang="en-US" sz="2800" b="1" i="0" u="none" strike="noStrike" kern="1200" cap="none" spc="0" normalizeH="0" baseline="0" noProof="0">
                <a:ln>
                  <a:noFill/>
                </a:ln>
                <a:solidFill>
                  <a:srgbClr val="1352A2"/>
                </a:solidFill>
                <a:effectLst/>
                <a:uLnTx/>
                <a:uFillTx/>
                <a:latin typeface="Corbel" panose="020B0503020204020204" pitchFamily="34" charset="0"/>
                <a:ea typeface="+mj-ea"/>
                <a:cs typeface="Roboto"/>
              </a:rPr>
              <a:t>Prioritization Matrix</a:t>
            </a:r>
            <a:endParaRPr kumimoji="0" lang="en-US" sz="2800" b="1" i="0" u="none" strike="noStrike" kern="1200" cap="none" spc="0" normalizeH="0" baseline="0" noProof="0" dirty="0">
              <a:ln>
                <a:noFill/>
              </a:ln>
              <a:solidFill>
                <a:srgbClr val="1352A2"/>
              </a:solidFill>
              <a:effectLst/>
              <a:uLnTx/>
              <a:uFillTx/>
              <a:latin typeface="Corbel" panose="020B0503020204020204" pitchFamily="34" charset="0"/>
              <a:ea typeface="+mj-ea"/>
              <a:cs typeface="Roboto"/>
            </a:endParaRPr>
          </a:p>
        </p:txBody>
      </p:sp>
      <p:sp>
        <p:nvSpPr>
          <p:cNvPr id="7" name="Rectangle: Rounded Corners 6">
            <a:extLst>
              <a:ext uri="{FF2B5EF4-FFF2-40B4-BE49-F238E27FC236}">
                <a16:creationId xmlns:a16="http://schemas.microsoft.com/office/drawing/2014/main" id="{2E5F422F-3F13-6E92-52BE-93326BDB81BB}"/>
              </a:ext>
            </a:extLst>
          </p:cNvPr>
          <p:cNvSpPr/>
          <p:nvPr/>
        </p:nvSpPr>
        <p:spPr>
          <a:xfrm rot="5400000">
            <a:off x="8659220" y="3061138"/>
            <a:ext cx="3605048" cy="7357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w="0"/>
              <a:solidFill>
                <a:prstClr val="black">
                  <a:lumMod val="75000"/>
                  <a:lumOff val="25000"/>
                </a:prstClr>
              </a:solidFill>
              <a:effectLst>
                <a:outerShdw blurRad="38100" dist="19050" dir="2700000" algn="tl" rotWithShape="0">
                  <a:prstClr val="black">
                    <a:alpha val="40000"/>
                  </a:prstClr>
                </a:outerShdw>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7B523B69-A9A8-E8E4-5F3C-72BE39D64ED8}"/>
              </a:ext>
            </a:extLst>
          </p:cNvPr>
          <p:cNvSpPr txBox="1"/>
          <p:nvPr/>
        </p:nvSpPr>
        <p:spPr>
          <a:xfrm>
            <a:off x="316766" y="6383709"/>
            <a:ext cx="1141884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Disclaimer</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According to historical data, Immediate Impact events were typically reported within 3 hours, while Mid-Long term Impact events were reported within 6 hours. This </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average time is measured from when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a </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feed is captured by the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Resilinc Portal and is not indicative of any SLAs</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a:t>
            </a:r>
            <a:endParaRPr kumimoji="0" lang="en-IN"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3" name="Picture 4" descr="New Features November 2018 | Ordorite">
            <a:extLst>
              <a:ext uri="{FF2B5EF4-FFF2-40B4-BE49-F238E27FC236}">
                <a16:creationId xmlns:a16="http://schemas.microsoft.com/office/drawing/2014/main" id="{B9EFADC6-9AA1-528D-1ED2-D76CBDAF2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5089" y="99756"/>
            <a:ext cx="1389385" cy="1317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5517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pic>
        <p:nvPicPr>
          <p:cNvPr id="3" name="Picture 2">
            <a:extLst>
              <a:ext uri="{FF2B5EF4-FFF2-40B4-BE49-F238E27FC236}">
                <a16:creationId xmlns:a16="http://schemas.microsoft.com/office/drawing/2014/main" id="{723A9496-954D-45E1-9EF8-E2200612C5F3}"/>
              </a:ext>
            </a:extLst>
          </p:cNvPr>
          <p:cNvPicPr>
            <a:picLocks noChangeAspect="1"/>
          </p:cNvPicPr>
          <p:nvPr/>
        </p:nvPicPr>
        <p:blipFill>
          <a:blip r:embed="rId2"/>
          <a:stretch>
            <a:fillRect/>
          </a:stretch>
        </p:blipFill>
        <p:spPr>
          <a:xfrm>
            <a:off x="2883818" y="576724"/>
            <a:ext cx="5061339" cy="3390053"/>
          </a:xfrm>
          <a:prstGeom prst="rect">
            <a:avLst/>
          </a:prstGeom>
        </p:spPr>
      </p:pic>
      <p:graphicFrame>
        <p:nvGraphicFramePr>
          <p:cNvPr id="4" name="Table 3">
            <a:extLst>
              <a:ext uri="{FF2B5EF4-FFF2-40B4-BE49-F238E27FC236}">
                <a16:creationId xmlns:a16="http://schemas.microsoft.com/office/drawing/2014/main" id="{B4249710-C7D7-8118-90F1-B124AD4A6FBE}"/>
              </a:ext>
            </a:extLst>
          </p:cNvPr>
          <p:cNvGraphicFramePr>
            <a:graphicFrameLocks noGrp="1"/>
          </p:cNvGraphicFramePr>
          <p:nvPr>
            <p:extLst>
              <p:ext uri="{D42A27DB-BD31-4B8C-83A1-F6EECF244321}">
                <p14:modId xmlns:p14="http://schemas.microsoft.com/office/powerpoint/2010/main" val="2359338822"/>
              </p:ext>
            </p:extLst>
          </p:nvPr>
        </p:nvGraphicFramePr>
        <p:xfrm>
          <a:off x="449759" y="3966778"/>
          <a:ext cx="9181993" cy="2460525"/>
        </p:xfrm>
        <a:graphic>
          <a:graphicData uri="http://schemas.openxmlformats.org/drawingml/2006/table">
            <a:tbl>
              <a:tblPr>
                <a:tableStyleId>{5C22544A-7EE6-4342-B048-85BDC9FD1C3A}</a:tableStyleId>
              </a:tblPr>
              <a:tblGrid>
                <a:gridCol w="9181993">
                  <a:extLst>
                    <a:ext uri="{9D8B030D-6E8A-4147-A177-3AD203B41FA5}">
                      <a16:colId xmlns:a16="http://schemas.microsoft.com/office/drawing/2014/main" val="688893906"/>
                    </a:ext>
                  </a:extLst>
                </a:gridCol>
              </a:tblGrid>
              <a:tr h="696983">
                <a:tc>
                  <a:txBody>
                    <a:bodyPr/>
                    <a:lstStyle/>
                    <a:p>
                      <a:pPr algn="l" fontAlgn="ctr"/>
                      <a:r>
                        <a:rPr lang="en-US" sz="1200" b="1" u="none" strike="noStrike">
                          <a:effectLst/>
                        </a:rPr>
                        <a:t>LOW: </a:t>
                      </a:r>
                      <a:r>
                        <a:rPr lang="en-US" sz="1100" u="none" strike="noStrike">
                          <a:effectLst/>
                        </a:rPr>
                        <a:t>Affected company is not mapped on Resilinc platform. There are No sites in the affected region. Minor FYI event just to keep the customers informed (or by nature low risk event e.g. leadership change) </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1487811356"/>
                  </a:ext>
                </a:extLst>
              </a:tr>
              <a:tr h="369576">
                <a:tc>
                  <a:txBody>
                    <a:bodyPr/>
                    <a:lstStyle/>
                    <a:p>
                      <a:pPr algn="l" fontAlgn="ctr"/>
                      <a:r>
                        <a:rPr lang="en-US" sz="1200" b="1" u="none" strike="noStrike">
                          <a:effectLst/>
                        </a:rPr>
                        <a:t>Medium</a:t>
                      </a:r>
                      <a:r>
                        <a:rPr lang="en-US" sz="1100" u="none" strike="noStrike">
                          <a:effectLst/>
                        </a:rPr>
                        <a:t>: Affected company is mapped. Sites are mapped in the affected region. Potential disruptions expected but not confirmed yet</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654606770"/>
                  </a:ext>
                </a:extLst>
              </a:tr>
              <a:tr h="696983">
                <a:tc>
                  <a:txBody>
                    <a:bodyPr/>
                    <a:lstStyle/>
                    <a:p>
                      <a:pPr algn="l" fontAlgn="ctr"/>
                      <a:r>
                        <a:rPr lang="en-US" sz="1200" b="1" u="none" strike="noStrike">
                          <a:effectLst/>
                        </a:rPr>
                        <a:t>High</a:t>
                      </a:r>
                      <a:r>
                        <a:rPr lang="en-US" sz="1100" u="none" strike="noStrike">
                          <a:effectLst/>
                        </a:rPr>
                        <a:t>: Exact site is mapped and has confirmed disruption publicly. Sites mapped in the affected region has confirmed disruptions publicly. If storm, expected Category at landfall is 4 or 5. Damages have been confirmed. Disruption being reported and confirmed. </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684489445"/>
                  </a:ext>
                </a:extLst>
              </a:tr>
              <a:tr h="696983">
                <a:tc>
                  <a:txBody>
                    <a:bodyPr/>
                    <a:lstStyle/>
                    <a:p>
                      <a:pPr algn="l" fontAlgn="ctr"/>
                      <a:r>
                        <a:rPr lang="en-US" sz="1200" b="1" u="none" strike="noStrike">
                          <a:effectLst/>
                        </a:rPr>
                        <a:t>Severe</a:t>
                      </a:r>
                      <a:r>
                        <a:rPr lang="en-US" sz="1100" u="none" strike="noStrike">
                          <a:effectLst/>
                        </a:rPr>
                        <a:t>: Big "black swan" event with long-term Worldwide impact. Every industry, every company, every country is impacted one way or the other. Rare events but big e.g. COVID-19 " where recovery time is indefinite</a:t>
                      </a:r>
                      <a:endParaRPr lang="en-US" sz="1100" b="1" i="0" u="none" strike="noStrike">
                        <a:solidFill>
                          <a:srgbClr val="000000"/>
                        </a:solidFill>
                        <a:effectLst/>
                        <a:latin typeface="Corbel" panose="020B050302020402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4193035676"/>
                  </a:ext>
                </a:extLst>
              </a:tr>
            </a:tbl>
          </a:graphicData>
        </a:graphic>
      </p:graphicFrame>
      <p:sp>
        <p:nvSpPr>
          <p:cNvPr id="10" name="TextBox 9">
            <a:extLst>
              <a:ext uri="{FF2B5EF4-FFF2-40B4-BE49-F238E27FC236}">
                <a16:creationId xmlns:a16="http://schemas.microsoft.com/office/drawing/2014/main" id="{B90C778B-9D44-B70A-F699-FDAFA36BDB03}"/>
              </a:ext>
            </a:extLst>
          </p:cNvPr>
          <p:cNvSpPr txBox="1"/>
          <p:nvPr/>
        </p:nvSpPr>
        <p:spPr>
          <a:xfrm>
            <a:off x="3373862" y="80593"/>
            <a:ext cx="4169967" cy="468699"/>
          </a:xfrm>
          <a:prstGeom prst="rect">
            <a:avLst/>
          </a:prstGeom>
          <a:noFill/>
        </p:spPr>
        <p:txBody>
          <a:bodyPr wrap="square" rtlCol="0">
            <a:normAutofit/>
          </a:bodyPr>
          <a:lstStyle/>
          <a:p>
            <a:pPr algn="ctr"/>
            <a:r>
              <a:rPr lang="en-IN" sz="2400" b="1">
                <a:solidFill>
                  <a:srgbClr val="0070C0"/>
                </a:solidFill>
                <a:latin typeface="Corbel" panose="020B0503020204020204" pitchFamily="34" charset="0"/>
              </a:rPr>
              <a:t>Disruption Severity Guidelines</a:t>
            </a:r>
          </a:p>
        </p:txBody>
      </p:sp>
      <p:sp>
        <p:nvSpPr>
          <p:cNvPr id="7" name="Rectangle: Rounded Corners 6">
            <a:hlinkClick r:id="rId3" action="ppaction://hlinksldjump"/>
            <a:extLst>
              <a:ext uri="{FF2B5EF4-FFF2-40B4-BE49-F238E27FC236}">
                <a16:creationId xmlns:a16="http://schemas.microsoft.com/office/drawing/2014/main" id="{5495B9EF-281B-D663-DDF6-22C39AE3693A}"/>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rbel" panose="020B0503020204020204" pitchFamily="34" charset="0"/>
                <a:hlinkClick r:id="rId3" action="ppaction://hlinksldjump">
                  <a:extLst>
                    <a:ext uri="{A12FA001-AC4F-418D-AE19-62706E023703}">
                      <ahyp:hlinkClr xmlns:ahyp="http://schemas.microsoft.com/office/drawing/2018/hyperlinkcolor" val="tx"/>
                    </a:ext>
                  </a:extLst>
                </a:hlinkClick>
              </a:rPr>
              <a:t>Back to Home</a:t>
            </a:r>
            <a:endParaRPr lang="en-US" sz="1400">
              <a:solidFill>
                <a:schemeClr val="bg1"/>
              </a:solidFill>
              <a:latin typeface="Corbel" panose="020B0503020204020204" pitchFamily="34" charset="0"/>
            </a:endParaRPr>
          </a:p>
        </p:txBody>
      </p:sp>
      <p:graphicFrame>
        <p:nvGraphicFramePr>
          <p:cNvPr id="2" name="Table 1">
            <a:extLst>
              <a:ext uri="{FF2B5EF4-FFF2-40B4-BE49-F238E27FC236}">
                <a16:creationId xmlns:a16="http://schemas.microsoft.com/office/drawing/2014/main" id="{2C763FE2-9379-C00F-16C7-0D6EF32386B8}"/>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a:solidFill>
                            <a:schemeClr val="accent2"/>
                          </a:solidFill>
                          <a:effectLst/>
                          <a:hlinkClick r:id="rId4" action="ppaction://hlinksldjump">
                            <a:extLst>
                              <a:ext uri="{A12FA001-AC4F-418D-AE19-62706E023703}">
                                <ahyp:hlinkClr xmlns:ahyp="http://schemas.microsoft.com/office/drawing/2018/hyperlinkcolor" val="tx"/>
                              </a:ext>
                            </a:extLst>
                          </a:hlinkClick>
                        </a:rPr>
                        <a:t>Airport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a:solidFill>
                            <a:schemeClr val="accent2"/>
                          </a:solidFill>
                          <a:effectLst/>
                          <a:hlinkClick r:id="rId5" action="ppaction://hlinksldjump">
                            <a:extLst>
                              <a:ext uri="{A12FA001-AC4F-418D-AE19-62706E023703}">
                                <ahyp:hlinkClr xmlns:ahyp="http://schemas.microsoft.com/office/drawing/2018/hyperlinkcolor" val="tx"/>
                              </a:ext>
                            </a:extLst>
                          </a:hlinkClick>
                        </a:rPr>
                        <a:t>Bankruptcy</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a:solidFill>
                            <a:schemeClr val="accent2"/>
                          </a:solidFill>
                          <a:effectLst/>
                          <a:hlinkClick r:id="rId6" action="ppaction://hlinksldjump">
                            <a:extLst>
                              <a:ext uri="{A12FA001-AC4F-418D-AE19-62706E023703}">
                                <ahyp:hlinkClr xmlns:ahyp="http://schemas.microsoft.com/office/drawing/2018/hyperlinkcolor" val="tx"/>
                              </a:ext>
                            </a:extLst>
                          </a:hlinkClick>
                        </a:rPr>
                        <a:t>Business Spin-off</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a:solidFill>
                            <a:schemeClr val="accent2"/>
                          </a:solidFill>
                          <a:effectLst/>
                          <a:hlinkClick r:id="rId7" action="ppaction://hlinksldjump">
                            <a:extLst>
                              <a:ext uri="{A12FA001-AC4F-418D-AE19-62706E023703}">
                                <ahyp:hlinkClr xmlns:ahyp="http://schemas.microsoft.com/office/drawing/2018/hyperlinkcolor" val="tx"/>
                              </a:ext>
                            </a:extLst>
                          </a:hlinkClick>
                        </a:rPr>
                        <a:t>Business Sale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a:solidFill>
                            <a:schemeClr val="accent2"/>
                          </a:solidFill>
                          <a:effectLst/>
                          <a:latin typeface="+mn-lt"/>
                          <a:ea typeface="+mn-ea"/>
                          <a:cs typeface="+mn-cs"/>
                          <a:hlinkClick r:id="rId8" action="ppaction://hlinksldjump">
                            <a:extLst>
                              <a:ext uri="{A12FA001-AC4F-418D-AE19-62706E023703}">
                                <ahyp:hlinkClr xmlns:ahyp="http://schemas.microsoft.com/office/drawing/2018/hyperlinkcolor" val="tx"/>
                              </a:ext>
                            </a:extLst>
                          </a:hlinkClick>
                        </a:rPr>
                        <a:t>Bribery/Corruption</a:t>
                      </a:r>
                      <a:endParaRPr lang="en-US" sz="900" b="0" u="none" strike="noStrike" kern="120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a:solidFill>
                            <a:schemeClr val="accent2"/>
                          </a:solidFill>
                          <a:effectLst/>
                          <a:hlinkClick r:id="rId9" action="ppaction://hlinksldjump">
                            <a:extLst>
                              <a:ext uri="{A12FA001-AC4F-418D-AE19-62706E023703}">
                                <ahyp:hlinkClr xmlns:ahyp="http://schemas.microsoft.com/office/drawing/2018/hyperlinkcolor" val="tx"/>
                              </a:ext>
                            </a:extLst>
                          </a:hlinkClick>
                        </a:rPr>
                        <a:t>Chemical Spill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a:solidFill>
                            <a:schemeClr val="accent2"/>
                          </a:solidFill>
                          <a:effectLst/>
                          <a:hlinkClick r:id="rId10" action="ppaction://hlinksldjump">
                            <a:extLst>
                              <a:ext uri="{A12FA001-AC4F-418D-AE19-62706E023703}">
                                <ahyp:hlinkClr xmlns:ahyp="http://schemas.microsoft.com/office/drawing/2018/hyperlinkcolor" val="tx"/>
                              </a:ext>
                            </a:extLst>
                          </a:hlinkClick>
                        </a:rPr>
                        <a:t>Company Split</a:t>
                      </a:r>
                      <a:endParaRPr lang="en-US" sz="900" b="0" u="none" strike="noStrike">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1" action="ppaction://hlinksldjump">
                            <a:extLst>
                              <a:ext uri="{A12FA001-AC4F-418D-AE19-62706E023703}">
                                <ahyp:hlinkClr xmlns:ahyp="http://schemas.microsoft.com/office/drawing/2018/hyperlinkcolor" val="tx"/>
                              </a:ext>
                            </a:extLst>
                          </a:hlinkClick>
                        </a:rPr>
                        <a:t>Compliance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a:solidFill>
                            <a:schemeClr val="accent2"/>
                          </a:solidFill>
                          <a:effectLst/>
                          <a:hlinkClick r:id="rId12" action="ppaction://hlinksldjump">
                            <a:extLst>
                              <a:ext uri="{A12FA001-AC4F-418D-AE19-62706E023703}">
                                <ahyp:hlinkClr xmlns:ahyp="http://schemas.microsoft.com/office/drawing/2018/hyperlinkcolor" val="tx"/>
                              </a:ext>
                            </a:extLst>
                          </a:hlinkClick>
                        </a:rPr>
                        <a:t>Corporate Restructuring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a:solidFill>
                            <a:schemeClr val="accent2"/>
                          </a:solidFill>
                          <a:effectLst/>
                          <a:hlinkClick r:id="rId13" action="ppaction://hlinksldjump">
                            <a:extLst>
                              <a:ext uri="{A12FA001-AC4F-418D-AE19-62706E023703}">
                                <ahyp:hlinkClr xmlns:ahyp="http://schemas.microsoft.com/office/drawing/2018/hyperlinkcolor" val="tx"/>
                              </a:ext>
                            </a:extLst>
                          </a:hlinkClick>
                        </a:rPr>
                        <a:t>Cyber Attack</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a:solidFill>
                            <a:schemeClr val="accent2"/>
                          </a:solidFill>
                          <a:effectLst/>
                          <a:hlinkClick r:id="rId14" action="ppaction://hlinksldjump">
                            <a:extLst>
                              <a:ext uri="{A12FA001-AC4F-418D-AE19-62706E023703}">
                                <ahyp:hlinkClr xmlns:ahyp="http://schemas.microsoft.com/office/drawing/2018/hyperlinkcolor" val="tx"/>
                              </a:ext>
                            </a:extLst>
                          </a:hlinkClick>
                        </a:rPr>
                        <a:t>Counterfeit</a:t>
                      </a:r>
                      <a:endParaRPr lang="en-US" sz="900" b="0" u="none" strike="noStrike" kern="120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a:solidFill>
                            <a:schemeClr val="accent2"/>
                          </a:solidFill>
                          <a:effectLst/>
                          <a:hlinkClick r:id="rId15" action="ppaction://hlinksldjump">
                            <a:extLst>
                              <a:ext uri="{A12FA001-AC4F-418D-AE19-62706E023703}">
                                <ahyp:hlinkClr xmlns:ahyp="http://schemas.microsoft.com/office/drawing/2018/hyperlinkcolor" val="tx"/>
                              </a:ext>
                            </a:extLst>
                          </a:hlinkClick>
                        </a:rPr>
                        <a:t>Earthquake</a:t>
                      </a:r>
                      <a:endParaRPr lang="en-US" sz="900" b="0" i="0" u="none" strike="noStrike">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a:solidFill>
                            <a:schemeClr val="accent2"/>
                          </a:solidFill>
                          <a:effectLst/>
                          <a:hlinkClick r:id="rId16" action="ppaction://hlinksldjump">
                            <a:extLst>
                              <a:ext uri="{A12FA001-AC4F-418D-AE19-62706E023703}">
                                <ahyp:hlinkClr xmlns:ahyp="http://schemas.microsoft.com/office/drawing/2018/hyperlinkcolor" val="tx"/>
                              </a:ext>
                            </a:extLst>
                          </a:hlinkClick>
                        </a:rPr>
                        <a:t>Environmental Hazard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a:solidFill>
                            <a:schemeClr val="accent2"/>
                          </a:solidFill>
                          <a:effectLst/>
                          <a:hlinkClick r:id="rId17" action="ppaction://hlinksldjump">
                            <a:extLst>
                              <a:ext uri="{A12FA001-AC4F-418D-AE19-62706E023703}">
                                <ahyp:hlinkClr xmlns:ahyp="http://schemas.microsoft.com/office/drawing/2018/hyperlinkcolor" val="tx"/>
                              </a:ext>
                            </a:extLst>
                          </a:hlinkClick>
                        </a:rPr>
                        <a:t>Extreme Weather</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a:solidFill>
                            <a:schemeClr val="accent2"/>
                          </a:solidFill>
                          <a:effectLst/>
                          <a:hlinkClick r:id="rId18" action="ppaction://hlinksldjump">
                            <a:extLst>
                              <a:ext uri="{A12FA001-AC4F-418D-AE19-62706E023703}">
                                <ahyp:hlinkClr xmlns:ahyp="http://schemas.microsoft.com/office/drawing/2018/hyperlinkcolor" val="tx"/>
                              </a:ext>
                            </a:extLst>
                          </a:hlinkClick>
                        </a:rPr>
                        <a:t>FDA/EMA/OSHA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a:solidFill>
                            <a:schemeClr val="accent2"/>
                          </a:solidFill>
                          <a:effectLst/>
                          <a:hlinkClick r:id="rId19" action="ppaction://hlinksldjump">
                            <a:extLst>
                              <a:ext uri="{A12FA001-AC4F-418D-AE19-62706E023703}">
                                <ahyp:hlinkClr xmlns:ahyp="http://schemas.microsoft.com/office/drawing/2018/hyperlinkcolor" val="tx"/>
                              </a:ext>
                            </a:extLst>
                          </a:hlinkClick>
                        </a:rPr>
                        <a:t>Factory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a:solidFill>
                            <a:schemeClr val="accent2"/>
                          </a:solidFill>
                          <a:effectLst/>
                          <a:hlinkClick r:id="rId20" action="ppaction://hlinksldjump">
                            <a:extLst>
                              <a:ext uri="{A12FA001-AC4F-418D-AE19-62706E023703}">
                                <ahyp:hlinkClr xmlns:ahyp="http://schemas.microsoft.com/office/drawing/2018/hyperlinkcolor" val="tx"/>
                              </a:ext>
                            </a:extLst>
                          </a:hlinkClick>
                        </a:rPr>
                        <a:t>Factory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a:solidFill>
                            <a:schemeClr val="accent2"/>
                          </a:solidFill>
                          <a:effectLst/>
                          <a:hlinkClick r:id="rId21" action="ppaction://hlinksldjump">
                            <a:extLst>
                              <a:ext uri="{A12FA001-AC4F-418D-AE19-62706E023703}">
                                <ahyp:hlinkClr xmlns:ahyp="http://schemas.microsoft.com/office/drawing/2018/hyperlinkcolor" val="tx"/>
                              </a:ext>
                            </a:extLst>
                          </a:hlinkClick>
                        </a:rPr>
                        <a:t>Fine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a:solidFill>
                            <a:schemeClr val="accent2"/>
                          </a:solidFill>
                          <a:effectLst/>
                          <a:hlinkClick r:id="rId22" action="ppaction://hlinksldjump">
                            <a:extLst>
                              <a:ext uri="{A12FA001-AC4F-418D-AE19-62706E023703}">
                                <ahyp:hlinkClr xmlns:ahyp="http://schemas.microsoft.com/office/drawing/2018/hyperlinkcolor" val="tx"/>
                              </a:ext>
                            </a:extLst>
                          </a:hlinkClick>
                        </a:rPr>
                        <a:t>Flood</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a:solidFill>
                            <a:schemeClr val="accent2"/>
                          </a:solidFill>
                          <a:effectLst/>
                          <a:hlinkClick r:id="rId23" action="ppaction://hlinksldjump">
                            <a:extLst>
                              <a:ext uri="{A12FA001-AC4F-418D-AE19-62706E023703}">
                                <ahyp:hlinkClr xmlns:ahyp="http://schemas.microsoft.com/office/drawing/2018/hyperlinkcolor" val="tx"/>
                              </a:ext>
                            </a:extLst>
                          </a:hlinkClick>
                        </a:rPr>
                        <a:t>Force Majeure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a:solidFill>
                            <a:schemeClr val="accent2"/>
                          </a:solidFill>
                          <a:effectLst/>
                          <a:hlinkClick r:id="rId24" action="ppaction://hlinksldjump">
                            <a:extLst>
                              <a:ext uri="{A12FA001-AC4F-418D-AE19-62706E023703}">
                                <ahyp:hlinkClr xmlns:ahyp="http://schemas.microsoft.com/office/drawing/2018/hyperlinkcolor" val="tx"/>
                              </a:ext>
                            </a:extLst>
                          </a:hlinkClick>
                        </a:rPr>
                        <a:t>Forest Fire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a:solidFill>
                            <a:schemeClr val="accent2"/>
                          </a:solidFill>
                          <a:effectLst/>
                          <a:hlinkClick r:id="rId25" action="ppaction://hlinksldjump">
                            <a:extLst>
                              <a:ext uri="{A12FA001-AC4F-418D-AE19-62706E023703}">
                                <ahyp:hlinkClr xmlns:ahyp="http://schemas.microsoft.com/office/drawing/2018/hyperlinkcolor" val="tx"/>
                              </a:ext>
                            </a:extLst>
                          </a:hlinkClick>
                        </a:rPr>
                        <a:t>Geopolitical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a:solidFill>
                            <a:schemeClr val="accent2"/>
                          </a:solidFill>
                          <a:effectLst/>
                          <a:hlinkClick r:id="rId26" action="ppaction://hlinksldjump">
                            <a:extLst>
                              <a:ext uri="{A12FA001-AC4F-418D-AE19-62706E023703}">
                                <ahyp:hlinkClr xmlns:ahyp="http://schemas.microsoft.com/office/drawing/2018/hyperlinkcolor" val="tx"/>
                              </a:ext>
                            </a:extLst>
                          </a:hlinkClick>
                        </a:rPr>
                        <a:t>Human Health</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a:solidFill>
                            <a:schemeClr val="accent2"/>
                          </a:solidFill>
                          <a:effectLst/>
                          <a:hlinkClick r:id="rId27"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a:solidFill>
                            <a:schemeClr val="accent2"/>
                          </a:solidFill>
                          <a:effectLst/>
                          <a:latin typeface="+mn-lt"/>
                          <a:ea typeface="+mn-ea"/>
                          <a:cs typeface="+mn-cs"/>
                          <a:hlinkClick r:id="rId28" action="ppaction://hlinksldjump">
                            <a:extLst>
                              <a:ext uri="{A12FA001-AC4F-418D-AE19-62706E023703}">
                                <ahyp:hlinkClr xmlns:ahyp="http://schemas.microsoft.com/office/drawing/2018/hyperlinkcolor" val="tx"/>
                              </a:ext>
                            </a:extLst>
                          </a:hlinkClick>
                        </a:rPr>
                        <a:t>Hurricane/ Typhoon (Post-Landfall</a:t>
                      </a:r>
                      <a:r>
                        <a:rPr lang="en-US" sz="900" b="0" u="none" strike="noStrike">
                          <a:solidFill>
                            <a:schemeClr val="accent2"/>
                          </a:solidFill>
                          <a:effectLst/>
                          <a:hlinkClick r:id="rId28" action="ppaction://hlinksldjump">
                            <a:extLst>
                              <a:ext uri="{A12FA001-AC4F-418D-AE19-62706E023703}">
                                <ahyp:hlinkClr xmlns:ahyp="http://schemas.microsoft.com/office/drawing/2018/hyperlinkcolor" val="tx"/>
                              </a:ext>
                            </a:extLst>
                          </a:hlinkClick>
                        </a:rPr>
                        <a: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a:solidFill>
                            <a:schemeClr val="accent2"/>
                          </a:solidFill>
                          <a:effectLst/>
                          <a:hlinkClick r:id="rId29" action="ppaction://hlinksldjump">
                            <a:extLst>
                              <a:ext uri="{A12FA001-AC4F-418D-AE19-62706E023703}">
                                <ahyp:hlinkClr xmlns:ahyp="http://schemas.microsoft.com/office/drawing/2018/hyperlinkcolor" val="tx"/>
                              </a:ext>
                            </a:extLst>
                          </a:hlinkClick>
                        </a:rPr>
                        <a:t>Labor Disruption </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a:solidFill>
                            <a:schemeClr val="accent2"/>
                          </a:solidFill>
                          <a:effectLst/>
                          <a:hlinkClick r:id="rId30" action="ppaction://hlinksldjump">
                            <a:extLst>
                              <a:ext uri="{A12FA001-AC4F-418D-AE19-62706E023703}">
                                <ahyp:hlinkClr xmlns:ahyp="http://schemas.microsoft.com/office/drawing/2018/hyperlinkcolor" val="tx"/>
                              </a:ext>
                            </a:extLst>
                          </a:hlinkClick>
                        </a:rPr>
                        <a:t>Labor Violation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a:solidFill>
                            <a:schemeClr val="accent2"/>
                          </a:solidFill>
                          <a:effectLst/>
                          <a:hlinkClick r:id="rId31" action="ppaction://hlinksldjump">
                            <a:extLst>
                              <a:ext uri="{A12FA001-AC4F-418D-AE19-62706E023703}">
                                <ahyp:hlinkClr xmlns:ahyp="http://schemas.microsoft.com/office/drawing/2018/hyperlinkcolor" val="tx"/>
                              </a:ext>
                            </a:extLst>
                          </a:hlinkClick>
                        </a:rPr>
                        <a:t>Leadership Transition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a:solidFill>
                            <a:schemeClr val="accent2"/>
                          </a:solidFill>
                          <a:effectLst/>
                          <a:hlinkClick r:id="rId32" action="ppaction://hlinksldjump">
                            <a:extLst>
                              <a:ext uri="{A12FA001-AC4F-418D-AE19-62706E023703}">
                                <ahyp:hlinkClr xmlns:ahyp="http://schemas.microsoft.com/office/drawing/2018/hyperlinkcolor" val="tx"/>
                              </a:ext>
                            </a:extLst>
                          </a:hlinkClick>
                        </a:rPr>
                        <a:t>Legal Action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a:solidFill>
                            <a:schemeClr val="accent2"/>
                          </a:solidFill>
                          <a:effectLst/>
                          <a:hlinkClick r:id="rId33" action="ppaction://hlinksldjump">
                            <a:extLst>
                              <a:ext uri="{A12FA001-AC4F-418D-AE19-62706E023703}">
                                <ahyp:hlinkClr xmlns:ahyp="http://schemas.microsoft.com/office/drawing/2018/hyperlinkcolor" val="tx"/>
                              </a:ext>
                            </a:extLst>
                          </a:hlinkClick>
                        </a:rPr>
                        <a:t>Merger &amp; Acquisition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a:solidFill>
                            <a:schemeClr val="accent2"/>
                          </a:solidFill>
                          <a:effectLst/>
                          <a:hlinkClick r:id="rId34" action="ppaction://hlinksldjump">
                            <a:extLst>
                              <a:ext uri="{A12FA001-AC4F-418D-AE19-62706E023703}">
                                <ahyp:hlinkClr xmlns:ahyp="http://schemas.microsoft.com/office/drawing/2018/hyperlinkcolor" val="tx"/>
                              </a:ext>
                            </a:extLst>
                          </a:hlinkClick>
                        </a:rPr>
                        <a:t>Mine Shutdown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a:solidFill>
                            <a:schemeClr val="accent2"/>
                          </a:solidFill>
                          <a:effectLst/>
                          <a:hlinkClick r:id="rId35" action="ppaction://hlinksldjump">
                            <a:extLst>
                              <a:ext uri="{A12FA001-AC4F-418D-AE19-62706E023703}">
                                <ahyp:hlinkClr xmlns:ahyp="http://schemas.microsoft.com/office/drawing/2018/hyperlinkcolor" val="tx"/>
                              </a:ext>
                            </a:extLst>
                          </a:hlinkClick>
                        </a:rPr>
                        <a:t>Port Disruption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a:solidFill>
                            <a:schemeClr val="accent2"/>
                          </a:solidFill>
                          <a:effectLst/>
                          <a:hlinkClick r:id="rId36" action="ppaction://hlinksldjump">
                            <a:extLst>
                              <a:ext uri="{A12FA001-AC4F-418D-AE19-62706E023703}">
                                <ahyp:hlinkClr xmlns:ahyp="http://schemas.microsoft.com/office/drawing/2018/hyperlinkcolor" val="tx"/>
                              </a:ext>
                            </a:extLst>
                          </a:hlinkClick>
                        </a:rPr>
                        <a:t>Power Outage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a:solidFill>
                            <a:schemeClr val="accent2"/>
                          </a:solidFill>
                          <a:effectLst/>
                          <a:hlinkClick r:id="rId37" action="ppaction://hlinksldjump">
                            <a:extLst>
                              <a:ext uri="{A12FA001-AC4F-418D-AE19-62706E023703}">
                                <ahyp:hlinkClr xmlns:ahyp="http://schemas.microsoft.com/office/drawing/2018/hyperlinkcolor" val="tx"/>
                              </a:ext>
                            </a:extLst>
                          </a:hlinkClick>
                        </a:rPr>
                        <a:t>Price Fluctuation</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a:solidFill>
                            <a:schemeClr val="accent2"/>
                          </a:solidFill>
                          <a:effectLst/>
                          <a:hlinkClick r:id="rId38" action="ppaction://hlinksldjump">
                            <a:extLst>
                              <a:ext uri="{A12FA001-AC4F-418D-AE19-62706E023703}">
                                <ahyp:hlinkClr xmlns:ahyp="http://schemas.microsoft.com/office/drawing/2018/hyperlinkcolor" val="tx"/>
                              </a:ext>
                            </a:extLst>
                          </a:hlinkClick>
                        </a:rPr>
                        <a:t>Protest/Riot</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a:solidFill>
                            <a:schemeClr val="accent2"/>
                          </a:solidFill>
                          <a:effectLst/>
                          <a:hlinkClick r:id="rId39" action="ppaction://hlinksldjump">
                            <a:extLst>
                              <a:ext uri="{A12FA001-AC4F-418D-AE19-62706E023703}">
                                <ahyp:hlinkClr xmlns:ahyp="http://schemas.microsoft.com/office/drawing/2018/hyperlinkcolor" val="tx"/>
                              </a:ext>
                            </a:extLst>
                          </a:hlinkClick>
                        </a:rPr>
                        <a:t>Recall</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a:solidFill>
                            <a:schemeClr val="accent2"/>
                          </a:solidFill>
                          <a:effectLst/>
                          <a:hlinkClick r:id="rId40" action="ppaction://hlinksldjump">
                            <a:extLst>
                              <a:ext uri="{A12FA001-AC4F-418D-AE19-62706E023703}">
                                <ahyp:hlinkClr xmlns:ahyp="http://schemas.microsoft.com/office/drawing/2018/hyperlinkcolor" val="tx"/>
                              </a:ext>
                            </a:extLst>
                          </a:hlinkClick>
                        </a:rPr>
                        <a:t>Regulatory Change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a:solidFill>
                            <a:schemeClr val="accent2"/>
                          </a:solidFill>
                          <a:effectLst/>
                          <a:hlinkClick r:id="rId41" action="ppaction://hlinksldjump">
                            <a:extLst>
                              <a:ext uri="{A12FA001-AC4F-418D-AE19-62706E023703}">
                                <ahyp:hlinkClr xmlns:ahyp="http://schemas.microsoft.com/office/drawing/2018/hyperlinkcolor" val="tx"/>
                              </a:ext>
                            </a:extLst>
                          </a:hlinkClick>
                        </a:rPr>
                        <a:t>Supply Shortage</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a:solidFill>
                            <a:schemeClr val="accent2"/>
                          </a:solidFill>
                          <a:effectLst/>
                          <a:hlinkClick r:id="rId42" action="ppaction://hlinksldjump">
                            <a:extLst>
                              <a:ext uri="{A12FA001-AC4F-418D-AE19-62706E023703}">
                                <ahyp:hlinkClr xmlns:ahyp="http://schemas.microsoft.com/office/drawing/2018/hyperlinkcolor" val="tx"/>
                              </a:ext>
                            </a:extLst>
                          </a:hlinkClick>
                        </a:rPr>
                        <a:t>Tornado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a:solidFill>
                            <a:schemeClr val="accent2"/>
                          </a:solidFill>
                          <a:effectLst/>
                          <a:hlinkClick r:id="rId43" action="ppaction://hlinksldjump">
                            <a:extLst>
                              <a:ext uri="{A12FA001-AC4F-418D-AE19-62706E023703}">
                                <ahyp:hlinkClr xmlns:ahyp="http://schemas.microsoft.com/office/drawing/2018/hyperlinkcolor" val="tx"/>
                              </a:ext>
                            </a:extLst>
                          </a:hlinkClick>
                        </a:rPr>
                        <a:t>Volcano</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a:solidFill>
                            <a:schemeClr val="accent2"/>
                          </a:solidFill>
                          <a:effectLst/>
                          <a:hlinkClick r:id="rId44" action="ppaction://hlinksldjump">
                            <a:extLst>
                              <a:ext uri="{A12FA001-AC4F-418D-AE19-62706E023703}">
                                <ahyp:hlinkClr xmlns:ahyp="http://schemas.microsoft.com/office/drawing/2018/hyperlinkcolor" val="tx"/>
                              </a:ext>
                            </a:extLst>
                          </a:hlinkClick>
                        </a:rPr>
                        <a:t>Profit Warning</a:t>
                      </a:r>
                      <a:endParaRPr lang="en-US" sz="900" b="0" i="0" u="none" strike="noStrike">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a:solidFill>
                            <a:schemeClr val="accent2"/>
                          </a:solidFill>
                          <a:effectLst/>
                          <a:hlinkClick r:id="rId45"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a:solidFill>
                            <a:schemeClr val="accent2"/>
                          </a:solidFill>
                          <a:effectLst/>
                          <a:hlinkClick r:id="rId46" action="ppaction://hlinksldjump">
                            <a:extLst>
                              <a:ext uri="{A12FA001-AC4F-418D-AE19-62706E023703}">
                                <ahyp:hlinkClr xmlns:ahyp="http://schemas.microsoft.com/office/drawing/2018/hyperlinkcolor" val="tx"/>
                              </a:ext>
                            </a:extLst>
                          </a:hlinkClick>
                        </a:rPr>
                        <a:t>Airworthiness</a:t>
                      </a:r>
                      <a:endParaRPr lang="en-US" sz="900" b="0" u="none" strike="noStrike" kern="1200">
                        <a:solidFill>
                          <a:schemeClr val="accent2"/>
                        </a:solidFill>
                        <a:effectLst/>
                      </a:endParaRPr>
                    </a:p>
                    <a:p>
                      <a:pPr marL="0" algn="ctr" defTabSz="914400" rtl="0" eaLnBrk="1" fontAlgn="ctr" latinLnBrk="0" hangingPunct="1"/>
                      <a:r>
                        <a:rPr lang="en-US" sz="900" b="0" u="none" strike="noStrike" kern="1200">
                          <a:solidFill>
                            <a:schemeClr val="accent2"/>
                          </a:solidFill>
                          <a:effectLst/>
                          <a:latin typeface="+mn-lt"/>
                          <a:ea typeface="+mn-ea"/>
                          <a:cs typeface="+mn-cs"/>
                          <a:hlinkClick r:id="rId14" action="ppaction://hlinksldjump">
                            <a:extLst>
                              <a:ext uri="{A12FA001-AC4F-418D-AE19-62706E023703}">
                                <ahyp:hlinkClr xmlns:ahyp="http://schemas.microsoft.com/office/drawing/2018/hyperlinkcolor" val="tx"/>
                              </a:ext>
                            </a:extLst>
                          </a:hlinkClick>
                        </a:rPr>
                        <a:t>Layoffs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a:solidFill>
                            <a:schemeClr val="accent2"/>
                          </a:solidFill>
                          <a:effectLst/>
                          <a:hlinkClick r:id="rId47"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Tree>
    <p:extLst>
      <p:ext uri="{BB962C8B-B14F-4D97-AF65-F5344CB8AC3E}">
        <p14:creationId xmlns:p14="http://schemas.microsoft.com/office/powerpoint/2010/main" val="4514765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a:off x="3006000" y="423304"/>
            <a:ext cx="4169967" cy="461665"/>
          </a:xfrm>
          <a:prstGeom prst="rect">
            <a:avLst/>
          </a:prstGeom>
          <a:noFill/>
        </p:spPr>
        <p:txBody>
          <a:bodyPr wrap="square" rtlCol="0">
            <a:spAutoFit/>
          </a:bodyPr>
          <a:lstStyle/>
          <a:p>
            <a:pPr algn="ctr"/>
            <a:r>
              <a:rPr lang="en-IN" sz="2400" b="1" dirty="0">
                <a:solidFill>
                  <a:srgbClr val="0070C0"/>
                </a:solidFill>
                <a:latin typeface="Corbel" panose="020B0503020204020204" pitchFamily="34" charset="0"/>
              </a:rPr>
              <a:t>What Resilinc is Doing</a:t>
            </a:r>
          </a:p>
        </p:txBody>
      </p:sp>
      <p:graphicFrame>
        <p:nvGraphicFramePr>
          <p:cNvPr id="7" name="Table 6">
            <a:extLst>
              <a:ext uri="{FF2B5EF4-FFF2-40B4-BE49-F238E27FC236}">
                <a16:creationId xmlns:a16="http://schemas.microsoft.com/office/drawing/2014/main" id="{B8DAA26F-B3EF-C31E-45B3-5A7AE13BB845}"/>
              </a:ext>
            </a:extLst>
          </p:cNvPr>
          <p:cNvGraphicFramePr>
            <a:graphicFrameLocks noGrp="1"/>
          </p:cNvGraphicFramePr>
          <p:nvPr>
            <p:extLst>
              <p:ext uri="{D42A27DB-BD31-4B8C-83A1-F6EECF244321}">
                <p14:modId xmlns:p14="http://schemas.microsoft.com/office/powerpoint/2010/main" val="1262101188"/>
              </p:ext>
            </p:extLst>
          </p:nvPr>
        </p:nvGraphicFramePr>
        <p:xfrm>
          <a:off x="689564" y="1150293"/>
          <a:ext cx="8802841" cy="5030644"/>
        </p:xfrm>
        <a:graphic>
          <a:graphicData uri="http://schemas.openxmlformats.org/drawingml/2006/table">
            <a:tbl>
              <a:tblPr/>
              <a:tblGrid>
                <a:gridCol w="2467826">
                  <a:extLst>
                    <a:ext uri="{9D8B030D-6E8A-4147-A177-3AD203B41FA5}">
                      <a16:colId xmlns:a16="http://schemas.microsoft.com/office/drawing/2014/main" val="3919048305"/>
                    </a:ext>
                  </a:extLst>
                </a:gridCol>
                <a:gridCol w="6335015">
                  <a:extLst>
                    <a:ext uri="{9D8B030D-6E8A-4147-A177-3AD203B41FA5}">
                      <a16:colId xmlns:a16="http://schemas.microsoft.com/office/drawing/2014/main" val="1528179548"/>
                    </a:ext>
                  </a:extLst>
                </a:gridCol>
              </a:tblGrid>
              <a:tr h="774612">
                <a:tc gridSpan="2">
                  <a:txBody>
                    <a:bodyPr/>
                    <a:lstStyle/>
                    <a:p>
                      <a:pPr algn="ctr" fontAlgn="ctr"/>
                      <a:r>
                        <a:rPr lang="en-US" sz="1400" b="1" i="0" u="none" strike="noStrike" dirty="0">
                          <a:solidFill>
                            <a:srgbClr val="000000"/>
                          </a:solidFill>
                          <a:effectLst/>
                          <a:latin typeface="Calibri" panose="020F0502020204030204" pitchFamily="34" charset="0"/>
                        </a:rPr>
                        <a:t>Resilinc Next Steps (What Resilinc is Doing)</a:t>
                      </a:r>
                    </a:p>
                  </a:txBody>
                  <a:tcPr marL="6350" marR="6350" marT="6350" anchor="ctr">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2755958141"/>
                  </a:ext>
                </a:extLst>
              </a:tr>
              <a:tr h="308064">
                <a:tc>
                  <a:txBody>
                    <a:bodyPr/>
                    <a:lstStyle/>
                    <a:p>
                      <a:pPr algn="l" fontAlgn="ctr"/>
                      <a:r>
                        <a:rPr lang="en-US" sz="1400" b="1" i="0" u="none" strike="noStrike" dirty="0">
                          <a:solidFill>
                            <a:srgbClr val="000000"/>
                          </a:solidFill>
                          <a:effectLst/>
                          <a:latin typeface="Calibri" panose="020F0502020204030204" pitchFamily="34" charset="0"/>
                        </a:rPr>
                        <a:t>Default</a:t>
                      </a:r>
                    </a:p>
                  </a:txBody>
                  <a:tcPr marL="6350" marR="6350" marT="6350" anchor="ctr">
                    <a:lnL>
                      <a:noFill/>
                    </a:lnL>
                    <a:lnR>
                      <a:noFill/>
                    </a:lnR>
                    <a:lnT>
                      <a:noFill/>
                    </a:lnT>
                    <a:lnB>
                      <a:noFill/>
                    </a:lnB>
                  </a:tcPr>
                </a:tc>
                <a:tc>
                  <a:txBody>
                    <a:bodyPr/>
                    <a:lstStyle/>
                    <a:p>
                      <a:pPr algn="just" fontAlgn="ctr"/>
                      <a:r>
                        <a:rPr lang="en-US" sz="1400" b="0" i="0" u="none" strike="noStrike" dirty="0">
                          <a:solidFill>
                            <a:srgbClr val="000000"/>
                          </a:solidFill>
                          <a:effectLst/>
                          <a:latin typeface="Calibri" panose="020F0502020204030204" pitchFamily="34" charset="0"/>
                        </a:rPr>
                        <a:t>Resilinc is closely monitoring this event and will send an update should the situation escalate.</a:t>
                      </a:r>
                    </a:p>
                  </a:txBody>
                  <a:tcPr marL="6350" marR="6350" marT="6350" anchor="ctr">
                    <a:lnL>
                      <a:noFill/>
                    </a:lnL>
                    <a:lnR>
                      <a:noFill/>
                    </a:lnR>
                    <a:lnT>
                      <a:noFill/>
                    </a:lnT>
                    <a:lnB>
                      <a:noFill/>
                    </a:lnB>
                  </a:tcPr>
                </a:tc>
                <a:extLst>
                  <a:ext uri="{0D108BD9-81ED-4DB2-BD59-A6C34878D82A}">
                    <a16:rowId xmlns:a16="http://schemas.microsoft.com/office/drawing/2014/main" val="666086383"/>
                  </a:ext>
                </a:extLst>
              </a:tr>
              <a:tr h="828033">
                <a:tc>
                  <a:txBody>
                    <a:bodyPr/>
                    <a:lstStyle/>
                    <a:p>
                      <a:pPr algn="l" fontAlgn="ctr"/>
                      <a:r>
                        <a:rPr lang="en-US" sz="1400" b="1" i="0" u="none" strike="noStrike" dirty="0">
                          <a:solidFill>
                            <a:srgbClr val="000000"/>
                          </a:solidFill>
                          <a:effectLst/>
                          <a:latin typeface="Calibri" panose="020F0502020204030204" pitchFamily="34" charset="0"/>
                        </a:rPr>
                        <a:t>Leadership Transition (Resilinc next steps)</a:t>
                      </a:r>
                    </a:p>
                  </a:txBody>
                  <a:tcPr marL="6350" marR="6350" marT="6350" anchor="ctr">
                    <a:lnL>
                      <a:noFill/>
                    </a:lnL>
                    <a:lnR>
                      <a:noFill/>
                    </a:lnR>
                    <a:lnT>
                      <a:noFill/>
                    </a:lnT>
                    <a:lnB>
                      <a:noFill/>
                    </a:lnB>
                  </a:tcPr>
                </a:tc>
                <a:tc>
                  <a:txBody>
                    <a:bodyPr/>
                    <a:lstStyle/>
                    <a:p>
                      <a:pPr algn="just" fontAlgn="ctr"/>
                      <a:r>
                        <a:rPr lang="en-US" sz="1400" b="0" i="0" u="none" strike="noStrike" dirty="0">
                          <a:solidFill>
                            <a:srgbClr val="000000"/>
                          </a:solidFill>
                          <a:effectLst/>
                          <a:latin typeface="Calibri" panose="020F0502020204030204" pitchFamily="34" charset="0"/>
                        </a:rPr>
                        <a:t>While Resilinc is closely monitoring the leadership transition for pertinent developments, customers with _______ listed as their supplier are advised to review the WarRoom Notification to analyze the potential impact.</a:t>
                      </a:r>
                    </a:p>
                  </a:txBody>
                  <a:tcPr marL="6350" marR="6350" marT="6350" anchor="ctr">
                    <a:lnL>
                      <a:noFill/>
                    </a:lnL>
                    <a:lnR>
                      <a:noFill/>
                    </a:lnR>
                    <a:lnT>
                      <a:noFill/>
                    </a:lnT>
                    <a:lnB>
                      <a:noFill/>
                    </a:lnB>
                  </a:tcPr>
                </a:tc>
                <a:extLst>
                  <a:ext uri="{0D108BD9-81ED-4DB2-BD59-A6C34878D82A}">
                    <a16:rowId xmlns:a16="http://schemas.microsoft.com/office/drawing/2014/main" val="1670774597"/>
                  </a:ext>
                </a:extLst>
              </a:tr>
              <a:tr h="1201984">
                <a:tc>
                  <a:txBody>
                    <a:bodyPr/>
                    <a:lstStyle/>
                    <a:p>
                      <a:pPr algn="l" fontAlgn="ctr"/>
                      <a:r>
                        <a:rPr lang="en-US" sz="1400" b="1" i="0" u="none" strike="noStrike" dirty="0">
                          <a:solidFill>
                            <a:srgbClr val="000000"/>
                          </a:solidFill>
                          <a:effectLst/>
                          <a:latin typeface="Calibri" panose="020F0502020204030204" pitchFamily="34" charset="0"/>
                        </a:rPr>
                        <a:t>WHAT IF</a:t>
                      </a:r>
                    </a:p>
                  </a:txBody>
                  <a:tcPr marL="6350" marR="6350" marT="6350" anchor="ctr">
                    <a:lnL>
                      <a:noFill/>
                    </a:lnL>
                    <a:lnR>
                      <a:noFill/>
                    </a:lnR>
                    <a:lnT>
                      <a:noFill/>
                    </a:lnT>
                    <a:lnB>
                      <a:noFill/>
                    </a:lnB>
                  </a:tcPr>
                </a:tc>
                <a:tc>
                  <a:txBody>
                    <a:bodyPr/>
                    <a:lstStyle/>
                    <a:p>
                      <a:pPr algn="just" fontAlgn="ctr"/>
                      <a:r>
                        <a:rPr lang="en-US" sz="1400" b="0" i="0" u="none" strike="noStrike" dirty="0">
                          <a:solidFill>
                            <a:srgbClr val="000000"/>
                          </a:solidFill>
                          <a:effectLst/>
                          <a:latin typeface="Calibri" panose="020F0502020204030204" pitchFamily="34" charset="0"/>
                        </a:rPr>
                        <a:t>Resilinc has mapped approximately ___ sites in ______,  involved in manufacturing, assembling, warehousing, distribution, fabrication, and testing. While Resilinc continues to monitor the event, customers are advised to utilize the ‘What If’ in EventWatch App to gauge the potential impact from the ……………………</a:t>
                      </a:r>
                    </a:p>
                  </a:txBody>
                  <a:tcPr marL="6350" marR="6350" marT="6350" anchor="ctr">
                    <a:lnL>
                      <a:noFill/>
                    </a:lnL>
                    <a:lnR>
                      <a:noFill/>
                    </a:lnR>
                    <a:lnT>
                      <a:noFill/>
                    </a:lnT>
                    <a:lnB>
                      <a:noFill/>
                    </a:lnB>
                  </a:tcPr>
                </a:tc>
                <a:extLst>
                  <a:ext uri="{0D108BD9-81ED-4DB2-BD59-A6C34878D82A}">
                    <a16:rowId xmlns:a16="http://schemas.microsoft.com/office/drawing/2014/main" val="18338831"/>
                  </a:ext>
                </a:extLst>
              </a:tr>
              <a:tr h="1055075">
                <a:tc>
                  <a:txBody>
                    <a:bodyPr/>
                    <a:lstStyle/>
                    <a:p>
                      <a:pPr algn="l" fontAlgn="ctr"/>
                      <a:r>
                        <a:rPr lang="en-US" sz="1400" b="1" i="0" u="none" strike="noStrike" dirty="0">
                          <a:solidFill>
                            <a:srgbClr val="000000"/>
                          </a:solidFill>
                          <a:effectLst/>
                          <a:latin typeface="Calibri" panose="020F0502020204030204" pitchFamily="34" charset="0"/>
                        </a:rPr>
                        <a:t>Regional Impact</a:t>
                      </a:r>
                    </a:p>
                  </a:txBody>
                  <a:tcPr marL="6350" marR="6350" marT="6350" anchor="ctr">
                    <a:lnL>
                      <a:noFill/>
                    </a:lnL>
                    <a:lnR>
                      <a:noFill/>
                    </a:lnR>
                    <a:lnT>
                      <a:noFill/>
                    </a:lnT>
                    <a:lnB>
                      <a:noFill/>
                    </a:lnB>
                  </a:tcPr>
                </a:tc>
                <a:tc>
                  <a:txBody>
                    <a:bodyPr/>
                    <a:lstStyle/>
                    <a:p>
                      <a:pPr algn="just" fontAlgn="t"/>
                      <a:r>
                        <a:rPr lang="en-US" sz="1400" b="0" i="0" u="none" strike="noStrike" dirty="0">
                          <a:solidFill>
                            <a:srgbClr val="000000"/>
                          </a:solidFill>
                          <a:effectLst/>
                          <a:latin typeface="Calibri" panose="020F0502020204030204" pitchFamily="34" charset="0"/>
                        </a:rPr>
                        <a:t>Resilinc has mapped approximately ___ sites in ______,  involved in manufacturing, assembling, warehousing, distribution, fabrication, and testing. While we continue to monitor the event, please review the WarRoom Notification to determine if any of these sites are a part of your supplier network.</a:t>
                      </a:r>
                    </a:p>
                  </a:txBody>
                  <a:tcPr marL="6350" marR="6350" marT="6350">
                    <a:lnL>
                      <a:noFill/>
                    </a:lnL>
                    <a:lnR>
                      <a:noFill/>
                    </a:lnR>
                    <a:lnT>
                      <a:noFill/>
                    </a:lnT>
                    <a:lnB>
                      <a:noFill/>
                    </a:lnB>
                  </a:tcPr>
                </a:tc>
                <a:extLst>
                  <a:ext uri="{0D108BD9-81ED-4DB2-BD59-A6C34878D82A}">
                    <a16:rowId xmlns:a16="http://schemas.microsoft.com/office/drawing/2014/main" val="2817726728"/>
                  </a:ext>
                </a:extLst>
              </a:tr>
              <a:tr h="543119">
                <a:tc>
                  <a:txBody>
                    <a:bodyPr/>
                    <a:lstStyle/>
                    <a:p>
                      <a:pPr algn="l" fontAlgn="ctr"/>
                      <a:r>
                        <a:rPr lang="en-US" sz="1400" b="1" i="0" u="none" strike="noStrike" dirty="0">
                          <a:solidFill>
                            <a:srgbClr val="000000"/>
                          </a:solidFill>
                          <a:effectLst/>
                          <a:latin typeface="Calibri" panose="020F0502020204030204" pitchFamily="34" charset="0"/>
                        </a:rPr>
                        <a:t>Company/site Impact</a:t>
                      </a:r>
                    </a:p>
                  </a:txBody>
                  <a:tcPr marL="6350" marR="6350" marT="6350" anchor="ctr">
                    <a:lnL>
                      <a:noFill/>
                    </a:lnL>
                    <a:lnR>
                      <a:noFill/>
                    </a:lnR>
                    <a:lnT>
                      <a:noFill/>
                    </a:lnT>
                    <a:lnB>
                      <a:noFill/>
                    </a:lnB>
                  </a:tcPr>
                </a:tc>
                <a:tc>
                  <a:txBody>
                    <a:bodyPr/>
                    <a:lstStyle/>
                    <a:p>
                      <a:pPr algn="just" fontAlgn="ctr"/>
                      <a:r>
                        <a:rPr lang="en-US" sz="1400" b="0" i="0" u="none" strike="noStrike" dirty="0">
                          <a:solidFill>
                            <a:srgbClr val="000000"/>
                          </a:solidFill>
                          <a:effectLst/>
                          <a:latin typeface="Calibri" panose="020F0502020204030204" pitchFamily="34" charset="0"/>
                        </a:rPr>
                        <a:t>While Resilinc continues to monitor the event, customers with _________ listed as their supplier are advised to review the WarRoom Notification to analyze the potential impact.</a:t>
                      </a:r>
                    </a:p>
                  </a:txBody>
                  <a:tcPr marL="6350" marR="6350" marT="6350" anchor="ctr">
                    <a:lnL>
                      <a:noFill/>
                    </a:lnL>
                    <a:lnR>
                      <a:noFill/>
                    </a:lnR>
                    <a:lnT>
                      <a:noFill/>
                    </a:lnT>
                    <a:lnB>
                      <a:noFill/>
                    </a:lnB>
                  </a:tcPr>
                </a:tc>
                <a:extLst>
                  <a:ext uri="{0D108BD9-81ED-4DB2-BD59-A6C34878D82A}">
                    <a16:rowId xmlns:a16="http://schemas.microsoft.com/office/drawing/2014/main" val="1351567496"/>
                  </a:ext>
                </a:extLst>
              </a:tr>
            </a:tbl>
          </a:graphicData>
        </a:graphic>
      </p:graphicFrame>
      <p:sp>
        <p:nvSpPr>
          <p:cNvPr id="4" name="Rectangle: Rounded Corners 3">
            <a:hlinkClick r:id="rId2" action="ppaction://hlinksldjump"/>
            <a:extLst>
              <a:ext uri="{FF2B5EF4-FFF2-40B4-BE49-F238E27FC236}">
                <a16:creationId xmlns:a16="http://schemas.microsoft.com/office/drawing/2014/main" id="{BD7E133B-1672-6E14-70F1-5EC1D3F38EBE}"/>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dirty="0">
              <a:solidFill>
                <a:schemeClr val="bg1"/>
              </a:solidFill>
              <a:latin typeface="Corbel" panose="020B0503020204020204" pitchFamily="34" charset="0"/>
            </a:endParaRPr>
          </a:p>
        </p:txBody>
      </p:sp>
      <p:graphicFrame>
        <p:nvGraphicFramePr>
          <p:cNvPr id="2" name="Table 1">
            <a:extLst>
              <a:ext uri="{FF2B5EF4-FFF2-40B4-BE49-F238E27FC236}">
                <a16:creationId xmlns:a16="http://schemas.microsoft.com/office/drawing/2014/main" id="{B0105853-3041-17FE-754E-1929D5BBB062}"/>
              </a:ext>
            </a:extLst>
          </p:cNvPr>
          <p:cNvGraphicFramePr>
            <a:graphicFrameLocks noGrp="1"/>
          </p:cNvGraphicFramePr>
          <p:nvPr>
            <p:extLst>
              <p:ext uri="{D42A27DB-BD31-4B8C-83A1-F6EECF244321}">
                <p14:modId xmlns:p14="http://schemas.microsoft.com/office/powerpoint/2010/main" val="1365438821"/>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Tree>
    <p:extLst>
      <p:ext uri="{BB962C8B-B14F-4D97-AF65-F5344CB8AC3E}">
        <p14:creationId xmlns:p14="http://schemas.microsoft.com/office/powerpoint/2010/main" val="22210130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9B427E-DACA-2B46-2242-1F8EF272F58D}"/>
              </a:ext>
            </a:extLst>
          </p:cNvPr>
          <p:cNvSpPr/>
          <p:nvPr/>
        </p:nvSpPr>
        <p:spPr>
          <a:xfrm>
            <a:off x="10169560" y="841"/>
            <a:ext cx="2002704" cy="6857160"/>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IN" sz="1200" dirty="0">
              <a:solidFill>
                <a:schemeClr val="tx1"/>
              </a:solidFill>
              <a:latin typeface="Corbel" panose="020B0503020204020204" pitchFamily="34" charset="0"/>
            </a:endParaRPr>
          </a:p>
        </p:txBody>
      </p:sp>
      <p:sp>
        <p:nvSpPr>
          <p:cNvPr id="16" name="Rectangle 15">
            <a:extLst>
              <a:ext uri="{FF2B5EF4-FFF2-40B4-BE49-F238E27FC236}">
                <a16:creationId xmlns:a16="http://schemas.microsoft.com/office/drawing/2014/main" id="{589D68C3-665B-32C9-32BD-85D808FDF871}"/>
              </a:ext>
            </a:extLst>
          </p:cNvPr>
          <p:cNvSpPr/>
          <p:nvPr/>
        </p:nvSpPr>
        <p:spPr>
          <a:xfrm>
            <a:off x="10128178" y="0"/>
            <a:ext cx="55173" cy="68330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Corbel" panose="020B0503020204020204" pitchFamily="34" charset="0"/>
            </a:endParaRPr>
          </a:p>
        </p:txBody>
      </p:sp>
      <p:sp>
        <p:nvSpPr>
          <p:cNvPr id="10" name="TextBox 9">
            <a:extLst>
              <a:ext uri="{FF2B5EF4-FFF2-40B4-BE49-F238E27FC236}">
                <a16:creationId xmlns:a16="http://schemas.microsoft.com/office/drawing/2014/main" id="{B90C778B-9D44-B70A-F699-FDAFA36BDB03}"/>
              </a:ext>
            </a:extLst>
          </p:cNvPr>
          <p:cNvSpPr txBox="1"/>
          <p:nvPr/>
        </p:nvSpPr>
        <p:spPr>
          <a:xfrm rot="16200000">
            <a:off x="-1608046" y="3208669"/>
            <a:ext cx="4467228" cy="461665"/>
          </a:xfrm>
          <a:prstGeom prst="rect">
            <a:avLst/>
          </a:prstGeom>
          <a:noFill/>
        </p:spPr>
        <p:txBody>
          <a:bodyPr wrap="square" rtlCol="0">
            <a:spAutoFit/>
          </a:bodyPr>
          <a:lstStyle/>
          <a:p>
            <a:pPr algn="ctr"/>
            <a:r>
              <a:rPr lang="en-IN" sz="2400" b="1" dirty="0">
                <a:solidFill>
                  <a:srgbClr val="0070C0"/>
                </a:solidFill>
                <a:latin typeface="Corbel" panose="020B0503020204020204" pitchFamily="34" charset="0"/>
              </a:rPr>
              <a:t>EventWatch Industries</a:t>
            </a:r>
          </a:p>
        </p:txBody>
      </p:sp>
      <p:sp>
        <p:nvSpPr>
          <p:cNvPr id="4" name="Rectangle: Rounded Corners 3">
            <a:hlinkClick r:id="rId2" action="ppaction://hlinksldjump"/>
            <a:extLst>
              <a:ext uri="{FF2B5EF4-FFF2-40B4-BE49-F238E27FC236}">
                <a16:creationId xmlns:a16="http://schemas.microsoft.com/office/drawing/2014/main" id="{BD7E133B-1672-6E14-70F1-5EC1D3F38EBE}"/>
              </a:ext>
            </a:extLst>
          </p:cNvPr>
          <p:cNvSpPr/>
          <p:nvPr/>
        </p:nvSpPr>
        <p:spPr>
          <a:xfrm>
            <a:off x="8877323" y="6677093"/>
            <a:ext cx="1230164" cy="18006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Corbel" panose="020B0503020204020204" pitchFamily="34" charset="0"/>
                <a:hlinkClick r:id="rId2" action="ppaction://hlinksldjump">
                  <a:extLst>
                    <a:ext uri="{A12FA001-AC4F-418D-AE19-62706E023703}">
                      <ahyp:hlinkClr xmlns:ahyp="http://schemas.microsoft.com/office/drawing/2018/hyperlinkcolor" val="tx"/>
                    </a:ext>
                  </a:extLst>
                </a:hlinkClick>
              </a:rPr>
              <a:t>Back to Home</a:t>
            </a:r>
            <a:endParaRPr lang="en-US" sz="1400" dirty="0">
              <a:solidFill>
                <a:schemeClr val="bg1"/>
              </a:solidFill>
              <a:latin typeface="Corbel" panose="020B0503020204020204" pitchFamily="34" charset="0"/>
            </a:endParaRPr>
          </a:p>
        </p:txBody>
      </p:sp>
      <p:graphicFrame>
        <p:nvGraphicFramePr>
          <p:cNvPr id="14" name="Table 13">
            <a:extLst>
              <a:ext uri="{FF2B5EF4-FFF2-40B4-BE49-F238E27FC236}">
                <a16:creationId xmlns:a16="http://schemas.microsoft.com/office/drawing/2014/main" id="{ABFC0181-C915-BA2B-2FDA-0E5998027B19}"/>
              </a:ext>
            </a:extLst>
          </p:cNvPr>
          <p:cNvGraphicFramePr>
            <a:graphicFrameLocks noGrp="1"/>
          </p:cNvGraphicFramePr>
          <p:nvPr>
            <p:extLst>
              <p:ext uri="{D42A27DB-BD31-4B8C-83A1-F6EECF244321}">
                <p14:modId xmlns:p14="http://schemas.microsoft.com/office/powerpoint/2010/main" val="1926659380"/>
              </p:ext>
            </p:extLst>
          </p:nvPr>
        </p:nvGraphicFramePr>
        <p:xfrm>
          <a:off x="1094248" y="206821"/>
          <a:ext cx="8668877" cy="6419412"/>
        </p:xfrm>
        <a:graphic>
          <a:graphicData uri="http://schemas.openxmlformats.org/drawingml/2006/table">
            <a:tbl>
              <a:tblPr firstRow="1" bandRow="1">
                <a:noFill/>
                <a:tableStyleId>{5C22544A-7EE6-4342-B048-85BDC9FD1C3A}</a:tableStyleId>
              </a:tblPr>
              <a:tblGrid>
                <a:gridCol w="2747445">
                  <a:extLst>
                    <a:ext uri="{9D8B030D-6E8A-4147-A177-3AD203B41FA5}">
                      <a16:colId xmlns:a16="http://schemas.microsoft.com/office/drawing/2014/main" val="1241026400"/>
                    </a:ext>
                  </a:extLst>
                </a:gridCol>
                <a:gridCol w="3092507">
                  <a:extLst>
                    <a:ext uri="{9D8B030D-6E8A-4147-A177-3AD203B41FA5}">
                      <a16:colId xmlns:a16="http://schemas.microsoft.com/office/drawing/2014/main" val="2881169093"/>
                    </a:ext>
                  </a:extLst>
                </a:gridCol>
                <a:gridCol w="2828925">
                  <a:extLst>
                    <a:ext uri="{9D8B030D-6E8A-4147-A177-3AD203B41FA5}">
                      <a16:colId xmlns:a16="http://schemas.microsoft.com/office/drawing/2014/main" val="1173663156"/>
                    </a:ext>
                  </a:extLst>
                </a:gridCol>
              </a:tblGrid>
              <a:tr h="746758">
                <a:tc>
                  <a:txBody>
                    <a:bodyPr/>
                    <a:lstStyle/>
                    <a:p>
                      <a:pPr algn="l" fontAlgn="ctr"/>
                      <a:r>
                        <a:rPr lang="en-US" sz="1200" b="1" kern="1200" dirty="0">
                          <a:solidFill>
                            <a:srgbClr val="0070C0"/>
                          </a:solidFill>
                          <a:latin typeface="+mn-lt"/>
                          <a:ea typeface="+mn-ea"/>
                          <a:cs typeface="+mn-cs"/>
                        </a:rPr>
                        <a:t>Industry-Specific Verticals (when these verticals are affected, we alert only relevant customers)</a:t>
                      </a:r>
                    </a:p>
                  </a:txBody>
                  <a:tcPr marL="3222" marR="3222" marT="47317" marB="47317" anchor="b">
                    <a:lnL w="12700" cmpd="sng">
                      <a:noFill/>
                    </a:lnL>
                    <a:lnR w="12700" cmpd="sng">
                      <a:noFill/>
                    </a:lnR>
                    <a:lnT w="12700" cmpd="sng">
                      <a:noFill/>
                    </a:lnT>
                    <a:lnB w="38100" cmpd="sng">
                      <a:noFill/>
                    </a:lnB>
                    <a:noFill/>
                  </a:tcPr>
                </a:tc>
                <a:tc>
                  <a:txBody>
                    <a:bodyPr/>
                    <a:lstStyle/>
                    <a:p>
                      <a:pPr algn="l" fontAlgn="ctr"/>
                      <a:r>
                        <a:rPr lang="en-US" sz="1200" b="1" kern="1200" dirty="0">
                          <a:solidFill>
                            <a:srgbClr val="0070C0"/>
                          </a:solidFill>
                          <a:latin typeface="+mn-lt"/>
                          <a:ea typeface="+mn-ea"/>
                          <a:cs typeface="+mn-cs"/>
                        </a:rPr>
                        <a:t>Report If a Supplier is Mapped. (indirect suppliers. When disrupted, we alert customers who mapped the supplier)</a:t>
                      </a:r>
                    </a:p>
                  </a:txBody>
                  <a:tcPr marL="3222" marR="3222" marT="47317" marB="47317" anchor="b">
                    <a:lnL w="12700" cmpd="sng">
                      <a:noFill/>
                    </a:lnL>
                    <a:lnR w="12700" cmpd="sng">
                      <a:noFill/>
                    </a:lnR>
                    <a:lnT w="12700" cmpd="sng">
                      <a:noFill/>
                    </a:lnT>
                    <a:lnB w="38100" cmpd="sng">
                      <a:noFill/>
                    </a:lnB>
                    <a:noFill/>
                  </a:tcPr>
                </a:tc>
                <a:tc>
                  <a:txBody>
                    <a:bodyPr/>
                    <a:lstStyle/>
                    <a:p>
                      <a:pPr algn="l" fontAlgn="ctr"/>
                      <a:r>
                        <a:rPr lang="en-US" sz="1200" b="1" kern="1200" dirty="0">
                          <a:solidFill>
                            <a:srgbClr val="0070C0"/>
                          </a:solidFill>
                          <a:latin typeface="+mn-lt"/>
                          <a:ea typeface="+mn-ea"/>
                          <a:cs typeface="+mn-cs"/>
                        </a:rPr>
                        <a:t>Common Verticals Across All Industries (when these verticals are disrupted, we alert all customers)</a:t>
                      </a:r>
                    </a:p>
                  </a:txBody>
                  <a:tcPr marL="3222" marR="3222" marT="47317" marB="47317" anchor="b">
                    <a:lnL w="12700" cmpd="sng">
                      <a:noFill/>
                    </a:lnL>
                    <a:lnR w="12700" cmpd="sng">
                      <a:noFill/>
                    </a:lnR>
                    <a:lnT w="12700" cmpd="sng">
                      <a:noFill/>
                    </a:lnT>
                    <a:lnB w="38100" cmpd="sng">
                      <a:noFill/>
                    </a:lnB>
                    <a:noFill/>
                  </a:tcPr>
                </a:tc>
                <a:extLst>
                  <a:ext uri="{0D108BD9-81ED-4DB2-BD59-A6C34878D82A}">
                    <a16:rowId xmlns:a16="http://schemas.microsoft.com/office/drawing/2014/main" val="3200836128"/>
                  </a:ext>
                </a:extLst>
              </a:tr>
              <a:tr h="212922">
                <a:tc>
                  <a:txBody>
                    <a:bodyPr/>
                    <a:lstStyle/>
                    <a:p>
                      <a:pPr algn="l" fontAlgn="b"/>
                      <a:r>
                        <a:rPr lang="en-IN" sz="1100" u="none" strike="noStrike" cap="none" spc="0" dirty="0">
                          <a:solidFill>
                            <a:schemeClr val="tx1"/>
                          </a:solidFill>
                          <a:effectLst/>
                        </a:rPr>
                        <a:t>Aerospace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38100" cmpd="sng">
                      <a:noFill/>
                    </a:lnT>
                    <a:lnB w="12700" cmpd="sng">
                      <a:noFill/>
                      <a:prstDash val="solid"/>
                    </a:lnB>
                    <a:noFill/>
                  </a:tcPr>
                </a:tc>
                <a:tc>
                  <a:txBody>
                    <a:bodyPr/>
                    <a:lstStyle/>
                    <a:p>
                      <a:pPr algn="l" fontAlgn="b"/>
                      <a:r>
                        <a:rPr lang="en-IN" sz="1100" u="none" strike="noStrike" cap="none" spc="0" dirty="0">
                          <a:solidFill>
                            <a:schemeClr val="tx1"/>
                          </a:solidFill>
                          <a:effectLst/>
                        </a:rPr>
                        <a:t>Construction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38100" cmpd="sng">
                      <a:noFill/>
                    </a:lnT>
                    <a:lnB w="12700" cmpd="sng">
                      <a:noFill/>
                      <a:prstDash val="solid"/>
                    </a:lnB>
                    <a:noFill/>
                  </a:tcPr>
                </a:tc>
                <a:tc>
                  <a:txBody>
                    <a:bodyPr/>
                    <a:lstStyle/>
                    <a:p>
                      <a:pPr algn="l" fontAlgn="b"/>
                      <a:r>
                        <a:rPr lang="en-US" sz="1100" u="none" strike="noStrike" cap="none" spc="0" dirty="0">
                          <a:solidFill>
                            <a:schemeClr val="tx1"/>
                          </a:solidFill>
                          <a:effectLst/>
                        </a:rPr>
                        <a:t>Cargo, Logistics, Postal and Freight </a:t>
                      </a:r>
                      <a:endParaRPr lang="en-US"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526587352"/>
                  </a:ext>
                </a:extLst>
              </a:tr>
              <a:tr h="212922">
                <a:tc>
                  <a:txBody>
                    <a:bodyPr/>
                    <a:lstStyle/>
                    <a:p>
                      <a:pPr algn="l" fontAlgn="b"/>
                      <a:r>
                        <a:rPr lang="en-IN" sz="1100" u="none" strike="noStrike" cap="none" spc="0" dirty="0">
                          <a:solidFill>
                            <a:schemeClr val="tx1"/>
                          </a:solidFill>
                          <a:effectLst/>
                        </a:rPr>
                        <a:t>Automotive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Facilities management/REFS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Consulting and Services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55148431"/>
                  </a:ext>
                </a:extLst>
              </a:tr>
              <a:tr h="212922">
                <a:tc>
                  <a:txBody>
                    <a:bodyPr/>
                    <a:lstStyle/>
                    <a:p>
                      <a:pPr algn="l" fontAlgn="b"/>
                      <a:r>
                        <a:rPr lang="en-IN" sz="1100" u="none" strike="noStrike" cap="none" spc="0" dirty="0">
                          <a:solidFill>
                            <a:schemeClr val="tx1"/>
                          </a:solidFill>
                          <a:effectLst/>
                        </a:rPr>
                        <a:t>Biotechnology</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Marketing Agency</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Contract manufacturing</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76778395"/>
                  </a:ext>
                </a:extLst>
              </a:tr>
              <a:tr h="212922">
                <a:tc>
                  <a:txBody>
                    <a:bodyPr/>
                    <a:lstStyle/>
                    <a:p>
                      <a:pPr algn="l" fontAlgn="b"/>
                      <a:r>
                        <a:rPr lang="en-IN" sz="1100" u="none" strike="noStrike" cap="none" spc="0">
                          <a:solidFill>
                            <a:schemeClr val="tx1"/>
                          </a:solidFill>
                          <a:effectLst/>
                        </a:rPr>
                        <a:t>Construction</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Retail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Facility Sterilization</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68371390"/>
                  </a:ext>
                </a:extLst>
              </a:tr>
              <a:tr h="212922">
                <a:tc>
                  <a:txBody>
                    <a:bodyPr/>
                    <a:lstStyle/>
                    <a:p>
                      <a:pPr algn="l" fontAlgn="b"/>
                      <a:r>
                        <a:rPr lang="en-IN" sz="1100" u="none" strike="noStrike" cap="none" spc="0">
                          <a:solidFill>
                            <a:schemeClr val="tx1"/>
                          </a:solidFill>
                          <a:effectLst/>
                        </a:rPr>
                        <a:t>Consumer Electronics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Staffing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High Tech, semiconductor, electronics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64173181"/>
                  </a:ext>
                </a:extLst>
              </a:tr>
              <a:tr h="212922">
                <a:tc>
                  <a:txBody>
                    <a:bodyPr/>
                    <a:lstStyle/>
                    <a:p>
                      <a:pPr algn="l" fontAlgn="b"/>
                      <a:r>
                        <a:rPr lang="en-IN" sz="1100" u="none" strike="noStrike" cap="none" spc="0" dirty="0">
                          <a:solidFill>
                            <a:schemeClr val="tx1"/>
                          </a:solidFill>
                          <a:effectLst/>
                        </a:rPr>
                        <a:t>Defense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Travel Management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Petrochemicals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54820249"/>
                  </a:ext>
                </a:extLst>
              </a:tr>
              <a:tr h="212922">
                <a:tc>
                  <a:txBody>
                    <a:bodyPr/>
                    <a:lstStyle/>
                    <a:p>
                      <a:pPr algn="l" fontAlgn="b"/>
                      <a:r>
                        <a:rPr lang="en-IN" sz="1100" u="none" strike="noStrike" cap="none" spc="0" dirty="0">
                          <a:solidFill>
                            <a:schemeClr val="tx1"/>
                          </a:solidFill>
                          <a:effectLst/>
                        </a:rPr>
                        <a:t>Food &amp; Beverage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Insurance and Finance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Industrial Gases </a:t>
                      </a:r>
                      <a:r>
                        <a:rPr lang="en-IN" sz="1100" u="none" strike="noStrike" cap="none" spc="0">
                          <a:solidFill>
                            <a:schemeClr val="tx1"/>
                          </a:solidFill>
                          <a:effectLst/>
                        </a:rPr>
                        <a:t>&amp; Chemicals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41896623"/>
                  </a:ext>
                </a:extLst>
              </a:tr>
              <a:tr h="212922">
                <a:tc>
                  <a:txBody>
                    <a:bodyPr/>
                    <a:lstStyle/>
                    <a:p>
                      <a:pPr algn="l" fontAlgn="b"/>
                      <a:r>
                        <a:rPr lang="en-IN" sz="1100" u="none" strike="noStrike" cap="none" spc="0">
                          <a:solidFill>
                            <a:schemeClr val="tx1"/>
                          </a:solidFill>
                          <a:effectLst/>
                        </a:rPr>
                        <a:t>Freight</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Industrial Packaging and </a:t>
                      </a:r>
                      <a:r>
                        <a:rPr lang="en-IN" sz="1100" u="none" strike="noStrike" cap="none" spc="0" dirty="0" err="1">
                          <a:solidFill>
                            <a:schemeClr val="tx1"/>
                          </a:solidFill>
                          <a:effectLst/>
                        </a:rPr>
                        <a:t>Labeling</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51552786"/>
                  </a:ext>
                </a:extLst>
              </a:tr>
              <a:tr h="212922">
                <a:tc>
                  <a:txBody>
                    <a:bodyPr/>
                    <a:lstStyle/>
                    <a:p>
                      <a:pPr algn="l" fontAlgn="b"/>
                      <a:r>
                        <a:rPr lang="en-IN" sz="1100" u="none" strike="noStrike" cap="none" spc="0" dirty="0">
                          <a:solidFill>
                            <a:schemeClr val="tx1"/>
                          </a:solidFill>
                          <a:effectLst/>
                        </a:rPr>
                        <a:t>Furnishing Goods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Natural Resources and Mining</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81826836"/>
                  </a:ext>
                </a:extLst>
              </a:tr>
              <a:tr h="212922">
                <a:tc>
                  <a:txBody>
                    <a:bodyPr/>
                    <a:lstStyle/>
                    <a:p>
                      <a:pPr algn="l" fontAlgn="b"/>
                      <a:r>
                        <a:rPr lang="en-IN" sz="1100" u="none" strike="noStrike" cap="none" spc="0">
                          <a:solidFill>
                            <a:schemeClr val="tx1"/>
                          </a:solidFill>
                          <a:effectLst/>
                        </a:rPr>
                        <a:t>General Manufacturing</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Office Supplies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22504934"/>
                  </a:ext>
                </a:extLst>
              </a:tr>
              <a:tr h="212922">
                <a:tc>
                  <a:txBody>
                    <a:bodyPr/>
                    <a:lstStyle/>
                    <a:p>
                      <a:pPr algn="l" fontAlgn="b"/>
                      <a:r>
                        <a:rPr lang="en-IN" sz="1100" u="none" strike="noStrike" cap="none" spc="0" dirty="0">
                          <a:solidFill>
                            <a:schemeClr val="tx1"/>
                          </a:solidFill>
                          <a:effectLst/>
                        </a:rPr>
                        <a:t>Healthcare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Plating and Stamping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07484304"/>
                  </a:ext>
                </a:extLst>
              </a:tr>
              <a:tr h="212922">
                <a:tc>
                  <a:txBody>
                    <a:bodyPr/>
                    <a:lstStyle/>
                    <a:p>
                      <a:pPr algn="l" fontAlgn="b"/>
                      <a:r>
                        <a:rPr lang="en-IN" sz="1100" u="none" strike="noStrike" cap="none" spc="0">
                          <a:solidFill>
                            <a:schemeClr val="tx1"/>
                          </a:solidFill>
                          <a:effectLst/>
                        </a:rPr>
                        <a:t>High Tech</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US" sz="1100" u="none" strike="noStrike" cap="none" spc="0" dirty="0">
                          <a:solidFill>
                            <a:schemeClr val="tx1"/>
                          </a:solidFill>
                          <a:effectLst/>
                        </a:rPr>
                        <a:t>Power, Oil, Gas, Water and Utilities</a:t>
                      </a:r>
                      <a:endParaRPr lang="en-US"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202854714"/>
                  </a:ext>
                </a:extLst>
              </a:tr>
              <a:tr h="212922">
                <a:tc>
                  <a:txBody>
                    <a:bodyPr/>
                    <a:lstStyle/>
                    <a:p>
                      <a:pPr algn="l" fontAlgn="b"/>
                      <a:r>
                        <a:rPr lang="en-IN" sz="1100" u="none" strike="noStrike" cap="none" spc="0">
                          <a:solidFill>
                            <a:schemeClr val="tx1"/>
                          </a:solidFill>
                          <a:effectLst/>
                        </a:rPr>
                        <a:t>Industrial Chemicals</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Public Transportation, Bus, Train, Air</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56643928"/>
                  </a:ext>
                </a:extLst>
              </a:tr>
              <a:tr h="212922">
                <a:tc>
                  <a:txBody>
                    <a:bodyPr/>
                    <a:lstStyle/>
                    <a:p>
                      <a:pPr algn="l" fontAlgn="b"/>
                      <a:r>
                        <a:rPr lang="en-IN" sz="1100" u="none" strike="noStrike" cap="none" spc="0">
                          <a:solidFill>
                            <a:schemeClr val="tx1"/>
                          </a:solidFill>
                          <a:effectLst/>
                        </a:rPr>
                        <a:t>Insurance &amp; Finance</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Software and CRM Services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59086893"/>
                  </a:ext>
                </a:extLst>
              </a:tr>
              <a:tr h="212922">
                <a:tc>
                  <a:txBody>
                    <a:bodyPr/>
                    <a:lstStyle/>
                    <a:p>
                      <a:pPr algn="l" fontAlgn="b"/>
                      <a:r>
                        <a:rPr lang="en-IN" sz="1100" u="none" strike="noStrike" cap="none" spc="0" dirty="0">
                          <a:solidFill>
                            <a:schemeClr val="tx1"/>
                          </a:solidFill>
                          <a:effectLst/>
                        </a:rPr>
                        <a:t>Life Sciences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Specialty Chemicals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20463330"/>
                  </a:ext>
                </a:extLst>
              </a:tr>
              <a:tr h="212922">
                <a:tc>
                  <a:txBody>
                    <a:bodyPr/>
                    <a:lstStyle/>
                    <a:p>
                      <a:pPr algn="l" fontAlgn="b"/>
                      <a:r>
                        <a:rPr lang="en-IN" sz="1100" u="none" strike="noStrike" cap="none" spc="0">
                          <a:solidFill>
                            <a:schemeClr val="tx1"/>
                          </a:solidFill>
                          <a:effectLst/>
                        </a:rPr>
                        <a:t>Natural Resources &amp; Mining</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656206819"/>
                  </a:ext>
                </a:extLst>
              </a:tr>
              <a:tr h="212922">
                <a:tc>
                  <a:txBody>
                    <a:bodyPr/>
                    <a:lstStyle/>
                    <a:p>
                      <a:pPr algn="l" fontAlgn="b"/>
                      <a:r>
                        <a:rPr lang="en-IN" sz="1100" u="none" strike="noStrike" cap="none" spc="0">
                          <a:solidFill>
                            <a:schemeClr val="tx1"/>
                          </a:solidFill>
                          <a:effectLst/>
                        </a:rPr>
                        <a:t>Oil &amp; Gas</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48510133"/>
                  </a:ext>
                </a:extLst>
              </a:tr>
              <a:tr h="212922">
                <a:tc>
                  <a:txBody>
                    <a:bodyPr/>
                    <a:lstStyle/>
                    <a:p>
                      <a:pPr algn="l" fontAlgn="b"/>
                      <a:r>
                        <a:rPr lang="en-IN" sz="1100" u="none" strike="noStrike" cap="none" spc="0">
                          <a:solidFill>
                            <a:schemeClr val="tx1"/>
                          </a:solidFill>
                          <a:effectLst/>
                        </a:rPr>
                        <a:t>Packaging</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0086424"/>
                  </a:ext>
                </a:extLst>
              </a:tr>
              <a:tr h="212922">
                <a:tc>
                  <a:txBody>
                    <a:bodyPr/>
                    <a:lstStyle/>
                    <a:p>
                      <a:pPr algn="l" fontAlgn="b"/>
                      <a:r>
                        <a:rPr lang="en-IN" sz="1100" u="none" strike="noStrike" cap="none" spc="0">
                          <a:solidFill>
                            <a:schemeClr val="tx1"/>
                          </a:solidFill>
                          <a:effectLst/>
                        </a:rPr>
                        <a:t>Power &amp; Energy</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40132775"/>
                  </a:ext>
                </a:extLst>
              </a:tr>
              <a:tr h="212922">
                <a:tc>
                  <a:txBody>
                    <a:bodyPr/>
                    <a:lstStyle/>
                    <a:p>
                      <a:pPr algn="l" fontAlgn="b"/>
                      <a:r>
                        <a:rPr lang="en-IN" sz="1100" u="none" strike="noStrike" cap="none" spc="0" dirty="0">
                          <a:solidFill>
                            <a:schemeClr val="tx1"/>
                          </a:solidFill>
                          <a:effectLst/>
                        </a:rPr>
                        <a:t>Public Transportation</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13833599"/>
                  </a:ext>
                </a:extLst>
              </a:tr>
              <a:tr h="212922">
                <a:tc>
                  <a:txBody>
                    <a:bodyPr/>
                    <a:lstStyle/>
                    <a:p>
                      <a:pPr algn="l" fontAlgn="b"/>
                      <a:r>
                        <a:rPr lang="en-IN" sz="1100" u="none" strike="noStrike" cap="none" spc="0" dirty="0">
                          <a:solidFill>
                            <a:schemeClr val="tx1"/>
                          </a:solidFill>
                          <a:effectLst/>
                        </a:rPr>
                        <a:t>Telecommunications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48431195"/>
                  </a:ext>
                </a:extLst>
              </a:tr>
              <a:tr h="212922">
                <a:tc>
                  <a:txBody>
                    <a:bodyPr/>
                    <a:lstStyle/>
                    <a:p>
                      <a:pPr algn="l" fontAlgn="b"/>
                      <a:r>
                        <a:rPr lang="en-IN" sz="1100" u="none" strike="noStrike" cap="none" spc="0" dirty="0">
                          <a:solidFill>
                            <a:schemeClr val="tx1"/>
                          </a:solidFill>
                          <a:effectLst/>
                        </a:rPr>
                        <a:t>Textile</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982753070"/>
                  </a:ext>
                </a:extLst>
              </a:tr>
              <a:tr h="212922">
                <a:tc>
                  <a:txBody>
                    <a:bodyPr/>
                    <a:lstStyle/>
                    <a:p>
                      <a:pPr algn="l" fontAlgn="b"/>
                      <a:r>
                        <a:rPr lang="en-IN" sz="1100" u="none" strike="noStrike" cap="none" spc="0">
                          <a:solidFill>
                            <a:schemeClr val="tx1"/>
                          </a:solidFill>
                          <a:effectLst/>
                        </a:rPr>
                        <a:t>Tobacco and E-cigarettes</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06501730"/>
                  </a:ext>
                </a:extLst>
              </a:tr>
              <a:tr h="212922">
                <a:tc>
                  <a:txBody>
                    <a:bodyPr/>
                    <a:lstStyle/>
                    <a:p>
                      <a:pPr algn="l" fontAlgn="b"/>
                      <a:r>
                        <a:rPr lang="en-IN" sz="1100" u="none" strike="noStrike" cap="none" spc="0">
                          <a:solidFill>
                            <a:schemeClr val="tx1"/>
                          </a:solidFill>
                          <a:effectLst/>
                        </a:rPr>
                        <a:t>Cosmetics &amp; Skincare</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160269360"/>
                  </a:ext>
                </a:extLst>
              </a:tr>
              <a:tr h="212922">
                <a:tc>
                  <a:txBody>
                    <a:bodyPr/>
                    <a:lstStyle/>
                    <a:p>
                      <a:pPr algn="l" fontAlgn="b"/>
                      <a:r>
                        <a:rPr lang="en-IN" sz="1100" u="none" strike="noStrike" cap="none" spc="0" dirty="0">
                          <a:solidFill>
                            <a:schemeClr val="tx1"/>
                          </a:solidFill>
                          <a:effectLst/>
                        </a:rPr>
                        <a:t>SaaS</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a:solidFill>
                            <a:schemeClr val="tx1"/>
                          </a:solidFill>
                          <a:effectLst/>
                        </a:rPr>
                        <a:t> </a:t>
                      </a:r>
                      <a:endParaRPr lang="en-IN" sz="1100" b="0" i="0" u="none" strike="noStrike" cap="none" spc="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44281943"/>
                  </a:ext>
                </a:extLst>
              </a:tr>
              <a:tr h="212922">
                <a:tc>
                  <a:txBody>
                    <a:bodyPr/>
                    <a:lstStyle/>
                    <a:p>
                      <a:pPr algn="l" fontAlgn="b"/>
                      <a:r>
                        <a:rPr lang="en-IN" sz="1100" u="none" strike="noStrike" cap="none" spc="0" dirty="0">
                          <a:solidFill>
                            <a:schemeClr val="tx1"/>
                          </a:solidFill>
                          <a:effectLst/>
                        </a:rPr>
                        <a:t>Research &amp; Development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
                      <a:r>
                        <a:rPr lang="en-IN" sz="1100" u="none" strike="noStrike" cap="none" spc="0" dirty="0">
                          <a:solidFill>
                            <a:schemeClr val="tx1"/>
                          </a:solidFill>
                          <a:effectLst/>
                        </a:rPr>
                        <a:t> </a:t>
                      </a:r>
                      <a:endParaRPr lang="en-IN" sz="1100" b="0" i="0" u="none" strike="noStrike" cap="none" spc="0" dirty="0">
                        <a:solidFill>
                          <a:schemeClr val="tx1"/>
                        </a:solidFill>
                        <a:effectLst/>
                        <a:latin typeface="Calibri" panose="020F0502020204030204" pitchFamily="34" charset="0"/>
                      </a:endParaRPr>
                    </a:p>
                  </a:txBody>
                  <a:tcPr marL="3222" marR="3222" marT="3222" marB="47317" anchor="b">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17130718"/>
                  </a:ext>
                </a:extLst>
              </a:tr>
            </a:tbl>
          </a:graphicData>
        </a:graphic>
      </p:graphicFrame>
      <p:graphicFrame>
        <p:nvGraphicFramePr>
          <p:cNvPr id="2" name="Table 1">
            <a:extLst>
              <a:ext uri="{FF2B5EF4-FFF2-40B4-BE49-F238E27FC236}">
                <a16:creationId xmlns:a16="http://schemas.microsoft.com/office/drawing/2014/main" id="{6E1533EE-6EE8-85A4-2A67-39734992C289}"/>
              </a:ext>
            </a:extLst>
          </p:cNvPr>
          <p:cNvGraphicFramePr>
            <a:graphicFrameLocks noGrp="1"/>
          </p:cNvGraphicFramePr>
          <p:nvPr>
            <p:extLst>
              <p:ext uri="{D42A27DB-BD31-4B8C-83A1-F6EECF244321}">
                <p14:modId xmlns:p14="http://schemas.microsoft.com/office/powerpoint/2010/main" val="2537173869"/>
              </p:ext>
            </p:extLst>
          </p:nvPr>
        </p:nvGraphicFramePr>
        <p:xfrm>
          <a:off x="10168605" y="18917"/>
          <a:ext cx="2023395" cy="6841168"/>
        </p:xfrm>
        <a:graphic>
          <a:graphicData uri="http://schemas.openxmlformats.org/drawingml/2006/table">
            <a:tbl>
              <a:tblPr>
                <a:tableStyleId>{46F890A9-2807-4EBB-B81D-B2AA78EC7F39}</a:tableStyleId>
              </a:tblPr>
              <a:tblGrid>
                <a:gridCol w="2023395">
                  <a:extLst>
                    <a:ext uri="{9D8B030D-6E8A-4147-A177-3AD203B41FA5}">
                      <a16:colId xmlns:a16="http://schemas.microsoft.com/office/drawing/2014/main" val="782294323"/>
                    </a:ext>
                  </a:extLst>
                </a:gridCol>
              </a:tblGrid>
              <a:tr h="153597">
                <a:tc>
                  <a:txBody>
                    <a:bodyPr/>
                    <a:lstStyle/>
                    <a:p>
                      <a:pPr algn="ctr" fontAlgn="ctr"/>
                      <a:r>
                        <a:rPr lang="en-US" sz="900" b="0" u="none" strike="noStrike" dirty="0">
                          <a:solidFill>
                            <a:schemeClr val="accent2"/>
                          </a:solidFill>
                          <a:effectLst/>
                          <a:hlinkClick r:id="rId3" action="ppaction://hlinksldjump">
                            <a:extLst>
                              <a:ext uri="{A12FA001-AC4F-418D-AE19-62706E023703}">
                                <ahyp:hlinkClr xmlns:ahyp="http://schemas.microsoft.com/office/drawing/2018/hyperlinkcolor" val="tx"/>
                              </a:ext>
                            </a:extLst>
                          </a:hlinkClick>
                        </a:rPr>
                        <a:t>Airport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106465014"/>
                  </a:ext>
                </a:extLst>
              </a:tr>
              <a:tr h="153597">
                <a:tc>
                  <a:txBody>
                    <a:bodyPr/>
                    <a:lstStyle/>
                    <a:p>
                      <a:pPr algn="ctr" fontAlgn="ctr"/>
                      <a:r>
                        <a:rPr lang="en-US" sz="900" b="0" u="none" strike="noStrike" dirty="0">
                          <a:solidFill>
                            <a:schemeClr val="accent2"/>
                          </a:solidFill>
                          <a:effectLst/>
                          <a:hlinkClick r:id="rId4" action="ppaction://hlinksldjump">
                            <a:extLst>
                              <a:ext uri="{A12FA001-AC4F-418D-AE19-62706E023703}">
                                <ahyp:hlinkClr xmlns:ahyp="http://schemas.microsoft.com/office/drawing/2018/hyperlinkcolor" val="tx"/>
                              </a:ext>
                            </a:extLst>
                          </a:hlinkClick>
                        </a:rPr>
                        <a:t>Bankruptcy</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288224879"/>
                  </a:ext>
                </a:extLst>
              </a:tr>
              <a:tr h="153597">
                <a:tc>
                  <a:txBody>
                    <a:bodyPr/>
                    <a:lstStyle/>
                    <a:p>
                      <a:pPr algn="ctr" fontAlgn="ctr"/>
                      <a:r>
                        <a:rPr lang="en-US" sz="900" b="0" u="none" strike="noStrike" dirty="0">
                          <a:solidFill>
                            <a:schemeClr val="accent2"/>
                          </a:solidFill>
                          <a:effectLst/>
                          <a:hlinkClick r:id="rId5" action="ppaction://hlinksldjump">
                            <a:extLst>
                              <a:ext uri="{A12FA001-AC4F-418D-AE19-62706E023703}">
                                <ahyp:hlinkClr xmlns:ahyp="http://schemas.microsoft.com/office/drawing/2018/hyperlinkcolor" val="tx"/>
                              </a:ext>
                            </a:extLst>
                          </a:hlinkClick>
                        </a:rPr>
                        <a:t>Business Spin-off</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669156653"/>
                  </a:ext>
                </a:extLst>
              </a:tr>
              <a:tr h="153597">
                <a:tc>
                  <a:txBody>
                    <a:bodyPr/>
                    <a:lstStyle/>
                    <a:p>
                      <a:pPr algn="ctr" fontAlgn="ctr"/>
                      <a:r>
                        <a:rPr lang="en-US" sz="900" b="0" u="none" strike="noStrike" dirty="0">
                          <a:solidFill>
                            <a:schemeClr val="accent2"/>
                          </a:solidFill>
                          <a:effectLst/>
                          <a:hlinkClick r:id="rId6" action="ppaction://hlinksldjump">
                            <a:extLst>
                              <a:ext uri="{A12FA001-AC4F-418D-AE19-62706E023703}">
                                <ahyp:hlinkClr xmlns:ahyp="http://schemas.microsoft.com/office/drawing/2018/hyperlinkcolor" val="tx"/>
                              </a:ext>
                            </a:extLst>
                          </a:hlinkClick>
                        </a:rPr>
                        <a:t>Business Sale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58722190"/>
                  </a:ext>
                </a:extLst>
              </a:tr>
              <a:tr h="0">
                <a:tc>
                  <a:txBody>
                    <a:bodyPr/>
                    <a:lstStyle/>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7" action="ppaction://hlinksldjump">
                            <a:extLst>
                              <a:ext uri="{A12FA001-AC4F-418D-AE19-62706E023703}">
                                <ahyp:hlinkClr xmlns:ahyp="http://schemas.microsoft.com/office/drawing/2018/hyperlinkcolor" val="tx"/>
                              </a:ext>
                            </a:extLst>
                          </a:hlinkClick>
                        </a:rPr>
                        <a:t>Bribery/Corruption</a:t>
                      </a:r>
                      <a:endParaRPr lang="en-US" sz="900" b="0" u="none" strike="noStrike" kern="1200" dirty="0">
                        <a:solidFill>
                          <a:schemeClr val="accent2"/>
                        </a:solidFill>
                        <a:effectLst/>
                        <a:latin typeface="+mn-lt"/>
                        <a:ea typeface="+mn-ea"/>
                        <a:cs typeface="+mn-cs"/>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99721257"/>
                  </a:ext>
                </a:extLst>
              </a:tr>
              <a:tr h="153597">
                <a:tc>
                  <a:txBody>
                    <a:bodyPr/>
                    <a:lstStyle/>
                    <a:p>
                      <a:pPr algn="ctr" fontAlgn="ctr"/>
                      <a:r>
                        <a:rPr lang="en-US" sz="900" b="0" u="none" strike="noStrike" dirty="0">
                          <a:solidFill>
                            <a:schemeClr val="accent2"/>
                          </a:solidFill>
                          <a:effectLst/>
                          <a:hlinkClick r:id="rId8" action="ppaction://hlinksldjump">
                            <a:extLst>
                              <a:ext uri="{A12FA001-AC4F-418D-AE19-62706E023703}">
                                <ahyp:hlinkClr xmlns:ahyp="http://schemas.microsoft.com/office/drawing/2018/hyperlinkcolor" val="tx"/>
                              </a:ext>
                            </a:extLst>
                          </a:hlinkClick>
                        </a:rPr>
                        <a:t>Chemical Spill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21042329"/>
                  </a:ext>
                </a:extLst>
              </a:tr>
              <a:tr h="278240">
                <a:tc>
                  <a:txBody>
                    <a:bodyPr/>
                    <a:lstStyle/>
                    <a:p>
                      <a:pPr algn="ctr" fontAlgn="ctr"/>
                      <a:r>
                        <a:rPr lang="en-US" sz="900" b="0" u="none" strike="noStrike" dirty="0">
                          <a:solidFill>
                            <a:schemeClr val="accent2"/>
                          </a:solidFill>
                          <a:effectLst/>
                          <a:hlinkClick r:id="rId9" action="ppaction://hlinksldjump">
                            <a:extLst>
                              <a:ext uri="{A12FA001-AC4F-418D-AE19-62706E023703}">
                                <ahyp:hlinkClr xmlns:ahyp="http://schemas.microsoft.com/office/drawing/2018/hyperlinkcolor" val="tx"/>
                              </a:ext>
                            </a:extLst>
                          </a:hlinkClick>
                        </a:rPr>
                        <a:t>Company Split</a:t>
                      </a:r>
                      <a:endParaRPr lang="en-US" sz="900" b="0" u="none" strike="noStrike" dirty="0">
                        <a:solidFill>
                          <a:schemeClr val="accent2"/>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0" action="ppaction://hlinksldjump">
                            <a:extLst>
                              <a:ext uri="{A12FA001-AC4F-418D-AE19-62706E023703}">
                                <ahyp:hlinkClr xmlns:ahyp="http://schemas.microsoft.com/office/drawing/2018/hyperlinkcolor" val="tx"/>
                              </a:ext>
                            </a:extLst>
                          </a:hlinkClick>
                        </a:rPr>
                        <a:t>Compliance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49840805"/>
                  </a:ext>
                </a:extLst>
              </a:tr>
              <a:tr h="153597">
                <a:tc>
                  <a:txBody>
                    <a:bodyPr/>
                    <a:lstStyle/>
                    <a:p>
                      <a:pPr algn="ctr" fontAlgn="ctr"/>
                      <a:r>
                        <a:rPr lang="en-US" sz="900" b="0" u="none" strike="noStrike" dirty="0">
                          <a:solidFill>
                            <a:schemeClr val="accent2"/>
                          </a:solidFill>
                          <a:effectLst/>
                          <a:hlinkClick r:id="rId11" action="ppaction://hlinksldjump">
                            <a:extLst>
                              <a:ext uri="{A12FA001-AC4F-418D-AE19-62706E023703}">
                                <ahyp:hlinkClr xmlns:ahyp="http://schemas.microsoft.com/office/drawing/2018/hyperlinkcolor" val="tx"/>
                              </a:ext>
                            </a:extLst>
                          </a:hlinkClick>
                        </a:rPr>
                        <a:t>Corporate Restructuring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534803443"/>
                  </a:ext>
                </a:extLst>
              </a:tr>
              <a:tr h="153597">
                <a:tc>
                  <a:txBody>
                    <a:bodyPr/>
                    <a:lstStyle/>
                    <a:p>
                      <a:pPr algn="ctr" fontAlgn="ctr"/>
                      <a:r>
                        <a:rPr lang="en-US" sz="900" b="0" u="none" strike="noStrike" dirty="0">
                          <a:solidFill>
                            <a:schemeClr val="accent2"/>
                          </a:solidFill>
                          <a:effectLst/>
                          <a:hlinkClick r:id="rId12" action="ppaction://hlinksldjump">
                            <a:extLst>
                              <a:ext uri="{A12FA001-AC4F-418D-AE19-62706E023703}">
                                <ahyp:hlinkClr xmlns:ahyp="http://schemas.microsoft.com/office/drawing/2018/hyperlinkcolor" val="tx"/>
                              </a:ext>
                            </a:extLst>
                          </a:hlinkClick>
                        </a:rPr>
                        <a:t>Cyber Attack</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91499271"/>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kern="1200" dirty="0">
                          <a:solidFill>
                            <a:schemeClr val="accent2"/>
                          </a:solidFill>
                          <a:effectLst/>
                          <a:hlinkClick r:id="rId13" action="ppaction://hlinksldjump">
                            <a:extLst>
                              <a:ext uri="{A12FA001-AC4F-418D-AE19-62706E023703}">
                                <ahyp:hlinkClr xmlns:ahyp="http://schemas.microsoft.com/office/drawing/2018/hyperlinkcolor" val="tx"/>
                              </a:ext>
                            </a:extLst>
                          </a:hlinkClick>
                        </a:rPr>
                        <a:t>Counterfeit</a:t>
                      </a:r>
                      <a:endParaRPr lang="en-US" sz="900" b="0" u="none" strike="noStrike" kern="1200" dirty="0">
                        <a:solidFill>
                          <a:schemeClr val="accent2"/>
                        </a:solidFill>
                        <a:effectLst/>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34829878"/>
                  </a:ext>
                </a:extLst>
              </a:tr>
              <a:tr h="153597">
                <a:tc>
                  <a:txBody>
                    <a:bodyPr/>
                    <a:lstStyle/>
                    <a:p>
                      <a:pPr algn="ctr" fontAlgn="ctr"/>
                      <a:r>
                        <a:rPr lang="en-US" sz="900" b="0" u="none" strike="noStrike" dirty="0">
                          <a:solidFill>
                            <a:schemeClr val="accent2"/>
                          </a:solidFill>
                          <a:effectLst/>
                          <a:hlinkClick r:id="rId14" action="ppaction://hlinksldjump">
                            <a:extLst>
                              <a:ext uri="{A12FA001-AC4F-418D-AE19-62706E023703}">
                                <ahyp:hlinkClr xmlns:ahyp="http://schemas.microsoft.com/office/drawing/2018/hyperlinkcolor" val="tx"/>
                              </a:ext>
                            </a:extLst>
                          </a:hlinkClick>
                        </a:rPr>
                        <a:t>Earthquake</a:t>
                      </a:r>
                      <a:endParaRPr lang="en-US" sz="900" b="0" i="0" u="none" strike="noStrike" dirty="0">
                        <a:solidFill>
                          <a:schemeClr val="accent2"/>
                        </a:solidFill>
                        <a:effectLst/>
                        <a:latin typeface="Calibri" panose="020F050202020403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190196473"/>
                  </a:ext>
                </a:extLst>
              </a:tr>
              <a:tr h="153597">
                <a:tc>
                  <a:txBody>
                    <a:bodyPr/>
                    <a:lstStyle/>
                    <a:p>
                      <a:pPr algn="ctr" fontAlgn="ctr"/>
                      <a:r>
                        <a:rPr lang="en-US" sz="900" b="0" u="none" strike="noStrike" dirty="0">
                          <a:solidFill>
                            <a:schemeClr val="accent2"/>
                          </a:solidFill>
                          <a:effectLst/>
                          <a:hlinkClick r:id="rId15" action="ppaction://hlinksldjump">
                            <a:extLst>
                              <a:ext uri="{A12FA001-AC4F-418D-AE19-62706E023703}">
                                <ahyp:hlinkClr xmlns:ahyp="http://schemas.microsoft.com/office/drawing/2018/hyperlinkcolor" val="tx"/>
                              </a:ext>
                            </a:extLst>
                          </a:hlinkClick>
                        </a:rPr>
                        <a:t>Environmental Hazard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4253928807"/>
                  </a:ext>
                </a:extLst>
              </a:tr>
              <a:tr h="153597">
                <a:tc>
                  <a:txBody>
                    <a:bodyPr/>
                    <a:lstStyle/>
                    <a:p>
                      <a:pPr algn="ctr" fontAlgn="ctr"/>
                      <a:r>
                        <a:rPr lang="en-US" sz="900" b="0" u="none" strike="noStrike" dirty="0">
                          <a:solidFill>
                            <a:schemeClr val="accent2"/>
                          </a:solidFill>
                          <a:effectLst/>
                          <a:hlinkClick r:id="rId16" action="ppaction://hlinksldjump">
                            <a:extLst>
                              <a:ext uri="{A12FA001-AC4F-418D-AE19-62706E023703}">
                                <ahyp:hlinkClr xmlns:ahyp="http://schemas.microsoft.com/office/drawing/2018/hyperlinkcolor" val="tx"/>
                              </a:ext>
                            </a:extLst>
                          </a:hlinkClick>
                        </a:rPr>
                        <a:t>Extreme Weather</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705862671"/>
                  </a:ext>
                </a:extLst>
              </a:tr>
              <a:tr h="153597">
                <a:tc>
                  <a:txBody>
                    <a:bodyPr/>
                    <a:lstStyle/>
                    <a:p>
                      <a:pPr algn="ctr" fontAlgn="ctr"/>
                      <a:r>
                        <a:rPr lang="en-US" sz="900" b="0" u="none" strike="noStrike" dirty="0">
                          <a:solidFill>
                            <a:schemeClr val="accent2"/>
                          </a:solidFill>
                          <a:effectLst/>
                          <a:hlinkClick r:id="rId17" action="ppaction://hlinksldjump">
                            <a:extLst>
                              <a:ext uri="{A12FA001-AC4F-418D-AE19-62706E023703}">
                                <ahyp:hlinkClr xmlns:ahyp="http://schemas.microsoft.com/office/drawing/2018/hyperlinkcolor" val="tx"/>
                              </a:ext>
                            </a:extLst>
                          </a:hlinkClick>
                        </a:rPr>
                        <a:t>FDA/EMA/OSHA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368210849"/>
                  </a:ext>
                </a:extLst>
              </a:tr>
              <a:tr h="1535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u="none" strike="noStrike" dirty="0">
                          <a:solidFill>
                            <a:schemeClr val="accent2"/>
                          </a:solidFill>
                          <a:effectLst/>
                          <a:hlinkClick r:id="rId18" action="ppaction://hlinksldjump">
                            <a:extLst>
                              <a:ext uri="{A12FA001-AC4F-418D-AE19-62706E023703}">
                                <ahyp:hlinkClr xmlns:ahyp="http://schemas.microsoft.com/office/drawing/2018/hyperlinkcolor" val="tx"/>
                              </a:ext>
                            </a:extLst>
                          </a:hlinkClick>
                        </a:rPr>
                        <a:t>Factory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79599"/>
                  </a:ext>
                </a:extLst>
              </a:tr>
              <a:tr h="153597">
                <a:tc>
                  <a:txBody>
                    <a:bodyPr/>
                    <a:lstStyle/>
                    <a:p>
                      <a:pPr algn="ctr" fontAlgn="ctr"/>
                      <a:r>
                        <a:rPr lang="en-US" sz="900" b="0" u="none" strike="noStrike" dirty="0">
                          <a:solidFill>
                            <a:schemeClr val="accent2"/>
                          </a:solidFill>
                          <a:effectLst/>
                          <a:hlinkClick r:id="rId19" action="ppaction://hlinksldjump">
                            <a:extLst>
                              <a:ext uri="{A12FA001-AC4F-418D-AE19-62706E023703}">
                                <ahyp:hlinkClr xmlns:ahyp="http://schemas.microsoft.com/office/drawing/2018/hyperlinkcolor" val="tx"/>
                              </a:ext>
                            </a:extLst>
                          </a:hlinkClick>
                        </a:rPr>
                        <a:t>Factory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501741170"/>
                  </a:ext>
                </a:extLst>
              </a:tr>
              <a:tr h="153597">
                <a:tc>
                  <a:txBody>
                    <a:bodyPr/>
                    <a:lstStyle/>
                    <a:p>
                      <a:pPr algn="ctr" fontAlgn="ctr"/>
                      <a:r>
                        <a:rPr lang="en-US" sz="900" b="0" u="none" strike="noStrike" dirty="0">
                          <a:solidFill>
                            <a:schemeClr val="accent2"/>
                          </a:solidFill>
                          <a:effectLst/>
                          <a:hlinkClick r:id="rId20" action="ppaction://hlinksldjump">
                            <a:extLst>
                              <a:ext uri="{A12FA001-AC4F-418D-AE19-62706E023703}">
                                <ahyp:hlinkClr xmlns:ahyp="http://schemas.microsoft.com/office/drawing/2018/hyperlinkcolor" val="tx"/>
                              </a:ext>
                            </a:extLst>
                          </a:hlinkClick>
                        </a:rPr>
                        <a:t>Fine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65625167"/>
                  </a:ext>
                </a:extLst>
              </a:tr>
              <a:tr h="153597">
                <a:tc>
                  <a:txBody>
                    <a:bodyPr/>
                    <a:lstStyle/>
                    <a:p>
                      <a:pPr algn="ctr" fontAlgn="ctr"/>
                      <a:r>
                        <a:rPr lang="en-US" sz="900" b="0" u="none" strike="noStrike" dirty="0">
                          <a:solidFill>
                            <a:schemeClr val="accent2"/>
                          </a:solidFill>
                          <a:effectLst/>
                          <a:hlinkClick r:id="rId21" action="ppaction://hlinksldjump">
                            <a:extLst>
                              <a:ext uri="{A12FA001-AC4F-418D-AE19-62706E023703}">
                                <ahyp:hlinkClr xmlns:ahyp="http://schemas.microsoft.com/office/drawing/2018/hyperlinkcolor" val="tx"/>
                              </a:ext>
                            </a:extLst>
                          </a:hlinkClick>
                        </a:rPr>
                        <a:t>Flood</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26132234"/>
                  </a:ext>
                </a:extLst>
              </a:tr>
              <a:tr h="153597">
                <a:tc>
                  <a:txBody>
                    <a:bodyPr/>
                    <a:lstStyle/>
                    <a:p>
                      <a:pPr algn="ctr" fontAlgn="ctr"/>
                      <a:r>
                        <a:rPr lang="en-US" sz="900" b="0" u="none" strike="noStrike" dirty="0">
                          <a:solidFill>
                            <a:schemeClr val="accent2"/>
                          </a:solidFill>
                          <a:effectLst/>
                          <a:hlinkClick r:id="rId22" action="ppaction://hlinksldjump">
                            <a:extLst>
                              <a:ext uri="{A12FA001-AC4F-418D-AE19-62706E023703}">
                                <ahyp:hlinkClr xmlns:ahyp="http://schemas.microsoft.com/office/drawing/2018/hyperlinkcolor" val="tx"/>
                              </a:ext>
                            </a:extLst>
                          </a:hlinkClick>
                        </a:rPr>
                        <a:t>Force Majeure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21192067"/>
                  </a:ext>
                </a:extLst>
              </a:tr>
              <a:tr h="153597">
                <a:tc>
                  <a:txBody>
                    <a:bodyPr/>
                    <a:lstStyle/>
                    <a:p>
                      <a:pPr algn="ctr" fontAlgn="ctr"/>
                      <a:r>
                        <a:rPr lang="en-US" sz="900" b="0" u="none" strike="noStrike" dirty="0">
                          <a:solidFill>
                            <a:schemeClr val="accent2"/>
                          </a:solidFill>
                          <a:effectLst/>
                          <a:hlinkClick r:id="rId23" action="ppaction://hlinksldjump">
                            <a:extLst>
                              <a:ext uri="{A12FA001-AC4F-418D-AE19-62706E023703}">
                                <ahyp:hlinkClr xmlns:ahyp="http://schemas.microsoft.com/office/drawing/2018/hyperlinkcolor" val="tx"/>
                              </a:ext>
                            </a:extLst>
                          </a:hlinkClick>
                        </a:rPr>
                        <a:t>Forest Fire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0736377"/>
                  </a:ext>
                </a:extLst>
              </a:tr>
              <a:tr h="153597">
                <a:tc>
                  <a:txBody>
                    <a:bodyPr/>
                    <a:lstStyle/>
                    <a:p>
                      <a:pPr algn="ctr" fontAlgn="ctr"/>
                      <a:r>
                        <a:rPr lang="en-US" sz="900" b="0" u="none" strike="noStrike" dirty="0">
                          <a:solidFill>
                            <a:schemeClr val="accent2"/>
                          </a:solidFill>
                          <a:effectLst/>
                          <a:hlinkClick r:id="rId24" action="ppaction://hlinksldjump">
                            <a:extLst>
                              <a:ext uri="{A12FA001-AC4F-418D-AE19-62706E023703}">
                                <ahyp:hlinkClr xmlns:ahyp="http://schemas.microsoft.com/office/drawing/2018/hyperlinkcolor" val="tx"/>
                              </a:ext>
                            </a:extLst>
                          </a:hlinkClick>
                        </a:rPr>
                        <a:t>Geopolitical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117306044"/>
                  </a:ext>
                </a:extLst>
              </a:tr>
              <a:tr h="153597">
                <a:tc>
                  <a:txBody>
                    <a:bodyPr/>
                    <a:lstStyle/>
                    <a:p>
                      <a:pPr algn="ctr" fontAlgn="ctr"/>
                      <a:r>
                        <a:rPr lang="en-US" sz="900" b="0" u="none" strike="noStrike" dirty="0">
                          <a:solidFill>
                            <a:schemeClr val="accent2"/>
                          </a:solidFill>
                          <a:effectLst/>
                          <a:hlinkClick r:id="rId25" action="ppaction://hlinksldjump">
                            <a:extLst>
                              <a:ext uri="{A12FA001-AC4F-418D-AE19-62706E023703}">
                                <ahyp:hlinkClr xmlns:ahyp="http://schemas.microsoft.com/office/drawing/2018/hyperlinkcolor" val="tx"/>
                              </a:ext>
                            </a:extLst>
                          </a:hlinkClick>
                        </a:rPr>
                        <a:t>Human Health</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429053603"/>
                  </a:ext>
                </a:extLst>
              </a:tr>
              <a:tr h="153597">
                <a:tc>
                  <a:txBody>
                    <a:bodyPr/>
                    <a:lstStyle/>
                    <a:p>
                      <a:pPr algn="ctr" fontAlgn="ctr"/>
                      <a:r>
                        <a:rPr lang="en-US" sz="900" b="0" u="none" strike="noStrike" dirty="0">
                          <a:solidFill>
                            <a:schemeClr val="accent2"/>
                          </a:solidFill>
                          <a:effectLst/>
                          <a:hlinkClick r:id="rId26" action="ppaction://hlinksldjump">
                            <a:extLst>
                              <a:ext uri="{A12FA001-AC4F-418D-AE19-62706E023703}">
                                <ahyp:hlinkClr xmlns:ahyp="http://schemas.microsoft.com/office/drawing/2018/hyperlinkcolor" val="tx"/>
                              </a:ext>
                            </a:extLst>
                          </a:hlinkClick>
                        </a:rPr>
                        <a:t>Hurricane/ Typhoon (Pre-Landfall)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52193105"/>
                  </a:ext>
                </a:extLst>
              </a:tr>
              <a:tr h="153597">
                <a:tc>
                  <a:txBody>
                    <a:bodyPr/>
                    <a:lstStyle/>
                    <a:p>
                      <a:pPr algn="ctr" fontAlgn="ctr"/>
                      <a:r>
                        <a:rPr lang="en-US" sz="900" b="0" u="none" strike="noStrike" kern="1200" dirty="0">
                          <a:solidFill>
                            <a:schemeClr val="accent2"/>
                          </a:solidFill>
                          <a:effectLst/>
                          <a:latin typeface="+mn-lt"/>
                          <a:ea typeface="+mn-ea"/>
                          <a:cs typeface="+mn-cs"/>
                          <a:hlinkClick r:id="rId27" action="ppaction://hlinksldjump">
                            <a:extLst>
                              <a:ext uri="{A12FA001-AC4F-418D-AE19-62706E023703}">
                                <ahyp:hlinkClr xmlns:ahyp="http://schemas.microsoft.com/office/drawing/2018/hyperlinkcolor" val="tx"/>
                              </a:ext>
                            </a:extLst>
                          </a:hlinkClick>
                        </a:rPr>
                        <a:t>Hurricane/ Typhoon (Post-Landfall</a:t>
                      </a:r>
                      <a:r>
                        <a:rPr lang="en-US" sz="900" b="0" u="none" strike="noStrike" dirty="0">
                          <a:solidFill>
                            <a:schemeClr val="accent2"/>
                          </a:solidFill>
                          <a:effectLst/>
                          <a:hlinkClick r:id="rId27" action="ppaction://hlinksldjump">
                            <a:extLst>
                              <a:ext uri="{A12FA001-AC4F-418D-AE19-62706E023703}">
                                <ahyp:hlinkClr xmlns:ahyp="http://schemas.microsoft.com/office/drawing/2018/hyperlinkcolor" val="tx"/>
                              </a:ext>
                            </a:extLst>
                          </a:hlinkClick>
                        </a:rPr>
                        <a: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567790318"/>
                  </a:ext>
                </a:extLst>
              </a:tr>
              <a:tr h="153597">
                <a:tc>
                  <a:txBody>
                    <a:bodyPr/>
                    <a:lstStyle/>
                    <a:p>
                      <a:pPr algn="ctr" fontAlgn="ctr"/>
                      <a:r>
                        <a:rPr lang="en-US" sz="900" b="0" u="none" strike="noStrike" dirty="0">
                          <a:solidFill>
                            <a:schemeClr val="accent2"/>
                          </a:solidFill>
                          <a:effectLst/>
                          <a:hlinkClick r:id="rId28" action="ppaction://hlinksldjump">
                            <a:extLst>
                              <a:ext uri="{A12FA001-AC4F-418D-AE19-62706E023703}">
                                <ahyp:hlinkClr xmlns:ahyp="http://schemas.microsoft.com/office/drawing/2018/hyperlinkcolor" val="tx"/>
                              </a:ext>
                            </a:extLst>
                          </a:hlinkClick>
                        </a:rPr>
                        <a:t>Labor Disruption </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72704034"/>
                  </a:ext>
                </a:extLst>
              </a:tr>
              <a:tr h="153597">
                <a:tc>
                  <a:txBody>
                    <a:bodyPr/>
                    <a:lstStyle/>
                    <a:p>
                      <a:pPr algn="ctr" fontAlgn="ctr"/>
                      <a:r>
                        <a:rPr lang="en-US" sz="900" b="0" u="none" strike="noStrike" dirty="0">
                          <a:solidFill>
                            <a:schemeClr val="accent2"/>
                          </a:solidFill>
                          <a:effectLst/>
                          <a:hlinkClick r:id="rId29" action="ppaction://hlinksldjump">
                            <a:extLst>
                              <a:ext uri="{A12FA001-AC4F-418D-AE19-62706E023703}">
                                <ahyp:hlinkClr xmlns:ahyp="http://schemas.microsoft.com/office/drawing/2018/hyperlinkcolor" val="tx"/>
                              </a:ext>
                            </a:extLst>
                          </a:hlinkClick>
                        </a:rPr>
                        <a:t>Labor Violation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86352020"/>
                  </a:ext>
                </a:extLst>
              </a:tr>
              <a:tr h="153597">
                <a:tc>
                  <a:txBody>
                    <a:bodyPr/>
                    <a:lstStyle/>
                    <a:p>
                      <a:pPr algn="ctr" fontAlgn="ctr"/>
                      <a:r>
                        <a:rPr lang="en-US" sz="900" b="0" u="none" strike="noStrike" dirty="0">
                          <a:solidFill>
                            <a:schemeClr val="accent2"/>
                          </a:solidFill>
                          <a:effectLst/>
                          <a:hlinkClick r:id="rId30" action="ppaction://hlinksldjump">
                            <a:extLst>
                              <a:ext uri="{A12FA001-AC4F-418D-AE19-62706E023703}">
                                <ahyp:hlinkClr xmlns:ahyp="http://schemas.microsoft.com/office/drawing/2018/hyperlinkcolor" val="tx"/>
                              </a:ext>
                            </a:extLst>
                          </a:hlinkClick>
                        </a:rPr>
                        <a:t>Leadership Transition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307630305"/>
                  </a:ext>
                </a:extLst>
              </a:tr>
              <a:tr h="153597">
                <a:tc>
                  <a:txBody>
                    <a:bodyPr/>
                    <a:lstStyle/>
                    <a:p>
                      <a:pPr algn="ctr" fontAlgn="ctr"/>
                      <a:r>
                        <a:rPr lang="en-US" sz="900" b="0" u="none" strike="noStrike" dirty="0">
                          <a:solidFill>
                            <a:schemeClr val="accent2"/>
                          </a:solidFill>
                          <a:effectLst/>
                          <a:hlinkClick r:id="rId31" action="ppaction://hlinksldjump">
                            <a:extLst>
                              <a:ext uri="{A12FA001-AC4F-418D-AE19-62706E023703}">
                                <ahyp:hlinkClr xmlns:ahyp="http://schemas.microsoft.com/office/drawing/2018/hyperlinkcolor" val="tx"/>
                              </a:ext>
                            </a:extLst>
                          </a:hlinkClick>
                        </a:rPr>
                        <a:t>Legal Action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410544827"/>
                  </a:ext>
                </a:extLst>
              </a:tr>
              <a:tr h="153597">
                <a:tc>
                  <a:txBody>
                    <a:bodyPr/>
                    <a:lstStyle/>
                    <a:p>
                      <a:pPr algn="ctr" fontAlgn="ctr"/>
                      <a:r>
                        <a:rPr lang="en-US" sz="900" b="0" u="none" strike="noStrike" dirty="0">
                          <a:solidFill>
                            <a:schemeClr val="accent2"/>
                          </a:solidFill>
                          <a:effectLst/>
                          <a:hlinkClick r:id="rId32" action="ppaction://hlinksldjump">
                            <a:extLst>
                              <a:ext uri="{A12FA001-AC4F-418D-AE19-62706E023703}">
                                <ahyp:hlinkClr xmlns:ahyp="http://schemas.microsoft.com/office/drawing/2018/hyperlinkcolor" val="tx"/>
                              </a:ext>
                            </a:extLst>
                          </a:hlinkClick>
                        </a:rPr>
                        <a:t>Merger &amp; Acquisition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891814910"/>
                  </a:ext>
                </a:extLst>
              </a:tr>
              <a:tr h="153597">
                <a:tc>
                  <a:txBody>
                    <a:bodyPr/>
                    <a:lstStyle/>
                    <a:p>
                      <a:pPr algn="ctr" fontAlgn="ctr"/>
                      <a:r>
                        <a:rPr lang="en-US" sz="900" b="0" u="none" strike="noStrike" dirty="0">
                          <a:solidFill>
                            <a:schemeClr val="accent2"/>
                          </a:solidFill>
                          <a:effectLst/>
                          <a:hlinkClick r:id="rId33" action="ppaction://hlinksldjump">
                            <a:extLst>
                              <a:ext uri="{A12FA001-AC4F-418D-AE19-62706E023703}">
                                <ahyp:hlinkClr xmlns:ahyp="http://schemas.microsoft.com/office/drawing/2018/hyperlinkcolor" val="tx"/>
                              </a:ext>
                            </a:extLst>
                          </a:hlinkClick>
                        </a:rPr>
                        <a:t>Mine Shutdown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1288734196"/>
                  </a:ext>
                </a:extLst>
              </a:tr>
              <a:tr h="153597">
                <a:tc>
                  <a:txBody>
                    <a:bodyPr/>
                    <a:lstStyle/>
                    <a:p>
                      <a:pPr algn="ctr" fontAlgn="ctr"/>
                      <a:r>
                        <a:rPr lang="en-US" sz="900" b="0" u="none" strike="noStrike" dirty="0">
                          <a:solidFill>
                            <a:schemeClr val="accent2"/>
                          </a:solidFill>
                          <a:effectLst/>
                          <a:hlinkClick r:id="rId34" action="ppaction://hlinksldjump">
                            <a:extLst>
                              <a:ext uri="{A12FA001-AC4F-418D-AE19-62706E023703}">
                                <ahyp:hlinkClr xmlns:ahyp="http://schemas.microsoft.com/office/drawing/2018/hyperlinkcolor" val="tx"/>
                              </a:ext>
                            </a:extLst>
                          </a:hlinkClick>
                        </a:rPr>
                        <a:t>Port Disruption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758661657"/>
                  </a:ext>
                </a:extLst>
              </a:tr>
              <a:tr h="153597">
                <a:tc>
                  <a:txBody>
                    <a:bodyPr/>
                    <a:lstStyle/>
                    <a:p>
                      <a:pPr algn="ctr" fontAlgn="ctr"/>
                      <a:r>
                        <a:rPr lang="en-US" sz="900" b="0" u="none" strike="noStrike" dirty="0">
                          <a:solidFill>
                            <a:schemeClr val="accent2"/>
                          </a:solidFill>
                          <a:effectLst/>
                          <a:hlinkClick r:id="rId35" action="ppaction://hlinksldjump">
                            <a:extLst>
                              <a:ext uri="{A12FA001-AC4F-418D-AE19-62706E023703}">
                                <ahyp:hlinkClr xmlns:ahyp="http://schemas.microsoft.com/office/drawing/2018/hyperlinkcolor" val="tx"/>
                              </a:ext>
                            </a:extLst>
                          </a:hlinkClick>
                        </a:rPr>
                        <a:t>Power Outage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810176770"/>
                  </a:ext>
                </a:extLst>
              </a:tr>
              <a:tr h="153597">
                <a:tc>
                  <a:txBody>
                    <a:bodyPr/>
                    <a:lstStyle/>
                    <a:p>
                      <a:pPr algn="ctr" fontAlgn="ctr"/>
                      <a:r>
                        <a:rPr lang="en-US" sz="900" b="0" u="none" strike="noStrike" dirty="0">
                          <a:solidFill>
                            <a:schemeClr val="accent2"/>
                          </a:solidFill>
                          <a:effectLst/>
                          <a:hlinkClick r:id="rId36" action="ppaction://hlinksldjump">
                            <a:extLst>
                              <a:ext uri="{A12FA001-AC4F-418D-AE19-62706E023703}">
                                <ahyp:hlinkClr xmlns:ahyp="http://schemas.microsoft.com/office/drawing/2018/hyperlinkcolor" val="tx"/>
                              </a:ext>
                            </a:extLst>
                          </a:hlinkClick>
                        </a:rPr>
                        <a:t>Price Fluctuation</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472449324"/>
                  </a:ext>
                </a:extLst>
              </a:tr>
              <a:tr h="153597">
                <a:tc>
                  <a:txBody>
                    <a:bodyPr/>
                    <a:lstStyle/>
                    <a:p>
                      <a:pPr algn="ctr" fontAlgn="ctr"/>
                      <a:r>
                        <a:rPr lang="en-US" sz="900" b="0" u="none" strike="noStrike" dirty="0">
                          <a:solidFill>
                            <a:schemeClr val="accent2"/>
                          </a:solidFill>
                          <a:effectLst/>
                          <a:hlinkClick r:id="rId37" action="ppaction://hlinksldjump">
                            <a:extLst>
                              <a:ext uri="{A12FA001-AC4F-418D-AE19-62706E023703}">
                                <ahyp:hlinkClr xmlns:ahyp="http://schemas.microsoft.com/office/drawing/2018/hyperlinkcolor" val="tx"/>
                              </a:ext>
                            </a:extLst>
                          </a:hlinkClick>
                        </a:rPr>
                        <a:t>Protest/Riot</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945815223"/>
                  </a:ext>
                </a:extLst>
              </a:tr>
              <a:tr h="153597">
                <a:tc>
                  <a:txBody>
                    <a:bodyPr/>
                    <a:lstStyle/>
                    <a:p>
                      <a:pPr algn="ctr" fontAlgn="ctr"/>
                      <a:r>
                        <a:rPr lang="en-US" sz="900" b="0" u="none" strike="noStrike" dirty="0">
                          <a:solidFill>
                            <a:schemeClr val="accent2"/>
                          </a:solidFill>
                          <a:effectLst/>
                          <a:hlinkClick r:id="rId38" action="ppaction://hlinksldjump">
                            <a:extLst>
                              <a:ext uri="{A12FA001-AC4F-418D-AE19-62706E023703}">
                                <ahyp:hlinkClr xmlns:ahyp="http://schemas.microsoft.com/office/drawing/2018/hyperlinkcolor" val="tx"/>
                              </a:ext>
                            </a:extLst>
                          </a:hlinkClick>
                        </a:rPr>
                        <a:t>Recall</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032413971"/>
                  </a:ext>
                </a:extLst>
              </a:tr>
              <a:tr h="153597">
                <a:tc>
                  <a:txBody>
                    <a:bodyPr/>
                    <a:lstStyle/>
                    <a:p>
                      <a:pPr algn="ctr" fontAlgn="ctr"/>
                      <a:r>
                        <a:rPr lang="en-US" sz="900" b="0" u="none" strike="noStrike" dirty="0">
                          <a:solidFill>
                            <a:schemeClr val="accent2"/>
                          </a:solidFill>
                          <a:effectLst/>
                          <a:hlinkClick r:id="rId39" action="ppaction://hlinksldjump">
                            <a:extLst>
                              <a:ext uri="{A12FA001-AC4F-418D-AE19-62706E023703}">
                                <ahyp:hlinkClr xmlns:ahyp="http://schemas.microsoft.com/office/drawing/2018/hyperlinkcolor" val="tx"/>
                              </a:ext>
                            </a:extLst>
                          </a:hlinkClick>
                        </a:rPr>
                        <a:t>Regulatory Change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120459359"/>
                  </a:ext>
                </a:extLst>
              </a:tr>
              <a:tr h="153597">
                <a:tc>
                  <a:txBody>
                    <a:bodyPr/>
                    <a:lstStyle/>
                    <a:p>
                      <a:pPr algn="ctr" fontAlgn="ctr"/>
                      <a:r>
                        <a:rPr lang="en-US" sz="900" b="0" u="none" strike="noStrike" dirty="0">
                          <a:solidFill>
                            <a:schemeClr val="accent2"/>
                          </a:solidFill>
                          <a:effectLst/>
                          <a:hlinkClick r:id="rId40" action="ppaction://hlinksldjump">
                            <a:extLst>
                              <a:ext uri="{A12FA001-AC4F-418D-AE19-62706E023703}">
                                <ahyp:hlinkClr xmlns:ahyp="http://schemas.microsoft.com/office/drawing/2018/hyperlinkcolor" val="tx"/>
                              </a:ext>
                            </a:extLst>
                          </a:hlinkClick>
                        </a:rPr>
                        <a:t>Supply Shortage</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919947912"/>
                  </a:ext>
                </a:extLst>
              </a:tr>
              <a:tr h="153597">
                <a:tc>
                  <a:txBody>
                    <a:bodyPr/>
                    <a:lstStyle/>
                    <a:p>
                      <a:pPr algn="ctr" fontAlgn="ctr"/>
                      <a:r>
                        <a:rPr lang="en-US" sz="900" b="0" u="none" strike="noStrike" dirty="0">
                          <a:solidFill>
                            <a:schemeClr val="accent2"/>
                          </a:solidFill>
                          <a:effectLst/>
                          <a:hlinkClick r:id="rId41" action="ppaction://hlinksldjump">
                            <a:extLst>
                              <a:ext uri="{A12FA001-AC4F-418D-AE19-62706E023703}">
                                <ahyp:hlinkClr xmlns:ahyp="http://schemas.microsoft.com/office/drawing/2018/hyperlinkcolor" val="tx"/>
                              </a:ext>
                            </a:extLst>
                          </a:hlinkClick>
                        </a:rPr>
                        <a:t>Tornado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652477756"/>
                  </a:ext>
                </a:extLst>
              </a:tr>
              <a:tr h="153597">
                <a:tc>
                  <a:txBody>
                    <a:bodyPr/>
                    <a:lstStyle/>
                    <a:p>
                      <a:pPr algn="ctr" fontAlgn="ctr"/>
                      <a:r>
                        <a:rPr lang="en-US" sz="900" b="0" u="none" strike="noStrike" dirty="0">
                          <a:solidFill>
                            <a:schemeClr val="accent2"/>
                          </a:solidFill>
                          <a:effectLst/>
                          <a:hlinkClick r:id="rId42" action="ppaction://hlinksldjump">
                            <a:extLst>
                              <a:ext uri="{A12FA001-AC4F-418D-AE19-62706E023703}">
                                <ahyp:hlinkClr xmlns:ahyp="http://schemas.microsoft.com/office/drawing/2018/hyperlinkcolor" val="tx"/>
                              </a:ext>
                            </a:extLst>
                          </a:hlinkClick>
                        </a:rPr>
                        <a:t>Volcano</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2982758851"/>
                  </a:ext>
                </a:extLst>
              </a:tr>
              <a:tr h="153597">
                <a:tc>
                  <a:txBody>
                    <a:bodyPr/>
                    <a:lstStyle/>
                    <a:p>
                      <a:pPr algn="ctr" fontAlgn="ctr"/>
                      <a:r>
                        <a:rPr lang="en-US" sz="900" b="0" u="none" strike="noStrike" dirty="0">
                          <a:solidFill>
                            <a:schemeClr val="accent2"/>
                          </a:solidFill>
                          <a:effectLst/>
                          <a:hlinkClick r:id="rId43" action="ppaction://hlinksldjump">
                            <a:extLst>
                              <a:ext uri="{A12FA001-AC4F-418D-AE19-62706E023703}">
                                <ahyp:hlinkClr xmlns:ahyp="http://schemas.microsoft.com/office/drawing/2018/hyperlinkcolor" val="tx"/>
                              </a:ext>
                            </a:extLst>
                          </a:hlinkClick>
                        </a:rPr>
                        <a:t>Profit Warning</a:t>
                      </a:r>
                      <a:endParaRPr lang="en-US" sz="900" b="0" i="0" u="none" strike="noStrike" dirty="0">
                        <a:solidFill>
                          <a:schemeClr val="accent2"/>
                        </a:solidFill>
                        <a:effectLst/>
                        <a:latin typeface="Arial" panose="020B0604020202020204" pitchFamily="34" charset="0"/>
                      </a:endParaRPr>
                    </a:p>
                  </a:txBody>
                  <a:tcPr marL="433" marR="433" marT="433" marB="0" anchor="ctr">
                    <a:solidFill>
                      <a:schemeClr val="accent6">
                        <a:lumMod val="20000"/>
                        <a:lumOff val="80000"/>
                      </a:schemeClr>
                    </a:solidFill>
                  </a:tcPr>
                </a:tc>
                <a:extLst>
                  <a:ext uri="{0D108BD9-81ED-4DB2-BD59-A6C34878D82A}">
                    <a16:rowId xmlns:a16="http://schemas.microsoft.com/office/drawing/2014/main" val="3654592185"/>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4" action="ppaction://hlinksldjump">
                            <a:extLst>
                              <a:ext uri="{A12FA001-AC4F-418D-AE19-62706E023703}">
                                <ahyp:hlinkClr xmlns:ahyp="http://schemas.microsoft.com/office/drawing/2018/hyperlinkcolor" val="tx"/>
                              </a:ext>
                            </a:extLst>
                          </a:hlinkClick>
                        </a:rPr>
                        <a:t>Mail / Postal services disruptions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3758140229"/>
                  </a:ext>
                </a:extLst>
              </a:tr>
              <a:tr h="281455">
                <a:tc>
                  <a:txBody>
                    <a:bodyPr/>
                    <a:lstStyle/>
                    <a:p>
                      <a:pPr marL="0" algn="ctr" defTabSz="914400" rtl="0" eaLnBrk="1" fontAlgn="ctr" latinLnBrk="0" hangingPunct="1"/>
                      <a:r>
                        <a:rPr lang="en-US" sz="900" b="0" u="none" strike="noStrike" kern="1200" dirty="0">
                          <a:solidFill>
                            <a:schemeClr val="accent2"/>
                          </a:solidFill>
                          <a:effectLst/>
                          <a:hlinkClick r:id="rId45" action="ppaction://hlinksldjump">
                            <a:extLst>
                              <a:ext uri="{A12FA001-AC4F-418D-AE19-62706E023703}">
                                <ahyp:hlinkClr xmlns:ahyp="http://schemas.microsoft.com/office/drawing/2018/hyperlinkcolor" val="tx"/>
                              </a:ext>
                            </a:extLst>
                          </a:hlinkClick>
                        </a:rPr>
                        <a:t>Airworthiness</a:t>
                      </a:r>
                      <a:endParaRPr lang="en-US" sz="900" b="0" u="none" strike="noStrike" kern="1200" dirty="0">
                        <a:solidFill>
                          <a:schemeClr val="accent2"/>
                        </a:solidFill>
                        <a:effectLst/>
                      </a:endParaRPr>
                    </a:p>
                    <a:p>
                      <a:pPr marL="0" algn="ctr" defTabSz="914400" rtl="0" eaLnBrk="1" fontAlgn="ctr" latinLnBrk="0" hangingPunct="1"/>
                      <a:r>
                        <a:rPr lang="en-US" sz="900" b="0" u="none" strike="noStrike" kern="1200" dirty="0">
                          <a:solidFill>
                            <a:schemeClr val="accent2"/>
                          </a:solidFill>
                          <a:effectLst/>
                          <a:latin typeface="+mn-lt"/>
                          <a:ea typeface="+mn-ea"/>
                          <a:cs typeface="+mn-cs"/>
                          <a:hlinkClick r:id="rId13" action="ppaction://hlinksldjump">
                            <a:extLst>
                              <a:ext uri="{A12FA001-AC4F-418D-AE19-62706E023703}">
                                <ahyp:hlinkClr xmlns:ahyp="http://schemas.microsoft.com/office/drawing/2018/hyperlinkcolor" val="tx"/>
                              </a:ext>
                            </a:extLst>
                          </a:hlinkClick>
                        </a:rPr>
                        <a:t>Layoffs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75367202"/>
                  </a:ext>
                </a:extLst>
              </a:tr>
              <a:tr h="153597">
                <a:tc>
                  <a:txBody>
                    <a:bodyPr/>
                    <a:lstStyle/>
                    <a:p>
                      <a:pPr marL="0" algn="ctr" defTabSz="914400" rtl="0" eaLnBrk="1" fontAlgn="ctr" latinLnBrk="0" hangingPunct="1"/>
                      <a:r>
                        <a:rPr lang="en-US" sz="900" b="0" u="none" strike="noStrike" kern="1200" dirty="0">
                          <a:solidFill>
                            <a:schemeClr val="accent2"/>
                          </a:solidFill>
                          <a:effectLst/>
                          <a:hlinkClick r:id="rId46" action="ppaction://hlinksldjump">
                            <a:extLst>
                              <a:ext uri="{A12FA001-AC4F-418D-AE19-62706E023703}">
                                <ahyp:hlinkClr xmlns:ahyp="http://schemas.microsoft.com/office/drawing/2018/hyperlinkcolor" val="tx"/>
                              </a:ext>
                            </a:extLst>
                          </a:hlinkClick>
                        </a:rPr>
                        <a:t>Container Ship accidents</a:t>
                      </a:r>
                      <a:endParaRPr lang="en-US" sz="900" b="0" u="none" strike="noStrike" kern="1200" dirty="0">
                        <a:solidFill>
                          <a:schemeClr val="accent2"/>
                        </a:solidFill>
                        <a:effectLst/>
                        <a:latin typeface="+mn-lt"/>
                        <a:ea typeface="+mn-ea"/>
                        <a:cs typeface="+mn-cs"/>
                      </a:endParaRPr>
                    </a:p>
                  </a:txBody>
                  <a:tcPr marL="3608" marR="3608" marT="3608" marB="0" anchor="ctr">
                    <a:solidFill>
                      <a:schemeClr val="accent6">
                        <a:lumMod val="20000"/>
                        <a:lumOff val="80000"/>
                      </a:schemeClr>
                    </a:solidFill>
                  </a:tcPr>
                </a:tc>
                <a:extLst>
                  <a:ext uri="{0D108BD9-81ED-4DB2-BD59-A6C34878D82A}">
                    <a16:rowId xmlns:a16="http://schemas.microsoft.com/office/drawing/2014/main" val="2946615462"/>
                  </a:ext>
                </a:extLst>
              </a:tr>
            </a:tbl>
          </a:graphicData>
        </a:graphic>
      </p:graphicFrame>
    </p:spTree>
    <p:extLst>
      <p:ext uri="{BB962C8B-B14F-4D97-AF65-F5344CB8AC3E}">
        <p14:creationId xmlns:p14="http://schemas.microsoft.com/office/powerpoint/2010/main" val="1890704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water, sky, outdoor, boat&#10;&#10;Description automatically generated">
            <a:extLst>
              <a:ext uri="{FF2B5EF4-FFF2-40B4-BE49-F238E27FC236}">
                <a16:creationId xmlns:a16="http://schemas.microsoft.com/office/drawing/2014/main" id="{1D78C3B6-2AED-4444-A58D-3B601E5B6435}"/>
              </a:ext>
            </a:extLst>
          </p:cNvPr>
          <p:cNvPicPr>
            <a:picLocks noChangeAspect="1"/>
          </p:cNvPicPr>
          <p:nvPr/>
        </p:nvPicPr>
        <p:blipFill rotWithShape="1">
          <a:blip r:embed="rId3" cstate="print">
            <a:grayscl/>
            <a:extLst>
              <a:ext uri="{28A0092B-C50C-407E-A947-70E740481C1C}">
                <a14:useLocalDpi xmlns:a14="http://schemas.microsoft.com/office/drawing/2010/main"/>
              </a:ext>
            </a:extLst>
          </a:blip>
          <a:srcRect/>
          <a:stretch/>
        </p:blipFill>
        <p:spPr>
          <a:xfrm>
            <a:off x="-66530" y="-48368"/>
            <a:ext cx="12258530" cy="6891129"/>
          </a:xfrm>
          <a:prstGeom prst="rect">
            <a:avLst/>
          </a:prstGeom>
        </p:spPr>
      </p:pic>
      <p:sp>
        <p:nvSpPr>
          <p:cNvPr id="14" name="Rectangle 13">
            <a:extLst>
              <a:ext uri="{FF2B5EF4-FFF2-40B4-BE49-F238E27FC236}">
                <a16:creationId xmlns:a16="http://schemas.microsoft.com/office/drawing/2014/main" id="{2D88DF76-AB05-4342-B069-8C0006CF3A42}"/>
              </a:ext>
            </a:extLst>
          </p:cNvPr>
          <p:cNvSpPr/>
          <p:nvPr/>
        </p:nvSpPr>
        <p:spPr>
          <a:xfrm>
            <a:off x="-66530" y="-65060"/>
            <a:ext cx="12291795" cy="6923060"/>
          </a:xfrm>
          <a:prstGeom prst="rect">
            <a:avLst/>
          </a:prstGeom>
          <a:solidFill>
            <a:srgbClr val="131C3E">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0247">
              <a:defRPr/>
            </a:pPr>
            <a:endParaRPr lang="en-IN" sz="1792">
              <a:solidFill>
                <a:srgbClr val="FFFFFF"/>
              </a:solidFill>
              <a:latin typeface="Corbel" panose="020B0503020204020204" pitchFamily="34" charset="0"/>
            </a:endParaRPr>
          </a:p>
        </p:txBody>
      </p:sp>
      <p:sp>
        <p:nvSpPr>
          <p:cNvPr id="8" name="Freeform 23">
            <a:extLst>
              <a:ext uri="{FF2B5EF4-FFF2-40B4-BE49-F238E27FC236}">
                <a16:creationId xmlns:a16="http://schemas.microsoft.com/office/drawing/2014/main" id="{5B3F878D-849C-45D3-906C-647D38D1D982}"/>
              </a:ext>
            </a:extLst>
          </p:cNvPr>
          <p:cNvSpPr/>
          <p:nvPr/>
        </p:nvSpPr>
        <p:spPr>
          <a:xfrm>
            <a:off x="5718222" y="31931"/>
            <a:ext cx="6422860" cy="6827520"/>
          </a:xfrm>
          <a:custGeom>
            <a:avLst/>
            <a:gdLst>
              <a:gd name="connsiteX0" fmla="*/ 3751875 w 6451533"/>
              <a:gd name="connsiteY0" fmla="*/ 0 h 6858001"/>
              <a:gd name="connsiteX1" fmla="*/ 6451533 w 6451533"/>
              <a:gd name="connsiteY1" fmla="*/ 0 h 6858001"/>
              <a:gd name="connsiteX2" fmla="*/ 2699658 w 6451533"/>
              <a:gd name="connsiteY2" fmla="*/ 6858001 h 6858001"/>
              <a:gd name="connsiteX3" fmla="*/ 0 w 6451533"/>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6451533" h="6858001">
                <a:moveTo>
                  <a:pt x="3751875" y="0"/>
                </a:moveTo>
                <a:lnTo>
                  <a:pt x="6451533" y="0"/>
                </a:lnTo>
                <a:lnTo>
                  <a:pt x="2699658" y="6858001"/>
                </a:lnTo>
                <a:lnTo>
                  <a:pt x="0" y="6858001"/>
                </a:lnTo>
                <a:close/>
              </a:path>
            </a:pathLst>
          </a:custGeom>
          <a:solidFill>
            <a:srgbClr val="17224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0247">
              <a:defRPr/>
            </a:pPr>
            <a:endParaRPr lang="en-US" sz="1344">
              <a:solidFill>
                <a:srgbClr val="FFFFFF"/>
              </a:solidFill>
              <a:latin typeface="Corbel" panose="020B0503020204020204" pitchFamily="34" charset="0"/>
            </a:endParaRPr>
          </a:p>
        </p:txBody>
      </p:sp>
      <p:sp>
        <p:nvSpPr>
          <p:cNvPr id="9" name="Inhaltsplatzhalter 4">
            <a:extLst>
              <a:ext uri="{FF2B5EF4-FFF2-40B4-BE49-F238E27FC236}">
                <a16:creationId xmlns:a16="http://schemas.microsoft.com/office/drawing/2014/main" id="{23740F1C-8BB0-4DA2-A1F3-46EF77B0FA31}"/>
              </a:ext>
            </a:extLst>
          </p:cNvPr>
          <p:cNvSpPr txBox="1">
            <a:spLocks/>
          </p:cNvSpPr>
          <p:nvPr/>
        </p:nvSpPr>
        <p:spPr>
          <a:xfrm>
            <a:off x="345361" y="3609620"/>
            <a:ext cx="8885753" cy="1761726"/>
          </a:xfrm>
          <a:prstGeom prst="rect">
            <a:avLst/>
          </a:prstGeom>
          <a:noFill/>
        </p:spPr>
        <p:txBody>
          <a:bodyPr wrap="square" lIns="68275" tIns="68275" rIns="68275" bIns="68275"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defTabSz="909975">
              <a:spcAft>
                <a:spcPts val="0"/>
              </a:spcAft>
              <a:defRPr/>
            </a:pPr>
            <a:r>
              <a:rPr lang="en-US" sz="1792" dirty="0">
                <a:solidFill>
                  <a:srgbClr val="51BE92"/>
                </a:solidFill>
                <a:latin typeface="Corbel" panose="020B0503020204020204" pitchFamily="34" charset="0"/>
                <a:ea typeface="Roboto" panose="02000000000000000000" pitchFamily="2" charset="0"/>
              </a:rPr>
              <a:t>SUPPLY CHAIN TRANSFORMATION</a:t>
            </a:r>
            <a:br>
              <a:rPr lang="en-US" sz="2091" dirty="0">
                <a:solidFill>
                  <a:srgbClr val="FFFFFF"/>
                </a:solidFill>
                <a:latin typeface="Corbel" panose="020B0503020204020204" pitchFamily="34" charset="0"/>
                <a:ea typeface="Roboto" panose="02000000000000000000" pitchFamily="2" charset="0"/>
              </a:rPr>
            </a:br>
            <a:r>
              <a:rPr lang="en-US" sz="4380" dirty="0">
                <a:solidFill>
                  <a:srgbClr val="FFFFFF"/>
                </a:solidFill>
                <a:latin typeface="Corbel" panose="020B0503020204020204" pitchFamily="34" charset="0"/>
                <a:ea typeface="Roboto" panose="02000000000000000000" pitchFamily="2" charset="0"/>
              </a:rPr>
              <a:t>Thrive: EventWatch AI V5.0</a:t>
            </a:r>
          </a:p>
          <a:p>
            <a:pPr defTabSz="909975">
              <a:spcAft>
                <a:spcPts val="0"/>
              </a:spcAft>
              <a:defRPr/>
            </a:pPr>
            <a:endParaRPr lang="en-US" sz="4380" dirty="0">
              <a:solidFill>
                <a:srgbClr val="FFFFFF"/>
              </a:solidFill>
              <a:latin typeface="Corbel" panose="020B0503020204020204" pitchFamily="34" charset="0"/>
              <a:ea typeface="Roboto" panose="02000000000000000000" pitchFamily="2" charset="0"/>
            </a:endParaRPr>
          </a:p>
        </p:txBody>
      </p:sp>
      <p:sp>
        <p:nvSpPr>
          <p:cNvPr id="10" name="Freeform 14">
            <a:extLst>
              <a:ext uri="{FF2B5EF4-FFF2-40B4-BE49-F238E27FC236}">
                <a16:creationId xmlns:a16="http://schemas.microsoft.com/office/drawing/2014/main" id="{27666884-DDBE-4A9E-95B8-C547C18C4C59}"/>
              </a:ext>
            </a:extLst>
          </p:cNvPr>
          <p:cNvSpPr/>
          <p:nvPr/>
        </p:nvSpPr>
        <p:spPr>
          <a:xfrm>
            <a:off x="-66530" y="31931"/>
            <a:ext cx="1871399" cy="3420706"/>
          </a:xfrm>
          <a:custGeom>
            <a:avLst/>
            <a:gdLst>
              <a:gd name="connsiteX0" fmla="*/ 0 w 2506339"/>
              <a:gd name="connsiteY0" fmla="*/ 0 h 4581303"/>
              <a:gd name="connsiteX1" fmla="*/ 2506339 w 2506339"/>
              <a:gd name="connsiteY1" fmla="*/ 0 h 4581303"/>
              <a:gd name="connsiteX2" fmla="*/ 0 w 2506339"/>
              <a:gd name="connsiteY2" fmla="*/ 4581303 h 4581303"/>
            </a:gdLst>
            <a:ahLst/>
            <a:cxnLst>
              <a:cxn ang="0">
                <a:pos x="connsiteX0" y="connsiteY0"/>
              </a:cxn>
              <a:cxn ang="0">
                <a:pos x="connsiteX1" y="connsiteY1"/>
              </a:cxn>
              <a:cxn ang="0">
                <a:pos x="connsiteX2" y="connsiteY2"/>
              </a:cxn>
            </a:cxnLst>
            <a:rect l="l" t="t" r="r" b="b"/>
            <a:pathLst>
              <a:path w="2506339" h="4581303">
                <a:moveTo>
                  <a:pt x="0" y="0"/>
                </a:moveTo>
                <a:lnTo>
                  <a:pt x="2506339" y="0"/>
                </a:lnTo>
                <a:lnTo>
                  <a:pt x="0" y="4581303"/>
                </a:lnTo>
                <a:close/>
              </a:path>
            </a:pathLst>
          </a:custGeom>
          <a:solidFill>
            <a:srgbClr val="17224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0247">
              <a:defRPr/>
            </a:pPr>
            <a:endParaRPr lang="en-US" sz="1344">
              <a:solidFill>
                <a:srgbClr val="FFFFFF"/>
              </a:solidFill>
              <a:latin typeface="Corbel" panose="020B0503020204020204" pitchFamily="34" charset="0"/>
            </a:endParaRPr>
          </a:p>
        </p:txBody>
      </p:sp>
      <p:sp>
        <p:nvSpPr>
          <p:cNvPr id="2" name="Isosceles Triangle 1">
            <a:extLst>
              <a:ext uri="{FF2B5EF4-FFF2-40B4-BE49-F238E27FC236}">
                <a16:creationId xmlns:a16="http://schemas.microsoft.com/office/drawing/2014/main" id="{703C68C4-4E77-D451-2108-289F7399DDC7}"/>
              </a:ext>
            </a:extLst>
          </p:cNvPr>
          <p:cNvSpPr/>
          <p:nvPr/>
        </p:nvSpPr>
        <p:spPr>
          <a:xfrm>
            <a:off x="9231114" y="1796522"/>
            <a:ext cx="2524790" cy="4508378"/>
          </a:xfrm>
          <a:prstGeom prst="triangle">
            <a:avLst>
              <a:gd name="adj" fmla="val 10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0247">
              <a:defRPr/>
            </a:pPr>
            <a:endParaRPr lang="en-US" sz="1792">
              <a:solidFill>
                <a:srgbClr val="FFFFFF"/>
              </a:solidFill>
              <a:latin typeface="Corbel" panose="020B0503020204020204" pitchFamily="34" charset="0"/>
            </a:endParaRPr>
          </a:p>
        </p:txBody>
      </p:sp>
    </p:spTree>
    <p:extLst>
      <p:ext uri="{BB962C8B-B14F-4D97-AF65-F5344CB8AC3E}">
        <p14:creationId xmlns:p14="http://schemas.microsoft.com/office/powerpoint/2010/main" val="15107754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3_Resilinc Theme 2018">
  <a:themeElements>
    <a:clrScheme name="ResilincNew">
      <a:dk1>
        <a:srgbClr val="000000"/>
      </a:dk1>
      <a:lt1>
        <a:srgbClr val="FFFFFF"/>
      </a:lt1>
      <a:dk2>
        <a:srgbClr val="292A2E"/>
      </a:dk2>
      <a:lt2>
        <a:srgbClr val="F8FAFB"/>
      </a:lt2>
      <a:accent1>
        <a:srgbClr val="50BE92"/>
      </a:accent1>
      <a:accent2>
        <a:srgbClr val="EFB45D"/>
      </a:accent2>
      <a:accent3>
        <a:srgbClr val="24A9DF"/>
      </a:accent3>
      <a:accent4>
        <a:srgbClr val="1352A2"/>
      </a:accent4>
      <a:accent5>
        <a:srgbClr val="333432"/>
      </a:accent5>
      <a:accent6>
        <a:srgbClr val="EF5060"/>
      </a:accent6>
      <a:hlink>
        <a:srgbClr val="7ABF00"/>
      </a:hlink>
      <a:folHlink>
        <a:srgbClr val="AE668A"/>
      </a:folHlink>
    </a:clrScheme>
    <a:fontScheme name="Resilinc">
      <a:majorFont>
        <a:latin typeface="Roboto"/>
        <a:ea typeface=""/>
        <a:cs typeface="Roboto"/>
      </a:majorFont>
      <a:minorFont>
        <a:latin typeface="Roboto"/>
        <a:ea typeface=""/>
        <a:cs typeface="Roboto"/>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ilinc_2018_Template-draft6-FontsEmbedded.potx" id="{711B0152-388D-4CEE-B646-70B16BC7141B}" vid="{6B5F248C-9BD2-4171-9849-6FDA31797BE1}"/>
    </a:ext>
  </a:extLst>
</a:theme>
</file>

<file path=ppt/theme/theme3.xml><?xml version="1.0" encoding="utf-8"?>
<a:theme xmlns:a="http://schemas.openxmlformats.org/drawingml/2006/main" name="10_Resilinc Theme 2018">
  <a:themeElements>
    <a:clrScheme name="ResilincNew">
      <a:dk1>
        <a:srgbClr val="000000"/>
      </a:dk1>
      <a:lt1>
        <a:srgbClr val="FFFFFF"/>
      </a:lt1>
      <a:dk2>
        <a:srgbClr val="292A2E"/>
      </a:dk2>
      <a:lt2>
        <a:srgbClr val="F8FAFB"/>
      </a:lt2>
      <a:accent1>
        <a:srgbClr val="50BE92"/>
      </a:accent1>
      <a:accent2>
        <a:srgbClr val="EFB45D"/>
      </a:accent2>
      <a:accent3>
        <a:srgbClr val="24A9DF"/>
      </a:accent3>
      <a:accent4>
        <a:srgbClr val="1352A2"/>
      </a:accent4>
      <a:accent5>
        <a:srgbClr val="333432"/>
      </a:accent5>
      <a:accent6>
        <a:srgbClr val="EF5060"/>
      </a:accent6>
      <a:hlink>
        <a:srgbClr val="7ABF00"/>
      </a:hlink>
      <a:folHlink>
        <a:srgbClr val="AE668A"/>
      </a:folHlink>
    </a:clrScheme>
    <a:fontScheme name="Resilinc">
      <a:majorFont>
        <a:latin typeface="Roboto"/>
        <a:ea typeface=""/>
        <a:cs typeface="Roboto"/>
      </a:majorFont>
      <a:minorFont>
        <a:latin typeface="Roboto"/>
        <a:ea typeface=""/>
        <a:cs typeface="Roboto"/>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ilinc_2018_Template-draft6-FontsEmbedded.potx" id="{711B0152-388D-4CEE-B646-70B16BC7141B}" vid="{6B5F248C-9BD2-4171-9849-6FDA31797B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47080342C2DE498071173898C142BC" ma:contentTypeVersion="13" ma:contentTypeDescription="Create a new document." ma:contentTypeScope="" ma:versionID="c4aba9e8170d0debebe7b844710468ec">
  <xsd:schema xmlns:xsd="http://www.w3.org/2001/XMLSchema" xmlns:xs="http://www.w3.org/2001/XMLSchema" xmlns:p="http://schemas.microsoft.com/office/2006/metadata/properties" xmlns:ns3="69784edd-f070-48d0-91e6-c98fee88291c" xmlns:ns4="a34efd5c-caea-44a1-98c3-027ce7ea3e4c" targetNamespace="http://schemas.microsoft.com/office/2006/metadata/properties" ma:root="true" ma:fieldsID="53470cbdc0dba44d25cd38584599ff7d" ns3:_="" ns4:_="">
    <xsd:import namespace="69784edd-f070-48d0-91e6-c98fee88291c"/>
    <xsd:import namespace="a34efd5c-caea-44a1-98c3-027ce7ea3e4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784edd-f070-48d0-91e6-c98fee88291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4efd5c-caea-44a1-98c3-027ce7ea3e4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044115-7582-4F44-9DEB-521E6A1965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784edd-f070-48d0-91e6-c98fee88291c"/>
    <ds:schemaRef ds:uri="a34efd5c-caea-44a1-98c3-027ce7ea3e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D743EC-0CC1-4701-94F9-F66F1E0D7BE3}">
  <ds:schemaRefs>
    <ds:schemaRef ds:uri="http://schemas.microsoft.com/sharepoint/v3/contenttype/forms"/>
  </ds:schemaRefs>
</ds:datastoreItem>
</file>

<file path=customXml/itemProps3.xml><?xml version="1.0" encoding="utf-8"?>
<ds:datastoreItem xmlns:ds="http://schemas.openxmlformats.org/officeDocument/2006/customXml" ds:itemID="{61926904-A384-4ED8-83B1-BF17840D3E3C}">
  <ds:schemaRefs>
    <ds:schemaRef ds:uri="a34efd5c-caea-44a1-98c3-027ce7ea3e4c"/>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terms/"/>
    <ds:schemaRef ds:uri="69784edd-f070-48d0-91e6-c98fee88291c"/>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Integral</Template>
  <TotalTime>68393</TotalTime>
  <Words>20041</Words>
  <Application>Microsoft Office PowerPoint</Application>
  <PresentationFormat>Widescreen</PresentationFormat>
  <Paragraphs>4687</Paragraphs>
  <Slides>63</Slides>
  <Notes>2</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63</vt:i4>
      </vt:variant>
    </vt:vector>
  </HeadingPairs>
  <TitlesOfParts>
    <vt:vector size="79" baseType="lpstr">
      <vt:lpstr>Aptos</vt:lpstr>
      <vt:lpstr>Aptos Display</vt:lpstr>
      <vt:lpstr>Arial</vt:lpstr>
      <vt:lpstr>Calibri</vt:lpstr>
      <vt:lpstr>Corbel</vt:lpstr>
      <vt:lpstr>Roboto</vt:lpstr>
      <vt:lpstr>Roboto Thin</vt:lpstr>
      <vt:lpstr>Symbol</vt:lpstr>
      <vt:lpstr>Tw Cen MT</vt:lpstr>
      <vt:lpstr>Tw Cen MT Condensed</vt:lpstr>
      <vt:lpstr>-webkit-standard</vt:lpstr>
      <vt:lpstr>Wingdings 3</vt:lpstr>
      <vt:lpstr>Integral</vt:lpstr>
      <vt:lpstr>3_Resilinc Theme 2018</vt:lpstr>
      <vt:lpstr>10_Resilinc Theme 2018</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Relevant Situations</vt:lpstr>
      <vt:lpstr>PowerPoint Presentation</vt:lpstr>
      <vt:lpstr>PowerPoint Presentation</vt:lpstr>
      <vt:lpstr>PowerPoint Presentation</vt:lpstr>
      <vt:lpstr>PowerPoint Presentation</vt:lpstr>
      <vt:lpstr>Additional  Information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RESILINC</dc:title>
  <dc:creator>Disha Bodani (Partner)</dc:creator>
  <cp:lastModifiedBy>Sangram Barge</cp:lastModifiedBy>
  <cp:revision>548</cp:revision>
  <dcterms:created xsi:type="dcterms:W3CDTF">2022-10-13T05:24:13Z</dcterms:created>
  <dcterms:modified xsi:type="dcterms:W3CDTF">2026-08-31T16:48:42Z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0x010100E947080342C2DE498071173898C142BC</vt:lpwstr>
  </property>
  <property fmtid="{D5CDD505-2E9C-101B-9397-08002B2CF9AE}" pid="3" name="MSIP_Label_5add3fb8-64db-456b-a303-7b817e576329_Enabled">
    <vt:lpwstr>true</vt:lpwstr>
  </property>
  <property fmtid="{D5CDD505-2E9C-101B-9397-08002B2CF9AE}" pid="4" name="MSIP_Label_5add3fb8-64db-456b-a303-7b817e576329_SetDate">
    <vt:lpwstr>2026-08-31T14:18:00Z</vt:lpwstr>
  </property>
  <property fmtid="{D5CDD505-2E9C-101B-9397-08002B2CF9AE}" pid="5" name="MSIP_Label_5add3fb8-64db-456b-a303-7b817e576329_Method">
    <vt:lpwstr>Standard</vt:lpwstr>
  </property>
  <property fmtid="{D5CDD505-2E9C-101B-9397-08002B2CF9AE}" pid="6" name="MSIP_Label_5add3fb8-64db-456b-a303-7b817e576329_Name">
    <vt:lpwstr>defa4170-0d19-0005-0004-bc88714345d2</vt:lpwstr>
  </property>
  <property fmtid="{D5CDD505-2E9C-101B-9397-08002B2CF9AE}" pid="7" name="MSIP_Label_5add3fb8-64db-456b-a303-7b817e576329_SiteId">
    <vt:lpwstr>208a6c18-704f-4104-93bb-558e02a18f9b</vt:lpwstr>
  </property>
  <property fmtid="{D5CDD505-2E9C-101B-9397-08002B2CF9AE}" pid="8" name="MSIP_Label_5add3fb8-64db-456b-a303-7b817e576329_ActionId">
    <vt:lpwstr>c4e37c0a-20ec-46e3-a585-0d69285fc45e</vt:lpwstr>
  </property>
  <property fmtid="{D5CDD505-2E9C-101B-9397-08002B2CF9AE}" pid="9" name="MSIP_Label_5add3fb8-64db-456b-a303-7b817e576329_ContentBits">
    <vt:lpwstr>0</vt:lpwstr>
  </property>
  <property fmtid="{D5CDD505-2E9C-101B-9397-08002B2CF9AE}" pid="10" name="MSIP_Label_5add3fb8-64db-456b-a303-7b817e576329_Tag">
    <vt:lpwstr>10, 3, 0, 2</vt:lpwstr>
  </property>
</Properties>
</file>